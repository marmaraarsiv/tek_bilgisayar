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0" r:id="rId4"/>
    <p:sldId id="261" r:id="rId5"/>
    <p:sldId id="262" r:id="rId6"/>
    <p:sldId id="264" r:id="rId7"/>
    <p:sldId id="269" r:id="rId8"/>
    <p:sldId id="265" r:id="rId9"/>
    <p:sldId id="266" r:id="rId10"/>
    <p:sldId id="267" r:id="rId11"/>
    <p:sldId id="268" r:id="rId12"/>
    <p:sldId id="263"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57" r:id="rId33"/>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5" d="100"/>
          <a:sy n="85" d="100"/>
        </p:scale>
        <p:origin x="155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685800" y="2130425"/>
            <a:ext cx="7772400" cy="1470025"/>
          </a:xfrm>
        </p:spPr>
        <p:txBody>
          <a:bodyPr/>
          <a:lstStyle/>
          <a:p>
            <a:r>
              <a:rPr lang="tr-TR"/>
              <a:t>Asıl başlık stili için tıklatın</a:t>
            </a:r>
          </a:p>
        </p:txBody>
      </p:sp>
      <p:sp>
        <p:nvSpPr>
          <p:cNvPr id="3" name="Alt Başlık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tıklatın</a:t>
            </a:r>
          </a:p>
        </p:txBody>
      </p:sp>
      <p:sp>
        <p:nvSpPr>
          <p:cNvPr id="4" name="Veri Yer Tutucusu 3"/>
          <p:cNvSpPr>
            <a:spLocks noGrp="1"/>
          </p:cNvSpPr>
          <p:nvPr>
            <p:ph type="dt" sz="half" idx="10"/>
          </p:nvPr>
        </p:nvSpPr>
        <p:spPr/>
        <p:txBody>
          <a:bodyPr/>
          <a:lstStyle/>
          <a:p>
            <a:fld id="{8C3C9047-6DA9-483A-81E2-29FF55B157E8}" type="datetimeFigureOut">
              <a:rPr lang="tr-TR" smtClean="0"/>
              <a:t>5.12.2022</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0A31DFAD-52A6-46D3-8A38-EBF8CEDA5B4A}" type="slidenum">
              <a:rPr lang="tr-TR" smtClean="0"/>
              <a:t>‹#›</a:t>
            </a:fld>
            <a:endParaRPr lang="tr-TR"/>
          </a:p>
        </p:txBody>
      </p:sp>
    </p:spTree>
    <p:extLst>
      <p:ext uri="{BB962C8B-B14F-4D97-AF65-F5344CB8AC3E}">
        <p14:creationId xmlns:p14="http://schemas.microsoft.com/office/powerpoint/2010/main" val="2135857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8C3C9047-6DA9-483A-81E2-29FF55B157E8}" type="datetimeFigureOut">
              <a:rPr lang="tr-TR" smtClean="0"/>
              <a:t>5.12.2022</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0A31DFAD-52A6-46D3-8A38-EBF8CEDA5B4A}" type="slidenum">
              <a:rPr lang="tr-TR" smtClean="0"/>
              <a:t>‹#›</a:t>
            </a:fld>
            <a:endParaRPr lang="tr-TR"/>
          </a:p>
        </p:txBody>
      </p:sp>
    </p:spTree>
    <p:extLst>
      <p:ext uri="{BB962C8B-B14F-4D97-AF65-F5344CB8AC3E}">
        <p14:creationId xmlns:p14="http://schemas.microsoft.com/office/powerpoint/2010/main" val="2993234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313" y="4406900"/>
            <a:ext cx="7772400" cy="1362075"/>
          </a:xfrm>
        </p:spPr>
        <p:txBody>
          <a:bodyPr anchor="t"/>
          <a:lstStyle>
            <a:lvl1pPr algn="l">
              <a:defRPr sz="4000" b="1" cap="all"/>
            </a:lvl1pPr>
          </a:lstStyle>
          <a:p>
            <a:r>
              <a:rPr lang="tr-TR"/>
              <a:t>Asıl başlık stili için tıklatın</a:t>
            </a:r>
          </a:p>
        </p:txBody>
      </p:sp>
      <p:sp>
        <p:nvSpPr>
          <p:cNvPr id="3" name="Metin Yer Tutucus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tıklatın</a:t>
            </a:r>
          </a:p>
        </p:txBody>
      </p:sp>
      <p:sp>
        <p:nvSpPr>
          <p:cNvPr id="4" name="Veri Yer Tutucusu 3"/>
          <p:cNvSpPr>
            <a:spLocks noGrp="1"/>
          </p:cNvSpPr>
          <p:nvPr>
            <p:ph type="dt" sz="half" idx="10"/>
          </p:nvPr>
        </p:nvSpPr>
        <p:spPr/>
        <p:txBody>
          <a:bodyPr/>
          <a:lstStyle/>
          <a:p>
            <a:fld id="{8C3C9047-6DA9-483A-81E2-29FF55B157E8}" type="datetimeFigureOut">
              <a:rPr lang="tr-TR" smtClean="0"/>
              <a:t>5.12.2022</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0A31DFAD-52A6-46D3-8A38-EBF8CEDA5B4A}" type="slidenum">
              <a:rPr lang="tr-TR" smtClean="0"/>
              <a:t>‹#›</a:t>
            </a:fld>
            <a:endParaRPr lang="tr-TR"/>
          </a:p>
        </p:txBody>
      </p:sp>
    </p:spTree>
    <p:extLst>
      <p:ext uri="{BB962C8B-B14F-4D97-AF65-F5344CB8AC3E}">
        <p14:creationId xmlns:p14="http://schemas.microsoft.com/office/powerpoint/2010/main" val="352116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p:cNvSpPr>
            <a:spLocks noGrp="1"/>
          </p:cNvSpPr>
          <p:nvPr>
            <p:ph type="dt" sz="half" idx="10"/>
          </p:nvPr>
        </p:nvSpPr>
        <p:spPr/>
        <p:txBody>
          <a:bodyPr/>
          <a:lstStyle/>
          <a:p>
            <a:fld id="{8C3C9047-6DA9-483A-81E2-29FF55B157E8}" type="datetimeFigureOut">
              <a:rPr lang="tr-TR" smtClean="0"/>
              <a:t>5.12.2022</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0A31DFAD-52A6-46D3-8A38-EBF8CEDA5B4A}" type="slidenum">
              <a:rPr lang="tr-TR" smtClean="0"/>
              <a:t>‹#›</a:t>
            </a:fld>
            <a:endParaRPr lang="tr-TR"/>
          </a:p>
        </p:txBody>
      </p:sp>
    </p:spTree>
    <p:extLst>
      <p:ext uri="{BB962C8B-B14F-4D97-AF65-F5344CB8AC3E}">
        <p14:creationId xmlns:p14="http://schemas.microsoft.com/office/powerpoint/2010/main" val="25355055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lvl1pPr>
              <a:defRPr/>
            </a:lvl1pPr>
          </a:lstStyle>
          <a:p>
            <a:r>
              <a:rPr lang="tr-TR"/>
              <a:t>Asıl başlık stili için tıklatın</a:t>
            </a:r>
          </a:p>
        </p:txBody>
      </p:sp>
      <p:sp>
        <p:nvSpPr>
          <p:cNvPr id="3" name="Metin Yer Tutucus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İçerik Yer Tutucus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İçerik Yer Tutucus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p:cNvSpPr>
            <a:spLocks noGrp="1"/>
          </p:cNvSpPr>
          <p:nvPr>
            <p:ph type="dt" sz="half" idx="10"/>
          </p:nvPr>
        </p:nvSpPr>
        <p:spPr/>
        <p:txBody>
          <a:bodyPr/>
          <a:lstStyle/>
          <a:p>
            <a:fld id="{8C3C9047-6DA9-483A-81E2-29FF55B157E8}" type="datetimeFigureOut">
              <a:rPr lang="tr-TR" smtClean="0"/>
              <a:t>5.12.2022</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0A31DFAD-52A6-46D3-8A38-EBF8CEDA5B4A}" type="slidenum">
              <a:rPr lang="tr-TR" smtClean="0"/>
              <a:t>‹#›</a:t>
            </a:fld>
            <a:endParaRPr lang="tr-TR"/>
          </a:p>
        </p:txBody>
      </p:sp>
    </p:spTree>
    <p:extLst>
      <p:ext uri="{BB962C8B-B14F-4D97-AF65-F5344CB8AC3E}">
        <p14:creationId xmlns:p14="http://schemas.microsoft.com/office/powerpoint/2010/main" val="3771975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Veri Yer Tutucusu 2"/>
          <p:cNvSpPr>
            <a:spLocks noGrp="1"/>
          </p:cNvSpPr>
          <p:nvPr>
            <p:ph type="dt" sz="half" idx="10"/>
          </p:nvPr>
        </p:nvSpPr>
        <p:spPr/>
        <p:txBody>
          <a:bodyPr/>
          <a:lstStyle/>
          <a:p>
            <a:fld id="{8C3C9047-6DA9-483A-81E2-29FF55B157E8}" type="datetimeFigureOut">
              <a:rPr lang="tr-TR" smtClean="0"/>
              <a:t>5.12.2022</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0A31DFAD-52A6-46D3-8A38-EBF8CEDA5B4A}" type="slidenum">
              <a:rPr lang="tr-TR" smtClean="0"/>
              <a:t>‹#›</a:t>
            </a:fld>
            <a:endParaRPr lang="tr-TR"/>
          </a:p>
        </p:txBody>
      </p:sp>
    </p:spTree>
    <p:extLst>
      <p:ext uri="{BB962C8B-B14F-4D97-AF65-F5344CB8AC3E}">
        <p14:creationId xmlns:p14="http://schemas.microsoft.com/office/powerpoint/2010/main" val="1147883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8C3C9047-6DA9-483A-81E2-29FF55B157E8}" type="datetimeFigureOut">
              <a:rPr lang="tr-TR" smtClean="0"/>
              <a:t>5.12.2022</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0A31DFAD-52A6-46D3-8A38-EBF8CEDA5B4A}" type="slidenum">
              <a:rPr lang="tr-TR" smtClean="0"/>
              <a:t>‹#›</a:t>
            </a:fld>
            <a:endParaRPr lang="tr-TR"/>
          </a:p>
        </p:txBody>
      </p:sp>
    </p:spTree>
    <p:extLst>
      <p:ext uri="{BB962C8B-B14F-4D97-AF65-F5344CB8AC3E}">
        <p14:creationId xmlns:p14="http://schemas.microsoft.com/office/powerpoint/2010/main" val="951244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3008313" cy="1162050"/>
          </a:xfrm>
        </p:spPr>
        <p:txBody>
          <a:bodyPr anchor="b"/>
          <a:lstStyle>
            <a:lvl1pPr algn="l">
              <a:defRPr sz="2000" b="1"/>
            </a:lvl1pPr>
          </a:lstStyle>
          <a:p>
            <a:r>
              <a:rPr lang="tr-TR"/>
              <a:t>Asıl başlık stili için tıklatın</a:t>
            </a:r>
          </a:p>
        </p:txBody>
      </p:sp>
      <p:sp>
        <p:nvSpPr>
          <p:cNvPr id="3" name="İçerik Yer Tutucus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8C3C9047-6DA9-483A-81E2-29FF55B157E8}" type="datetimeFigureOut">
              <a:rPr lang="tr-TR" smtClean="0"/>
              <a:t>5.12.2022</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0A31DFAD-52A6-46D3-8A38-EBF8CEDA5B4A}" type="slidenum">
              <a:rPr lang="tr-TR" smtClean="0"/>
              <a:t>‹#›</a:t>
            </a:fld>
            <a:endParaRPr lang="tr-TR"/>
          </a:p>
        </p:txBody>
      </p:sp>
    </p:spTree>
    <p:extLst>
      <p:ext uri="{BB962C8B-B14F-4D97-AF65-F5344CB8AC3E}">
        <p14:creationId xmlns:p14="http://schemas.microsoft.com/office/powerpoint/2010/main" val="1215691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288" y="4800600"/>
            <a:ext cx="5486400" cy="566738"/>
          </a:xfrm>
        </p:spPr>
        <p:txBody>
          <a:bodyPr anchor="b"/>
          <a:lstStyle>
            <a:lvl1pPr algn="l">
              <a:defRPr sz="2000" b="1"/>
            </a:lvl1pPr>
          </a:lstStyle>
          <a:p>
            <a:r>
              <a:rPr lang="tr-TR"/>
              <a:t>Asıl başlık stili için tıklatın</a:t>
            </a:r>
          </a:p>
        </p:txBody>
      </p:sp>
      <p:sp>
        <p:nvSpPr>
          <p:cNvPr id="3" name="Resim Yer Tutucus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8C3C9047-6DA9-483A-81E2-29FF55B157E8}" type="datetimeFigureOut">
              <a:rPr lang="tr-TR" smtClean="0"/>
              <a:t>5.12.2022</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0A31DFAD-52A6-46D3-8A38-EBF8CEDA5B4A}" type="slidenum">
              <a:rPr lang="tr-TR" smtClean="0"/>
              <a:t>‹#›</a:t>
            </a:fld>
            <a:endParaRPr lang="tr-TR"/>
          </a:p>
        </p:txBody>
      </p:sp>
    </p:spTree>
    <p:extLst>
      <p:ext uri="{BB962C8B-B14F-4D97-AF65-F5344CB8AC3E}">
        <p14:creationId xmlns:p14="http://schemas.microsoft.com/office/powerpoint/2010/main" val="1429741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Dikey Metin Yer Tutucusu 2"/>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8C3C9047-6DA9-483A-81E2-29FF55B157E8}" type="datetimeFigureOut">
              <a:rPr lang="tr-TR" smtClean="0"/>
              <a:t>5.12.2022</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0A31DFAD-52A6-46D3-8A38-EBF8CEDA5B4A}" type="slidenum">
              <a:rPr lang="tr-TR" smtClean="0"/>
              <a:t>‹#›</a:t>
            </a:fld>
            <a:endParaRPr lang="tr-TR"/>
          </a:p>
        </p:txBody>
      </p:sp>
    </p:spTree>
    <p:extLst>
      <p:ext uri="{BB962C8B-B14F-4D97-AF65-F5344CB8AC3E}">
        <p14:creationId xmlns:p14="http://schemas.microsoft.com/office/powerpoint/2010/main" val="3546579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8"/>
            <a:ext cx="2057400" cy="5851525"/>
          </a:xfrm>
        </p:spPr>
        <p:txBody>
          <a:bodyPr vert="eaVert"/>
          <a:lstStyle/>
          <a:p>
            <a:r>
              <a:rPr lang="tr-TR"/>
              <a:t>Asıl başlık stili için tıklatın</a:t>
            </a:r>
          </a:p>
        </p:txBody>
      </p:sp>
      <p:sp>
        <p:nvSpPr>
          <p:cNvPr id="3" name="Dikey Metin Yer Tutucusu 2"/>
          <p:cNvSpPr>
            <a:spLocks noGrp="1"/>
          </p:cNvSpPr>
          <p:nvPr>
            <p:ph type="body" orient="vert" idx="1"/>
          </p:nvPr>
        </p:nvSpPr>
        <p:spPr>
          <a:xfrm>
            <a:off x="457200" y="274638"/>
            <a:ext cx="6019800" cy="5851525"/>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8C3C9047-6DA9-483A-81E2-29FF55B157E8}" type="datetimeFigureOut">
              <a:rPr lang="tr-TR" smtClean="0"/>
              <a:t>5.12.2022</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0A31DFAD-52A6-46D3-8A38-EBF8CEDA5B4A}" type="slidenum">
              <a:rPr lang="tr-TR" smtClean="0"/>
              <a:t>‹#›</a:t>
            </a:fld>
            <a:endParaRPr lang="tr-TR"/>
          </a:p>
        </p:txBody>
      </p:sp>
    </p:spTree>
    <p:extLst>
      <p:ext uri="{BB962C8B-B14F-4D97-AF65-F5344CB8AC3E}">
        <p14:creationId xmlns:p14="http://schemas.microsoft.com/office/powerpoint/2010/main" val="494902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a:t>Asıl başlık stili için tıklatın</a:t>
            </a:r>
          </a:p>
        </p:txBody>
      </p:sp>
      <p:sp>
        <p:nvSpPr>
          <p:cNvPr id="3" name="Metin Yer Tutucusu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3C9047-6DA9-483A-81E2-29FF55B157E8}" type="datetimeFigureOut">
              <a:rPr lang="tr-TR" smtClean="0"/>
              <a:t>5.12.2022</a:t>
            </a:fld>
            <a:endParaRPr lang="tr-TR"/>
          </a:p>
        </p:txBody>
      </p:sp>
      <p:sp>
        <p:nvSpPr>
          <p:cNvPr id="5" name="Altbilgi Yer Tutucusu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31DFAD-52A6-46D3-8A38-EBF8CEDA5B4A}" type="slidenum">
              <a:rPr lang="tr-TR" smtClean="0"/>
              <a:t>‹#›</a:t>
            </a:fld>
            <a:endParaRPr lang="tr-TR"/>
          </a:p>
        </p:txBody>
      </p:sp>
    </p:spTree>
    <p:extLst>
      <p:ext uri="{BB962C8B-B14F-4D97-AF65-F5344CB8AC3E}">
        <p14:creationId xmlns:p14="http://schemas.microsoft.com/office/powerpoint/2010/main" val="14625502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nvan 1"/>
          <p:cNvSpPr>
            <a:spLocks noGrp="1"/>
          </p:cNvSpPr>
          <p:nvPr>
            <p:ph type="ctrTitle"/>
          </p:nvPr>
        </p:nvSpPr>
        <p:spPr>
          <a:xfrm>
            <a:off x="685800" y="2130425"/>
            <a:ext cx="7772400" cy="1470025"/>
          </a:xfrm>
        </p:spPr>
        <p:txBody>
          <a:bodyPr/>
          <a:lstStyle/>
          <a:p>
            <a:r>
              <a:rPr lang="tr-TR" dirty="0"/>
              <a:t>Mantık Devreleri </a:t>
            </a:r>
            <a:br>
              <a:rPr lang="tr-TR" dirty="0"/>
            </a:br>
            <a:r>
              <a:rPr lang="tr-TR" dirty="0"/>
              <a:t>DERS 8</a:t>
            </a:r>
            <a:endParaRPr lang="en-GB" dirty="0"/>
          </a:p>
        </p:txBody>
      </p:sp>
    </p:spTree>
    <p:extLst>
      <p:ext uri="{BB962C8B-B14F-4D97-AF65-F5344CB8AC3E}">
        <p14:creationId xmlns:p14="http://schemas.microsoft.com/office/powerpoint/2010/main" val="81905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611560" y="908720"/>
            <a:ext cx="7992888" cy="1446550"/>
          </a:xfrm>
          <a:prstGeom prst="rect">
            <a:avLst/>
          </a:prstGeom>
        </p:spPr>
        <p:txBody>
          <a:bodyPr wrap="square">
            <a:spAutoFit/>
          </a:bodyPr>
          <a:lstStyle/>
          <a:p>
            <a:r>
              <a:rPr lang="tr-TR" sz="4400" b="1" dirty="0"/>
              <a:t>Bileşik Mantık Devreleri</a:t>
            </a:r>
          </a:p>
          <a:p>
            <a:r>
              <a:rPr lang="tr-TR" sz="4400" b="1" dirty="0"/>
              <a:t>(</a:t>
            </a:r>
            <a:r>
              <a:rPr lang="tr-TR" sz="4400" b="1" dirty="0" err="1"/>
              <a:t>Combinational</a:t>
            </a:r>
            <a:r>
              <a:rPr lang="tr-TR" sz="4400" b="1" dirty="0"/>
              <a:t> </a:t>
            </a:r>
            <a:r>
              <a:rPr lang="tr-TR" sz="4400" b="1" dirty="0" err="1"/>
              <a:t>Logic</a:t>
            </a:r>
            <a:r>
              <a:rPr lang="tr-TR" sz="4400" b="1" dirty="0"/>
              <a:t>)</a:t>
            </a:r>
            <a:endParaRPr lang="tr-TR" sz="4400" dirty="0"/>
          </a:p>
        </p:txBody>
      </p:sp>
    </p:spTree>
    <p:extLst>
      <p:ext uri="{BB962C8B-B14F-4D97-AF65-F5344CB8AC3E}">
        <p14:creationId xmlns:p14="http://schemas.microsoft.com/office/powerpoint/2010/main" val="10632270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07504" y="751344"/>
            <a:ext cx="9036496" cy="4216539"/>
          </a:xfrm>
          <a:prstGeom prst="rect">
            <a:avLst/>
          </a:prstGeom>
        </p:spPr>
        <p:txBody>
          <a:bodyPr wrap="square">
            <a:spAutoFit/>
          </a:bodyPr>
          <a:lstStyle/>
          <a:p>
            <a:r>
              <a:rPr lang="tr-TR" sz="2800" b="1" dirty="0"/>
              <a:t>Giriş</a:t>
            </a:r>
          </a:p>
          <a:p>
            <a:r>
              <a:rPr lang="tr-TR" sz="2400" dirty="0"/>
              <a:t>Dijital sistemlerde kullanılan mantık devreleri, bileşik (</a:t>
            </a:r>
            <a:r>
              <a:rPr lang="tr-TR" sz="2400" dirty="0" err="1"/>
              <a:t>combinational</a:t>
            </a:r>
            <a:r>
              <a:rPr lang="tr-TR" sz="2400" dirty="0"/>
              <a:t>) devreler ve </a:t>
            </a:r>
            <a:r>
              <a:rPr lang="tr-TR" sz="2400" dirty="0" err="1"/>
              <a:t>ardışıl</a:t>
            </a:r>
            <a:r>
              <a:rPr lang="tr-TR" sz="2400" dirty="0"/>
              <a:t> sıralı (</a:t>
            </a:r>
            <a:r>
              <a:rPr lang="tr-TR" sz="2400" dirty="0" err="1"/>
              <a:t>sequential</a:t>
            </a:r>
            <a:r>
              <a:rPr lang="tr-TR" sz="2400" dirty="0"/>
              <a:t>) devreler şeklinde gruplandırılabilir.</a:t>
            </a:r>
          </a:p>
          <a:p>
            <a:r>
              <a:rPr lang="tr-TR" sz="2400" dirty="0"/>
              <a:t>Temel lojik kapılardan oluşan ve devrelerin çıkışları doğrudan girişlerin o anki durumlarına göre belirlenen devreler, </a:t>
            </a:r>
            <a:r>
              <a:rPr lang="tr-TR" sz="2400" b="1" dirty="0"/>
              <a:t>‘bileşik mantık devreleri’ </a:t>
            </a:r>
            <a:r>
              <a:rPr lang="tr-TR" sz="2400" dirty="0"/>
              <a:t>olarak adlandırılır. </a:t>
            </a:r>
          </a:p>
          <a:p>
            <a:r>
              <a:rPr lang="tr-TR" sz="2400" dirty="0"/>
              <a:t>Bileşik devreler bazen, </a:t>
            </a:r>
            <a:r>
              <a:rPr lang="tr-TR" sz="2400" b="1" dirty="0"/>
              <a:t>‘birleşik mantık devreleri’ </a:t>
            </a:r>
            <a:r>
              <a:rPr lang="tr-TR" sz="2400" dirty="0"/>
              <a:t>olarak da isimlendirilir. Bir bileşik devre; giriş değişkenleri, lojik kapılar ve çıkış değişkenlerinden oluşur (Şekil 8.1). Lojik kapı, giriş değişkenlerini alır, bunları işler ve çıkış için bilgi (değişkenler) üretir. Yapılan işlem, ikili giriş verilerin işlenmesi ve uygun çıkış verileri şekline dönüştürülmesidir.</a:t>
            </a:r>
          </a:p>
        </p:txBody>
      </p:sp>
    </p:spTree>
    <p:extLst>
      <p:ext uri="{BB962C8B-B14F-4D97-AF65-F5344CB8AC3E}">
        <p14:creationId xmlns:p14="http://schemas.microsoft.com/office/powerpoint/2010/main" val="3298382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055" y="692696"/>
            <a:ext cx="8598715" cy="53285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91354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659" y="476672"/>
            <a:ext cx="8631022" cy="52565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9238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827584" y="404664"/>
            <a:ext cx="3925113" cy="461665"/>
          </a:xfrm>
          <a:prstGeom prst="rect">
            <a:avLst/>
          </a:prstGeom>
        </p:spPr>
        <p:txBody>
          <a:bodyPr wrap="none">
            <a:spAutoFit/>
          </a:bodyPr>
          <a:lstStyle/>
          <a:p>
            <a:r>
              <a:rPr lang="tr-TR" sz="2400" b="1" dirty="0"/>
              <a:t>Bileşik Devre Tasarım Esasları</a:t>
            </a:r>
            <a:endParaRPr lang="tr-TR" sz="2400" dirty="0"/>
          </a:p>
        </p:txBody>
      </p:sp>
      <p:sp>
        <p:nvSpPr>
          <p:cNvPr id="3" name="Dikdörtgen 2"/>
          <p:cNvSpPr/>
          <p:nvPr/>
        </p:nvSpPr>
        <p:spPr>
          <a:xfrm>
            <a:off x="419876" y="866329"/>
            <a:ext cx="8544611" cy="5109091"/>
          </a:xfrm>
          <a:prstGeom prst="rect">
            <a:avLst/>
          </a:prstGeom>
        </p:spPr>
        <p:txBody>
          <a:bodyPr wrap="square">
            <a:spAutoFit/>
          </a:bodyPr>
          <a:lstStyle/>
          <a:p>
            <a:r>
              <a:rPr lang="tr-TR" dirty="0"/>
              <a:t>Bir bileşik devrenin tasarımı, problemlerin ifade edilmesiyle başlayıp, lojik devrenin</a:t>
            </a:r>
          </a:p>
          <a:p>
            <a:r>
              <a:rPr lang="tr-TR" dirty="0"/>
              <a:t>çizilmesi ile biter. Lojik tasarımın içerdiği işlem basamakları aşağıdaki şekilde özetlenebilir:</a:t>
            </a:r>
          </a:p>
          <a:p>
            <a:endParaRPr lang="tr-TR" dirty="0"/>
          </a:p>
          <a:p>
            <a:pPr>
              <a:spcAft>
                <a:spcPts val="600"/>
              </a:spcAft>
            </a:pPr>
            <a:r>
              <a:rPr lang="tr-TR" sz="2000" dirty="0"/>
              <a:t>i- Problem belirlenir.</a:t>
            </a:r>
          </a:p>
          <a:p>
            <a:pPr>
              <a:spcAft>
                <a:spcPts val="600"/>
              </a:spcAft>
            </a:pPr>
            <a:r>
              <a:rPr lang="tr-TR" sz="2000" dirty="0"/>
              <a:t>ii- Giriş değişkenlerinin sayısı ve gerekli çıkış değişkenleri tespit edilir.</a:t>
            </a:r>
          </a:p>
          <a:p>
            <a:pPr>
              <a:spcAft>
                <a:spcPts val="600"/>
              </a:spcAft>
            </a:pPr>
            <a:r>
              <a:rPr lang="tr-TR" sz="2000" dirty="0"/>
              <a:t>iii- Giriş ve çıkış olarak kullanılacak değişkenlere isim verilir.</a:t>
            </a:r>
          </a:p>
          <a:p>
            <a:pPr>
              <a:spcAft>
                <a:spcPts val="600"/>
              </a:spcAft>
            </a:pPr>
            <a:r>
              <a:rPr lang="tr-TR" sz="2000" dirty="0"/>
              <a:t>iv- Giriş ve çıkış değişkenleri arasındaki ilişkiyi belirleyen doğruluk tablosu</a:t>
            </a:r>
          </a:p>
          <a:p>
            <a:pPr>
              <a:spcAft>
                <a:spcPts val="600"/>
              </a:spcAft>
            </a:pPr>
            <a:r>
              <a:rPr lang="tr-TR" sz="2000" dirty="0"/>
              <a:t>oluşturulur.</a:t>
            </a:r>
          </a:p>
          <a:p>
            <a:pPr>
              <a:spcAft>
                <a:spcPts val="600"/>
              </a:spcAft>
            </a:pPr>
            <a:r>
              <a:rPr lang="tr-TR" sz="2000" dirty="0"/>
              <a:t>v- Her bir çıkış için uygun </a:t>
            </a:r>
            <a:r>
              <a:rPr lang="tr-TR" sz="2000" dirty="0" err="1"/>
              <a:t>Boolean</a:t>
            </a:r>
            <a:r>
              <a:rPr lang="tr-TR" sz="2000" dirty="0"/>
              <a:t> fonksiyonu yazılır.</a:t>
            </a:r>
          </a:p>
          <a:p>
            <a:pPr>
              <a:spcAft>
                <a:spcPts val="600"/>
              </a:spcAft>
            </a:pPr>
            <a:r>
              <a:rPr lang="tr-TR" sz="2000" dirty="0"/>
              <a:t>vi- Elde edilen </a:t>
            </a:r>
            <a:r>
              <a:rPr lang="tr-TR" sz="2000" dirty="0" err="1"/>
              <a:t>Boolean</a:t>
            </a:r>
            <a:r>
              <a:rPr lang="tr-TR" sz="2000" dirty="0"/>
              <a:t> fonksiyonları sadeleştirilir.</a:t>
            </a:r>
          </a:p>
          <a:p>
            <a:pPr>
              <a:spcAft>
                <a:spcPts val="600"/>
              </a:spcAft>
            </a:pPr>
            <a:r>
              <a:rPr lang="tr-TR" sz="2000" dirty="0"/>
              <a:t>vii- Lojik devre çizilir.</a:t>
            </a:r>
          </a:p>
          <a:p>
            <a:endParaRPr lang="tr-TR" dirty="0"/>
          </a:p>
          <a:p>
            <a:r>
              <a:rPr lang="tr-TR" dirty="0"/>
              <a:t>İşlem basamakları içerisinde en çok dikkat edilmesi gereken adım, sözlerle çerçevesini</a:t>
            </a:r>
          </a:p>
          <a:p>
            <a:r>
              <a:rPr lang="tr-TR" dirty="0"/>
              <a:t>çizdiğimiz işlemlerin doğruluk tablosu haline getirilmesidir. Çünkü bu aşamada yapılacak</a:t>
            </a:r>
          </a:p>
          <a:p>
            <a:r>
              <a:rPr lang="tr-TR" dirty="0"/>
              <a:t>bir hata, daha sonraki tüm adımlarda hatalı işlem yapılması sonucunu doğurur.</a:t>
            </a:r>
          </a:p>
        </p:txBody>
      </p:sp>
    </p:spTree>
    <p:extLst>
      <p:ext uri="{BB962C8B-B14F-4D97-AF65-F5344CB8AC3E}">
        <p14:creationId xmlns:p14="http://schemas.microsoft.com/office/powerpoint/2010/main" val="20925870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323528" y="889844"/>
            <a:ext cx="8640960" cy="5355312"/>
          </a:xfrm>
          <a:prstGeom prst="rect">
            <a:avLst/>
          </a:prstGeom>
        </p:spPr>
        <p:txBody>
          <a:bodyPr wrap="square">
            <a:spAutoFit/>
          </a:bodyPr>
          <a:lstStyle/>
          <a:p>
            <a:r>
              <a:rPr lang="tr-TR" sz="2400" dirty="0"/>
              <a:t>Doğruluk tablosundan elde edilen çıkış eşitliklerini sadeleştirmek için, sadeleştirme yöntemlerinden uygun olan birisi kullanılabilir. Sadeleştirilen eşitliklerin aşağıdaki özellikleri taşıması istenir:</a:t>
            </a:r>
          </a:p>
          <a:p>
            <a:endParaRPr lang="tr-TR" sz="2400" dirty="0"/>
          </a:p>
          <a:p>
            <a:pPr>
              <a:spcAft>
                <a:spcPts val="600"/>
              </a:spcAft>
            </a:pPr>
            <a:r>
              <a:rPr lang="tr-TR" sz="2400" dirty="0"/>
              <a:t>i- En az sayıda lojik kapı içermesi.</a:t>
            </a:r>
          </a:p>
          <a:p>
            <a:pPr>
              <a:spcAft>
                <a:spcPts val="600"/>
              </a:spcAft>
            </a:pPr>
            <a:r>
              <a:rPr lang="tr-TR" sz="2400" dirty="0"/>
              <a:t>ii- Her bir kapının en az sayıda girişe sahip olması.</a:t>
            </a:r>
          </a:p>
          <a:p>
            <a:pPr>
              <a:spcAft>
                <a:spcPts val="600"/>
              </a:spcAft>
            </a:pPr>
            <a:r>
              <a:rPr lang="tr-TR" sz="2400" dirty="0"/>
              <a:t>iii- Devrenin minimum yayılım zamanına sahip olması.</a:t>
            </a:r>
          </a:p>
          <a:p>
            <a:pPr>
              <a:spcAft>
                <a:spcPts val="600"/>
              </a:spcAft>
            </a:pPr>
            <a:r>
              <a:rPr lang="tr-TR" sz="2400" dirty="0"/>
              <a:t>iv- Devrenin minimum sayıda bağlantı içermesi.</a:t>
            </a:r>
          </a:p>
          <a:p>
            <a:pPr>
              <a:spcAft>
                <a:spcPts val="600"/>
              </a:spcAft>
            </a:pPr>
            <a:r>
              <a:rPr lang="tr-TR" sz="2400"/>
              <a:t>v- Her bir </a:t>
            </a:r>
            <a:r>
              <a:rPr lang="tr-TR" sz="2400" dirty="0"/>
              <a:t>kapının, sürme kapasitesi sınırının altında eleman sürmesi.</a:t>
            </a:r>
          </a:p>
          <a:p>
            <a:pPr>
              <a:spcAft>
                <a:spcPts val="600"/>
              </a:spcAft>
            </a:pPr>
            <a:endParaRPr lang="tr-TR" sz="2400" dirty="0"/>
          </a:p>
          <a:p>
            <a:r>
              <a:rPr lang="tr-TR" sz="2400" dirty="0"/>
              <a:t>Buradaki tüm kriterlerin aynı anda sağlanması mümkün olmayabilir. Bu durumda, kriterler arasından tasarlanan devrenin aranan özelliklere göre seçim yapılır.</a:t>
            </a:r>
          </a:p>
        </p:txBody>
      </p:sp>
    </p:spTree>
    <p:extLst>
      <p:ext uri="{BB962C8B-B14F-4D97-AF65-F5344CB8AC3E}">
        <p14:creationId xmlns:p14="http://schemas.microsoft.com/office/powerpoint/2010/main" val="4324887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539552" y="332656"/>
            <a:ext cx="4116576" cy="461665"/>
          </a:xfrm>
          <a:prstGeom prst="rect">
            <a:avLst/>
          </a:prstGeom>
        </p:spPr>
        <p:txBody>
          <a:bodyPr wrap="none">
            <a:spAutoFit/>
          </a:bodyPr>
          <a:lstStyle/>
          <a:p>
            <a:r>
              <a:rPr lang="tr-TR" sz="2400" b="1" dirty="0"/>
              <a:t>Kodlama İle İlgili Lojik Devreler</a:t>
            </a:r>
            <a:endParaRPr lang="tr-TR" sz="2400" dirty="0"/>
          </a:p>
        </p:txBody>
      </p:sp>
      <p:sp>
        <p:nvSpPr>
          <p:cNvPr id="3" name="Dikdörtgen 2"/>
          <p:cNvSpPr/>
          <p:nvPr/>
        </p:nvSpPr>
        <p:spPr>
          <a:xfrm>
            <a:off x="503784" y="791143"/>
            <a:ext cx="3882922" cy="461665"/>
          </a:xfrm>
          <a:prstGeom prst="rect">
            <a:avLst/>
          </a:prstGeom>
        </p:spPr>
        <p:txBody>
          <a:bodyPr wrap="none">
            <a:spAutoFit/>
          </a:bodyPr>
          <a:lstStyle/>
          <a:p>
            <a:r>
              <a:rPr lang="tr-TR" sz="2400" b="1" dirty="0">
                <a:solidFill>
                  <a:srgbClr val="FF0000"/>
                </a:solidFill>
              </a:rPr>
              <a:t>Kodlayıcı Devreler (</a:t>
            </a:r>
            <a:r>
              <a:rPr lang="tr-TR" sz="2400" b="1" dirty="0" err="1">
                <a:solidFill>
                  <a:srgbClr val="FF0000"/>
                </a:solidFill>
              </a:rPr>
              <a:t>Encoders</a:t>
            </a:r>
            <a:r>
              <a:rPr lang="tr-TR" b="1" dirty="0"/>
              <a:t>)</a:t>
            </a:r>
            <a:endParaRPr lang="tr-TR" dirty="0"/>
          </a:p>
        </p:txBody>
      </p:sp>
      <p:sp>
        <p:nvSpPr>
          <p:cNvPr id="4" name="Dikdörtgen 3"/>
          <p:cNvSpPr/>
          <p:nvPr/>
        </p:nvSpPr>
        <p:spPr>
          <a:xfrm>
            <a:off x="179512" y="1252809"/>
            <a:ext cx="8856984" cy="1631216"/>
          </a:xfrm>
          <a:prstGeom prst="rect">
            <a:avLst/>
          </a:prstGeom>
        </p:spPr>
        <p:txBody>
          <a:bodyPr wrap="square">
            <a:spAutoFit/>
          </a:bodyPr>
          <a:lstStyle/>
          <a:p>
            <a:r>
              <a:rPr lang="tr-TR" sz="2000" dirty="0"/>
              <a:t>‘n’ bit girişli bir sistemde, girişindeki bilgiyi ikili sayı sisteminde kodlanmış olarak çıkışında veren bileşik devreye, </a:t>
            </a:r>
            <a:r>
              <a:rPr lang="tr-TR" sz="2000" b="1" dirty="0"/>
              <a:t>‘kodlayıcı devre’ </a:t>
            </a:r>
            <a:r>
              <a:rPr lang="tr-TR" sz="2000" dirty="0"/>
              <a:t>(</a:t>
            </a:r>
            <a:r>
              <a:rPr lang="tr-TR" sz="2000" dirty="0" err="1"/>
              <a:t>encoder</a:t>
            </a:r>
            <a:r>
              <a:rPr lang="tr-TR" sz="2000" dirty="0"/>
              <a:t>) denir. Farklı bir bakış acısı ile, insanlar tarafından kolayca anlaşılabilen rakam ve karakterlerin farklı bilgiler şekline dönüştürülmesini sağlayan devreler, ‘kodlayıcı devreler’ olarak isimlendirilir.</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009" y="2852936"/>
            <a:ext cx="8928487" cy="34563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436191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51520" y="260648"/>
            <a:ext cx="8712968" cy="2308324"/>
          </a:xfrm>
          <a:prstGeom prst="rect">
            <a:avLst/>
          </a:prstGeom>
        </p:spPr>
        <p:txBody>
          <a:bodyPr wrap="square">
            <a:spAutoFit/>
          </a:bodyPr>
          <a:lstStyle/>
          <a:p>
            <a:r>
              <a:rPr lang="tr-TR" dirty="0"/>
              <a:t>Kodlayıcı devrelerde, herhangi bir anda girişlerden sadece bir tanesi aktif olabilir ve aktif</a:t>
            </a:r>
          </a:p>
          <a:p>
            <a:r>
              <a:rPr lang="tr-TR" dirty="0"/>
              <a:t>olan girişe göre ‘m’ bitli çıkış kodu üretilir. Şekil 8.3’de, ‘n’ bit girişli ‘m’ bit çıkışlı bir</a:t>
            </a:r>
          </a:p>
          <a:p>
            <a:r>
              <a:rPr lang="tr-TR" dirty="0"/>
              <a:t>kodlayıcı devrenin blok şeması görülmektedir.</a:t>
            </a:r>
          </a:p>
          <a:p>
            <a:r>
              <a:rPr lang="tr-TR" dirty="0"/>
              <a:t>Dört girişe sahip bir </a:t>
            </a:r>
            <a:r>
              <a:rPr lang="tr-TR" dirty="0" err="1"/>
              <a:t>kodlayıcının</a:t>
            </a:r>
            <a:r>
              <a:rPr lang="tr-TR" dirty="0"/>
              <a:t> çıkışı, ikili sisteme Şekil 8.4'deki gibi dönüştürülebilir.</a:t>
            </a:r>
          </a:p>
          <a:p>
            <a:r>
              <a:rPr lang="tr-TR" dirty="0"/>
              <a:t>Dört giriş, çıkışta iki bitlik ikili sayı ile temsil edilir. Girişlerden herhangi birinin aktif olması</a:t>
            </a:r>
          </a:p>
          <a:p>
            <a:r>
              <a:rPr lang="tr-TR" dirty="0"/>
              <a:t>ile çıkışlar uygun kombinasyonu alır. Bu devreye, ‘</a:t>
            </a:r>
            <a:r>
              <a:rPr lang="tr-TR" b="1" dirty="0"/>
              <a:t>4 girişten 2 çıkışa kodlayıcı devresi</a:t>
            </a:r>
            <a:r>
              <a:rPr lang="tr-TR" dirty="0"/>
              <a:t>’</a:t>
            </a:r>
          </a:p>
          <a:p>
            <a:r>
              <a:rPr lang="tr-TR" dirty="0"/>
              <a:t>denebilir. Aynı şekilde, 8 giriş ve üç bit çıkış koduna sahip bir kodlayıcı devresi, sekizli</a:t>
            </a:r>
          </a:p>
          <a:p>
            <a:r>
              <a:rPr lang="tr-TR" dirty="0"/>
              <a:t>sistemden ikili sisteme kodlama işlemi yapar.</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200" y="2624138"/>
            <a:ext cx="8816569" cy="34691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799837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176" y="908720"/>
            <a:ext cx="8647376" cy="53285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714882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51520" y="332656"/>
            <a:ext cx="8712968" cy="4893647"/>
          </a:xfrm>
          <a:prstGeom prst="rect">
            <a:avLst/>
          </a:prstGeom>
        </p:spPr>
        <p:txBody>
          <a:bodyPr wrap="square">
            <a:spAutoFit/>
          </a:bodyPr>
          <a:lstStyle/>
          <a:p>
            <a:r>
              <a:rPr lang="tr-TR" sz="2400" dirty="0"/>
              <a:t>Şekil 8.5’de sekizli sistemden ikili sisteme kodlayıcı devrenin doğruluk tablosu ve lojik devresi görülmektedir. Şekil 8.5’deki devrede girişlerden herhangi biri aktif (1) olunca, çıkışlar uygun kombinasyonda ‘1’ değerlerine sahip olur.</a:t>
            </a:r>
          </a:p>
          <a:p>
            <a:endParaRPr lang="tr-TR" sz="2400" dirty="0"/>
          </a:p>
          <a:p>
            <a:r>
              <a:rPr lang="tr-TR" sz="2400" dirty="0"/>
              <a:t> Örneğin; A3’un aktif olması ile </a:t>
            </a:r>
            <a:r>
              <a:rPr lang="tr-TR" sz="2400" dirty="0" err="1"/>
              <a:t>cıkışlar</a:t>
            </a:r>
            <a:r>
              <a:rPr lang="tr-TR" sz="2400" dirty="0"/>
              <a:t> Q2=0, Q1=1, Q0=1 değerlerini alır. A0 girişi </a:t>
            </a:r>
            <a:r>
              <a:rPr lang="tr-TR" sz="2400" dirty="0" err="1"/>
              <a:t>hicbir</a:t>
            </a:r>
            <a:r>
              <a:rPr lang="tr-TR" sz="2400" dirty="0"/>
              <a:t> yere bağlanmamıştır. Çünkü, ‘Q3, Q2, Q1’ </a:t>
            </a:r>
            <a:r>
              <a:rPr lang="tr-TR" sz="2400" dirty="0" err="1"/>
              <a:t>cıkışları</a:t>
            </a:r>
            <a:r>
              <a:rPr lang="tr-TR" sz="2400" dirty="0"/>
              <a:t> ‘000’ değerlerine sahiptir. Aynı anda yalnız bir girişin aktif olduğu durumlarda kodlama işlemi gerçekleştirilir. Birden fazla girişin aynı anda aktif olması durumunda problem oluşur. Bu durumda çıkışta kodlanan bilgi, girişlerden farklı bir değeri ifade eder. Bu problemi ortadan kaldırmak yani iki girişin aynı anda aktif olmasını önlemek için, öncelikli kodlayıcı olarak isimlendirilen sistem uygulanır</a:t>
            </a:r>
          </a:p>
        </p:txBody>
      </p:sp>
    </p:spTree>
    <p:extLst>
      <p:ext uri="{BB962C8B-B14F-4D97-AF65-F5344CB8AC3E}">
        <p14:creationId xmlns:p14="http://schemas.microsoft.com/office/powerpoint/2010/main" val="27080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2346" y="188640"/>
            <a:ext cx="7864070" cy="61855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562075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79512" y="332656"/>
            <a:ext cx="8712968" cy="5324535"/>
          </a:xfrm>
          <a:prstGeom prst="rect">
            <a:avLst/>
          </a:prstGeom>
        </p:spPr>
        <p:txBody>
          <a:bodyPr wrap="square">
            <a:spAutoFit/>
          </a:bodyPr>
          <a:lstStyle/>
          <a:p>
            <a:r>
              <a:rPr lang="tr-TR" sz="2000" dirty="0"/>
              <a:t>Öncelikli kodlayıcı sistemde, birden fazla girişin aynı anda ‘1’ olması durumunda girişlerden yalnızca biri seçilir (en yüksek değere sahip olan) ve seçilen girişe göre çıkış verilir. 74147, </a:t>
            </a:r>
            <a:r>
              <a:rPr lang="nb-NO" sz="2000" dirty="0"/>
              <a:t>74LS148, 4532 ve 74HC147 entegreleri, </a:t>
            </a:r>
            <a:r>
              <a:rPr lang="tr-TR" sz="2000" dirty="0"/>
              <a:t>ö</a:t>
            </a:r>
            <a:r>
              <a:rPr lang="nb-NO" sz="2000" dirty="0"/>
              <a:t>ncelikli kodlayıcılı entegrelerdir.</a:t>
            </a:r>
            <a:endParaRPr lang="tr-TR" sz="2000" dirty="0"/>
          </a:p>
          <a:p>
            <a:endParaRPr lang="nb-NO" sz="2000" dirty="0"/>
          </a:p>
          <a:p>
            <a:r>
              <a:rPr lang="tr-TR" sz="2000" dirty="0"/>
              <a:t>Onluk sistemden ikili sisteme kodlayan bir kodlayıcı devresi (BCD), 74147 entegresi kullanılarak gerçekleştirilebilir. 74147 entegresi 9 adet girişe (aktif ‘0’) sahiptir ve bu girişler 1’den 9’a kadarki sayıları temsil ederler. Çıkışlarda elde edilen kodlanmış değerler, en yüksek </a:t>
            </a:r>
            <a:r>
              <a:rPr lang="tr-TR" sz="2000" dirty="0" err="1"/>
              <a:t>değerlikli</a:t>
            </a:r>
            <a:r>
              <a:rPr lang="tr-TR" sz="2000" dirty="0"/>
              <a:t> girişin terslenmiş BCD kodlu eşdeğeridir</a:t>
            </a:r>
          </a:p>
          <a:p>
            <a:endParaRPr lang="tr-TR" sz="2000" dirty="0"/>
          </a:p>
          <a:p>
            <a:r>
              <a:rPr lang="tr-TR" sz="2000" dirty="0"/>
              <a:t>74147 entegresinin doğruluk tablosu incelenirse; ilk satırın çıkışındaki değerin 0000’ın </a:t>
            </a:r>
            <a:r>
              <a:rPr lang="tr-TR" sz="2000" dirty="0" err="1"/>
              <a:t>tümleyeni</a:t>
            </a:r>
            <a:r>
              <a:rPr lang="tr-TR" sz="2000" dirty="0"/>
              <a:t> (tersi) yani 1111 olduğu ve bunun BCD 15’e karşılık geldiği görülür. İkinci satırdaki çıkış değerlerinin A9’nun karşılığı olarak 1001 değerinin </a:t>
            </a:r>
            <a:r>
              <a:rPr lang="tr-TR" sz="2000" dirty="0" err="1"/>
              <a:t>tümleyeni</a:t>
            </a:r>
            <a:r>
              <a:rPr lang="tr-TR" sz="2000" dirty="0"/>
              <a:t> yani 0110 olduğu bulunur. Takip eden satırlarda, aynı şekilde aktif olan girişin karşılığı olan ikili sayının </a:t>
            </a:r>
            <a:r>
              <a:rPr lang="tr-TR" sz="2000" dirty="0" err="1"/>
              <a:t>tümleyeninin</a:t>
            </a:r>
            <a:r>
              <a:rPr lang="tr-TR" sz="2000" dirty="0"/>
              <a:t> bulunduğu görülür. 74147 entegresi çıkışı, girişlerden hiçbirinin aktif olmadığı durumda 1111 olur ve bu değer 0’ı temsil eder.</a:t>
            </a:r>
          </a:p>
        </p:txBody>
      </p:sp>
    </p:spTree>
    <p:extLst>
      <p:ext uri="{BB962C8B-B14F-4D97-AF65-F5344CB8AC3E}">
        <p14:creationId xmlns:p14="http://schemas.microsoft.com/office/powerpoint/2010/main" val="11970030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79512" y="188640"/>
            <a:ext cx="8784976" cy="1754326"/>
          </a:xfrm>
          <a:prstGeom prst="rect">
            <a:avLst/>
          </a:prstGeom>
        </p:spPr>
        <p:txBody>
          <a:bodyPr wrap="square">
            <a:spAutoFit/>
          </a:bodyPr>
          <a:lstStyle/>
          <a:p>
            <a:r>
              <a:rPr lang="tr-TR" dirty="0"/>
              <a:t>Onlu sistemden </a:t>
            </a:r>
            <a:r>
              <a:rPr lang="tr-TR" dirty="0" err="1"/>
              <a:t>BCD’ye</a:t>
            </a:r>
            <a:r>
              <a:rPr lang="tr-TR" dirty="0"/>
              <a:t> kodlayıcı devrelerin en basit şekli, diyot matrisle yapılan ve anahtar</a:t>
            </a:r>
          </a:p>
          <a:p>
            <a:r>
              <a:rPr lang="tr-TR" dirty="0"/>
              <a:t>kodlayıcı (</a:t>
            </a:r>
            <a:r>
              <a:rPr lang="tr-TR" dirty="0" err="1"/>
              <a:t>switch</a:t>
            </a:r>
            <a:r>
              <a:rPr lang="tr-TR" dirty="0"/>
              <a:t> </a:t>
            </a:r>
            <a:r>
              <a:rPr lang="tr-TR" dirty="0" err="1"/>
              <a:t>encoder</a:t>
            </a:r>
            <a:r>
              <a:rPr lang="tr-TR" dirty="0"/>
              <a:t>) diye isimlendirilen kodlama devresidir (Şekil 8.7). Bu şekilde</a:t>
            </a:r>
          </a:p>
          <a:p>
            <a:r>
              <a:rPr lang="tr-TR" dirty="0"/>
              <a:t>yapılan bir kodlama işleminde; anahtarlardan birisi kapatıldığı zaman, devre kapatılan anahtara bağlı olarak </a:t>
            </a:r>
            <a:r>
              <a:rPr lang="tr-TR" dirty="0" err="1"/>
              <a:t>cıkışında</a:t>
            </a:r>
            <a:r>
              <a:rPr lang="tr-TR" dirty="0"/>
              <a:t> uygun ikili sayı </a:t>
            </a:r>
            <a:r>
              <a:rPr lang="tr-TR" dirty="0" err="1"/>
              <a:t>uretir</a:t>
            </a:r>
            <a:r>
              <a:rPr lang="tr-TR" dirty="0"/>
              <a:t>. </a:t>
            </a:r>
            <a:r>
              <a:rPr lang="tr-TR" dirty="0" err="1"/>
              <a:t>Orneğin</a:t>
            </a:r>
            <a:r>
              <a:rPr lang="tr-TR" dirty="0"/>
              <a:t>; 3 </a:t>
            </a:r>
            <a:r>
              <a:rPr lang="tr-TR" dirty="0" err="1"/>
              <a:t>nolu</a:t>
            </a:r>
            <a:r>
              <a:rPr lang="tr-TR" dirty="0"/>
              <a:t> anahtara basıldığı</a:t>
            </a:r>
          </a:p>
          <a:p>
            <a:r>
              <a:rPr lang="tr-TR" dirty="0"/>
              <a:t>zaman </a:t>
            </a:r>
            <a:r>
              <a:rPr lang="tr-TR" dirty="0" err="1"/>
              <a:t>cıkışta</a:t>
            </a:r>
            <a:r>
              <a:rPr lang="tr-TR" dirty="0"/>
              <a:t> ‘0011’ değeri okunurken, 7 </a:t>
            </a:r>
            <a:r>
              <a:rPr lang="tr-TR" dirty="0" err="1"/>
              <a:t>nolu</a:t>
            </a:r>
            <a:r>
              <a:rPr lang="tr-TR" dirty="0"/>
              <a:t> anahtara basıldığı anda ‘0111’ </a:t>
            </a:r>
            <a:r>
              <a:rPr lang="tr-TR" dirty="0" err="1"/>
              <a:t>cıkışı</a:t>
            </a:r>
            <a:r>
              <a:rPr lang="tr-TR" dirty="0"/>
              <a:t> elde</a:t>
            </a:r>
          </a:p>
          <a:p>
            <a:r>
              <a:rPr lang="tr-TR" dirty="0"/>
              <a:t>edilir.</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942966"/>
            <a:ext cx="8064896" cy="43760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991886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7248" y="1052736"/>
            <a:ext cx="7481164" cy="48245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433240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323528" y="332656"/>
            <a:ext cx="8712968" cy="4524315"/>
          </a:xfrm>
          <a:prstGeom prst="rect">
            <a:avLst/>
          </a:prstGeom>
        </p:spPr>
        <p:txBody>
          <a:bodyPr wrap="square">
            <a:spAutoFit/>
          </a:bodyPr>
          <a:lstStyle/>
          <a:p>
            <a:r>
              <a:rPr lang="tr-TR" sz="2400" dirty="0"/>
              <a:t>Onlu sistemden </a:t>
            </a:r>
            <a:r>
              <a:rPr lang="tr-TR" sz="2400" dirty="0" err="1"/>
              <a:t>BCD’ye</a:t>
            </a:r>
            <a:r>
              <a:rPr lang="tr-TR" sz="2400" dirty="0"/>
              <a:t> dönüştürücü devreyi ‘VEYA’ kapıları ile oluşturursak, Şekil 8.8’deki devre oluşur. </a:t>
            </a:r>
            <a:r>
              <a:rPr lang="tr-TR" sz="2400" dirty="0" err="1"/>
              <a:t>Decimal</a:t>
            </a:r>
            <a:r>
              <a:rPr lang="tr-TR" sz="2400" dirty="0"/>
              <a:t> sayılara karşılık gelen anahtarlardan birisine basılması ile ‘VEYA’ kapılarının çıkışlarında (A,B,C ve D) ‘0’ veya ‘1’ değerleri elde edilir. Elde edilen değerler, kapatılan anahtarların karşılığı olarak üretilen ikili kodlu sayılardır. Örneğin; 5 </a:t>
            </a:r>
            <a:r>
              <a:rPr lang="tr-TR" sz="2400" dirty="0" err="1"/>
              <a:t>nolu</a:t>
            </a:r>
            <a:r>
              <a:rPr lang="tr-TR" sz="2400" dirty="0"/>
              <a:t> anahtarın kapatılması ile elde edilen ‘0101’ ikili değeri, onlu tabandaki ‘5’ sayısının BCD kodlu değeridir. Aynı şekilde, ‘9’ sayısının karşılığı olarak çıkışta BCD kodlu ‘1001’ değeri</a:t>
            </a:r>
          </a:p>
          <a:p>
            <a:r>
              <a:rPr lang="tr-TR" sz="2400" dirty="0"/>
              <a:t>oluşur.</a:t>
            </a:r>
          </a:p>
          <a:p>
            <a:r>
              <a:rPr lang="tr-TR" sz="2400" dirty="0"/>
              <a:t>Bu uygulamadakine benzer şekilde, matris anahtarlar ve 74C922 entegresi kullanarak </a:t>
            </a:r>
            <a:r>
              <a:rPr lang="tr-TR" sz="2400" dirty="0" err="1"/>
              <a:t>onaltılı</a:t>
            </a:r>
            <a:r>
              <a:rPr lang="tr-TR" sz="2400" dirty="0"/>
              <a:t> sistemdeki sayıların ikili sayılara dönüştürülmesi mümkündür.</a:t>
            </a:r>
          </a:p>
        </p:txBody>
      </p:sp>
    </p:spTree>
    <p:extLst>
      <p:ext uri="{BB962C8B-B14F-4D97-AF65-F5344CB8AC3E}">
        <p14:creationId xmlns:p14="http://schemas.microsoft.com/office/powerpoint/2010/main" val="29881381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633413"/>
            <a:ext cx="8208912" cy="60359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94441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630203" y="332656"/>
            <a:ext cx="3444661" cy="461665"/>
          </a:xfrm>
          <a:prstGeom prst="rect">
            <a:avLst/>
          </a:prstGeom>
        </p:spPr>
        <p:txBody>
          <a:bodyPr wrap="none">
            <a:spAutoFit/>
          </a:bodyPr>
          <a:lstStyle/>
          <a:p>
            <a:r>
              <a:rPr lang="tr-TR" sz="2400" b="1" dirty="0">
                <a:solidFill>
                  <a:srgbClr val="FF0000"/>
                </a:solidFill>
              </a:rPr>
              <a:t>Kod Çözücüler (</a:t>
            </a:r>
            <a:r>
              <a:rPr lang="tr-TR" sz="2400" b="1" dirty="0" err="1">
                <a:solidFill>
                  <a:srgbClr val="FF0000"/>
                </a:solidFill>
              </a:rPr>
              <a:t>Decoders</a:t>
            </a:r>
            <a:r>
              <a:rPr lang="tr-TR" sz="2400" b="1" dirty="0">
                <a:solidFill>
                  <a:srgbClr val="FF0000"/>
                </a:solidFill>
              </a:rPr>
              <a:t>)</a:t>
            </a:r>
            <a:endParaRPr lang="tr-TR" sz="2400" dirty="0">
              <a:solidFill>
                <a:srgbClr val="FF0000"/>
              </a:solidFill>
            </a:endParaRPr>
          </a:p>
        </p:txBody>
      </p:sp>
      <p:sp>
        <p:nvSpPr>
          <p:cNvPr id="3" name="Dikdörtgen 2"/>
          <p:cNvSpPr/>
          <p:nvPr/>
        </p:nvSpPr>
        <p:spPr>
          <a:xfrm>
            <a:off x="179512" y="692696"/>
            <a:ext cx="8820472" cy="2031325"/>
          </a:xfrm>
          <a:prstGeom prst="rect">
            <a:avLst/>
          </a:prstGeom>
        </p:spPr>
        <p:txBody>
          <a:bodyPr wrap="square">
            <a:spAutoFit/>
          </a:bodyPr>
          <a:lstStyle/>
          <a:p>
            <a:r>
              <a:rPr lang="tr-TR" dirty="0"/>
              <a:t>Dijital sistemlerde bilgiler ikili sayılar olarak temsil edilir ve yapılan işlemler ikili sayılarla</a:t>
            </a:r>
          </a:p>
          <a:p>
            <a:r>
              <a:rPr lang="tr-TR" dirty="0"/>
              <a:t>gerçekleştirilir. '</a:t>
            </a:r>
            <a:r>
              <a:rPr lang="tr-TR" b="1" dirty="0"/>
              <a:t>Kod çözücü</a:t>
            </a:r>
            <a:r>
              <a:rPr lang="tr-TR" dirty="0"/>
              <a:t>' (</a:t>
            </a:r>
            <a:r>
              <a:rPr lang="tr-TR" dirty="0" err="1"/>
              <a:t>decoder</a:t>
            </a:r>
            <a:r>
              <a:rPr lang="tr-TR" dirty="0"/>
              <a:t>) devresi; kodlayıcı devresinin tersini yaparak, ‘n’</a:t>
            </a:r>
          </a:p>
          <a:p>
            <a:r>
              <a:rPr lang="tr-TR" dirty="0"/>
              <a:t>sayıdaki giriş hattından gelen ikili bilgileri maksimum 2ᶯ sayıda çıkış hattına dönüştüren</a:t>
            </a:r>
          </a:p>
          <a:p>
            <a:r>
              <a:rPr lang="tr-TR" dirty="0"/>
              <a:t>bileşik bir devredir. Diğer bir deyişle; değişik formlarda ifade edilen bilgilerin insanların</a:t>
            </a:r>
          </a:p>
          <a:p>
            <a:r>
              <a:rPr lang="tr-TR" dirty="0"/>
              <a:t>kolayca anlayabileceği şekle dönüştürülmesini sağlayan devreler, </a:t>
            </a:r>
            <a:r>
              <a:rPr lang="tr-TR" b="1" dirty="0"/>
              <a:t>‘kod çözücü devreler’</a:t>
            </a:r>
          </a:p>
          <a:p>
            <a:r>
              <a:rPr lang="tr-TR" dirty="0"/>
              <a:t>olarak isimlendirilir. Kodu çözülen ‘n’ bitli bilginin kullanılmayan girişleri varsa kod çözücü</a:t>
            </a:r>
          </a:p>
          <a:p>
            <a:r>
              <a:rPr lang="tr-TR" dirty="0"/>
              <a:t>çıkışındaki çıkış sayısı 2ᶯ’den az olur. Şekil 8.9’da kod çözücü blok şeması görülmektedir.</a:t>
            </a:r>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7" y="3068960"/>
            <a:ext cx="8319643" cy="30963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689050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88" y="188640"/>
            <a:ext cx="8830708" cy="62646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845869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395536" y="476672"/>
            <a:ext cx="8496944" cy="1477328"/>
          </a:xfrm>
          <a:prstGeom prst="rect">
            <a:avLst/>
          </a:prstGeom>
        </p:spPr>
        <p:txBody>
          <a:bodyPr wrap="square">
            <a:spAutoFit/>
          </a:bodyPr>
          <a:lstStyle/>
          <a:p>
            <a:r>
              <a:rPr lang="tr-TR" dirty="0"/>
              <a:t>Şekil 8.11’deki devrede her iki girişin ‘0’ olması durumunda; girişlerin terslenerek uygulandığı ‘A’ kapısının çıkışı ‘0’ değerini alır ve katodundaki gerilim anoduna göre (-)</a:t>
            </a:r>
          </a:p>
          <a:p>
            <a:r>
              <a:rPr lang="tr-TR" dirty="0"/>
              <a:t>olan LED yanar. Diğer kapı devreleri giriş değerlerine göre çıkışlarında uygun olan LED’in</a:t>
            </a:r>
          </a:p>
          <a:p>
            <a:r>
              <a:rPr lang="tr-TR" dirty="0"/>
              <a:t>yanmasını sağlar. Her bir LED bir onlu sayıyı temsil ettiğinden onlu değer çıkıştan bulunmuş olur.</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2132856"/>
            <a:ext cx="7828161" cy="45108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809318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07504" y="188640"/>
            <a:ext cx="8784976" cy="1754326"/>
          </a:xfrm>
          <a:prstGeom prst="rect">
            <a:avLst/>
          </a:prstGeom>
        </p:spPr>
        <p:txBody>
          <a:bodyPr wrap="square">
            <a:spAutoFit/>
          </a:bodyPr>
          <a:lstStyle/>
          <a:p>
            <a:r>
              <a:rPr lang="tr-TR" b="1" dirty="0"/>
              <a:t>Örnek 1: </a:t>
            </a:r>
            <a:r>
              <a:rPr lang="tr-TR" dirty="0" err="1"/>
              <a:t>BCD’den</a:t>
            </a:r>
            <a:r>
              <a:rPr lang="tr-TR" dirty="0"/>
              <a:t> onlu sisteme çevirimde kullanılan ve 0-9 arasındaki sayılara kod çözme</a:t>
            </a:r>
          </a:p>
          <a:p>
            <a:r>
              <a:rPr lang="tr-TR" dirty="0"/>
              <a:t>işlemini gerçekleştiren devreyi tasarlayalım.</a:t>
            </a:r>
          </a:p>
          <a:p>
            <a:r>
              <a:rPr lang="tr-TR" dirty="0"/>
              <a:t>Bu şekilde çalışan kod çözücüler entegre devre olarak imal edilmiş olsalar da kod çözücü</a:t>
            </a:r>
          </a:p>
          <a:p>
            <a:r>
              <a:rPr lang="tr-TR" dirty="0"/>
              <a:t>tasarlama mantığı acısından iyi bir örnek olacaktır. </a:t>
            </a:r>
            <a:r>
              <a:rPr lang="tr-TR" dirty="0" err="1"/>
              <a:t>BCD’den</a:t>
            </a:r>
            <a:r>
              <a:rPr lang="tr-TR" dirty="0"/>
              <a:t> onlu sisteme kod çözücü</a:t>
            </a:r>
          </a:p>
          <a:p>
            <a:r>
              <a:rPr lang="tr-TR" dirty="0"/>
              <a:t>devresinin dört bitlik girişine karşılık, her biri bir ondalık sayıyı temsil eden 10 çıkış</a:t>
            </a:r>
          </a:p>
          <a:p>
            <a:r>
              <a:rPr lang="tr-TR" dirty="0"/>
              <a:t>bulunur. Bu şekildeki bir devre, </a:t>
            </a:r>
            <a:r>
              <a:rPr lang="tr-TR" b="1" dirty="0"/>
              <a:t>‘4 giriş / 10 çıkışlı BCD kod çözücü’ </a:t>
            </a:r>
            <a:r>
              <a:rPr lang="tr-TR" dirty="0"/>
              <a:t>olarak isimlendirilir.</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1909632"/>
            <a:ext cx="6381750" cy="4667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353921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408" y="692696"/>
            <a:ext cx="8045492" cy="52565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227720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51520" y="404664"/>
            <a:ext cx="8784976" cy="1477328"/>
          </a:xfrm>
          <a:prstGeom prst="rect">
            <a:avLst/>
          </a:prstGeom>
        </p:spPr>
        <p:txBody>
          <a:bodyPr wrap="square">
            <a:spAutoFit/>
          </a:bodyPr>
          <a:lstStyle/>
          <a:p>
            <a:r>
              <a:rPr lang="tr-TR" dirty="0"/>
              <a:t>Tasarım sırasında devrenin 10 çıkışının bulunması nedeniyle, 10 tane </a:t>
            </a:r>
            <a:r>
              <a:rPr lang="tr-TR" dirty="0" err="1"/>
              <a:t>Karnaugh</a:t>
            </a:r>
            <a:r>
              <a:rPr lang="tr-TR" dirty="0"/>
              <a:t> haritası çizip her birine ait ilgili fonksiyonu yazmak gerekir. Aynı anda çıkışlardan yalnızca biri ‘1’</a:t>
            </a:r>
          </a:p>
          <a:p>
            <a:r>
              <a:rPr lang="tr-TR" dirty="0"/>
              <a:t>olacağından, çıkışları Q0 - Q9 şeklinde isimlendirip ilgili hücrelere yerleştirmek,</a:t>
            </a:r>
          </a:p>
          <a:p>
            <a:r>
              <a:rPr lang="tr-TR" dirty="0"/>
              <a:t>fonksiyonları yazmamıza imkan tanır. Eşitlikleri yazmada, BCD sistemde kullanılmayan</a:t>
            </a:r>
          </a:p>
          <a:p>
            <a:r>
              <a:rPr lang="tr-TR" dirty="0"/>
              <a:t>sayıları temsil eden kombinasyonlar </a:t>
            </a:r>
            <a:r>
              <a:rPr lang="tr-TR" dirty="0" err="1"/>
              <a:t>farketmeyen</a:t>
            </a:r>
            <a:r>
              <a:rPr lang="tr-TR" dirty="0"/>
              <a:t> olarak ifade edilir (Şekil 8.12).</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3" y="1898827"/>
            <a:ext cx="8208913" cy="21782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ikdörtgen 2"/>
          <p:cNvSpPr/>
          <p:nvPr/>
        </p:nvSpPr>
        <p:spPr>
          <a:xfrm>
            <a:off x="467543" y="4077072"/>
            <a:ext cx="8496945" cy="1200329"/>
          </a:xfrm>
          <a:prstGeom prst="rect">
            <a:avLst/>
          </a:prstGeom>
        </p:spPr>
        <p:txBody>
          <a:bodyPr wrap="square">
            <a:spAutoFit/>
          </a:bodyPr>
          <a:lstStyle/>
          <a:p>
            <a:r>
              <a:rPr lang="nn-NO" dirty="0"/>
              <a:t>Kod </a:t>
            </a:r>
            <a:r>
              <a:rPr lang="tr-TR" dirty="0" err="1"/>
              <a:t>çö</a:t>
            </a:r>
            <a:r>
              <a:rPr lang="nn-NO" dirty="0"/>
              <a:t>z</a:t>
            </a:r>
            <a:r>
              <a:rPr lang="tr-TR" dirty="0"/>
              <a:t>ü</a:t>
            </a:r>
            <a:r>
              <a:rPr lang="nn-NO" dirty="0"/>
              <a:t>c</a:t>
            </a:r>
            <a:r>
              <a:rPr lang="tr-TR" dirty="0"/>
              <a:t>ü</a:t>
            </a:r>
            <a:r>
              <a:rPr lang="nn-NO" dirty="0"/>
              <a:t>ler, bilgisayarlarda hafıza devrelerinde depolanan bir bilginin adresini bulmak</a:t>
            </a:r>
          </a:p>
          <a:p>
            <a:r>
              <a:rPr lang="tr-TR" dirty="0"/>
              <a:t>amacı ile yaygın olarak kullanılırlar. 7442 entegresi </a:t>
            </a:r>
            <a:r>
              <a:rPr lang="tr-TR" dirty="0" err="1"/>
              <a:t>BCD’den</a:t>
            </a:r>
            <a:r>
              <a:rPr lang="tr-TR" dirty="0"/>
              <a:t> onlu sisteme kod çözme</a:t>
            </a:r>
          </a:p>
          <a:p>
            <a:r>
              <a:rPr lang="tr-TR" dirty="0"/>
              <a:t>işlemini yapar (Şekil 8.12). 7445 entegresi ise </a:t>
            </a:r>
            <a:r>
              <a:rPr lang="tr-TR" dirty="0" err="1"/>
              <a:t>BCD’den</a:t>
            </a:r>
            <a:r>
              <a:rPr lang="tr-TR" dirty="0"/>
              <a:t> onlu sisteme kod çözücü / sürücü</a:t>
            </a:r>
          </a:p>
          <a:p>
            <a:r>
              <a:rPr lang="tr-TR" dirty="0"/>
              <a:t>devresidir. </a:t>
            </a:r>
          </a:p>
        </p:txBody>
      </p:sp>
    </p:spTree>
    <p:extLst>
      <p:ext uri="{BB962C8B-B14F-4D97-AF65-F5344CB8AC3E}">
        <p14:creationId xmlns:p14="http://schemas.microsoft.com/office/powerpoint/2010/main" val="37225181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776" y="548680"/>
            <a:ext cx="8617696" cy="55446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095444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3" y="332656"/>
            <a:ext cx="8856985" cy="12241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1556792"/>
            <a:ext cx="8804615" cy="12961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224209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395536" y="332656"/>
            <a:ext cx="4377737" cy="461665"/>
          </a:xfrm>
          <a:prstGeom prst="rect">
            <a:avLst/>
          </a:prstGeom>
        </p:spPr>
        <p:txBody>
          <a:bodyPr wrap="none">
            <a:spAutoFit/>
          </a:bodyPr>
          <a:lstStyle/>
          <a:p>
            <a:r>
              <a:rPr lang="tr-TR" sz="2400" b="1" dirty="0">
                <a:solidFill>
                  <a:srgbClr val="FF0000"/>
                </a:solidFill>
              </a:rPr>
              <a:t>Kod Çeviriciler (</a:t>
            </a:r>
            <a:r>
              <a:rPr lang="tr-TR" sz="2400" b="1" dirty="0" err="1">
                <a:solidFill>
                  <a:srgbClr val="FF0000"/>
                </a:solidFill>
              </a:rPr>
              <a:t>Code</a:t>
            </a:r>
            <a:r>
              <a:rPr lang="tr-TR" sz="2400" b="1" dirty="0">
                <a:solidFill>
                  <a:srgbClr val="FF0000"/>
                </a:solidFill>
              </a:rPr>
              <a:t> </a:t>
            </a:r>
            <a:r>
              <a:rPr lang="tr-TR" sz="2400" b="1" dirty="0" err="1">
                <a:solidFill>
                  <a:srgbClr val="FF0000"/>
                </a:solidFill>
              </a:rPr>
              <a:t>Converters</a:t>
            </a:r>
            <a:r>
              <a:rPr lang="tr-TR" sz="2400" b="1" dirty="0">
                <a:solidFill>
                  <a:srgbClr val="FF0000"/>
                </a:solidFill>
              </a:rPr>
              <a:t>)</a:t>
            </a:r>
            <a:endParaRPr lang="tr-TR" sz="2400" dirty="0">
              <a:solidFill>
                <a:srgbClr val="FF0000"/>
              </a:solidFill>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54" y="908720"/>
            <a:ext cx="8684010" cy="41044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240658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456" y="404664"/>
            <a:ext cx="8715016" cy="56886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719679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79512" y="188640"/>
            <a:ext cx="8784976" cy="1200329"/>
          </a:xfrm>
          <a:prstGeom prst="rect">
            <a:avLst/>
          </a:prstGeom>
        </p:spPr>
        <p:txBody>
          <a:bodyPr wrap="square">
            <a:spAutoFit/>
          </a:bodyPr>
          <a:lstStyle/>
          <a:p>
            <a:r>
              <a:rPr lang="tr-TR" b="1" dirty="0"/>
              <a:t>Örnek 2: </a:t>
            </a:r>
            <a:r>
              <a:rPr lang="tr-TR" dirty="0"/>
              <a:t>Kod çevirici devrelerin tasarım prensibini açıklamak için, </a:t>
            </a:r>
            <a:r>
              <a:rPr lang="tr-TR" dirty="0" err="1"/>
              <a:t>BCD’den</a:t>
            </a:r>
            <a:r>
              <a:rPr lang="tr-TR" dirty="0"/>
              <a:t> yedi parçalı</a:t>
            </a:r>
          </a:p>
          <a:p>
            <a:r>
              <a:rPr lang="tr-TR" dirty="0"/>
              <a:t>gösterge sistemine kod çevirici devrelerin tasarım adımlarını açıklayalım (Şekil 8.14).</a:t>
            </a:r>
          </a:p>
          <a:p>
            <a:r>
              <a:rPr lang="tr-TR" dirty="0"/>
              <a:t>BCD kodlu bilgiyi 7 parçalı göstergeye çeviren kod çevirici devrenin tasarımı aşağıdaki</a:t>
            </a:r>
          </a:p>
          <a:p>
            <a:r>
              <a:rPr lang="tr-TR" dirty="0"/>
              <a:t>işlem basamakları ile gerçekleştirilir.</a:t>
            </a:r>
          </a:p>
        </p:txBody>
      </p:sp>
      <p:sp>
        <p:nvSpPr>
          <p:cNvPr id="3" name="Dikdörtgen 2"/>
          <p:cNvSpPr/>
          <p:nvPr/>
        </p:nvSpPr>
        <p:spPr>
          <a:xfrm>
            <a:off x="251520" y="1665968"/>
            <a:ext cx="8712968" cy="2862322"/>
          </a:xfrm>
          <a:prstGeom prst="rect">
            <a:avLst/>
          </a:prstGeom>
        </p:spPr>
        <p:txBody>
          <a:bodyPr wrap="square">
            <a:spAutoFit/>
          </a:bodyPr>
          <a:lstStyle/>
          <a:p>
            <a:r>
              <a:rPr lang="tr-TR" dirty="0">
                <a:solidFill>
                  <a:srgbClr val="FF0000"/>
                </a:solidFill>
              </a:rPr>
              <a:t>i-</a:t>
            </a:r>
            <a:r>
              <a:rPr lang="tr-TR" dirty="0"/>
              <a:t> Çevrimi yapılacak kodların doğruluk tablosu çıkarılır. Giriş bilgisi BCD kodlu</a:t>
            </a:r>
          </a:p>
          <a:p>
            <a:r>
              <a:rPr lang="tr-TR" dirty="0"/>
              <a:t>sayılar olduğundan giriş değerleri olarak BCD kodlu sayılar kullanılır. Çıkış ise yedi parçalı</a:t>
            </a:r>
          </a:p>
          <a:p>
            <a:r>
              <a:rPr lang="tr-TR" dirty="0"/>
              <a:t>göstergedir. Yedi parçalı gösterge için 7 farklı bilgi gerektiğinden, doğruluk tablosunda</a:t>
            </a:r>
          </a:p>
          <a:p>
            <a:r>
              <a:rPr lang="tr-TR" dirty="0"/>
              <a:t>bütün bilgilerin temsil edilebilmesi için 7 çıkış </a:t>
            </a:r>
            <a:r>
              <a:rPr lang="tr-TR" dirty="0" err="1"/>
              <a:t>sutununa</a:t>
            </a:r>
            <a:r>
              <a:rPr lang="tr-TR" dirty="0"/>
              <a:t> ihtiyaç vardır (Şekil 8.15).</a:t>
            </a:r>
          </a:p>
          <a:p>
            <a:r>
              <a:rPr lang="tr-TR" dirty="0">
                <a:solidFill>
                  <a:srgbClr val="FF0000"/>
                </a:solidFill>
              </a:rPr>
              <a:t>ii-</a:t>
            </a:r>
            <a:r>
              <a:rPr lang="tr-TR" dirty="0"/>
              <a:t> Doğruluk tablosundaki her bir çıkışa göre </a:t>
            </a:r>
            <a:r>
              <a:rPr lang="tr-TR" dirty="0" err="1"/>
              <a:t>Karnaugh</a:t>
            </a:r>
            <a:r>
              <a:rPr lang="tr-TR" dirty="0"/>
              <a:t> haritası çizilir. Doğruluk</a:t>
            </a:r>
          </a:p>
          <a:p>
            <a:r>
              <a:rPr lang="tr-TR" dirty="0"/>
              <a:t>tablosunda çıkışı ifade eden her bir </a:t>
            </a:r>
            <a:r>
              <a:rPr lang="tr-TR" dirty="0" err="1"/>
              <a:t>sutun</a:t>
            </a:r>
            <a:r>
              <a:rPr lang="tr-TR" dirty="0"/>
              <a:t> bir </a:t>
            </a:r>
            <a:r>
              <a:rPr lang="tr-TR" dirty="0" err="1"/>
              <a:t>Karnaugh</a:t>
            </a:r>
            <a:r>
              <a:rPr lang="tr-TR" dirty="0"/>
              <a:t> haritası ile temsil edilir (Şekil 8.15).</a:t>
            </a:r>
          </a:p>
          <a:p>
            <a:r>
              <a:rPr lang="tr-TR" dirty="0">
                <a:solidFill>
                  <a:srgbClr val="FF0000"/>
                </a:solidFill>
              </a:rPr>
              <a:t>iii</a:t>
            </a:r>
            <a:r>
              <a:rPr lang="tr-TR" dirty="0"/>
              <a:t>- </a:t>
            </a:r>
            <a:r>
              <a:rPr lang="tr-TR" dirty="0" err="1"/>
              <a:t>Karnaugh</a:t>
            </a:r>
            <a:r>
              <a:rPr lang="tr-TR" dirty="0"/>
              <a:t> haritalarından faydalanılarak lojik eşitlikler yazılır.</a:t>
            </a:r>
          </a:p>
          <a:p>
            <a:r>
              <a:rPr lang="tr-TR" dirty="0">
                <a:solidFill>
                  <a:srgbClr val="FF0000"/>
                </a:solidFill>
              </a:rPr>
              <a:t>iv-</a:t>
            </a:r>
            <a:r>
              <a:rPr lang="tr-TR" dirty="0"/>
              <a:t> Elde edilen eşitlikleri temsil eden lojik devreler çizilir. Her bir lojik devrenin</a:t>
            </a:r>
          </a:p>
          <a:p>
            <a:r>
              <a:rPr lang="tr-TR" dirty="0"/>
              <a:t>çıkışının yedi parçalı göstergedeki uygun parçaya bağlanması ile kod çevirici tasarımı</a:t>
            </a:r>
          </a:p>
          <a:p>
            <a:r>
              <a:rPr lang="tr-TR" dirty="0"/>
              <a:t>tamamlanır.</a:t>
            </a:r>
          </a:p>
        </p:txBody>
      </p:sp>
    </p:spTree>
    <p:extLst>
      <p:ext uri="{BB962C8B-B14F-4D97-AF65-F5344CB8AC3E}">
        <p14:creationId xmlns:p14="http://schemas.microsoft.com/office/powerpoint/2010/main" val="34827106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66675"/>
            <a:ext cx="8496944" cy="6724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106397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07504" y="116633"/>
            <a:ext cx="9036496" cy="2585323"/>
          </a:xfrm>
          <a:prstGeom prst="rect">
            <a:avLst/>
          </a:prstGeom>
        </p:spPr>
        <p:txBody>
          <a:bodyPr wrap="square">
            <a:spAutoFit/>
          </a:bodyPr>
          <a:lstStyle/>
          <a:p>
            <a:r>
              <a:rPr lang="tr-TR" b="1" dirty="0"/>
              <a:t>Örnek 3: </a:t>
            </a:r>
            <a:r>
              <a:rPr lang="tr-TR" dirty="0"/>
              <a:t>BCD kodlu bir sayıyı 3 Fazlalık (</a:t>
            </a:r>
            <a:r>
              <a:rPr lang="tr-TR" dirty="0" err="1"/>
              <a:t>Excess-three</a:t>
            </a:r>
            <a:r>
              <a:rPr lang="tr-TR" dirty="0"/>
              <a:t>) koduna çevirecek devreyi</a:t>
            </a:r>
          </a:p>
          <a:p>
            <a:r>
              <a:rPr lang="tr-TR" dirty="0"/>
              <a:t>tasarlayalım.</a:t>
            </a:r>
          </a:p>
          <a:p>
            <a:r>
              <a:rPr lang="tr-TR" dirty="0"/>
              <a:t>i- BCD ve 3-Fazlalık kodlu sayıları gösteren doğruluk tablosu oluşturulur (Şekil 8.16).</a:t>
            </a:r>
          </a:p>
          <a:p>
            <a:r>
              <a:rPr lang="tr-TR" dirty="0"/>
              <a:t>BCD kodlu sayıların dört bit ile ifade edilmesi nedeniyle, dört farklı çıkış bulunması gerekir.</a:t>
            </a:r>
          </a:p>
          <a:p>
            <a:r>
              <a:rPr lang="tr-TR" dirty="0"/>
              <a:t>ii- Doğruluk tablosu çıkış </a:t>
            </a:r>
            <a:r>
              <a:rPr lang="tr-TR" dirty="0" err="1"/>
              <a:t>sutunlarındaki</a:t>
            </a:r>
            <a:r>
              <a:rPr lang="tr-TR" dirty="0"/>
              <a:t> değerler </a:t>
            </a:r>
            <a:r>
              <a:rPr lang="tr-TR" dirty="0" err="1"/>
              <a:t>Karnaugh</a:t>
            </a:r>
            <a:r>
              <a:rPr lang="tr-TR" dirty="0"/>
              <a:t> haritalarına taşınır.</a:t>
            </a:r>
          </a:p>
          <a:p>
            <a:r>
              <a:rPr lang="tr-TR" dirty="0"/>
              <a:t>iii- </a:t>
            </a:r>
            <a:r>
              <a:rPr lang="tr-TR" dirty="0" err="1"/>
              <a:t>Karnaugh</a:t>
            </a:r>
            <a:r>
              <a:rPr lang="tr-TR" dirty="0"/>
              <a:t> haritalarına taşınan bilgilerin gruplandırılması ile her bir çıkış için uygun</a:t>
            </a:r>
          </a:p>
          <a:p>
            <a:r>
              <a:rPr lang="tr-TR" dirty="0" err="1"/>
              <a:t>Boolean</a:t>
            </a:r>
            <a:r>
              <a:rPr lang="tr-TR" dirty="0"/>
              <a:t> eşitliği yazılır (Şekil 8.16).</a:t>
            </a:r>
          </a:p>
          <a:p>
            <a:r>
              <a:rPr lang="tr-TR" dirty="0"/>
              <a:t>iv- Yazılan eşitliklerin kapı devreleri ile oluşturulması ile, </a:t>
            </a:r>
            <a:r>
              <a:rPr lang="tr-TR" dirty="0" err="1"/>
              <a:t>BCD’den</a:t>
            </a:r>
            <a:r>
              <a:rPr lang="tr-TR" dirty="0"/>
              <a:t> Artı 3 koduna</a:t>
            </a:r>
          </a:p>
          <a:p>
            <a:r>
              <a:rPr lang="tr-TR" dirty="0"/>
              <a:t>çeviren kod </a:t>
            </a:r>
            <a:r>
              <a:rPr lang="tr-TR" dirty="0" err="1"/>
              <a:t>cevirici</a:t>
            </a:r>
            <a:r>
              <a:rPr lang="tr-TR" dirty="0"/>
              <a:t> devresinin tasarımı tamamlanır (Şekil 8.17).</a:t>
            </a: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350" y="2564904"/>
            <a:ext cx="8115300" cy="41044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319837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44623"/>
            <a:ext cx="7128792" cy="62647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985345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ikdörtgen 2"/>
          <p:cNvSpPr/>
          <p:nvPr/>
        </p:nvSpPr>
        <p:spPr>
          <a:xfrm>
            <a:off x="1979712" y="2060848"/>
            <a:ext cx="5256584" cy="1323439"/>
          </a:xfrm>
          <a:prstGeom prst="rect">
            <a:avLst/>
          </a:prstGeom>
        </p:spPr>
        <p:txBody>
          <a:bodyPr wrap="square">
            <a:spAutoFit/>
          </a:bodyPr>
          <a:lstStyle/>
          <a:p>
            <a:r>
              <a:rPr lang="tr-TR" sz="4000" dirty="0"/>
              <a:t>DİNLEDİĞİNİZ İÇİN TEŞEKKÜR EDERİZ</a:t>
            </a:r>
          </a:p>
        </p:txBody>
      </p:sp>
    </p:spTree>
    <p:extLst>
      <p:ext uri="{BB962C8B-B14F-4D97-AF65-F5344CB8AC3E}">
        <p14:creationId xmlns:p14="http://schemas.microsoft.com/office/powerpoint/2010/main" val="3539034178"/>
      </p:ext>
    </p:extLst>
  </p:cSld>
  <p:clrMapOvr>
    <a:masterClrMapping/>
  </p:clrMapOvr>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1839</TotalTime>
  <Words>1651</Words>
  <Application>Microsoft Office PowerPoint</Application>
  <PresentationFormat>Ekran Gösterisi (4:3)</PresentationFormat>
  <Paragraphs>109</Paragraphs>
  <Slides>32</Slides>
  <Notes>0</Notes>
  <HiddenSlides>0</HiddenSlides>
  <MMClips>0</MMClips>
  <ScaleCrop>false</ScaleCrop>
  <HeadingPairs>
    <vt:vector size="6" baseType="variant">
      <vt:variant>
        <vt:lpstr>Kullanılan Yazı Tipleri</vt:lpstr>
      </vt:variant>
      <vt:variant>
        <vt:i4>2</vt:i4>
      </vt:variant>
      <vt:variant>
        <vt:lpstr>Tema</vt:lpstr>
      </vt:variant>
      <vt:variant>
        <vt:i4>1</vt:i4>
      </vt:variant>
      <vt:variant>
        <vt:lpstr>Slayt Başlıkları</vt:lpstr>
      </vt:variant>
      <vt:variant>
        <vt:i4>32</vt:i4>
      </vt:variant>
    </vt:vector>
  </HeadingPairs>
  <TitlesOfParts>
    <vt:vector size="35" baseType="lpstr">
      <vt:lpstr>Arial</vt:lpstr>
      <vt:lpstr>Calibri</vt:lpstr>
      <vt:lpstr>Ofis Teması</vt:lpstr>
      <vt:lpstr>Mantık Devreleri  DERS 8</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Mantık Devreleri  DERS 8</dc:title>
  <dc:creator>bilgisayarim</dc:creator>
  <cp:lastModifiedBy>Tiryaki</cp:lastModifiedBy>
  <cp:revision>34</cp:revision>
  <dcterms:created xsi:type="dcterms:W3CDTF">2019-10-14T11:40:58Z</dcterms:created>
  <dcterms:modified xsi:type="dcterms:W3CDTF">2022-12-05T08:49:41Z</dcterms:modified>
</cp:coreProperties>
</file>