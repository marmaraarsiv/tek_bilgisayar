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4" r:id="rId16"/>
    <p:sldId id="275" r:id="rId17"/>
    <p:sldId id="276" r:id="rId18"/>
    <p:sldId id="278" r:id="rId19"/>
    <p:sldId id="279" r:id="rId20"/>
    <p:sldId id="277" r:id="rId21"/>
    <p:sldId id="273" r:id="rId22"/>
    <p:sldId id="280" r:id="rId23"/>
    <p:sldId id="281" r:id="rId24"/>
    <p:sldId id="282" r:id="rId25"/>
    <p:sldId id="283" r:id="rId26"/>
    <p:sldId id="284" r:id="rId27"/>
    <p:sldId id="285" r:id="rId28"/>
    <p:sldId id="286" r:id="rId29"/>
    <p:sldId id="287" r:id="rId30"/>
    <p:sldId id="288" r:id="rId31"/>
    <p:sldId id="289" r:id="rId32"/>
    <p:sldId id="290" r:id="rId33"/>
    <p:sldId id="297" r:id="rId34"/>
    <p:sldId id="291" r:id="rId35"/>
    <p:sldId id="292" r:id="rId36"/>
    <p:sldId id="293" r:id="rId37"/>
    <p:sldId id="294" r:id="rId38"/>
    <p:sldId id="298" r:id="rId39"/>
    <p:sldId id="259" r:id="rId40"/>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DBF77048-6732-4DDF-8EE8-381C44FDDEF0}" type="datetimeFigureOut">
              <a:rPr lang="tr-TR" smtClean="0"/>
              <a:t>29.11.2022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2317267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DBF77048-6732-4DDF-8EE8-381C44FDDEF0}" type="datetimeFigureOut">
              <a:rPr lang="tr-TR" smtClean="0"/>
              <a:t>29.11.2022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75835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DBF77048-6732-4DDF-8EE8-381C44FDDEF0}" type="datetimeFigureOut">
              <a:rPr lang="tr-TR" smtClean="0"/>
              <a:t>29.11.2022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239434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DBF77048-6732-4DDF-8EE8-381C44FDDEF0}" type="datetimeFigureOut">
              <a:rPr lang="tr-TR" smtClean="0"/>
              <a:t>29.11.2022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3069560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DBF77048-6732-4DDF-8EE8-381C44FDDEF0}" type="datetimeFigureOut">
              <a:rPr lang="tr-TR" smtClean="0"/>
              <a:t>29.11.2022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1386499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DBF77048-6732-4DDF-8EE8-381C44FDDEF0}" type="datetimeFigureOut">
              <a:rPr lang="tr-TR" smtClean="0"/>
              <a:t>29.11.2022</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2625867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DBF77048-6732-4DDF-8EE8-381C44FDDEF0}" type="datetimeFigureOut">
              <a:rPr lang="tr-TR" smtClean="0"/>
              <a:t>29.11.2022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1196859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DBF77048-6732-4DDF-8EE8-381C44FDDEF0}" type="datetimeFigureOut">
              <a:rPr lang="tr-TR" smtClean="0"/>
              <a:t>29.11.2022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3306175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DBF77048-6732-4DDF-8EE8-381C44FDDEF0}" type="datetimeFigureOut">
              <a:rPr lang="tr-TR" smtClean="0"/>
              <a:t>29.11.2022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2732691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DBF77048-6732-4DDF-8EE8-381C44FDDEF0}" type="datetimeFigureOut">
              <a:rPr lang="tr-TR" smtClean="0"/>
              <a:t>29.11.2022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3407928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DBF77048-6732-4DDF-8EE8-381C44FDDEF0}" type="datetimeFigureOut">
              <a:rPr lang="tr-TR" smtClean="0"/>
              <a:t>29.11.2022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90DD47F-FAAD-4BE0-B2ED-53FA8268FFA6}" type="slidenum">
              <a:rPr lang="tr-TR" smtClean="0"/>
              <a:t>‹#›</a:t>
            </a:fld>
            <a:endParaRPr lang="tr-TR"/>
          </a:p>
        </p:txBody>
      </p:sp>
    </p:spTree>
    <p:extLst>
      <p:ext uri="{BB962C8B-B14F-4D97-AF65-F5344CB8AC3E}">
        <p14:creationId xmlns:p14="http://schemas.microsoft.com/office/powerpoint/2010/main" val="4162200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F77048-6732-4DDF-8EE8-381C44FDDEF0}" type="datetimeFigureOut">
              <a:rPr lang="tr-TR" smtClean="0"/>
              <a:t>29.11.2022</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DD47F-FAAD-4BE0-B2ED-53FA8268FFA6}" type="slidenum">
              <a:rPr lang="tr-TR" smtClean="0"/>
              <a:t>‹#›</a:t>
            </a:fld>
            <a:endParaRPr lang="tr-TR"/>
          </a:p>
        </p:txBody>
      </p:sp>
    </p:spTree>
    <p:extLst>
      <p:ext uri="{BB962C8B-B14F-4D97-AF65-F5344CB8AC3E}">
        <p14:creationId xmlns:p14="http://schemas.microsoft.com/office/powerpoint/2010/main" val="390948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pn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20.pn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image" Target="../media/image21.pn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2" Type="http://schemas.openxmlformats.org/officeDocument/2006/relationships/image" Target="../media/image25.png"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2" Type="http://schemas.openxmlformats.org/officeDocument/2006/relationships/image" Target="../media/image27.pn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image" Target="../media/image28.png"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2" Type="http://schemas.openxmlformats.org/officeDocument/2006/relationships/image" Target="../media/image30.png"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Relationship Id="rId2" Type="http://schemas.openxmlformats.org/officeDocument/2006/relationships/image" Target="../media/image31.png"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image" Target="../media/image32.png"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2" Type="http://schemas.openxmlformats.org/officeDocument/2006/relationships/image" Target="../media/image34.png"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3" Type="http://schemas.openxmlformats.org/officeDocument/2006/relationships/image" Target="../media/image36.png" /><Relationship Id="rId2" Type="http://schemas.openxmlformats.org/officeDocument/2006/relationships/image" Target="../media/image35.png" /><Relationship Id="rId1" Type="http://schemas.openxmlformats.org/officeDocument/2006/relationships/slideLayout" Target="../slideLayouts/slideLayout7.xml" /><Relationship Id="rId4" Type="http://schemas.openxmlformats.org/officeDocument/2006/relationships/image" Target="../media/image37.png" /></Relationships>
</file>

<file path=ppt/slides/_rels/slide34.xml.rels><?xml version="1.0" encoding="UTF-8" standalone="yes"?>
<Relationships xmlns="http://schemas.openxmlformats.org/package/2006/relationships"><Relationship Id="rId2" Type="http://schemas.openxmlformats.org/officeDocument/2006/relationships/image" Target="../media/image38.png"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2" Type="http://schemas.openxmlformats.org/officeDocument/2006/relationships/image" Target="../media/image39.png"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image" Target="../media/image40.png"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image" Target="../media/image42.png"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Relationship Id="rId2" Type="http://schemas.openxmlformats.org/officeDocument/2006/relationships/image" Target="../media/image44.png"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a:spLocks noGrp="1"/>
          </p:cNvSpPr>
          <p:nvPr>
            <p:ph type="ctrTitle"/>
          </p:nvPr>
        </p:nvSpPr>
        <p:spPr>
          <a:xfrm>
            <a:off x="685800" y="2130425"/>
            <a:ext cx="7772400" cy="1470025"/>
          </a:xfrm>
        </p:spPr>
        <p:txBody>
          <a:bodyPr/>
          <a:lstStyle/>
          <a:p>
            <a:r>
              <a:rPr lang="tr-TR" dirty="0"/>
              <a:t>Mantık Devreleri </a:t>
            </a:r>
            <a:br>
              <a:rPr lang="tr-TR" dirty="0"/>
            </a:br>
            <a:r>
              <a:rPr lang="tr-TR" dirty="0"/>
              <a:t>DERS 7</a:t>
            </a:r>
            <a:endParaRPr lang="en-GB" dirty="0"/>
          </a:p>
        </p:txBody>
      </p:sp>
    </p:spTree>
    <p:extLst>
      <p:ext uri="{BB962C8B-B14F-4D97-AF65-F5344CB8AC3E}">
        <p14:creationId xmlns:p14="http://schemas.microsoft.com/office/powerpoint/2010/main" val="899778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611560" y="2705725"/>
            <a:ext cx="7992888" cy="1446550"/>
          </a:xfrm>
          <a:prstGeom prst="rect">
            <a:avLst/>
          </a:prstGeom>
        </p:spPr>
        <p:txBody>
          <a:bodyPr wrap="square">
            <a:spAutoFit/>
          </a:bodyPr>
          <a:lstStyle/>
          <a:p>
            <a:pPr algn="ctr"/>
            <a:r>
              <a:rPr lang="tr-TR" sz="4400" b="1" dirty="0"/>
              <a:t>Karnaugh Haritaları</a:t>
            </a:r>
          </a:p>
          <a:p>
            <a:pPr algn="ctr"/>
            <a:r>
              <a:rPr lang="tr-TR" sz="4400" b="1" dirty="0"/>
              <a:t>(</a:t>
            </a:r>
            <a:r>
              <a:rPr lang="en-US" sz="4400" b="1" dirty="0"/>
              <a:t>Karnaugh</a:t>
            </a:r>
            <a:r>
              <a:rPr lang="tr-TR" sz="4400" b="1" dirty="0"/>
              <a:t> </a:t>
            </a:r>
            <a:r>
              <a:rPr lang="en-US" sz="4400" b="1" dirty="0"/>
              <a:t>Maps</a:t>
            </a:r>
            <a:r>
              <a:rPr lang="tr-TR" sz="4400" b="1" dirty="0"/>
              <a:t>)</a:t>
            </a:r>
            <a:endParaRPr lang="tr-TR" sz="4400" dirty="0"/>
          </a:p>
        </p:txBody>
      </p:sp>
    </p:spTree>
    <p:extLst>
      <p:ext uri="{BB962C8B-B14F-4D97-AF65-F5344CB8AC3E}">
        <p14:creationId xmlns:p14="http://schemas.microsoft.com/office/powerpoint/2010/main" val="1896982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07504" y="751344"/>
            <a:ext cx="9036496" cy="4955203"/>
          </a:xfrm>
          <a:prstGeom prst="rect">
            <a:avLst/>
          </a:prstGeom>
        </p:spPr>
        <p:txBody>
          <a:bodyPr wrap="square">
            <a:spAutoFit/>
          </a:bodyPr>
          <a:lstStyle/>
          <a:p>
            <a:r>
              <a:rPr lang="tr-TR" sz="2800" b="1" dirty="0"/>
              <a:t>Giriş</a:t>
            </a:r>
          </a:p>
          <a:p>
            <a:pPr algn="just"/>
            <a:r>
              <a:rPr lang="tr-TR" sz="2400" dirty="0"/>
              <a:t>Devre tasarımında lojik eşitlikleri oluşturmak veya oluşturulan lojik eşitlikleri grafiksel olarak sadeleştirmek için yaygın olarak kullanılan yöntemler; </a:t>
            </a:r>
            <a:r>
              <a:rPr lang="tr-TR" sz="2400" b="1" dirty="0"/>
              <a:t>‘</a:t>
            </a:r>
            <a:r>
              <a:rPr lang="tr-TR" sz="2400" b="1" dirty="0" err="1"/>
              <a:t>Karnaugh</a:t>
            </a:r>
            <a:r>
              <a:rPr lang="tr-TR" sz="2400" b="1" dirty="0"/>
              <a:t> Haritası’ </a:t>
            </a:r>
            <a:r>
              <a:rPr lang="tr-TR" sz="2400" dirty="0"/>
              <a:t>(</a:t>
            </a:r>
            <a:r>
              <a:rPr lang="tr-TR" sz="2400" dirty="0" err="1"/>
              <a:t>Karnaugh</a:t>
            </a:r>
            <a:r>
              <a:rPr lang="tr-TR" sz="2400" dirty="0"/>
              <a:t> </a:t>
            </a:r>
            <a:r>
              <a:rPr lang="tr-TR" sz="2400" dirty="0" err="1"/>
              <a:t>Maps</a:t>
            </a:r>
            <a:r>
              <a:rPr lang="tr-TR" sz="2400" dirty="0"/>
              <a:t>) ve ‘</a:t>
            </a:r>
            <a:r>
              <a:rPr lang="tr-TR" sz="2400" b="1" dirty="0" err="1"/>
              <a:t>Quine-McCluskey</a:t>
            </a:r>
            <a:r>
              <a:rPr lang="tr-TR" sz="2400" b="1" dirty="0"/>
              <a:t>’ </a:t>
            </a:r>
            <a:r>
              <a:rPr lang="tr-TR" sz="2400" dirty="0"/>
              <a:t>yöntemleridir. Bu bölümde </a:t>
            </a:r>
            <a:r>
              <a:rPr lang="tr-TR" sz="2400" dirty="0" err="1"/>
              <a:t>Karnaugh</a:t>
            </a:r>
            <a:r>
              <a:rPr lang="tr-TR" sz="2400" dirty="0"/>
              <a:t> haritası yöntemini açıklayacağız.</a:t>
            </a:r>
          </a:p>
          <a:p>
            <a:endParaRPr lang="tr-TR" sz="2400" dirty="0"/>
          </a:p>
          <a:p>
            <a:pPr algn="just"/>
            <a:r>
              <a:rPr lang="tr-TR" sz="2400" b="1" dirty="0"/>
              <a:t>‘</a:t>
            </a:r>
            <a:r>
              <a:rPr lang="tr-TR" sz="2400" b="1" dirty="0" err="1"/>
              <a:t>Karnaugh</a:t>
            </a:r>
            <a:r>
              <a:rPr lang="tr-TR" sz="2400" b="1" dirty="0"/>
              <a:t> haritası’ </a:t>
            </a:r>
            <a:r>
              <a:rPr lang="tr-TR" sz="2400" dirty="0"/>
              <a:t>(</a:t>
            </a:r>
            <a:r>
              <a:rPr lang="tr-TR" sz="2400" dirty="0" err="1"/>
              <a:t>Karno</a:t>
            </a:r>
            <a:r>
              <a:rPr lang="tr-TR" sz="2400" dirty="0"/>
              <a:t> çizelgesi), sadeleştirilecek eşitliğin bütün değerlerini sıralamak için kullanılan, eşitliğin alabileceği en basit (sade) şekli içeren, hücrelerin oluşturduğu bir yöntemdir. Giriş değişkenlerinin sayısı artıkça ifadelerin sadeleştirilmesinin zorlaştığı bu yöntem, giriş değişkenleri sayısının 6’ya kadar olduğu durumlarda iyi bir sonuç verir.</a:t>
            </a:r>
          </a:p>
          <a:p>
            <a:pPr algn="just"/>
            <a:r>
              <a:rPr lang="tr-TR" sz="2400" dirty="0"/>
              <a:t>Genelde kullanılan; 2, 3 ve 4 giriş değişkenli </a:t>
            </a:r>
            <a:r>
              <a:rPr lang="tr-TR" sz="2400" dirty="0" err="1"/>
              <a:t>Karnaugh</a:t>
            </a:r>
            <a:r>
              <a:rPr lang="tr-TR" sz="2400" dirty="0"/>
              <a:t> haritalarıdır (çizelgeleridir).</a:t>
            </a:r>
          </a:p>
        </p:txBody>
      </p:sp>
    </p:spTree>
    <p:extLst>
      <p:ext uri="{BB962C8B-B14F-4D97-AF65-F5344CB8AC3E}">
        <p14:creationId xmlns:p14="http://schemas.microsoft.com/office/powerpoint/2010/main" val="3207913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620688"/>
            <a:ext cx="9108504" cy="5616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4757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620688"/>
            <a:ext cx="4471930" cy="369332"/>
          </a:xfrm>
          <a:prstGeom prst="rect">
            <a:avLst/>
          </a:prstGeom>
        </p:spPr>
        <p:txBody>
          <a:bodyPr wrap="none">
            <a:spAutoFit/>
          </a:bodyPr>
          <a:lstStyle/>
          <a:p>
            <a:r>
              <a:rPr lang="tr-TR" b="1" dirty="0"/>
              <a:t>İki, Üç ve Dört Değişkenli </a:t>
            </a:r>
            <a:r>
              <a:rPr lang="tr-TR" b="1" dirty="0" err="1"/>
              <a:t>Karnaugh</a:t>
            </a:r>
            <a:r>
              <a:rPr lang="tr-TR" b="1" dirty="0"/>
              <a:t> Haritaları</a:t>
            </a:r>
            <a:endParaRPr lang="tr-T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96752"/>
            <a:ext cx="8705126"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564904"/>
            <a:ext cx="8568952" cy="3816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0889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836712"/>
            <a:ext cx="8280920" cy="50405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75093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664805"/>
            <a:ext cx="8496944" cy="35283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4943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11" y="548680"/>
            <a:ext cx="8824311" cy="5616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4841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03" y="1376772"/>
            <a:ext cx="8897267"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7029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376238"/>
            <a:ext cx="7124700" cy="610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1388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07504" y="260648"/>
            <a:ext cx="8928992" cy="830997"/>
          </a:xfrm>
          <a:prstGeom prst="rect">
            <a:avLst/>
          </a:prstGeom>
        </p:spPr>
        <p:txBody>
          <a:bodyPr wrap="square">
            <a:spAutoFit/>
          </a:bodyPr>
          <a:lstStyle/>
          <a:p>
            <a:r>
              <a:rPr lang="tr-TR" sz="2400" b="1" dirty="0" err="1"/>
              <a:t>Karnaugh</a:t>
            </a:r>
            <a:r>
              <a:rPr lang="tr-TR" sz="2400" b="1" dirty="0"/>
              <a:t> Haritalarındaki Hücrelerin Gruplandırılması ve Gruplardan </a:t>
            </a:r>
          </a:p>
          <a:p>
            <a:r>
              <a:rPr lang="tr-TR" sz="2400" b="1" dirty="0"/>
              <a:t>Eşitliklerin Yazılması</a:t>
            </a:r>
            <a:endParaRPr lang="tr-TR" sz="2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484784"/>
            <a:ext cx="8928992"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2712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76875"/>
            <a:ext cx="8568952" cy="6251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6436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3" y="476672"/>
            <a:ext cx="8663173" cy="5616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9950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04" y="1304764"/>
            <a:ext cx="8678575"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6972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19063"/>
            <a:ext cx="8496944" cy="661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031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04664"/>
            <a:ext cx="8496944" cy="5760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7525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90" y="332656"/>
            <a:ext cx="8786666" cy="4536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4869160"/>
            <a:ext cx="8640960" cy="15962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8669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764704"/>
            <a:ext cx="8568951" cy="54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6379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843" y="332656"/>
            <a:ext cx="8552315" cy="6192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3854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07504" y="188640"/>
            <a:ext cx="9036496" cy="461665"/>
          </a:xfrm>
          <a:prstGeom prst="rect">
            <a:avLst/>
          </a:prstGeom>
        </p:spPr>
        <p:txBody>
          <a:bodyPr wrap="square">
            <a:spAutoFit/>
          </a:bodyPr>
          <a:lstStyle/>
          <a:p>
            <a:r>
              <a:rPr lang="tr-TR" sz="2400" b="1" dirty="0" err="1"/>
              <a:t>Karnaugh</a:t>
            </a:r>
            <a:r>
              <a:rPr lang="tr-TR" sz="2400" b="1" dirty="0"/>
              <a:t> Haritası Kullanarak </a:t>
            </a:r>
            <a:r>
              <a:rPr lang="tr-TR" sz="2400" b="1" dirty="0" err="1"/>
              <a:t>Boolean</a:t>
            </a:r>
            <a:r>
              <a:rPr lang="tr-TR" sz="2400" b="1" dirty="0"/>
              <a:t> Eşitliklerin Sadeleştirilmesi</a:t>
            </a:r>
            <a:endParaRPr lang="tr-TR" sz="2400"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495" y="1592796"/>
            <a:ext cx="8777011"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6078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50" y="404664"/>
            <a:ext cx="8750538" cy="5904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8788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04664"/>
            <a:ext cx="8940553"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2924944"/>
            <a:ext cx="8334375" cy="3629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6648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57" y="332656"/>
            <a:ext cx="8768523" cy="5760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63668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6" y="1052736"/>
            <a:ext cx="8908642" cy="5040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75083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162" y="476672"/>
            <a:ext cx="8633317"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7306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37" y="404664"/>
            <a:ext cx="8613480" cy="6048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4783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59883"/>
            <a:ext cx="8496943" cy="6469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830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414338"/>
            <a:ext cx="8800848" cy="22225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32" y="2636912"/>
            <a:ext cx="8644232" cy="3719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79596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49524" y="188640"/>
            <a:ext cx="5446747" cy="461665"/>
          </a:xfrm>
          <a:prstGeom prst="rect">
            <a:avLst/>
          </a:prstGeom>
        </p:spPr>
        <p:txBody>
          <a:bodyPr wrap="none">
            <a:spAutoFit/>
          </a:bodyPr>
          <a:lstStyle/>
          <a:p>
            <a:r>
              <a:rPr lang="tr-TR" sz="2400" b="1" dirty="0"/>
              <a:t>Beş ve Altı Değişkenli </a:t>
            </a:r>
            <a:r>
              <a:rPr lang="tr-TR" sz="2400" b="1" dirty="0" err="1"/>
              <a:t>Karnaugh</a:t>
            </a:r>
            <a:r>
              <a:rPr lang="tr-TR" sz="2400" b="1" dirty="0"/>
              <a:t> Haritaları</a:t>
            </a:r>
            <a:endParaRPr lang="tr-TR" sz="2400"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747713"/>
            <a:ext cx="8712967" cy="58496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1869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452" y="404664"/>
            <a:ext cx="8571096" cy="6048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8764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3528" y="332656"/>
            <a:ext cx="7272808" cy="461665"/>
          </a:xfrm>
          <a:prstGeom prst="rect">
            <a:avLst/>
          </a:prstGeom>
        </p:spPr>
        <p:txBody>
          <a:bodyPr wrap="square">
            <a:spAutoFit/>
          </a:bodyPr>
          <a:lstStyle/>
          <a:p>
            <a:r>
              <a:rPr lang="tr-TR" sz="2400" b="1" dirty="0" err="1"/>
              <a:t>Farketmeyen</a:t>
            </a:r>
            <a:r>
              <a:rPr lang="tr-TR" sz="2400" b="1" dirty="0"/>
              <a:t> Durumlu (</a:t>
            </a:r>
            <a:r>
              <a:rPr lang="tr-TR" sz="2400" b="1" dirty="0" err="1"/>
              <a:t>Don’t</a:t>
            </a:r>
            <a:r>
              <a:rPr lang="tr-TR" sz="2400" b="1" dirty="0"/>
              <a:t> </a:t>
            </a:r>
            <a:r>
              <a:rPr lang="tr-TR" sz="2400" b="1" dirty="0" err="1"/>
              <a:t>Care’li</a:t>
            </a:r>
            <a:r>
              <a:rPr lang="tr-TR" sz="2400" b="1" dirty="0"/>
              <a:t>) Lojik Eşitlikler</a:t>
            </a:r>
            <a:endParaRPr lang="tr-TR" sz="2400" dirty="0"/>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19" y="842963"/>
            <a:ext cx="9028221" cy="2081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19" y="2924944"/>
            <a:ext cx="8827931"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1429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04" y="476672"/>
            <a:ext cx="8922592" cy="6048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2356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260648"/>
            <a:ext cx="7920880" cy="461665"/>
          </a:xfrm>
          <a:prstGeom prst="rect">
            <a:avLst/>
          </a:prstGeom>
        </p:spPr>
        <p:txBody>
          <a:bodyPr wrap="square">
            <a:spAutoFit/>
          </a:bodyPr>
          <a:lstStyle/>
          <a:p>
            <a:r>
              <a:rPr lang="tr-TR" sz="2400" b="1" dirty="0" err="1"/>
              <a:t>Karnaugh</a:t>
            </a:r>
            <a:r>
              <a:rPr lang="tr-TR" sz="2400" b="1" dirty="0"/>
              <a:t> Haritası Yardımı ile Lojik Devrelerin Tasarımı</a:t>
            </a:r>
            <a:endParaRPr lang="tr-TR" sz="2400" dirty="0"/>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722313"/>
            <a:ext cx="8971503" cy="1410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76872"/>
            <a:ext cx="9144000" cy="1368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7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3625010"/>
            <a:ext cx="8784976" cy="306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46934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6632"/>
            <a:ext cx="8568951" cy="6120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Metin kutusu 1"/>
          <p:cNvSpPr txBox="1"/>
          <p:nvPr/>
        </p:nvSpPr>
        <p:spPr>
          <a:xfrm>
            <a:off x="611561" y="4941169"/>
            <a:ext cx="1296143" cy="800219"/>
          </a:xfrm>
          <a:prstGeom prst="rect">
            <a:avLst/>
          </a:prstGeom>
          <a:noFill/>
        </p:spPr>
        <p:txBody>
          <a:bodyPr wrap="square" rtlCol="0">
            <a:spAutoFit/>
          </a:bodyPr>
          <a:lstStyle/>
          <a:p>
            <a:r>
              <a:rPr lang="tr-TR" sz="1400" dirty="0">
                <a:solidFill>
                  <a:srgbClr val="FF0000"/>
                </a:solidFill>
              </a:rPr>
              <a:t>(Çarpmanın dağılımı kuralı) </a:t>
            </a:r>
          </a:p>
          <a:p>
            <a:endParaRPr lang="tr-TR" dirty="0"/>
          </a:p>
        </p:txBody>
      </p:sp>
    </p:spTree>
    <p:extLst>
      <p:ext uri="{BB962C8B-B14F-4D97-AF65-F5344CB8AC3E}">
        <p14:creationId xmlns:p14="http://schemas.microsoft.com/office/powerpoint/2010/main" val="29204466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32" y="116633"/>
            <a:ext cx="9101268" cy="6655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3707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0072" y="1623138"/>
            <a:ext cx="2667000" cy="2409825"/>
          </a:xfrm>
          <a:prstGeom prst="rect">
            <a:avLst/>
          </a:prstGeom>
        </p:spPr>
      </p:pic>
      <p:pic>
        <p:nvPicPr>
          <p:cNvPr id="4" name="Picture 3"/>
          <p:cNvPicPr>
            <a:picLocks noChangeAspect="1"/>
          </p:cNvPicPr>
          <p:nvPr/>
        </p:nvPicPr>
        <p:blipFill>
          <a:blip r:embed="rId3"/>
          <a:stretch>
            <a:fillRect/>
          </a:stretch>
        </p:blipFill>
        <p:spPr>
          <a:xfrm>
            <a:off x="1646511" y="1196752"/>
            <a:ext cx="2574395" cy="3262598"/>
          </a:xfrm>
          <a:prstGeom prst="rect">
            <a:avLst/>
          </a:prstGeom>
        </p:spPr>
      </p:pic>
      <p:sp>
        <p:nvSpPr>
          <p:cNvPr id="5" name="Rectangle 4"/>
          <p:cNvSpPr/>
          <p:nvPr/>
        </p:nvSpPr>
        <p:spPr>
          <a:xfrm>
            <a:off x="179512" y="5013818"/>
            <a:ext cx="8640960" cy="646331"/>
          </a:xfrm>
          <a:prstGeom prst="rect">
            <a:avLst/>
          </a:prstGeom>
        </p:spPr>
        <p:txBody>
          <a:bodyPr wrap="square">
            <a:spAutoFit/>
          </a:bodyPr>
          <a:lstStyle/>
          <a:p>
            <a:pPr algn="just"/>
            <a:r>
              <a:rPr lang="tr-TR" b="1" dirty="0">
                <a:latin typeface="TimesNewRomanPS-BoldMT"/>
              </a:rPr>
              <a:t>Şekil 6.25. </a:t>
            </a:r>
            <a:r>
              <a:rPr lang="tr-TR" dirty="0">
                <a:latin typeface="TimesNewRomanPSMT"/>
              </a:rPr>
              <a:t>Lojik tasarımda doğruluk tablosunun oluşturulması, Doğruluk tablosunun Karnaugh haritasına taşınması ve lojik devrenin oluşturulması</a:t>
            </a:r>
            <a:endParaRPr lang="tr-TR" dirty="0"/>
          </a:p>
        </p:txBody>
      </p:sp>
    </p:spTree>
    <p:extLst>
      <p:ext uri="{BB962C8B-B14F-4D97-AF65-F5344CB8AC3E}">
        <p14:creationId xmlns:p14="http://schemas.microsoft.com/office/powerpoint/2010/main" val="2094648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85750"/>
            <a:ext cx="8640960" cy="6286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929" y="5303575"/>
            <a:ext cx="2744326" cy="769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4413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1322" y="1654440"/>
            <a:ext cx="8441356" cy="3549121"/>
          </a:xfrm>
          <a:prstGeom prst="rect">
            <a:avLst/>
          </a:prstGeom>
        </p:spPr>
      </p:pic>
    </p:spTree>
    <p:extLst>
      <p:ext uri="{BB962C8B-B14F-4D97-AF65-F5344CB8AC3E}">
        <p14:creationId xmlns:p14="http://schemas.microsoft.com/office/powerpoint/2010/main" val="2655258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1943708" y="2767281"/>
            <a:ext cx="5256584" cy="1323439"/>
          </a:xfrm>
          <a:prstGeom prst="rect">
            <a:avLst/>
          </a:prstGeom>
        </p:spPr>
        <p:txBody>
          <a:bodyPr wrap="square">
            <a:spAutoFit/>
          </a:bodyPr>
          <a:lstStyle/>
          <a:p>
            <a:pPr algn="ctr"/>
            <a:r>
              <a:rPr lang="tr-TR" sz="4000" dirty="0"/>
              <a:t>DİNLEDİĞİNİZ İÇİN TEŞEKKÜR EDERİZ</a:t>
            </a:r>
          </a:p>
        </p:txBody>
      </p:sp>
    </p:spTree>
    <p:extLst>
      <p:ext uri="{BB962C8B-B14F-4D97-AF65-F5344CB8AC3E}">
        <p14:creationId xmlns:p14="http://schemas.microsoft.com/office/powerpoint/2010/main" val="3582243583"/>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TotalTime>
  <Words>189</Words>
  <Application>Microsoft Office PowerPoint</Application>
  <PresentationFormat>Ekran Gösterisi (4:3)</PresentationFormat>
  <Paragraphs>18</Paragraphs>
  <Slides>39</Slides>
  <Notes>0</Notes>
  <HiddenSlides>0</HiddenSlides>
  <MMClips>0</MMClips>
  <ScaleCrop>false</ScaleCrop>
  <HeadingPairs>
    <vt:vector size="4" baseType="variant">
      <vt:variant>
        <vt:lpstr>Tema</vt:lpstr>
      </vt:variant>
      <vt:variant>
        <vt:i4>1</vt:i4>
      </vt:variant>
      <vt:variant>
        <vt:lpstr>Slayt Başlıkları</vt:lpstr>
      </vt:variant>
      <vt:variant>
        <vt:i4>39</vt:i4>
      </vt:variant>
    </vt:vector>
  </HeadingPairs>
  <TitlesOfParts>
    <vt:vector size="40" baseType="lpstr">
      <vt:lpstr>Ofis Teması</vt:lpstr>
      <vt:lpstr>Mantık Devreleri  DERS 7</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Mantık Devreleri  DERS 7</dc:title>
  <dc:creator>bilgisayarim</dc:creator>
  <cp:lastModifiedBy>Ali Buldu</cp:lastModifiedBy>
  <cp:revision>26</cp:revision>
  <dcterms:created xsi:type="dcterms:W3CDTF">2019-10-07T13:12:00Z</dcterms:created>
  <dcterms:modified xsi:type="dcterms:W3CDTF">2022-11-29T10:00:07Z</dcterms:modified>
</cp:coreProperties>
</file>