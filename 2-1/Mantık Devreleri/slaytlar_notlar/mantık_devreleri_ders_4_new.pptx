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9"/>
  </p:notesMasterIdLst>
  <p:sldIdLst>
    <p:sldId id="275" r:id="rId2"/>
    <p:sldId id="277" r:id="rId3"/>
    <p:sldId id="306" r:id="rId4"/>
    <p:sldId id="278" r:id="rId5"/>
    <p:sldId id="279" r:id="rId6"/>
    <p:sldId id="280" r:id="rId7"/>
    <p:sldId id="281" r:id="rId8"/>
    <p:sldId id="285" r:id="rId9"/>
    <p:sldId id="284" r:id="rId10"/>
    <p:sldId id="311" r:id="rId11"/>
    <p:sldId id="282" r:id="rId12"/>
    <p:sldId id="283" r:id="rId13"/>
    <p:sldId id="286" r:id="rId14"/>
    <p:sldId id="287" r:id="rId15"/>
    <p:sldId id="288" r:id="rId16"/>
    <p:sldId id="289" r:id="rId17"/>
    <p:sldId id="290" r:id="rId18"/>
    <p:sldId id="291" r:id="rId19"/>
    <p:sldId id="292" r:id="rId20"/>
    <p:sldId id="293" r:id="rId21"/>
    <p:sldId id="294" r:id="rId22"/>
    <p:sldId id="295" r:id="rId23"/>
    <p:sldId id="296" r:id="rId24"/>
    <p:sldId id="297" r:id="rId25"/>
    <p:sldId id="298" r:id="rId26"/>
    <p:sldId id="299" r:id="rId27"/>
    <p:sldId id="300" r:id="rId28"/>
    <p:sldId id="301" r:id="rId29"/>
    <p:sldId id="302" r:id="rId30"/>
    <p:sldId id="303" r:id="rId31"/>
    <p:sldId id="304" r:id="rId32"/>
    <p:sldId id="305" r:id="rId33"/>
    <p:sldId id="307" r:id="rId34"/>
    <p:sldId id="308" r:id="rId35"/>
    <p:sldId id="309" r:id="rId36"/>
    <p:sldId id="310" r:id="rId37"/>
    <p:sldId id="258" r:id="rId38"/>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94660"/>
  </p:normalViewPr>
  <p:slideViewPr>
    <p:cSldViewPr>
      <p:cViewPr>
        <p:scale>
          <a:sx n="100" d="100"/>
          <a:sy n="100" d="100"/>
        </p:scale>
        <p:origin x="1956" y="2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704529-BEB5-4AA0-AFA6-3FEDDB725AB2}" type="datetimeFigureOut">
              <a:rPr lang="tr-TR" smtClean="0"/>
              <a:t>21.10.2024</a:t>
            </a:fld>
            <a:endParaRPr lang="tr-TR"/>
          </a:p>
        </p:txBody>
      </p:sp>
      <p:sp>
        <p:nvSpPr>
          <p:cNvPr id="4" name="Slayt Resmi Yer Tutucusu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1A42CB-6F72-4327-BF68-FDF70E6B9CAE}" type="slidenum">
              <a:rPr lang="tr-TR" smtClean="0"/>
              <a:t>‹#›</a:t>
            </a:fld>
            <a:endParaRPr lang="tr-TR"/>
          </a:p>
        </p:txBody>
      </p:sp>
    </p:spTree>
    <p:extLst>
      <p:ext uri="{BB962C8B-B14F-4D97-AF65-F5344CB8AC3E}">
        <p14:creationId xmlns:p14="http://schemas.microsoft.com/office/powerpoint/2010/main" val="454640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a:t>Asıl başlık stili için tıklatın</a:t>
            </a: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5BB1B111-1F73-4406-94F6-6121752CA53A}" type="datetime1">
              <a:rPr lang="tr-TR" smtClean="0"/>
              <a:t>21.10.2024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D1BC5D5A-A3FB-46A1-A862-24F6D41195CB}" type="slidenum">
              <a:rPr lang="tr-TR" smtClean="0"/>
              <a:t>‹#›</a:t>
            </a:fld>
            <a:endParaRPr lang="tr-TR"/>
          </a:p>
        </p:txBody>
      </p:sp>
    </p:spTree>
    <p:extLst>
      <p:ext uri="{BB962C8B-B14F-4D97-AF65-F5344CB8AC3E}">
        <p14:creationId xmlns:p14="http://schemas.microsoft.com/office/powerpoint/2010/main" val="3673104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03987CBA-4AEB-4C00-B82F-7943EE22BAB3}" type="datetime1">
              <a:rPr lang="tr-TR" smtClean="0"/>
              <a:t>21.10.2024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D1BC5D5A-A3FB-46A1-A862-24F6D41195CB}" type="slidenum">
              <a:rPr lang="tr-TR" smtClean="0"/>
              <a:t>‹#›</a:t>
            </a:fld>
            <a:endParaRPr lang="tr-TR"/>
          </a:p>
        </p:txBody>
      </p:sp>
    </p:spTree>
    <p:extLst>
      <p:ext uri="{BB962C8B-B14F-4D97-AF65-F5344CB8AC3E}">
        <p14:creationId xmlns:p14="http://schemas.microsoft.com/office/powerpoint/2010/main" val="4203562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6E6563DD-AB74-42F3-8F87-15CD2B607490}" type="datetime1">
              <a:rPr lang="tr-TR" smtClean="0"/>
              <a:t>21.10.2024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D1BC5D5A-A3FB-46A1-A862-24F6D41195CB}" type="slidenum">
              <a:rPr lang="tr-TR" smtClean="0"/>
              <a:t>‹#›</a:t>
            </a:fld>
            <a:endParaRPr lang="tr-TR"/>
          </a:p>
        </p:txBody>
      </p:sp>
    </p:spTree>
    <p:extLst>
      <p:ext uri="{BB962C8B-B14F-4D97-AF65-F5344CB8AC3E}">
        <p14:creationId xmlns:p14="http://schemas.microsoft.com/office/powerpoint/2010/main" val="88454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F6DF80D3-438F-439C-97E9-7B60D94ECD9A}" type="datetime1">
              <a:rPr lang="tr-TR" smtClean="0"/>
              <a:t>21.10.2024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D1BC5D5A-A3FB-46A1-A862-24F6D41195CB}" type="slidenum">
              <a:rPr lang="tr-TR" smtClean="0"/>
              <a:t>‹#›</a:t>
            </a:fld>
            <a:endParaRPr lang="tr-TR"/>
          </a:p>
        </p:txBody>
      </p:sp>
    </p:spTree>
    <p:extLst>
      <p:ext uri="{BB962C8B-B14F-4D97-AF65-F5344CB8AC3E}">
        <p14:creationId xmlns:p14="http://schemas.microsoft.com/office/powerpoint/2010/main" val="2836616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a:t>Asıl başlık stili için tıklatın</a:t>
            </a: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17AB02B6-DD78-450D-B6D5-600C7AA25385}" type="datetime1">
              <a:rPr lang="tr-TR" smtClean="0"/>
              <a:t>21.10.2024</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D1BC5D5A-A3FB-46A1-A862-24F6D41195CB}" type="slidenum">
              <a:rPr lang="tr-TR" smtClean="0"/>
              <a:t>‹#›</a:t>
            </a:fld>
            <a:endParaRPr lang="tr-TR"/>
          </a:p>
        </p:txBody>
      </p:sp>
    </p:spTree>
    <p:extLst>
      <p:ext uri="{BB962C8B-B14F-4D97-AF65-F5344CB8AC3E}">
        <p14:creationId xmlns:p14="http://schemas.microsoft.com/office/powerpoint/2010/main" val="2407518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43214358-BBC1-461F-8990-5B71926551A9}" type="datetime1">
              <a:rPr lang="tr-TR" smtClean="0"/>
              <a:t>21.10.2024</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D1BC5D5A-A3FB-46A1-A862-24F6D41195CB}" type="slidenum">
              <a:rPr lang="tr-TR" smtClean="0"/>
              <a:t>‹#›</a:t>
            </a:fld>
            <a:endParaRPr lang="tr-TR"/>
          </a:p>
        </p:txBody>
      </p:sp>
    </p:spTree>
    <p:extLst>
      <p:ext uri="{BB962C8B-B14F-4D97-AF65-F5344CB8AC3E}">
        <p14:creationId xmlns:p14="http://schemas.microsoft.com/office/powerpoint/2010/main" val="194824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1FA46C2C-C494-444F-AA9D-947EC1447C10}" type="datetime1">
              <a:rPr lang="tr-TR" smtClean="0"/>
              <a:t>21.10.2024</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D1BC5D5A-A3FB-46A1-A862-24F6D41195CB}" type="slidenum">
              <a:rPr lang="tr-TR" smtClean="0"/>
              <a:t>‹#›</a:t>
            </a:fld>
            <a:endParaRPr lang="tr-TR"/>
          </a:p>
        </p:txBody>
      </p:sp>
    </p:spTree>
    <p:extLst>
      <p:ext uri="{BB962C8B-B14F-4D97-AF65-F5344CB8AC3E}">
        <p14:creationId xmlns:p14="http://schemas.microsoft.com/office/powerpoint/2010/main" val="87700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B0CB48E7-8B9F-4EEC-BFC8-801034C086DA}" type="datetime1">
              <a:rPr lang="tr-TR" smtClean="0"/>
              <a:t>21.10.2024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D1BC5D5A-A3FB-46A1-A862-24F6D41195CB}" type="slidenum">
              <a:rPr lang="tr-TR" smtClean="0"/>
              <a:t>‹#›</a:t>
            </a:fld>
            <a:endParaRPr lang="tr-TR"/>
          </a:p>
        </p:txBody>
      </p:sp>
    </p:spTree>
    <p:extLst>
      <p:ext uri="{BB962C8B-B14F-4D97-AF65-F5344CB8AC3E}">
        <p14:creationId xmlns:p14="http://schemas.microsoft.com/office/powerpoint/2010/main" val="820375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DB06BAE3-4356-4E36-B466-D50F158E3C8C}" type="datetime1">
              <a:rPr lang="tr-TR" smtClean="0"/>
              <a:t>21.10.2024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D1BC5D5A-A3FB-46A1-A862-24F6D41195CB}" type="slidenum">
              <a:rPr lang="tr-TR" smtClean="0"/>
              <a:t>‹#›</a:t>
            </a:fld>
            <a:endParaRPr lang="tr-TR"/>
          </a:p>
        </p:txBody>
      </p:sp>
    </p:spTree>
    <p:extLst>
      <p:ext uri="{BB962C8B-B14F-4D97-AF65-F5344CB8AC3E}">
        <p14:creationId xmlns:p14="http://schemas.microsoft.com/office/powerpoint/2010/main" val="95899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B464B241-E933-452A-ADA7-DC3BFE332AF8}" type="datetime1">
              <a:rPr lang="tr-TR" smtClean="0"/>
              <a:t>21.10.2024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D1BC5D5A-A3FB-46A1-A862-24F6D41195CB}" type="slidenum">
              <a:rPr lang="tr-TR" smtClean="0"/>
              <a:t>‹#›</a:t>
            </a:fld>
            <a:endParaRPr lang="tr-TR"/>
          </a:p>
        </p:txBody>
      </p:sp>
    </p:spTree>
    <p:extLst>
      <p:ext uri="{BB962C8B-B14F-4D97-AF65-F5344CB8AC3E}">
        <p14:creationId xmlns:p14="http://schemas.microsoft.com/office/powerpoint/2010/main" val="3637525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2E0284D0-8F01-45CB-8675-9D35C728A5F9}" type="datetime1">
              <a:rPr lang="tr-TR" smtClean="0"/>
              <a:t>21.10.2024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D1BC5D5A-A3FB-46A1-A862-24F6D41195CB}" type="slidenum">
              <a:rPr lang="tr-TR" smtClean="0"/>
              <a:t>‹#›</a:t>
            </a:fld>
            <a:endParaRPr lang="tr-TR"/>
          </a:p>
        </p:txBody>
      </p:sp>
    </p:spTree>
    <p:extLst>
      <p:ext uri="{BB962C8B-B14F-4D97-AF65-F5344CB8AC3E}">
        <p14:creationId xmlns:p14="http://schemas.microsoft.com/office/powerpoint/2010/main" val="1143046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EBB2F3-3CBC-4FCF-9198-8C8D6631A43C}" type="datetime1">
              <a:rPr lang="tr-TR" smtClean="0"/>
              <a:t>21.10.2024</a:t>
            </a:fld>
            <a:endParaRPr lang="tr-TR"/>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BC5D5A-A3FB-46A1-A862-24F6D41195CB}" type="slidenum">
              <a:rPr lang="tr-TR" smtClean="0"/>
              <a:t>‹#›</a:t>
            </a:fld>
            <a:endParaRPr lang="tr-TR"/>
          </a:p>
        </p:txBody>
      </p:sp>
    </p:spTree>
    <p:extLst>
      <p:ext uri="{BB962C8B-B14F-4D97-AF65-F5344CB8AC3E}">
        <p14:creationId xmlns:p14="http://schemas.microsoft.com/office/powerpoint/2010/main" val="3104242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a:spLocks noGrp="1"/>
          </p:cNvSpPr>
          <p:nvPr>
            <p:ph type="ctrTitle"/>
          </p:nvPr>
        </p:nvSpPr>
        <p:spPr>
          <a:xfrm>
            <a:off x="685800" y="345491"/>
            <a:ext cx="7772400" cy="2520278"/>
          </a:xfrm>
        </p:spPr>
        <p:txBody>
          <a:bodyPr>
            <a:normAutofit/>
          </a:bodyPr>
          <a:lstStyle/>
          <a:p>
            <a:r>
              <a:rPr lang="tr-TR" sz="5300" b="1" dirty="0">
                <a:latin typeface="Candara" panose="020E0502030303020204" pitchFamily="34" charset="0"/>
              </a:rPr>
              <a:t>Mantık Devreleri </a:t>
            </a:r>
            <a:br>
              <a:rPr lang="tr-TR" dirty="0">
                <a:latin typeface="Candara" panose="020E0502030303020204" pitchFamily="34" charset="0"/>
              </a:rPr>
            </a:br>
            <a:r>
              <a:rPr lang="tr-TR" sz="3200" dirty="0">
                <a:latin typeface="Candara" panose="020E0502030303020204" pitchFamily="34" charset="0"/>
              </a:rPr>
              <a:t>Ders 4: Lojik Kapılar ve Lojik Devreler </a:t>
            </a:r>
            <a:br>
              <a:rPr lang="tr-TR" sz="3200" dirty="0">
                <a:latin typeface="Candara" panose="020E0502030303020204" pitchFamily="34" charset="0"/>
              </a:rPr>
            </a:br>
            <a:r>
              <a:rPr lang="tr-TR" sz="3200" dirty="0">
                <a:latin typeface="Candara" panose="020E0502030303020204" pitchFamily="34" charset="0"/>
              </a:rPr>
              <a:t>(</a:t>
            </a:r>
            <a:r>
              <a:rPr lang="en-GB" sz="3200" dirty="0">
                <a:latin typeface="Candara" panose="020E0502030303020204" pitchFamily="34" charset="0"/>
              </a:rPr>
              <a:t>Logic Gates and Logic Circuits</a:t>
            </a:r>
            <a:r>
              <a:rPr lang="tr-TR" sz="3200" dirty="0">
                <a:latin typeface="Candara" panose="020E0502030303020204" pitchFamily="34" charset="0"/>
              </a:rPr>
              <a:t>) </a:t>
            </a:r>
            <a:endParaRPr lang="en-GB" dirty="0">
              <a:latin typeface="Candara" panose="020E0502030303020204" pitchFamily="34" charset="0"/>
            </a:endParaRPr>
          </a:p>
        </p:txBody>
      </p:sp>
      <p:sp>
        <p:nvSpPr>
          <p:cNvPr id="2" name="Rectangle 1">
            <a:extLst>
              <a:ext uri="{FF2B5EF4-FFF2-40B4-BE49-F238E27FC236}">
                <a16:creationId xmlns:a16="http://schemas.microsoft.com/office/drawing/2014/main" id="{C53E1BCB-1CE6-4BE2-88F0-0320C87E542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pic>
        <p:nvPicPr>
          <p:cNvPr id="6" name="Resim 5">
            <a:extLst>
              <a:ext uri="{FF2B5EF4-FFF2-40B4-BE49-F238E27FC236}">
                <a16:creationId xmlns:a16="http://schemas.microsoft.com/office/drawing/2014/main" id="{1247E7E7-FE0D-4C83-B8BF-15D372CA09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77480" y="2708920"/>
            <a:ext cx="3789040" cy="3789040"/>
          </a:xfrm>
          <a:prstGeom prst="rect">
            <a:avLst/>
          </a:prstGeom>
        </p:spPr>
      </p:pic>
    </p:spTree>
    <p:extLst>
      <p:ext uri="{BB962C8B-B14F-4D97-AF65-F5344CB8AC3E}">
        <p14:creationId xmlns:p14="http://schemas.microsoft.com/office/powerpoint/2010/main" val="1599813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692696"/>
            <a:ext cx="8640960" cy="5056128"/>
          </a:xfrm>
          <a:prstGeom prst="rect">
            <a:avLst/>
          </a:prstGeom>
        </p:spPr>
        <p:txBody>
          <a:bodyPr wrap="square">
            <a:spAutoFit/>
          </a:bodyPr>
          <a:lstStyle/>
          <a:p>
            <a:pPr algn="just">
              <a:lnSpc>
                <a:spcPct val="120000"/>
              </a:lnSpc>
            </a:pPr>
            <a:r>
              <a:rPr lang="tr-TR" dirty="0">
                <a:latin typeface="Candara" panose="020E0502030303020204" pitchFamily="34" charset="0"/>
              </a:rPr>
              <a:t>Lojik devrelerin en basit ve temel elemanı lojik kapılardır (logic gates). Lojik değişkenlerin değerlerini (gerilimleri) giriş olarak kullanan, girişten aldığı değerler üzerinde işlemler yaparak lojik eşitliğin değerine uygun değerler (gerilim) üreten elektronik devre, ‘</a:t>
            </a:r>
            <a:r>
              <a:rPr lang="tr-TR" b="1" dirty="0">
                <a:latin typeface="Candara" panose="020E0502030303020204" pitchFamily="34" charset="0"/>
              </a:rPr>
              <a:t>lojik kapı</a:t>
            </a:r>
            <a:r>
              <a:rPr lang="tr-TR" dirty="0">
                <a:latin typeface="Candara" panose="020E0502030303020204" pitchFamily="34" charset="0"/>
              </a:rPr>
              <a:t>’ olarak isimlendirilir. Temel olarak beş farklı yapıda bulunan kapılar, basit bir sayısal elektronik devreden bilgisayara kadar cihazların temel yapı taşıdır. Flip-Flop, kaydedici, sayıcı, vb. lojik devreleri oluşturmakta kullanılan kapılar; direnç, diyot, transistor, FET, MOSFET, vb. elektronik devre elemanları kullanılarak yapılırlar.</a:t>
            </a:r>
          </a:p>
          <a:p>
            <a:pPr>
              <a:lnSpc>
                <a:spcPct val="120000"/>
              </a:lnSpc>
            </a:pPr>
            <a:r>
              <a:rPr lang="tr-TR" dirty="0">
                <a:latin typeface="Candara" panose="020E0502030303020204" pitchFamily="34" charset="0"/>
              </a:rPr>
              <a:t> Bu Kapılar </a:t>
            </a:r>
          </a:p>
          <a:p>
            <a:pPr marL="342900" indent="-342900">
              <a:lnSpc>
                <a:spcPct val="120000"/>
              </a:lnSpc>
              <a:buFont typeface="Arial" panose="020B0604020202020204" pitchFamily="34" charset="0"/>
              <a:buChar char="•"/>
            </a:pPr>
            <a:r>
              <a:rPr lang="tr-TR" dirty="0">
                <a:latin typeface="Candara" panose="020E0502030303020204" pitchFamily="34" charset="0"/>
              </a:rPr>
              <a:t>VE (AND),</a:t>
            </a:r>
          </a:p>
          <a:p>
            <a:pPr marL="342900" indent="-342900">
              <a:lnSpc>
                <a:spcPct val="120000"/>
              </a:lnSpc>
              <a:buFont typeface="Arial" panose="020B0604020202020204" pitchFamily="34" charset="0"/>
              <a:buChar char="•"/>
            </a:pPr>
            <a:r>
              <a:rPr lang="tr-TR" dirty="0">
                <a:latin typeface="Candara" panose="020E0502030303020204" pitchFamily="34" charset="0"/>
              </a:rPr>
              <a:t>VEYA (OR),</a:t>
            </a:r>
          </a:p>
          <a:p>
            <a:pPr marL="342900" indent="-342900">
              <a:lnSpc>
                <a:spcPct val="120000"/>
              </a:lnSpc>
              <a:buFont typeface="Arial" panose="020B0604020202020204" pitchFamily="34" charset="0"/>
              <a:buChar char="•"/>
            </a:pPr>
            <a:r>
              <a:rPr lang="tr-TR" dirty="0">
                <a:latin typeface="Candara" panose="020E0502030303020204" pitchFamily="34" charset="0"/>
              </a:rPr>
              <a:t>DEĞİL (NOT),</a:t>
            </a:r>
          </a:p>
          <a:p>
            <a:pPr marL="342900" indent="-342900">
              <a:lnSpc>
                <a:spcPct val="120000"/>
              </a:lnSpc>
              <a:buFont typeface="Arial" panose="020B0604020202020204" pitchFamily="34" charset="0"/>
              <a:buChar char="•"/>
            </a:pPr>
            <a:r>
              <a:rPr lang="tr-TR" dirty="0">
                <a:latin typeface="Candara" panose="020E0502030303020204" pitchFamily="34" charset="0"/>
              </a:rPr>
              <a:t>VEDEĞİL(NAND),</a:t>
            </a:r>
          </a:p>
          <a:p>
            <a:pPr marL="342900" indent="-342900">
              <a:lnSpc>
                <a:spcPct val="120000"/>
              </a:lnSpc>
              <a:buFont typeface="Arial" panose="020B0604020202020204" pitchFamily="34" charset="0"/>
              <a:buChar char="•"/>
            </a:pPr>
            <a:r>
              <a:rPr lang="tr-TR" dirty="0">
                <a:latin typeface="Candara" panose="020E0502030303020204" pitchFamily="34" charset="0"/>
              </a:rPr>
              <a:t>VEYADEĞİL (NOR)</a:t>
            </a:r>
          </a:p>
          <a:p>
            <a:pPr>
              <a:lnSpc>
                <a:spcPct val="120000"/>
              </a:lnSpc>
            </a:pPr>
            <a:r>
              <a:rPr lang="tr-TR" dirty="0">
                <a:latin typeface="Candara" panose="020E0502030303020204" pitchFamily="34" charset="0"/>
              </a:rPr>
              <a:t> kapılarıdır ve bu kapılar </a:t>
            </a:r>
            <a:r>
              <a:rPr lang="tr-TR" b="1" dirty="0">
                <a:latin typeface="Candara" panose="020E0502030303020204" pitchFamily="34" charset="0"/>
              </a:rPr>
              <a:t>‘temel lojik kapılar’ </a:t>
            </a:r>
            <a:r>
              <a:rPr lang="tr-TR" dirty="0">
                <a:latin typeface="Candara" panose="020E0502030303020204" pitchFamily="34" charset="0"/>
              </a:rPr>
              <a:t>olarak isimlendirilir.</a:t>
            </a:r>
          </a:p>
        </p:txBody>
      </p:sp>
      <p:sp>
        <p:nvSpPr>
          <p:cNvPr id="3" name="Dikdörtgen 2">
            <a:extLst>
              <a:ext uri="{FF2B5EF4-FFF2-40B4-BE49-F238E27FC236}">
                <a16:creationId xmlns:a16="http://schemas.microsoft.com/office/drawing/2014/main" id="{1B0BC2AC-11DB-417B-945A-3E49E59D8888}"/>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Giriş</a:t>
            </a:r>
            <a:endParaRPr lang="tr-TR" sz="2800" dirty="0">
              <a:latin typeface="Candara" panose="020E0502030303020204" pitchFamily="34" charset="0"/>
            </a:endParaRPr>
          </a:p>
        </p:txBody>
      </p:sp>
      <p:sp>
        <p:nvSpPr>
          <p:cNvPr id="4" name="Slayt Numarası Yer Tutucusu 3">
            <a:extLst>
              <a:ext uri="{FF2B5EF4-FFF2-40B4-BE49-F238E27FC236}">
                <a16:creationId xmlns:a16="http://schemas.microsoft.com/office/drawing/2014/main" id="{E3CF8D11-2065-40BD-8211-0DC63CC823F3}"/>
              </a:ext>
            </a:extLst>
          </p:cNvPr>
          <p:cNvSpPr>
            <a:spLocks noGrp="1"/>
          </p:cNvSpPr>
          <p:nvPr>
            <p:ph type="sldNum" sz="quarter" idx="12"/>
          </p:nvPr>
        </p:nvSpPr>
        <p:spPr/>
        <p:txBody>
          <a:bodyPr/>
          <a:lstStyle/>
          <a:p>
            <a:fld id="{D1BC5D5A-A3FB-46A1-A862-24F6D41195CB}" type="slidenum">
              <a:rPr lang="tr-TR" smtClean="0"/>
              <a:t>2</a:t>
            </a:fld>
            <a:endParaRPr lang="tr-TR"/>
          </a:p>
        </p:txBody>
      </p:sp>
    </p:spTree>
    <p:extLst>
      <p:ext uri="{BB962C8B-B14F-4D97-AF65-F5344CB8AC3E}">
        <p14:creationId xmlns:p14="http://schemas.microsoft.com/office/powerpoint/2010/main" val="2010029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kdörtgen 3"/>
          <p:cNvSpPr/>
          <p:nvPr/>
        </p:nvSpPr>
        <p:spPr>
          <a:xfrm>
            <a:off x="1420547" y="1349578"/>
            <a:ext cx="1253889" cy="14674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Düz Ok Bağlayıcısı 5"/>
          <p:cNvCxnSpPr/>
          <p:nvPr/>
        </p:nvCxnSpPr>
        <p:spPr>
          <a:xfrm flipV="1">
            <a:off x="683568" y="1533821"/>
            <a:ext cx="736979" cy="682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Düz Ok Bağlayıcısı 7"/>
          <p:cNvCxnSpPr/>
          <p:nvPr/>
        </p:nvCxnSpPr>
        <p:spPr>
          <a:xfrm>
            <a:off x="2687232" y="2083312"/>
            <a:ext cx="72418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 name="Metin kutusu 8"/>
          <p:cNvSpPr txBox="1"/>
          <p:nvPr/>
        </p:nvSpPr>
        <p:spPr>
          <a:xfrm>
            <a:off x="807202" y="1196752"/>
            <a:ext cx="606256" cy="369332"/>
          </a:xfrm>
          <a:prstGeom prst="rect">
            <a:avLst/>
          </a:prstGeom>
          <a:noFill/>
        </p:spPr>
        <p:txBody>
          <a:bodyPr wrap="none" rtlCol="0">
            <a:spAutoFit/>
          </a:bodyPr>
          <a:lstStyle/>
          <a:p>
            <a:r>
              <a:rPr lang="tr-TR" dirty="0">
                <a:latin typeface="Candara" panose="020E0502030303020204" pitchFamily="34" charset="0"/>
              </a:rPr>
              <a:t>Giriş</a:t>
            </a:r>
            <a:endParaRPr lang="en-GB" dirty="0">
              <a:latin typeface="Candara" panose="020E0502030303020204" pitchFamily="34" charset="0"/>
            </a:endParaRPr>
          </a:p>
        </p:txBody>
      </p:sp>
      <p:sp>
        <p:nvSpPr>
          <p:cNvPr id="10" name="Metin kutusu 9"/>
          <p:cNvSpPr txBox="1"/>
          <p:nvPr/>
        </p:nvSpPr>
        <p:spPr>
          <a:xfrm>
            <a:off x="2721776" y="1686401"/>
            <a:ext cx="655093" cy="369332"/>
          </a:xfrm>
          <a:prstGeom prst="rect">
            <a:avLst/>
          </a:prstGeom>
          <a:noFill/>
        </p:spPr>
        <p:txBody>
          <a:bodyPr wrap="square" rtlCol="0">
            <a:spAutoFit/>
          </a:bodyPr>
          <a:lstStyle/>
          <a:p>
            <a:r>
              <a:rPr lang="tr-TR" dirty="0">
                <a:latin typeface="Candara" panose="020E0502030303020204" pitchFamily="34" charset="0"/>
              </a:rPr>
              <a:t>Çıkış</a:t>
            </a:r>
            <a:endParaRPr lang="en-GB" dirty="0">
              <a:latin typeface="Candara" panose="020E0502030303020204" pitchFamily="34" charset="0"/>
            </a:endParaRPr>
          </a:p>
        </p:txBody>
      </p:sp>
      <p:cxnSp>
        <p:nvCxnSpPr>
          <p:cNvPr id="12" name="Düz Ok Bağlayıcısı 11"/>
          <p:cNvCxnSpPr/>
          <p:nvPr/>
        </p:nvCxnSpPr>
        <p:spPr>
          <a:xfrm flipV="1">
            <a:off x="683568" y="2667146"/>
            <a:ext cx="736979" cy="2813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Düz Bağlayıcı 14"/>
          <p:cNvCxnSpPr>
            <a:cxnSpLocks/>
          </p:cNvCxnSpPr>
          <p:nvPr/>
        </p:nvCxnSpPr>
        <p:spPr>
          <a:xfrm>
            <a:off x="1052057" y="1686401"/>
            <a:ext cx="0" cy="924297"/>
          </a:xfrm>
          <a:prstGeom prst="line">
            <a:avLst/>
          </a:prstGeom>
          <a:ln w="15875">
            <a:prstDash val="sysDash"/>
          </a:ln>
        </p:spPr>
        <p:style>
          <a:lnRef idx="1">
            <a:schemeClr val="accent1"/>
          </a:lnRef>
          <a:fillRef idx="0">
            <a:schemeClr val="accent1"/>
          </a:fillRef>
          <a:effectRef idx="0">
            <a:schemeClr val="accent1"/>
          </a:effectRef>
          <a:fontRef idx="minor">
            <a:schemeClr val="tx1"/>
          </a:fontRef>
        </p:style>
      </p:cxnSp>
      <p:sp>
        <p:nvSpPr>
          <p:cNvPr id="19" name="Metin kutusu 18"/>
          <p:cNvSpPr txBox="1"/>
          <p:nvPr/>
        </p:nvSpPr>
        <p:spPr>
          <a:xfrm>
            <a:off x="742358" y="1902617"/>
            <a:ext cx="309700" cy="369332"/>
          </a:xfrm>
          <a:prstGeom prst="rect">
            <a:avLst/>
          </a:prstGeom>
          <a:noFill/>
        </p:spPr>
        <p:txBody>
          <a:bodyPr wrap="none" rtlCol="0">
            <a:spAutoFit/>
          </a:bodyPr>
          <a:lstStyle/>
          <a:p>
            <a:r>
              <a:rPr lang="tr-TR" dirty="0">
                <a:latin typeface="Candara" panose="020E0502030303020204" pitchFamily="34" charset="0"/>
              </a:rPr>
              <a:t>n</a:t>
            </a:r>
            <a:endParaRPr lang="en-GB" dirty="0">
              <a:latin typeface="Candara" panose="020E0502030303020204" pitchFamily="34" charset="0"/>
            </a:endParaRPr>
          </a:p>
        </p:txBody>
      </p:sp>
      <p:sp>
        <p:nvSpPr>
          <p:cNvPr id="20" name="Metin kutusu 19"/>
          <p:cNvSpPr txBox="1"/>
          <p:nvPr/>
        </p:nvSpPr>
        <p:spPr>
          <a:xfrm>
            <a:off x="3491880" y="1422380"/>
            <a:ext cx="5404895" cy="646331"/>
          </a:xfrm>
          <a:prstGeom prst="rect">
            <a:avLst/>
          </a:prstGeom>
          <a:noFill/>
        </p:spPr>
        <p:txBody>
          <a:bodyPr wrap="square" rtlCol="0">
            <a:spAutoFit/>
          </a:bodyPr>
          <a:lstStyle/>
          <a:p>
            <a:pPr algn="ctr"/>
            <a:r>
              <a:rPr lang="tr-TR" dirty="0">
                <a:latin typeface="Candara" panose="020E0502030303020204" pitchFamily="34" charset="0"/>
              </a:rPr>
              <a:t>Eğer n=2 ise 2</a:t>
            </a:r>
            <a:r>
              <a:rPr lang="tr-TR" baseline="30000" dirty="0">
                <a:latin typeface="Candara" panose="020E0502030303020204" pitchFamily="34" charset="0"/>
              </a:rPr>
              <a:t>n </a:t>
            </a:r>
            <a:r>
              <a:rPr lang="tr-TR" dirty="0">
                <a:latin typeface="Candara" panose="020E0502030303020204" pitchFamily="34" charset="0"/>
              </a:rPr>
              <a:t>farklı giriş kombinasyonu olur. (İkili sistemde)</a:t>
            </a:r>
            <a:endParaRPr lang="en-GB" baseline="30000" dirty="0">
              <a:latin typeface="Candara" panose="020E0502030303020204" pitchFamily="34" charset="0"/>
            </a:endParaRPr>
          </a:p>
        </p:txBody>
      </p:sp>
      <p:sp>
        <p:nvSpPr>
          <p:cNvPr id="26" name="Metin kutusu 25"/>
          <p:cNvSpPr txBox="1"/>
          <p:nvPr/>
        </p:nvSpPr>
        <p:spPr>
          <a:xfrm>
            <a:off x="6340998" y="3487877"/>
            <a:ext cx="1922489" cy="646331"/>
          </a:xfrm>
          <a:prstGeom prst="rect">
            <a:avLst/>
          </a:prstGeom>
          <a:noFill/>
        </p:spPr>
        <p:txBody>
          <a:bodyPr wrap="square" rtlCol="0">
            <a:spAutoFit/>
          </a:bodyPr>
          <a:lstStyle/>
          <a:p>
            <a:r>
              <a:rPr lang="tr-TR" dirty="0">
                <a:latin typeface="Candara" panose="020E0502030303020204" pitchFamily="34" charset="0"/>
              </a:rPr>
              <a:t>Çıkış(f) rastgele yazılmıştır.</a:t>
            </a:r>
            <a:endParaRPr lang="en-GB" dirty="0">
              <a:latin typeface="Candara" panose="020E0502030303020204" pitchFamily="34" charset="0"/>
            </a:endParaRPr>
          </a:p>
        </p:txBody>
      </p:sp>
      <p:sp>
        <p:nvSpPr>
          <p:cNvPr id="27" name="Oval 26"/>
          <p:cNvSpPr/>
          <p:nvPr/>
        </p:nvSpPr>
        <p:spPr>
          <a:xfrm>
            <a:off x="513571" y="3148310"/>
            <a:ext cx="4418351" cy="271322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cxnSp>
        <p:nvCxnSpPr>
          <p:cNvPr id="30" name="Düz Ok Bağlayıcısı 29"/>
          <p:cNvCxnSpPr/>
          <p:nvPr/>
        </p:nvCxnSpPr>
        <p:spPr>
          <a:xfrm>
            <a:off x="4931151" y="4634486"/>
            <a:ext cx="2039433" cy="231101"/>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31" name="Metin kutusu 30"/>
          <p:cNvSpPr txBox="1"/>
          <p:nvPr/>
        </p:nvSpPr>
        <p:spPr>
          <a:xfrm>
            <a:off x="7015554" y="4743130"/>
            <a:ext cx="1881221" cy="369332"/>
          </a:xfrm>
          <a:prstGeom prst="rect">
            <a:avLst/>
          </a:prstGeom>
          <a:noFill/>
        </p:spPr>
        <p:txBody>
          <a:bodyPr wrap="none" rtlCol="0">
            <a:spAutoFit/>
          </a:bodyPr>
          <a:lstStyle/>
          <a:p>
            <a:r>
              <a:rPr lang="tr-TR" dirty="0">
                <a:latin typeface="Candara" panose="020E0502030303020204" pitchFamily="34" charset="0"/>
              </a:rPr>
              <a:t>Doğruluk Tablosu</a:t>
            </a:r>
            <a:endParaRPr lang="en-GB" dirty="0">
              <a:latin typeface="Candara" panose="020E0502030303020204" pitchFamily="34" charset="0"/>
            </a:endParaRPr>
          </a:p>
        </p:txBody>
      </p:sp>
      <p:sp>
        <p:nvSpPr>
          <p:cNvPr id="3" name="Metin kutusu 2"/>
          <p:cNvSpPr txBox="1"/>
          <p:nvPr/>
        </p:nvSpPr>
        <p:spPr>
          <a:xfrm>
            <a:off x="4839556" y="2786338"/>
            <a:ext cx="3379451" cy="369332"/>
          </a:xfrm>
          <a:prstGeom prst="rect">
            <a:avLst/>
          </a:prstGeom>
          <a:noFill/>
        </p:spPr>
        <p:txBody>
          <a:bodyPr wrap="none" rtlCol="0">
            <a:spAutoFit/>
          </a:bodyPr>
          <a:lstStyle/>
          <a:p>
            <a:r>
              <a:rPr lang="tr-TR" dirty="0">
                <a:latin typeface="Candara" panose="020E0502030303020204" pitchFamily="34" charset="0"/>
              </a:rPr>
              <a:t>Girişler (x, y) rastgele yazılmıştır. </a:t>
            </a:r>
          </a:p>
        </p:txBody>
      </p:sp>
      <p:pic>
        <p:nvPicPr>
          <p:cNvPr id="25604"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709" t="1693"/>
          <a:stretch/>
        </p:blipFill>
        <p:spPr bwMode="auto">
          <a:xfrm>
            <a:off x="1331522" y="3635827"/>
            <a:ext cx="2638610" cy="18633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5" name="Düz Ok Bağlayıcısı 24"/>
          <p:cNvCxnSpPr>
            <a:cxnSpLocks/>
            <a:endCxn id="26" idx="1"/>
          </p:cNvCxnSpPr>
          <p:nvPr/>
        </p:nvCxnSpPr>
        <p:spPr>
          <a:xfrm flipV="1">
            <a:off x="3779794" y="3811043"/>
            <a:ext cx="2561204" cy="5019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Düz Ok Bağlayıcısı 17"/>
          <p:cNvCxnSpPr>
            <a:cxnSpLocks/>
          </p:cNvCxnSpPr>
          <p:nvPr/>
        </p:nvCxnSpPr>
        <p:spPr>
          <a:xfrm flipV="1">
            <a:off x="2627666" y="3120730"/>
            <a:ext cx="2303485" cy="6647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Düz Ok Bağlayıcısı 20"/>
          <p:cNvCxnSpPr>
            <a:cxnSpLocks/>
            <a:endCxn id="3" idx="1"/>
          </p:cNvCxnSpPr>
          <p:nvPr/>
        </p:nvCxnSpPr>
        <p:spPr>
          <a:xfrm flipV="1">
            <a:off x="1763570" y="2971004"/>
            <a:ext cx="3075986" cy="8145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9" name="Dikdörtgen 28">
            <a:extLst>
              <a:ext uri="{FF2B5EF4-FFF2-40B4-BE49-F238E27FC236}">
                <a16:creationId xmlns:a16="http://schemas.microsoft.com/office/drawing/2014/main" id="{BEB4D806-E9A1-4DA5-8EB4-6545FD2A2A7F}"/>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Doğruluk Tablosu</a:t>
            </a:r>
          </a:p>
        </p:txBody>
      </p:sp>
      <p:sp>
        <p:nvSpPr>
          <p:cNvPr id="2" name="Slayt Numarası Yer Tutucusu 1">
            <a:extLst>
              <a:ext uri="{FF2B5EF4-FFF2-40B4-BE49-F238E27FC236}">
                <a16:creationId xmlns:a16="http://schemas.microsoft.com/office/drawing/2014/main" id="{B053F66C-618A-44E7-BDC0-27A21E746D9F}"/>
              </a:ext>
            </a:extLst>
          </p:cNvPr>
          <p:cNvSpPr>
            <a:spLocks noGrp="1"/>
          </p:cNvSpPr>
          <p:nvPr>
            <p:ph type="sldNum" sz="quarter" idx="12"/>
          </p:nvPr>
        </p:nvSpPr>
        <p:spPr/>
        <p:txBody>
          <a:bodyPr/>
          <a:lstStyle/>
          <a:p>
            <a:fld id="{D1BC5D5A-A3FB-46A1-A862-24F6D41195CB}" type="slidenum">
              <a:rPr lang="tr-TR" smtClean="0"/>
              <a:t>3</a:t>
            </a:fld>
            <a:endParaRPr lang="tr-TR"/>
          </a:p>
        </p:txBody>
      </p:sp>
    </p:spTree>
    <p:extLst>
      <p:ext uri="{BB962C8B-B14F-4D97-AF65-F5344CB8AC3E}">
        <p14:creationId xmlns:p14="http://schemas.microsoft.com/office/powerpoint/2010/main" val="2306790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a:extLst>
              <a:ext uri="{FF2B5EF4-FFF2-40B4-BE49-F238E27FC236}">
                <a16:creationId xmlns:a16="http://schemas.microsoft.com/office/drawing/2014/main" id="{95AC7123-D1DF-43C1-99DE-D27A221E5D58}"/>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Lojik Kapılar</a:t>
            </a:r>
          </a:p>
        </p:txBody>
      </p:sp>
      <p:sp>
        <p:nvSpPr>
          <p:cNvPr id="2" name="Slayt Numarası Yer Tutucusu 1">
            <a:extLst>
              <a:ext uri="{FF2B5EF4-FFF2-40B4-BE49-F238E27FC236}">
                <a16:creationId xmlns:a16="http://schemas.microsoft.com/office/drawing/2014/main" id="{2F5A493B-8D42-44EC-8477-F8BF6364EF6E}"/>
              </a:ext>
            </a:extLst>
          </p:cNvPr>
          <p:cNvSpPr>
            <a:spLocks noGrp="1"/>
          </p:cNvSpPr>
          <p:nvPr>
            <p:ph type="sldNum" sz="quarter" idx="12"/>
          </p:nvPr>
        </p:nvSpPr>
        <p:spPr/>
        <p:txBody>
          <a:bodyPr/>
          <a:lstStyle/>
          <a:p>
            <a:fld id="{D1BC5D5A-A3FB-46A1-A862-24F6D41195CB}" type="slidenum">
              <a:rPr lang="tr-TR" smtClean="0"/>
              <a:t>4</a:t>
            </a:fld>
            <a:endParaRPr lang="tr-TR"/>
          </a:p>
        </p:txBody>
      </p:sp>
      <p:pic>
        <p:nvPicPr>
          <p:cNvPr id="5" name="Resim 4">
            <a:extLst>
              <a:ext uri="{FF2B5EF4-FFF2-40B4-BE49-F238E27FC236}">
                <a16:creationId xmlns:a16="http://schemas.microsoft.com/office/drawing/2014/main" id="{34BC20BF-C57E-4C37-89EA-B9023E6D8938}"/>
              </a:ext>
            </a:extLst>
          </p:cNvPr>
          <p:cNvPicPr>
            <a:picLocks noChangeAspect="1"/>
          </p:cNvPicPr>
          <p:nvPr/>
        </p:nvPicPr>
        <p:blipFill>
          <a:blip r:embed="rId2"/>
          <a:stretch>
            <a:fillRect/>
          </a:stretch>
        </p:blipFill>
        <p:spPr>
          <a:xfrm>
            <a:off x="766762" y="933450"/>
            <a:ext cx="7610475" cy="4991100"/>
          </a:xfrm>
          <a:prstGeom prst="rect">
            <a:avLst/>
          </a:prstGeom>
        </p:spPr>
      </p:pic>
    </p:spTree>
    <p:extLst>
      <p:ext uri="{BB962C8B-B14F-4D97-AF65-F5344CB8AC3E}">
        <p14:creationId xmlns:p14="http://schemas.microsoft.com/office/powerpoint/2010/main" val="2958475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548680"/>
            <a:ext cx="8566398" cy="56452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a:extLst>
              <a:ext uri="{FF2B5EF4-FFF2-40B4-BE49-F238E27FC236}">
                <a16:creationId xmlns:a16="http://schemas.microsoft.com/office/drawing/2014/main" id="{6B4EEB70-EBA5-4560-8F4C-F10DAEFF113E}"/>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Lojik Kapılar</a:t>
            </a:r>
          </a:p>
        </p:txBody>
      </p:sp>
      <p:sp>
        <p:nvSpPr>
          <p:cNvPr id="2" name="Slayt Numarası Yer Tutucusu 1">
            <a:extLst>
              <a:ext uri="{FF2B5EF4-FFF2-40B4-BE49-F238E27FC236}">
                <a16:creationId xmlns:a16="http://schemas.microsoft.com/office/drawing/2014/main" id="{C66C5077-3553-4971-BB38-F07DCCC6D135}"/>
              </a:ext>
            </a:extLst>
          </p:cNvPr>
          <p:cNvSpPr>
            <a:spLocks noGrp="1"/>
          </p:cNvSpPr>
          <p:nvPr>
            <p:ph type="sldNum" sz="quarter" idx="12"/>
          </p:nvPr>
        </p:nvSpPr>
        <p:spPr/>
        <p:txBody>
          <a:bodyPr/>
          <a:lstStyle/>
          <a:p>
            <a:fld id="{D1BC5D5A-A3FB-46A1-A862-24F6D41195CB}" type="slidenum">
              <a:rPr lang="tr-TR" smtClean="0"/>
              <a:t>5</a:t>
            </a:fld>
            <a:endParaRPr lang="tr-TR"/>
          </a:p>
        </p:txBody>
      </p:sp>
    </p:spTree>
    <p:extLst>
      <p:ext uri="{BB962C8B-B14F-4D97-AF65-F5344CB8AC3E}">
        <p14:creationId xmlns:p14="http://schemas.microsoft.com/office/powerpoint/2010/main" val="3563821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688" y="1009650"/>
            <a:ext cx="8048625" cy="4838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Metin kutusu 1"/>
          <p:cNvSpPr txBox="1"/>
          <p:nvPr/>
        </p:nvSpPr>
        <p:spPr>
          <a:xfrm>
            <a:off x="683568" y="508030"/>
            <a:ext cx="2449773" cy="461665"/>
          </a:xfrm>
          <a:prstGeom prst="rect">
            <a:avLst/>
          </a:prstGeom>
          <a:noFill/>
        </p:spPr>
        <p:txBody>
          <a:bodyPr wrap="none" rtlCol="0">
            <a:spAutoFit/>
          </a:bodyPr>
          <a:lstStyle/>
          <a:p>
            <a:r>
              <a:rPr lang="tr-TR" sz="2400" b="1" u="sng" dirty="0"/>
              <a:t>Diğer özel kapılar </a:t>
            </a:r>
          </a:p>
        </p:txBody>
      </p:sp>
      <p:sp>
        <p:nvSpPr>
          <p:cNvPr id="4" name="Dikdörtgen 3">
            <a:extLst>
              <a:ext uri="{FF2B5EF4-FFF2-40B4-BE49-F238E27FC236}">
                <a16:creationId xmlns:a16="http://schemas.microsoft.com/office/drawing/2014/main" id="{EA567787-BF89-42C9-AA45-F0CC6A8C7FE9}"/>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Lojik Kapılar</a:t>
            </a:r>
          </a:p>
        </p:txBody>
      </p:sp>
      <p:sp>
        <p:nvSpPr>
          <p:cNvPr id="3" name="Slayt Numarası Yer Tutucusu 2">
            <a:extLst>
              <a:ext uri="{FF2B5EF4-FFF2-40B4-BE49-F238E27FC236}">
                <a16:creationId xmlns:a16="http://schemas.microsoft.com/office/drawing/2014/main" id="{A49E0E5F-A8B4-4D81-83F7-BC89B72E6D79}"/>
              </a:ext>
            </a:extLst>
          </p:cNvPr>
          <p:cNvSpPr>
            <a:spLocks noGrp="1"/>
          </p:cNvSpPr>
          <p:nvPr>
            <p:ph type="sldNum" sz="quarter" idx="12"/>
          </p:nvPr>
        </p:nvSpPr>
        <p:spPr/>
        <p:txBody>
          <a:bodyPr/>
          <a:lstStyle/>
          <a:p>
            <a:fld id="{D1BC5D5A-A3FB-46A1-A862-24F6D41195CB}" type="slidenum">
              <a:rPr lang="tr-TR" smtClean="0"/>
              <a:t>6</a:t>
            </a:fld>
            <a:endParaRPr lang="tr-TR"/>
          </a:p>
        </p:txBody>
      </p:sp>
    </p:spTree>
    <p:extLst>
      <p:ext uri="{BB962C8B-B14F-4D97-AF65-F5344CB8AC3E}">
        <p14:creationId xmlns:p14="http://schemas.microsoft.com/office/powerpoint/2010/main" val="1074342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5980"/>
          <a:stretch/>
        </p:blipFill>
        <p:spPr bwMode="auto">
          <a:xfrm>
            <a:off x="899592" y="548680"/>
            <a:ext cx="7344816" cy="6309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a:extLst>
              <a:ext uri="{FF2B5EF4-FFF2-40B4-BE49-F238E27FC236}">
                <a16:creationId xmlns:a16="http://schemas.microsoft.com/office/drawing/2014/main" id="{8C24FE04-8DD4-468B-BD4B-907C7BC3A790}"/>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‘VEYA’ İşlemi ve ‘VEYA’ Kapısı</a:t>
            </a:r>
          </a:p>
        </p:txBody>
      </p:sp>
      <p:sp>
        <p:nvSpPr>
          <p:cNvPr id="2" name="Slayt Numarası Yer Tutucusu 1">
            <a:extLst>
              <a:ext uri="{FF2B5EF4-FFF2-40B4-BE49-F238E27FC236}">
                <a16:creationId xmlns:a16="http://schemas.microsoft.com/office/drawing/2014/main" id="{EB475885-1AB1-422E-9F05-52569F5F8D91}"/>
              </a:ext>
            </a:extLst>
          </p:cNvPr>
          <p:cNvSpPr>
            <a:spLocks noGrp="1"/>
          </p:cNvSpPr>
          <p:nvPr>
            <p:ph type="sldNum" sz="quarter" idx="12"/>
          </p:nvPr>
        </p:nvSpPr>
        <p:spPr/>
        <p:txBody>
          <a:bodyPr/>
          <a:lstStyle/>
          <a:p>
            <a:fld id="{D1BC5D5A-A3FB-46A1-A862-24F6D41195CB}" type="slidenum">
              <a:rPr lang="tr-TR" smtClean="0"/>
              <a:t>7</a:t>
            </a:fld>
            <a:endParaRPr lang="tr-TR"/>
          </a:p>
        </p:txBody>
      </p:sp>
    </p:spTree>
    <p:extLst>
      <p:ext uri="{BB962C8B-B14F-4D97-AF65-F5344CB8AC3E}">
        <p14:creationId xmlns:p14="http://schemas.microsoft.com/office/powerpoint/2010/main" val="850792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548680"/>
            <a:ext cx="7488832" cy="6309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a:extLst>
              <a:ext uri="{FF2B5EF4-FFF2-40B4-BE49-F238E27FC236}">
                <a16:creationId xmlns:a16="http://schemas.microsoft.com/office/drawing/2014/main" id="{78E0021B-0E6F-4D12-9965-24B803ACFD03}"/>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‘VEYA’ İşlemi ve ‘VEYA’ Kapısı</a:t>
            </a:r>
          </a:p>
        </p:txBody>
      </p:sp>
      <p:sp>
        <p:nvSpPr>
          <p:cNvPr id="2" name="Slayt Numarası Yer Tutucusu 1">
            <a:extLst>
              <a:ext uri="{FF2B5EF4-FFF2-40B4-BE49-F238E27FC236}">
                <a16:creationId xmlns:a16="http://schemas.microsoft.com/office/drawing/2014/main" id="{A5105C7D-022D-402A-AF84-36485DA08CF5}"/>
              </a:ext>
            </a:extLst>
          </p:cNvPr>
          <p:cNvSpPr>
            <a:spLocks noGrp="1"/>
          </p:cNvSpPr>
          <p:nvPr>
            <p:ph type="sldNum" sz="quarter" idx="12"/>
          </p:nvPr>
        </p:nvSpPr>
        <p:spPr/>
        <p:txBody>
          <a:bodyPr/>
          <a:lstStyle/>
          <a:p>
            <a:fld id="{D1BC5D5A-A3FB-46A1-A862-24F6D41195CB}" type="slidenum">
              <a:rPr lang="tr-TR" smtClean="0"/>
              <a:t>8</a:t>
            </a:fld>
            <a:endParaRPr lang="tr-TR"/>
          </a:p>
        </p:txBody>
      </p:sp>
    </p:spTree>
    <p:extLst>
      <p:ext uri="{BB962C8B-B14F-4D97-AF65-F5344CB8AC3E}">
        <p14:creationId xmlns:p14="http://schemas.microsoft.com/office/powerpoint/2010/main" val="228739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51113"/>
          <a:stretch/>
        </p:blipFill>
        <p:spPr bwMode="auto">
          <a:xfrm>
            <a:off x="460668" y="980728"/>
            <a:ext cx="8222663" cy="4104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a:extLst>
              <a:ext uri="{FF2B5EF4-FFF2-40B4-BE49-F238E27FC236}">
                <a16:creationId xmlns:a16="http://schemas.microsoft.com/office/drawing/2014/main" id="{DD7DAE20-AEB5-45AD-BE49-B2056F7245C0}"/>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‘VEYA’ İşlemi ve ‘VEYA’ Kapısı</a:t>
            </a:r>
          </a:p>
        </p:txBody>
      </p:sp>
      <p:sp>
        <p:nvSpPr>
          <p:cNvPr id="2" name="Slayt Numarası Yer Tutucusu 1">
            <a:extLst>
              <a:ext uri="{FF2B5EF4-FFF2-40B4-BE49-F238E27FC236}">
                <a16:creationId xmlns:a16="http://schemas.microsoft.com/office/drawing/2014/main" id="{1C9CC459-C0ED-43FA-BE70-77D40B0B9625}"/>
              </a:ext>
            </a:extLst>
          </p:cNvPr>
          <p:cNvSpPr>
            <a:spLocks noGrp="1"/>
          </p:cNvSpPr>
          <p:nvPr>
            <p:ph type="sldNum" sz="quarter" idx="12"/>
          </p:nvPr>
        </p:nvSpPr>
        <p:spPr/>
        <p:txBody>
          <a:bodyPr/>
          <a:lstStyle/>
          <a:p>
            <a:fld id="{D1BC5D5A-A3FB-46A1-A862-24F6D41195CB}" type="slidenum">
              <a:rPr lang="tr-TR" smtClean="0"/>
              <a:t>9</a:t>
            </a:fld>
            <a:endParaRPr lang="tr-TR"/>
          </a:p>
        </p:txBody>
      </p:sp>
    </p:spTree>
    <p:extLst>
      <p:ext uri="{BB962C8B-B14F-4D97-AF65-F5344CB8AC3E}">
        <p14:creationId xmlns:p14="http://schemas.microsoft.com/office/powerpoint/2010/main" val="1692345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50000"/>
          <a:stretch/>
        </p:blipFill>
        <p:spPr bwMode="auto">
          <a:xfrm>
            <a:off x="406709" y="2348880"/>
            <a:ext cx="8330581" cy="4392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a:extLst>
              <a:ext uri="{FF2B5EF4-FFF2-40B4-BE49-F238E27FC236}">
                <a16:creationId xmlns:a16="http://schemas.microsoft.com/office/drawing/2014/main" id="{30B20DC2-30C0-4462-A6C6-F407C6869050}"/>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‘VEYA’ İşlemi ve ‘VEYA’ Kapısı</a:t>
            </a:r>
          </a:p>
        </p:txBody>
      </p:sp>
      <p:pic>
        <p:nvPicPr>
          <p:cNvPr id="4" name="Picture 2">
            <a:extLst>
              <a:ext uri="{FF2B5EF4-FFF2-40B4-BE49-F238E27FC236}">
                <a16:creationId xmlns:a16="http://schemas.microsoft.com/office/drawing/2014/main" id="{EE5FE410-7DB4-40A1-97D4-98A9FED1DC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64" t="17806" r="6364" b="56374"/>
          <a:stretch/>
        </p:blipFill>
        <p:spPr bwMode="auto">
          <a:xfrm>
            <a:off x="2069100" y="836712"/>
            <a:ext cx="5005798" cy="1512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ayt Numarası Yer Tutucusu 1">
            <a:extLst>
              <a:ext uri="{FF2B5EF4-FFF2-40B4-BE49-F238E27FC236}">
                <a16:creationId xmlns:a16="http://schemas.microsoft.com/office/drawing/2014/main" id="{6A30D97F-D1B9-4EB6-829A-12AC5C041772}"/>
              </a:ext>
            </a:extLst>
          </p:cNvPr>
          <p:cNvSpPr>
            <a:spLocks noGrp="1"/>
          </p:cNvSpPr>
          <p:nvPr>
            <p:ph type="sldNum" sz="quarter" idx="12"/>
          </p:nvPr>
        </p:nvSpPr>
        <p:spPr/>
        <p:txBody>
          <a:bodyPr/>
          <a:lstStyle/>
          <a:p>
            <a:fld id="{D1BC5D5A-A3FB-46A1-A862-24F6D41195CB}" type="slidenum">
              <a:rPr lang="tr-TR" smtClean="0"/>
              <a:t>10</a:t>
            </a:fld>
            <a:endParaRPr lang="tr-TR"/>
          </a:p>
        </p:txBody>
      </p:sp>
    </p:spTree>
    <p:extLst>
      <p:ext uri="{BB962C8B-B14F-4D97-AF65-F5344CB8AC3E}">
        <p14:creationId xmlns:p14="http://schemas.microsoft.com/office/powerpoint/2010/main" val="2531122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7185" t="13665" r="6850" b="1473"/>
          <a:stretch/>
        </p:blipFill>
        <p:spPr bwMode="auto">
          <a:xfrm>
            <a:off x="719572" y="3789040"/>
            <a:ext cx="7704856" cy="2332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ikdörtgen 3">
            <a:extLst>
              <a:ext uri="{FF2B5EF4-FFF2-40B4-BE49-F238E27FC236}">
                <a16:creationId xmlns:a16="http://schemas.microsoft.com/office/drawing/2014/main" id="{45C5D7DD-9ECD-4369-BDE9-C52A87E8CCE8}"/>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‘VE’ İşlemi ve ‘VE’ Kapısı</a:t>
            </a:r>
          </a:p>
        </p:txBody>
      </p:sp>
      <p:pic>
        <p:nvPicPr>
          <p:cNvPr id="3" name="Resim 2">
            <a:extLst>
              <a:ext uri="{FF2B5EF4-FFF2-40B4-BE49-F238E27FC236}">
                <a16:creationId xmlns:a16="http://schemas.microsoft.com/office/drawing/2014/main" id="{5BF472FC-F468-4516-A0EE-1ECFD1C0C25D}"/>
              </a:ext>
            </a:extLst>
          </p:cNvPr>
          <p:cNvPicPr>
            <a:picLocks noChangeAspect="1"/>
          </p:cNvPicPr>
          <p:nvPr/>
        </p:nvPicPr>
        <p:blipFill>
          <a:blip r:embed="rId3"/>
          <a:stretch>
            <a:fillRect/>
          </a:stretch>
        </p:blipFill>
        <p:spPr>
          <a:xfrm>
            <a:off x="471487" y="790575"/>
            <a:ext cx="8201025" cy="2638425"/>
          </a:xfrm>
          <a:prstGeom prst="rect">
            <a:avLst/>
          </a:prstGeom>
        </p:spPr>
      </p:pic>
      <p:sp>
        <p:nvSpPr>
          <p:cNvPr id="5" name="Metin kutusu 4">
            <a:extLst>
              <a:ext uri="{FF2B5EF4-FFF2-40B4-BE49-F238E27FC236}">
                <a16:creationId xmlns:a16="http://schemas.microsoft.com/office/drawing/2014/main" id="{4499AC58-E9CF-430A-B0DC-47E4F86CE4F2}"/>
              </a:ext>
            </a:extLst>
          </p:cNvPr>
          <p:cNvSpPr txBox="1"/>
          <p:nvPr/>
        </p:nvSpPr>
        <p:spPr>
          <a:xfrm>
            <a:off x="4108572" y="6381328"/>
            <a:ext cx="926857" cy="338554"/>
          </a:xfrm>
          <a:prstGeom prst="rect">
            <a:avLst/>
          </a:prstGeom>
          <a:noFill/>
        </p:spPr>
        <p:txBody>
          <a:bodyPr wrap="none" rtlCol="0">
            <a:spAutoFit/>
          </a:bodyPr>
          <a:lstStyle/>
          <a:p>
            <a:r>
              <a:rPr lang="tr-TR" sz="1600" b="1" dirty="0">
                <a:latin typeface="Times New Roman" panose="02020603050405020304" pitchFamily="18" charset="0"/>
                <a:cs typeface="Times New Roman" panose="02020603050405020304" pitchFamily="18" charset="0"/>
              </a:rPr>
              <a:t>Şekil 5.9</a:t>
            </a:r>
          </a:p>
        </p:txBody>
      </p:sp>
      <p:sp>
        <p:nvSpPr>
          <p:cNvPr id="2" name="Slayt Numarası Yer Tutucusu 1">
            <a:extLst>
              <a:ext uri="{FF2B5EF4-FFF2-40B4-BE49-F238E27FC236}">
                <a16:creationId xmlns:a16="http://schemas.microsoft.com/office/drawing/2014/main" id="{55D67403-ED2E-4288-8500-24A0079B8BF7}"/>
              </a:ext>
            </a:extLst>
          </p:cNvPr>
          <p:cNvSpPr>
            <a:spLocks noGrp="1"/>
          </p:cNvSpPr>
          <p:nvPr>
            <p:ph type="sldNum" sz="quarter" idx="12"/>
          </p:nvPr>
        </p:nvSpPr>
        <p:spPr/>
        <p:txBody>
          <a:bodyPr/>
          <a:lstStyle/>
          <a:p>
            <a:fld id="{D1BC5D5A-A3FB-46A1-A862-24F6D41195CB}" type="slidenum">
              <a:rPr lang="tr-TR" smtClean="0"/>
              <a:t>11</a:t>
            </a:fld>
            <a:endParaRPr lang="tr-TR"/>
          </a:p>
        </p:txBody>
      </p:sp>
    </p:spTree>
    <p:extLst>
      <p:ext uri="{BB962C8B-B14F-4D97-AF65-F5344CB8AC3E}">
        <p14:creationId xmlns:p14="http://schemas.microsoft.com/office/powerpoint/2010/main" val="4078622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9685" r="23053"/>
          <a:stretch/>
        </p:blipFill>
        <p:spPr bwMode="auto">
          <a:xfrm>
            <a:off x="2123728" y="1124744"/>
            <a:ext cx="4896544" cy="5112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a:extLst>
              <a:ext uri="{FF2B5EF4-FFF2-40B4-BE49-F238E27FC236}">
                <a16:creationId xmlns:a16="http://schemas.microsoft.com/office/drawing/2014/main" id="{A79267C7-14AE-4637-8E46-53ABE2D136B7}"/>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‘VE’ İşlemi ve ‘VE’ Kapısı</a:t>
            </a:r>
          </a:p>
        </p:txBody>
      </p:sp>
      <p:sp>
        <p:nvSpPr>
          <p:cNvPr id="4" name="Metin kutusu 3">
            <a:extLst>
              <a:ext uri="{FF2B5EF4-FFF2-40B4-BE49-F238E27FC236}">
                <a16:creationId xmlns:a16="http://schemas.microsoft.com/office/drawing/2014/main" id="{04AA1CC1-E3B5-4B84-89BF-3EFD6D35BA98}"/>
              </a:ext>
            </a:extLst>
          </p:cNvPr>
          <p:cNvSpPr txBox="1"/>
          <p:nvPr/>
        </p:nvSpPr>
        <p:spPr>
          <a:xfrm>
            <a:off x="3723050" y="6381328"/>
            <a:ext cx="1697901" cy="338554"/>
          </a:xfrm>
          <a:prstGeom prst="rect">
            <a:avLst/>
          </a:prstGeom>
          <a:noFill/>
        </p:spPr>
        <p:txBody>
          <a:bodyPr wrap="none" rtlCol="0">
            <a:spAutoFit/>
          </a:bodyPr>
          <a:lstStyle/>
          <a:p>
            <a:r>
              <a:rPr lang="tr-TR" sz="1600" b="1" dirty="0">
                <a:latin typeface="Times New Roman" panose="02020603050405020304" pitchFamily="18" charset="0"/>
                <a:cs typeface="Times New Roman" panose="02020603050405020304" pitchFamily="18" charset="0"/>
              </a:rPr>
              <a:t>Şekil 5.9 (devam)</a:t>
            </a:r>
          </a:p>
        </p:txBody>
      </p:sp>
      <p:sp>
        <p:nvSpPr>
          <p:cNvPr id="2" name="Slayt Numarası Yer Tutucusu 1">
            <a:extLst>
              <a:ext uri="{FF2B5EF4-FFF2-40B4-BE49-F238E27FC236}">
                <a16:creationId xmlns:a16="http://schemas.microsoft.com/office/drawing/2014/main" id="{1C80DB17-0F44-4255-AC06-EFE5ABA69DEA}"/>
              </a:ext>
            </a:extLst>
          </p:cNvPr>
          <p:cNvSpPr>
            <a:spLocks noGrp="1"/>
          </p:cNvSpPr>
          <p:nvPr>
            <p:ph type="sldNum" sz="quarter" idx="12"/>
          </p:nvPr>
        </p:nvSpPr>
        <p:spPr/>
        <p:txBody>
          <a:bodyPr/>
          <a:lstStyle/>
          <a:p>
            <a:fld id="{D1BC5D5A-A3FB-46A1-A862-24F6D41195CB}" type="slidenum">
              <a:rPr lang="tr-TR" smtClean="0"/>
              <a:t>12</a:t>
            </a:fld>
            <a:endParaRPr lang="tr-TR"/>
          </a:p>
        </p:txBody>
      </p:sp>
    </p:spTree>
    <p:extLst>
      <p:ext uri="{BB962C8B-B14F-4D97-AF65-F5344CB8AC3E}">
        <p14:creationId xmlns:p14="http://schemas.microsoft.com/office/powerpoint/2010/main" val="821393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534" y="2780928"/>
            <a:ext cx="6900933" cy="30998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ikdörtgen 3">
            <a:extLst>
              <a:ext uri="{FF2B5EF4-FFF2-40B4-BE49-F238E27FC236}">
                <a16:creationId xmlns:a16="http://schemas.microsoft.com/office/drawing/2014/main" id="{79727D31-B3A1-46EB-9FD1-0344F69E3615}"/>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‘VE’ İşlemi ve ‘VE’ Kapısı</a:t>
            </a:r>
          </a:p>
        </p:txBody>
      </p:sp>
      <p:sp>
        <p:nvSpPr>
          <p:cNvPr id="2" name="Slayt Numarası Yer Tutucusu 1">
            <a:extLst>
              <a:ext uri="{FF2B5EF4-FFF2-40B4-BE49-F238E27FC236}">
                <a16:creationId xmlns:a16="http://schemas.microsoft.com/office/drawing/2014/main" id="{BBF04D66-1543-4934-B351-58F54FEF5F02}"/>
              </a:ext>
            </a:extLst>
          </p:cNvPr>
          <p:cNvSpPr>
            <a:spLocks noGrp="1"/>
          </p:cNvSpPr>
          <p:nvPr>
            <p:ph type="sldNum" sz="quarter" idx="12"/>
          </p:nvPr>
        </p:nvSpPr>
        <p:spPr/>
        <p:txBody>
          <a:bodyPr/>
          <a:lstStyle/>
          <a:p>
            <a:fld id="{D1BC5D5A-A3FB-46A1-A862-24F6D41195CB}" type="slidenum">
              <a:rPr lang="tr-TR" smtClean="0"/>
              <a:t>13</a:t>
            </a:fld>
            <a:endParaRPr lang="tr-TR"/>
          </a:p>
        </p:txBody>
      </p:sp>
      <p:pic>
        <p:nvPicPr>
          <p:cNvPr id="5" name="Resim 4">
            <a:extLst>
              <a:ext uri="{FF2B5EF4-FFF2-40B4-BE49-F238E27FC236}">
                <a16:creationId xmlns:a16="http://schemas.microsoft.com/office/drawing/2014/main" id="{B31351D7-74D2-4B19-BE55-AAE62C6CFA59}"/>
              </a:ext>
            </a:extLst>
          </p:cNvPr>
          <p:cNvPicPr>
            <a:picLocks noChangeAspect="1"/>
          </p:cNvPicPr>
          <p:nvPr/>
        </p:nvPicPr>
        <p:blipFill>
          <a:blip r:embed="rId3"/>
          <a:stretch>
            <a:fillRect/>
          </a:stretch>
        </p:blipFill>
        <p:spPr>
          <a:xfrm>
            <a:off x="495300" y="977263"/>
            <a:ext cx="8153400" cy="1504950"/>
          </a:xfrm>
          <a:prstGeom prst="rect">
            <a:avLst/>
          </a:prstGeom>
        </p:spPr>
      </p:pic>
    </p:spTree>
    <p:extLst>
      <p:ext uri="{BB962C8B-B14F-4D97-AF65-F5344CB8AC3E}">
        <p14:creationId xmlns:p14="http://schemas.microsoft.com/office/powerpoint/2010/main" val="250184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kdörtgen 3">
            <a:extLst>
              <a:ext uri="{FF2B5EF4-FFF2-40B4-BE49-F238E27FC236}">
                <a16:creationId xmlns:a16="http://schemas.microsoft.com/office/drawing/2014/main" id="{AAF88188-605F-41DC-9944-7DCB8A4EE2A1}"/>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t>‘VE’ İşlemi ve ‘VE’ Kapısı</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526789"/>
            <a:ext cx="7560840" cy="51915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Dikdörtgen 1"/>
          <p:cNvSpPr/>
          <p:nvPr/>
        </p:nvSpPr>
        <p:spPr>
          <a:xfrm>
            <a:off x="107504" y="692696"/>
            <a:ext cx="2808312" cy="378206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50000"/>
              </a:lnSpc>
            </a:pPr>
            <a:r>
              <a:rPr lang="tr-TR" b="1" dirty="0">
                <a:latin typeface="Candara" panose="020E0502030303020204" pitchFamily="34" charset="0"/>
                <a:cs typeface="Times New Roman" panose="02020603050405020304" pitchFamily="18" charset="0"/>
              </a:rPr>
              <a:t>Örnek: </a:t>
            </a:r>
            <a:r>
              <a:rPr lang="tr-TR" dirty="0">
                <a:latin typeface="Candara" panose="020E0502030303020204" pitchFamily="34" charset="0"/>
                <a:cs typeface="Times New Roman" panose="02020603050405020304" pitchFamily="18" charset="0"/>
              </a:rPr>
              <a:t>Sinyal üretecinden üretilen kare dalga sinyal ve kontrol sinyalinin VE kapısına uygulanması durumunda oluşacak çıkış sinyal şeklini osiloskop ile izleyebilmek için gerekli devreyi oluşturalım (Şekil 5.12).</a:t>
            </a:r>
          </a:p>
        </p:txBody>
      </p:sp>
      <p:sp>
        <p:nvSpPr>
          <p:cNvPr id="3" name="Slayt Numarası Yer Tutucusu 2">
            <a:extLst>
              <a:ext uri="{FF2B5EF4-FFF2-40B4-BE49-F238E27FC236}">
                <a16:creationId xmlns:a16="http://schemas.microsoft.com/office/drawing/2014/main" id="{EF85A7B6-12B8-4684-84C7-47C20472E91D}"/>
              </a:ext>
            </a:extLst>
          </p:cNvPr>
          <p:cNvSpPr>
            <a:spLocks noGrp="1"/>
          </p:cNvSpPr>
          <p:nvPr>
            <p:ph type="sldNum" sz="quarter" idx="12"/>
          </p:nvPr>
        </p:nvSpPr>
        <p:spPr/>
        <p:txBody>
          <a:bodyPr/>
          <a:lstStyle/>
          <a:p>
            <a:fld id="{D1BC5D5A-A3FB-46A1-A862-24F6D41195CB}" type="slidenum">
              <a:rPr lang="tr-TR" smtClean="0"/>
              <a:t>14</a:t>
            </a:fld>
            <a:endParaRPr lang="tr-TR"/>
          </a:p>
        </p:txBody>
      </p:sp>
    </p:spTree>
    <p:extLst>
      <p:ext uri="{BB962C8B-B14F-4D97-AF65-F5344CB8AC3E}">
        <p14:creationId xmlns:p14="http://schemas.microsoft.com/office/powerpoint/2010/main" val="4010277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23528" y="764704"/>
            <a:ext cx="8568952" cy="464871"/>
          </a:xfrm>
          <a:prstGeom prst="rect">
            <a:avLst/>
          </a:prstGeom>
          <a:ln>
            <a:solidFill>
              <a:schemeClr val="accent6"/>
            </a:solidFill>
          </a:ln>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50000"/>
              </a:lnSpc>
            </a:pPr>
            <a:r>
              <a:rPr lang="tr-TR" b="1" dirty="0">
                <a:solidFill>
                  <a:schemeClr val="dk1"/>
                </a:solidFill>
                <a:latin typeface="Candara" panose="020E0502030303020204" pitchFamily="34" charset="0"/>
                <a:cs typeface="Times New Roman" panose="02020603050405020304" pitchFamily="18" charset="0"/>
              </a:rPr>
              <a:t>Örnek: </a:t>
            </a:r>
            <a:r>
              <a:rPr lang="tr-TR" dirty="0">
                <a:solidFill>
                  <a:schemeClr val="dk1"/>
                </a:solidFill>
                <a:latin typeface="Candara" panose="020E0502030303020204" pitchFamily="34" charset="0"/>
                <a:cs typeface="Times New Roman" panose="02020603050405020304" pitchFamily="18" charset="0"/>
              </a:rPr>
              <a:t>İki girişli ‘VE’ kapıları kullanarak üç ve dört girişli ‘VE’ kapıları oluşturalım.</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962" y="2636912"/>
            <a:ext cx="8570077" cy="2624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Metin kutusu 4">
            <a:extLst>
              <a:ext uri="{FF2B5EF4-FFF2-40B4-BE49-F238E27FC236}">
                <a16:creationId xmlns:a16="http://schemas.microsoft.com/office/drawing/2014/main" id="{24990DC3-8DAE-4A9E-8770-93359FA85E4E}"/>
              </a:ext>
            </a:extLst>
          </p:cNvPr>
          <p:cNvSpPr txBox="1"/>
          <p:nvPr/>
        </p:nvSpPr>
        <p:spPr>
          <a:xfrm>
            <a:off x="305771" y="1556792"/>
            <a:ext cx="8551268" cy="873572"/>
          </a:xfrm>
          <a:prstGeom prst="rect">
            <a:avLst/>
          </a:prstGeom>
          <a:noFill/>
        </p:spPr>
        <p:txBody>
          <a:bodyPr wrap="square">
            <a:spAutoFit/>
          </a:bodyPr>
          <a:lstStyle/>
          <a:p>
            <a:pPr algn="just">
              <a:lnSpc>
                <a:spcPct val="150000"/>
              </a:lnSpc>
            </a:pPr>
            <a:r>
              <a:rPr lang="tr-TR" dirty="0">
                <a:solidFill>
                  <a:schemeClr val="dk1"/>
                </a:solidFill>
                <a:latin typeface="Candara" panose="020E0502030303020204" pitchFamily="34" charset="0"/>
                <a:cs typeface="Times New Roman" panose="02020603050405020304" pitchFamily="18" charset="0"/>
              </a:rPr>
              <a:t>İki girişli VE kapıları ile üç girişli ve dört girişli VE kapıları oluşturma şekilleri Şekil 5.13’te görülmektedir.</a:t>
            </a:r>
          </a:p>
        </p:txBody>
      </p:sp>
      <p:sp>
        <p:nvSpPr>
          <p:cNvPr id="6" name="Dikdörtgen 5">
            <a:extLst>
              <a:ext uri="{FF2B5EF4-FFF2-40B4-BE49-F238E27FC236}">
                <a16:creationId xmlns:a16="http://schemas.microsoft.com/office/drawing/2014/main" id="{E9B89B45-9D52-43AC-9BFC-A7F3B8AA98EA}"/>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‘VE’ İşlemi ve ‘VE’ Kapısı</a:t>
            </a:r>
          </a:p>
        </p:txBody>
      </p:sp>
      <p:sp>
        <p:nvSpPr>
          <p:cNvPr id="3" name="Slayt Numarası Yer Tutucusu 2">
            <a:extLst>
              <a:ext uri="{FF2B5EF4-FFF2-40B4-BE49-F238E27FC236}">
                <a16:creationId xmlns:a16="http://schemas.microsoft.com/office/drawing/2014/main" id="{720CE180-E982-449A-9E92-090D1A6C99A6}"/>
              </a:ext>
            </a:extLst>
          </p:cNvPr>
          <p:cNvSpPr>
            <a:spLocks noGrp="1"/>
          </p:cNvSpPr>
          <p:nvPr>
            <p:ph type="sldNum" sz="quarter" idx="12"/>
          </p:nvPr>
        </p:nvSpPr>
        <p:spPr/>
        <p:txBody>
          <a:bodyPr/>
          <a:lstStyle/>
          <a:p>
            <a:fld id="{D1BC5D5A-A3FB-46A1-A862-24F6D41195CB}" type="slidenum">
              <a:rPr lang="tr-TR" smtClean="0"/>
              <a:t>15</a:t>
            </a:fld>
            <a:endParaRPr lang="tr-TR"/>
          </a:p>
        </p:txBody>
      </p:sp>
    </p:spTree>
    <p:extLst>
      <p:ext uri="{BB962C8B-B14F-4D97-AF65-F5344CB8AC3E}">
        <p14:creationId xmlns:p14="http://schemas.microsoft.com/office/powerpoint/2010/main" val="3914480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87524" y="744030"/>
            <a:ext cx="8568952" cy="2396938"/>
          </a:xfrm>
          <a:prstGeom prst="rect">
            <a:avLst/>
          </a:prstGeom>
        </p:spPr>
        <p:txBody>
          <a:bodyPr wrap="square">
            <a:spAutoFit/>
          </a:bodyPr>
          <a:lstStyle/>
          <a:p>
            <a:pPr marL="285750" indent="-285750" algn="just">
              <a:lnSpc>
                <a:spcPct val="120000"/>
              </a:lnSpc>
              <a:buFont typeface="Arial" panose="020B0604020202020204" pitchFamily="34" charset="0"/>
              <a:buChar char="•"/>
            </a:pPr>
            <a:r>
              <a:rPr lang="tr-TR" dirty="0">
                <a:latin typeface="Candara" panose="020E0502030303020204" pitchFamily="34" charset="0"/>
                <a:cs typeface="Times New Roman" panose="02020603050405020304" pitchFamily="18" charset="0"/>
              </a:rPr>
              <a:t>‘DEĞİL’ işlemi; ‘VE’, ‘VEYA’ işlemlerinden farklı olarak tek giriş ve tek değişken ile gerçekleştirilir. Örneğin; A değişkeni ile işlem yapılacaksa, ‘NOT’ işlemi sonucu Q=A’ olarak tanımlanır ve A üzerindeki çizgi, değili (barı) olarak isimlendirilir. </a:t>
            </a:r>
          </a:p>
          <a:p>
            <a:pPr marL="285750" indent="-285750" algn="just">
              <a:lnSpc>
                <a:spcPct val="120000"/>
              </a:lnSpc>
              <a:buFont typeface="Arial" panose="020B0604020202020204" pitchFamily="34" charset="0"/>
              <a:buChar char="•"/>
            </a:pPr>
            <a:r>
              <a:rPr lang="tr-TR" dirty="0">
                <a:latin typeface="Candara" panose="020E0502030303020204" pitchFamily="34" charset="0"/>
                <a:cs typeface="Times New Roman" panose="02020603050405020304" pitchFamily="18" charset="0"/>
              </a:rPr>
              <a:t>Şekildeki doğruluk tablosundan görüleceği üzere değişken yalnızca iki değerden birini alabilir: A=0 veya A=1. </a:t>
            </a:r>
          </a:p>
          <a:p>
            <a:pPr marL="285750" indent="-285750" algn="just">
              <a:lnSpc>
                <a:spcPct val="120000"/>
              </a:lnSpc>
              <a:buFont typeface="Arial" panose="020B0604020202020204" pitchFamily="34" charset="0"/>
              <a:buChar char="•"/>
            </a:pPr>
            <a:r>
              <a:rPr lang="tr-TR" dirty="0">
                <a:latin typeface="Candara" panose="020E0502030303020204" pitchFamily="34" charset="0"/>
                <a:cs typeface="Times New Roman" panose="02020603050405020304" pitchFamily="18" charset="0"/>
              </a:rPr>
              <a:t>‘DEĞİL’ işlemi, ‘tersi’ veya ‘tümleyeni’ olarak da tanımlanır. Şekil 5.16.a’ daki sembolle gösterilen ‘DEĞİL’ kapısı her zaman tek girişe sahiptir ve çıkış devamlı girişin tersidir.</a:t>
            </a:r>
          </a:p>
        </p:txBody>
      </p:sp>
      <p:pic>
        <p:nvPicPr>
          <p:cNvPr id="102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974" t="5264" r="4774"/>
          <a:stretch/>
        </p:blipFill>
        <p:spPr bwMode="auto">
          <a:xfrm>
            <a:off x="646323" y="3933056"/>
            <a:ext cx="7851354" cy="2592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ikdörtgen 3">
            <a:extLst>
              <a:ext uri="{FF2B5EF4-FFF2-40B4-BE49-F238E27FC236}">
                <a16:creationId xmlns:a16="http://schemas.microsoft.com/office/drawing/2014/main" id="{0AA15E06-D98A-4805-98FD-EDBEFE064E0A}"/>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‘DEĞİL’ İşlemi ve ‘DEĞİL’ Kapısı</a:t>
            </a:r>
          </a:p>
        </p:txBody>
      </p:sp>
      <p:sp>
        <p:nvSpPr>
          <p:cNvPr id="6" name="Metin kutusu 5">
            <a:extLst>
              <a:ext uri="{FF2B5EF4-FFF2-40B4-BE49-F238E27FC236}">
                <a16:creationId xmlns:a16="http://schemas.microsoft.com/office/drawing/2014/main" id="{B0B09624-EA9B-4603-995F-74C6B96F53FA}"/>
              </a:ext>
            </a:extLst>
          </p:cNvPr>
          <p:cNvSpPr txBox="1"/>
          <p:nvPr/>
        </p:nvSpPr>
        <p:spPr>
          <a:xfrm>
            <a:off x="4003954" y="6453336"/>
            <a:ext cx="1136092" cy="369332"/>
          </a:xfrm>
          <a:prstGeom prst="rect">
            <a:avLst/>
          </a:prstGeom>
          <a:noFill/>
        </p:spPr>
        <p:txBody>
          <a:bodyPr wrap="square">
            <a:spAutoFit/>
          </a:bodyPr>
          <a:lstStyle/>
          <a:p>
            <a:r>
              <a:rPr lang="tr-TR" b="1" dirty="0">
                <a:latin typeface="Times New Roman" panose="02020603050405020304" pitchFamily="18" charset="0"/>
                <a:cs typeface="Times New Roman" panose="02020603050405020304" pitchFamily="18" charset="0"/>
              </a:rPr>
              <a:t>Şekil 5.16</a:t>
            </a:r>
            <a:endParaRPr lang="tr-TR" b="1" dirty="0"/>
          </a:p>
        </p:txBody>
      </p:sp>
      <p:sp>
        <p:nvSpPr>
          <p:cNvPr id="3" name="Slayt Numarası Yer Tutucusu 2">
            <a:extLst>
              <a:ext uri="{FF2B5EF4-FFF2-40B4-BE49-F238E27FC236}">
                <a16:creationId xmlns:a16="http://schemas.microsoft.com/office/drawing/2014/main" id="{4F859F3A-BB81-4EA6-AB60-2F645054801F}"/>
              </a:ext>
            </a:extLst>
          </p:cNvPr>
          <p:cNvSpPr>
            <a:spLocks noGrp="1"/>
          </p:cNvSpPr>
          <p:nvPr>
            <p:ph type="sldNum" sz="quarter" idx="12"/>
          </p:nvPr>
        </p:nvSpPr>
        <p:spPr/>
        <p:txBody>
          <a:bodyPr/>
          <a:lstStyle/>
          <a:p>
            <a:fld id="{D1BC5D5A-A3FB-46A1-A862-24F6D41195CB}" type="slidenum">
              <a:rPr lang="tr-TR" smtClean="0"/>
              <a:t>16</a:t>
            </a:fld>
            <a:endParaRPr lang="tr-TR"/>
          </a:p>
        </p:txBody>
      </p:sp>
    </p:spTree>
    <p:extLst>
      <p:ext uri="{BB962C8B-B14F-4D97-AF65-F5344CB8AC3E}">
        <p14:creationId xmlns:p14="http://schemas.microsoft.com/office/powerpoint/2010/main" val="3053306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52" y="1484784"/>
            <a:ext cx="9036496" cy="3672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a:extLst>
              <a:ext uri="{FF2B5EF4-FFF2-40B4-BE49-F238E27FC236}">
                <a16:creationId xmlns:a16="http://schemas.microsoft.com/office/drawing/2014/main" id="{DCA548AD-656A-4E55-A98D-4FD540A5B649}"/>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‘DEĞİL’ İşlemi ve ‘DEĞİL’ Kapısı</a:t>
            </a:r>
          </a:p>
        </p:txBody>
      </p:sp>
      <p:sp>
        <p:nvSpPr>
          <p:cNvPr id="2" name="Slayt Numarası Yer Tutucusu 1">
            <a:extLst>
              <a:ext uri="{FF2B5EF4-FFF2-40B4-BE49-F238E27FC236}">
                <a16:creationId xmlns:a16="http://schemas.microsoft.com/office/drawing/2014/main" id="{639E9B2A-FA1F-4C9E-9237-2B53B39B4F59}"/>
              </a:ext>
            </a:extLst>
          </p:cNvPr>
          <p:cNvSpPr>
            <a:spLocks noGrp="1"/>
          </p:cNvSpPr>
          <p:nvPr>
            <p:ph type="sldNum" sz="quarter" idx="12"/>
          </p:nvPr>
        </p:nvSpPr>
        <p:spPr/>
        <p:txBody>
          <a:bodyPr/>
          <a:lstStyle/>
          <a:p>
            <a:fld id="{D1BC5D5A-A3FB-46A1-A862-24F6D41195CB}" type="slidenum">
              <a:rPr lang="tr-TR" smtClean="0"/>
              <a:t>17</a:t>
            </a:fld>
            <a:endParaRPr lang="tr-TR"/>
          </a:p>
        </p:txBody>
      </p:sp>
    </p:spTree>
    <p:extLst>
      <p:ext uri="{BB962C8B-B14F-4D97-AF65-F5344CB8AC3E}">
        <p14:creationId xmlns:p14="http://schemas.microsoft.com/office/powerpoint/2010/main" val="1166591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509" y="764704"/>
            <a:ext cx="8673963" cy="4824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a:extLst>
              <a:ext uri="{FF2B5EF4-FFF2-40B4-BE49-F238E27FC236}">
                <a16:creationId xmlns:a16="http://schemas.microsoft.com/office/drawing/2014/main" id="{5BD948CD-DE9C-4354-B7C0-55CC3200178D}"/>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‘DEĞİL’ İşlemi ve ‘DEĞİL’ Kapısı</a:t>
            </a:r>
          </a:p>
        </p:txBody>
      </p:sp>
      <p:sp>
        <p:nvSpPr>
          <p:cNvPr id="2" name="Slayt Numarası Yer Tutucusu 1">
            <a:extLst>
              <a:ext uri="{FF2B5EF4-FFF2-40B4-BE49-F238E27FC236}">
                <a16:creationId xmlns:a16="http://schemas.microsoft.com/office/drawing/2014/main" id="{0D24BF0B-23D5-430F-8812-65CADBCBBBAA}"/>
              </a:ext>
            </a:extLst>
          </p:cNvPr>
          <p:cNvSpPr>
            <a:spLocks noGrp="1"/>
          </p:cNvSpPr>
          <p:nvPr>
            <p:ph type="sldNum" sz="quarter" idx="12"/>
          </p:nvPr>
        </p:nvSpPr>
        <p:spPr/>
        <p:txBody>
          <a:bodyPr/>
          <a:lstStyle/>
          <a:p>
            <a:fld id="{D1BC5D5A-A3FB-46A1-A862-24F6D41195CB}" type="slidenum">
              <a:rPr lang="tr-TR" smtClean="0"/>
              <a:t>18</a:t>
            </a:fld>
            <a:endParaRPr lang="tr-TR"/>
          </a:p>
        </p:txBody>
      </p:sp>
    </p:spTree>
    <p:extLst>
      <p:ext uri="{BB962C8B-B14F-4D97-AF65-F5344CB8AC3E}">
        <p14:creationId xmlns:p14="http://schemas.microsoft.com/office/powerpoint/2010/main" val="29150705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7042"/>
          <a:stretch/>
        </p:blipFill>
        <p:spPr bwMode="auto">
          <a:xfrm>
            <a:off x="275836" y="1124744"/>
            <a:ext cx="8592327"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a:extLst>
              <a:ext uri="{FF2B5EF4-FFF2-40B4-BE49-F238E27FC236}">
                <a16:creationId xmlns:a16="http://schemas.microsoft.com/office/drawing/2014/main" id="{1457AAC2-29C7-49CA-853C-C5735FB9F7D7}"/>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‘VEDEĞİL’ Kapısı</a:t>
            </a:r>
          </a:p>
        </p:txBody>
      </p:sp>
      <p:sp>
        <p:nvSpPr>
          <p:cNvPr id="2" name="Slayt Numarası Yer Tutucusu 1">
            <a:extLst>
              <a:ext uri="{FF2B5EF4-FFF2-40B4-BE49-F238E27FC236}">
                <a16:creationId xmlns:a16="http://schemas.microsoft.com/office/drawing/2014/main" id="{516EF18B-AA77-42C2-B72E-8231F8F81AD0}"/>
              </a:ext>
            </a:extLst>
          </p:cNvPr>
          <p:cNvSpPr>
            <a:spLocks noGrp="1"/>
          </p:cNvSpPr>
          <p:nvPr>
            <p:ph type="sldNum" sz="quarter" idx="12"/>
          </p:nvPr>
        </p:nvSpPr>
        <p:spPr/>
        <p:txBody>
          <a:bodyPr/>
          <a:lstStyle/>
          <a:p>
            <a:fld id="{D1BC5D5A-A3FB-46A1-A862-24F6D41195CB}" type="slidenum">
              <a:rPr lang="tr-TR" smtClean="0"/>
              <a:t>19</a:t>
            </a:fld>
            <a:endParaRPr lang="tr-TR"/>
          </a:p>
        </p:txBody>
      </p:sp>
    </p:spTree>
    <p:extLst>
      <p:ext uri="{BB962C8B-B14F-4D97-AF65-F5344CB8AC3E}">
        <p14:creationId xmlns:p14="http://schemas.microsoft.com/office/powerpoint/2010/main" val="511424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368" y="1412776"/>
            <a:ext cx="8245262" cy="40324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a:extLst>
              <a:ext uri="{FF2B5EF4-FFF2-40B4-BE49-F238E27FC236}">
                <a16:creationId xmlns:a16="http://schemas.microsoft.com/office/drawing/2014/main" id="{FF390CEF-CD90-46EA-B57F-0072C7CA2795}"/>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‘VEDEĞİL’ Kapısı</a:t>
            </a:r>
          </a:p>
        </p:txBody>
      </p:sp>
      <p:sp>
        <p:nvSpPr>
          <p:cNvPr id="2" name="Slayt Numarası Yer Tutucusu 1">
            <a:extLst>
              <a:ext uri="{FF2B5EF4-FFF2-40B4-BE49-F238E27FC236}">
                <a16:creationId xmlns:a16="http://schemas.microsoft.com/office/drawing/2014/main" id="{0CF79765-B532-47AA-9E42-8970149E8132}"/>
              </a:ext>
            </a:extLst>
          </p:cNvPr>
          <p:cNvSpPr>
            <a:spLocks noGrp="1"/>
          </p:cNvSpPr>
          <p:nvPr>
            <p:ph type="sldNum" sz="quarter" idx="12"/>
          </p:nvPr>
        </p:nvSpPr>
        <p:spPr/>
        <p:txBody>
          <a:bodyPr/>
          <a:lstStyle/>
          <a:p>
            <a:fld id="{D1BC5D5A-A3FB-46A1-A862-24F6D41195CB}" type="slidenum">
              <a:rPr lang="tr-TR" smtClean="0"/>
              <a:t>20</a:t>
            </a:fld>
            <a:endParaRPr lang="tr-TR"/>
          </a:p>
        </p:txBody>
      </p:sp>
    </p:spTree>
    <p:extLst>
      <p:ext uri="{BB962C8B-B14F-4D97-AF65-F5344CB8AC3E}">
        <p14:creationId xmlns:p14="http://schemas.microsoft.com/office/powerpoint/2010/main" val="782763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562" y="620688"/>
            <a:ext cx="7884876" cy="4920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a:extLst>
              <a:ext uri="{FF2B5EF4-FFF2-40B4-BE49-F238E27FC236}">
                <a16:creationId xmlns:a16="http://schemas.microsoft.com/office/drawing/2014/main" id="{26C55088-6410-4769-A734-5095E6586937}"/>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‘VEDEĞİL’ Kapısı</a:t>
            </a:r>
          </a:p>
        </p:txBody>
      </p:sp>
      <p:sp>
        <p:nvSpPr>
          <p:cNvPr id="2" name="Slayt Numarası Yer Tutucusu 1">
            <a:extLst>
              <a:ext uri="{FF2B5EF4-FFF2-40B4-BE49-F238E27FC236}">
                <a16:creationId xmlns:a16="http://schemas.microsoft.com/office/drawing/2014/main" id="{9AFCE5D2-65BE-4E2E-9222-B5F84E29A660}"/>
              </a:ext>
            </a:extLst>
          </p:cNvPr>
          <p:cNvSpPr>
            <a:spLocks noGrp="1"/>
          </p:cNvSpPr>
          <p:nvPr>
            <p:ph type="sldNum" sz="quarter" idx="12"/>
          </p:nvPr>
        </p:nvSpPr>
        <p:spPr/>
        <p:txBody>
          <a:bodyPr/>
          <a:lstStyle/>
          <a:p>
            <a:fld id="{D1BC5D5A-A3FB-46A1-A862-24F6D41195CB}" type="slidenum">
              <a:rPr lang="tr-TR" smtClean="0"/>
              <a:t>21</a:t>
            </a:fld>
            <a:endParaRPr lang="tr-TR"/>
          </a:p>
        </p:txBody>
      </p:sp>
    </p:spTree>
    <p:extLst>
      <p:ext uri="{BB962C8B-B14F-4D97-AF65-F5344CB8AC3E}">
        <p14:creationId xmlns:p14="http://schemas.microsoft.com/office/powerpoint/2010/main" val="8671532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6144"/>
          <a:stretch/>
        </p:blipFill>
        <p:spPr bwMode="auto">
          <a:xfrm>
            <a:off x="550079" y="836712"/>
            <a:ext cx="7982361" cy="58326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a:extLst>
              <a:ext uri="{FF2B5EF4-FFF2-40B4-BE49-F238E27FC236}">
                <a16:creationId xmlns:a16="http://schemas.microsoft.com/office/drawing/2014/main" id="{E961DCC7-0088-4B68-B56B-44BFCCFC0883}"/>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‘VEYADEĞİL’ (NOR) Kapısı</a:t>
            </a:r>
          </a:p>
        </p:txBody>
      </p:sp>
      <p:sp>
        <p:nvSpPr>
          <p:cNvPr id="2" name="Slayt Numarası Yer Tutucusu 1">
            <a:extLst>
              <a:ext uri="{FF2B5EF4-FFF2-40B4-BE49-F238E27FC236}">
                <a16:creationId xmlns:a16="http://schemas.microsoft.com/office/drawing/2014/main" id="{2E3DE05B-1829-4C96-B22D-4A6D17054DC7}"/>
              </a:ext>
            </a:extLst>
          </p:cNvPr>
          <p:cNvSpPr>
            <a:spLocks noGrp="1"/>
          </p:cNvSpPr>
          <p:nvPr>
            <p:ph type="sldNum" sz="quarter" idx="12"/>
          </p:nvPr>
        </p:nvSpPr>
        <p:spPr/>
        <p:txBody>
          <a:bodyPr/>
          <a:lstStyle/>
          <a:p>
            <a:fld id="{D1BC5D5A-A3FB-46A1-A862-24F6D41195CB}" type="slidenum">
              <a:rPr lang="tr-TR" smtClean="0"/>
              <a:t>22</a:t>
            </a:fld>
            <a:endParaRPr lang="tr-TR"/>
          </a:p>
        </p:txBody>
      </p:sp>
    </p:spTree>
    <p:extLst>
      <p:ext uri="{BB962C8B-B14F-4D97-AF65-F5344CB8AC3E}">
        <p14:creationId xmlns:p14="http://schemas.microsoft.com/office/powerpoint/2010/main" val="3549205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6873"/>
          <a:stretch/>
        </p:blipFill>
        <p:spPr bwMode="auto">
          <a:xfrm>
            <a:off x="467544" y="886701"/>
            <a:ext cx="8208912" cy="58546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a:extLst>
              <a:ext uri="{FF2B5EF4-FFF2-40B4-BE49-F238E27FC236}">
                <a16:creationId xmlns:a16="http://schemas.microsoft.com/office/drawing/2014/main" id="{FE9CA955-92E5-42F0-8F00-F7475A1782B0}"/>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‘VEYADEĞİL’ (NOR) Kapısı</a:t>
            </a:r>
          </a:p>
        </p:txBody>
      </p:sp>
      <p:sp>
        <p:nvSpPr>
          <p:cNvPr id="2" name="Slayt Numarası Yer Tutucusu 1">
            <a:extLst>
              <a:ext uri="{FF2B5EF4-FFF2-40B4-BE49-F238E27FC236}">
                <a16:creationId xmlns:a16="http://schemas.microsoft.com/office/drawing/2014/main" id="{4DF9718D-4601-483B-AAFA-846ECE6B4CF2}"/>
              </a:ext>
            </a:extLst>
          </p:cNvPr>
          <p:cNvSpPr>
            <a:spLocks noGrp="1"/>
          </p:cNvSpPr>
          <p:nvPr>
            <p:ph type="sldNum" sz="quarter" idx="12"/>
          </p:nvPr>
        </p:nvSpPr>
        <p:spPr/>
        <p:txBody>
          <a:bodyPr/>
          <a:lstStyle/>
          <a:p>
            <a:fld id="{D1BC5D5A-A3FB-46A1-A862-24F6D41195CB}" type="slidenum">
              <a:rPr lang="tr-TR" smtClean="0"/>
              <a:t>23</a:t>
            </a:fld>
            <a:endParaRPr lang="tr-TR"/>
          </a:p>
        </p:txBody>
      </p:sp>
    </p:spTree>
    <p:extLst>
      <p:ext uri="{BB962C8B-B14F-4D97-AF65-F5344CB8AC3E}">
        <p14:creationId xmlns:p14="http://schemas.microsoft.com/office/powerpoint/2010/main" val="1634488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2766"/>
          <a:stretch/>
        </p:blipFill>
        <p:spPr bwMode="auto">
          <a:xfrm>
            <a:off x="323527" y="692696"/>
            <a:ext cx="8496944" cy="3168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6" y="3933056"/>
            <a:ext cx="8496945" cy="27032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Dikdörtgen 4">
            <a:extLst>
              <a:ext uri="{FF2B5EF4-FFF2-40B4-BE49-F238E27FC236}">
                <a16:creationId xmlns:a16="http://schemas.microsoft.com/office/drawing/2014/main" id="{AB14166B-1627-49B4-AEF0-C2BCAD3080E3}"/>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‘ÖZEL-VEYA’ (XOR) Kapısı</a:t>
            </a:r>
          </a:p>
        </p:txBody>
      </p:sp>
      <p:sp>
        <p:nvSpPr>
          <p:cNvPr id="2" name="Slayt Numarası Yer Tutucusu 1">
            <a:extLst>
              <a:ext uri="{FF2B5EF4-FFF2-40B4-BE49-F238E27FC236}">
                <a16:creationId xmlns:a16="http://schemas.microsoft.com/office/drawing/2014/main" id="{1762EC1E-2C56-4811-A792-F0CB5DE1CBFD}"/>
              </a:ext>
            </a:extLst>
          </p:cNvPr>
          <p:cNvSpPr>
            <a:spLocks noGrp="1"/>
          </p:cNvSpPr>
          <p:nvPr>
            <p:ph type="sldNum" sz="quarter" idx="12"/>
          </p:nvPr>
        </p:nvSpPr>
        <p:spPr/>
        <p:txBody>
          <a:bodyPr/>
          <a:lstStyle/>
          <a:p>
            <a:fld id="{D1BC5D5A-A3FB-46A1-A862-24F6D41195CB}" type="slidenum">
              <a:rPr lang="tr-TR" smtClean="0"/>
              <a:t>24</a:t>
            </a:fld>
            <a:endParaRPr lang="tr-TR"/>
          </a:p>
        </p:txBody>
      </p:sp>
    </p:spTree>
    <p:extLst>
      <p:ext uri="{BB962C8B-B14F-4D97-AF65-F5344CB8AC3E}">
        <p14:creationId xmlns:p14="http://schemas.microsoft.com/office/powerpoint/2010/main" val="2871451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95" y="980728"/>
            <a:ext cx="8749859"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a:extLst>
              <a:ext uri="{FF2B5EF4-FFF2-40B4-BE49-F238E27FC236}">
                <a16:creationId xmlns:a16="http://schemas.microsoft.com/office/drawing/2014/main" id="{E3DBB436-EE24-4FE2-95B3-64CD6DBF06F5}"/>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‘ÖZEL-VEYA’ (XOR) Kapısı</a:t>
            </a:r>
          </a:p>
        </p:txBody>
      </p:sp>
      <p:sp>
        <p:nvSpPr>
          <p:cNvPr id="2" name="Slayt Numarası Yer Tutucusu 1">
            <a:extLst>
              <a:ext uri="{FF2B5EF4-FFF2-40B4-BE49-F238E27FC236}">
                <a16:creationId xmlns:a16="http://schemas.microsoft.com/office/drawing/2014/main" id="{01134381-0D80-4A52-A4BE-A7C7F479220A}"/>
              </a:ext>
            </a:extLst>
          </p:cNvPr>
          <p:cNvSpPr>
            <a:spLocks noGrp="1"/>
          </p:cNvSpPr>
          <p:nvPr>
            <p:ph type="sldNum" sz="quarter" idx="12"/>
          </p:nvPr>
        </p:nvSpPr>
        <p:spPr/>
        <p:txBody>
          <a:bodyPr/>
          <a:lstStyle/>
          <a:p>
            <a:fld id="{D1BC5D5A-A3FB-46A1-A862-24F6D41195CB}" type="slidenum">
              <a:rPr lang="tr-TR" smtClean="0"/>
              <a:t>25</a:t>
            </a:fld>
            <a:endParaRPr lang="tr-TR"/>
          </a:p>
        </p:txBody>
      </p:sp>
    </p:spTree>
    <p:extLst>
      <p:ext uri="{BB962C8B-B14F-4D97-AF65-F5344CB8AC3E}">
        <p14:creationId xmlns:p14="http://schemas.microsoft.com/office/powerpoint/2010/main" val="4238486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508" y="1052736"/>
            <a:ext cx="8856984" cy="41764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a:extLst>
              <a:ext uri="{FF2B5EF4-FFF2-40B4-BE49-F238E27FC236}">
                <a16:creationId xmlns:a16="http://schemas.microsoft.com/office/drawing/2014/main" id="{60D08FE0-DF82-46CE-A05C-461D3EF04368}"/>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‘ÖZEL-VEYA’ (XOR) Kapısı</a:t>
            </a:r>
          </a:p>
        </p:txBody>
      </p:sp>
      <p:sp>
        <p:nvSpPr>
          <p:cNvPr id="2" name="Slayt Numarası Yer Tutucusu 1">
            <a:extLst>
              <a:ext uri="{FF2B5EF4-FFF2-40B4-BE49-F238E27FC236}">
                <a16:creationId xmlns:a16="http://schemas.microsoft.com/office/drawing/2014/main" id="{C030623E-06A3-48D1-9F11-82D929D4ACF6}"/>
              </a:ext>
            </a:extLst>
          </p:cNvPr>
          <p:cNvSpPr>
            <a:spLocks noGrp="1"/>
          </p:cNvSpPr>
          <p:nvPr>
            <p:ph type="sldNum" sz="quarter" idx="12"/>
          </p:nvPr>
        </p:nvSpPr>
        <p:spPr/>
        <p:txBody>
          <a:bodyPr/>
          <a:lstStyle/>
          <a:p>
            <a:fld id="{D1BC5D5A-A3FB-46A1-A862-24F6D41195CB}" type="slidenum">
              <a:rPr lang="tr-TR" smtClean="0"/>
              <a:t>26</a:t>
            </a:fld>
            <a:endParaRPr lang="tr-TR"/>
          </a:p>
        </p:txBody>
      </p:sp>
    </p:spTree>
    <p:extLst>
      <p:ext uri="{BB962C8B-B14F-4D97-AF65-F5344CB8AC3E}">
        <p14:creationId xmlns:p14="http://schemas.microsoft.com/office/powerpoint/2010/main" val="14600449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3726"/>
          <a:stretch/>
        </p:blipFill>
        <p:spPr bwMode="auto">
          <a:xfrm>
            <a:off x="395536" y="764704"/>
            <a:ext cx="8417512" cy="3168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1" y="4149080"/>
            <a:ext cx="4096018" cy="23005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ikdörtgen 3">
            <a:extLst>
              <a:ext uri="{FF2B5EF4-FFF2-40B4-BE49-F238E27FC236}">
                <a16:creationId xmlns:a16="http://schemas.microsoft.com/office/drawing/2014/main" id="{344E96D6-273D-4D30-A5D2-567F2826806F}"/>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‘ÖZEL-VEYADEĞİL’ (XNOR) Kapısı</a:t>
            </a:r>
          </a:p>
        </p:txBody>
      </p:sp>
      <p:sp>
        <p:nvSpPr>
          <p:cNvPr id="2" name="Slayt Numarası Yer Tutucusu 1">
            <a:extLst>
              <a:ext uri="{FF2B5EF4-FFF2-40B4-BE49-F238E27FC236}">
                <a16:creationId xmlns:a16="http://schemas.microsoft.com/office/drawing/2014/main" id="{8D4FB44D-7C62-4EEC-B642-83A2AE7640B2}"/>
              </a:ext>
            </a:extLst>
          </p:cNvPr>
          <p:cNvSpPr>
            <a:spLocks noGrp="1"/>
          </p:cNvSpPr>
          <p:nvPr>
            <p:ph type="sldNum" sz="quarter" idx="12"/>
          </p:nvPr>
        </p:nvSpPr>
        <p:spPr/>
        <p:txBody>
          <a:bodyPr/>
          <a:lstStyle/>
          <a:p>
            <a:fld id="{D1BC5D5A-A3FB-46A1-A862-24F6D41195CB}" type="slidenum">
              <a:rPr lang="tr-TR" smtClean="0"/>
              <a:t>27</a:t>
            </a:fld>
            <a:endParaRPr lang="tr-TR"/>
          </a:p>
        </p:txBody>
      </p:sp>
    </p:spTree>
    <p:extLst>
      <p:ext uri="{BB962C8B-B14F-4D97-AF65-F5344CB8AC3E}">
        <p14:creationId xmlns:p14="http://schemas.microsoft.com/office/powerpoint/2010/main" val="253218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198265"/>
            <a:ext cx="5976664" cy="8640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b="16675"/>
          <a:stretch/>
        </p:blipFill>
        <p:spPr bwMode="auto">
          <a:xfrm>
            <a:off x="20011" y="1918345"/>
            <a:ext cx="9103977" cy="25187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Dikdörtgen 4">
            <a:extLst>
              <a:ext uri="{FF2B5EF4-FFF2-40B4-BE49-F238E27FC236}">
                <a16:creationId xmlns:a16="http://schemas.microsoft.com/office/drawing/2014/main" id="{848267BB-7E18-483F-A015-39E1349E3B8D}"/>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‘ÖZEL-VEYADEĞİL’ (XNOR) Kapısı</a:t>
            </a:r>
          </a:p>
        </p:txBody>
      </p:sp>
      <p:sp>
        <p:nvSpPr>
          <p:cNvPr id="2" name="Slayt Numarası Yer Tutucusu 1">
            <a:extLst>
              <a:ext uri="{FF2B5EF4-FFF2-40B4-BE49-F238E27FC236}">
                <a16:creationId xmlns:a16="http://schemas.microsoft.com/office/drawing/2014/main" id="{41ADA6D9-668E-4EC7-89FF-C679587873C2}"/>
              </a:ext>
            </a:extLst>
          </p:cNvPr>
          <p:cNvSpPr>
            <a:spLocks noGrp="1"/>
          </p:cNvSpPr>
          <p:nvPr>
            <p:ph type="sldNum" sz="quarter" idx="12"/>
          </p:nvPr>
        </p:nvSpPr>
        <p:spPr/>
        <p:txBody>
          <a:bodyPr/>
          <a:lstStyle/>
          <a:p>
            <a:fld id="{D1BC5D5A-A3FB-46A1-A862-24F6D41195CB}" type="slidenum">
              <a:rPr lang="tr-TR" smtClean="0"/>
              <a:t>28</a:t>
            </a:fld>
            <a:endParaRPr lang="tr-TR"/>
          </a:p>
        </p:txBody>
      </p:sp>
    </p:spTree>
    <p:extLst>
      <p:ext uri="{BB962C8B-B14F-4D97-AF65-F5344CB8AC3E}">
        <p14:creationId xmlns:p14="http://schemas.microsoft.com/office/powerpoint/2010/main" val="3047277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6250AEF8-57CD-4E5E-A7D9-A27724C0142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655676" y="633400"/>
            <a:ext cx="5832648" cy="62288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Dikdörtgen 7">
            <a:extLst>
              <a:ext uri="{FF2B5EF4-FFF2-40B4-BE49-F238E27FC236}">
                <a16:creationId xmlns:a16="http://schemas.microsoft.com/office/drawing/2014/main" id="{08EFF1A7-3343-446A-BD1C-1C50987D453F}"/>
              </a:ext>
            </a:extLst>
          </p:cNvPr>
          <p:cNvSpPr/>
          <p:nvPr/>
        </p:nvSpPr>
        <p:spPr>
          <a:xfrm>
            <a:off x="0" y="0"/>
            <a:ext cx="9144000" cy="5486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LOJİK KAPI GÖSTERİMLERİ </a:t>
            </a:r>
          </a:p>
        </p:txBody>
      </p:sp>
      <p:sp>
        <p:nvSpPr>
          <p:cNvPr id="9" name="Slayt Numarası Yer Tutucusu 8">
            <a:extLst>
              <a:ext uri="{FF2B5EF4-FFF2-40B4-BE49-F238E27FC236}">
                <a16:creationId xmlns:a16="http://schemas.microsoft.com/office/drawing/2014/main" id="{72076139-260B-45D5-B1CD-CF05DFA6A961}"/>
              </a:ext>
            </a:extLst>
          </p:cNvPr>
          <p:cNvSpPr>
            <a:spLocks noGrp="1"/>
          </p:cNvSpPr>
          <p:nvPr>
            <p:ph type="sldNum" sz="quarter" idx="12"/>
          </p:nvPr>
        </p:nvSpPr>
        <p:spPr/>
        <p:txBody>
          <a:bodyPr/>
          <a:lstStyle/>
          <a:p>
            <a:fld id="{D1BC5D5A-A3FB-46A1-A862-24F6D41195CB}" type="slidenum">
              <a:rPr lang="tr-TR" smtClean="0"/>
              <a:t>29</a:t>
            </a:fld>
            <a:endParaRPr lang="tr-TR" dirty="0"/>
          </a:p>
        </p:txBody>
      </p:sp>
    </p:spTree>
    <p:extLst>
      <p:ext uri="{BB962C8B-B14F-4D97-AF65-F5344CB8AC3E}">
        <p14:creationId xmlns:p14="http://schemas.microsoft.com/office/powerpoint/2010/main" val="20651536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0"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b="56140"/>
          <a:stretch/>
        </p:blipFill>
        <p:spPr bwMode="auto">
          <a:xfrm>
            <a:off x="251520" y="1196752"/>
            <a:ext cx="8640960" cy="1800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ayt Numarası Yer Tutucusu 2">
            <a:extLst>
              <a:ext uri="{FF2B5EF4-FFF2-40B4-BE49-F238E27FC236}">
                <a16:creationId xmlns:a16="http://schemas.microsoft.com/office/drawing/2014/main" id="{2065DDCB-522B-4B24-980C-7F9FADC97D3B}"/>
              </a:ext>
            </a:extLst>
          </p:cNvPr>
          <p:cNvSpPr>
            <a:spLocks noGrp="1"/>
          </p:cNvSpPr>
          <p:nvPr>
            <p:ph type="sldNum" sz="quarter" idx="12"/>
          </p:nvPr>
        </p:nvSpPr>
        <p:spPr/>
        <p:txBody>
          <a:bodyPr/>
          <a:lstStyle/>
          <a:p>
            <a:fld id="{D1BC5D5A-A3FB-46A1-A862-24F6D41195CB}" type="slidenum">
              <a:rPr lang="tr-TR" smtClean="0"/>
              <a:t>30</a:t>
            </a:fld>
            <a:endParaRPr lang="tr-TR"/>
          </a:p>
        </p:txBody>
      </p:sp>
      <p:sp>
        <p:nvSpPr>
          <p:cNvPr id="5" name="Dikdörtgen 4">
            <a:extLst>
              <a:ext uri="{FF2B5EF4-FFF2-40B4-BE49-F238E27FC236}">
                <a16:creationId xmlns:a16="http://schemas.microsoft.com/office/drawing/2014/main" id="{5E5AAB62-21A7-464B-82BA-DD91B20FB76E}"/>
              </a:ext>
            </a:extLst>
          </p:cNvPr>
          <p:cNvSpPr/>
          <p:nvPr/>
        </p:nvSpPr>
        <p:spPr>
          <a:xfrm>
            <a:off x="0" y="0"/>
            <a:ext cx="9144000" cy="10527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LOJİK İFADELERİN LOJİK ELEMANLAR İLE GERÇEKLEŞTİRİLMESİ</a:t>
            </a:r>
          </a:p>
        </p:txBody>
      </p:sp>
      <p:sp>
        <p:nvSpPr>
          <p:cNvPr id="4" name="Dikdörtgen 3">
            <a:extLst>
              <a:ext uri="{FF2B5EF4-FFF2-40B4-BE49-F238E27FC236}">
                <a16:creationId xmlns:a16="http://schemas.microsoft.com/office/drawing/2014/main" id="{61CB1563-833B-46C8-8D43-90B8A603BCDD}"/>
              </a:ext>
            </a:extLst>
          </p:cNvPr>
          <p:cNvSpPr/>
          <p:nvPr/>
        </p:nvSpPr>
        <p:spPr>
          <a:xfrm>
            <a:off x="3558574" y="3717032"/>
            <a:ext cx="1872208" cy="1080120"/>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tr-TR" dirty="0">
                <a:latin typeface="Candara" panose="020E0502030303020204" pitchFamily="34" charset="0"/>
              </a:rPr>
              <a:t>Lojik Devre / Dijital Sistem</a:t>
            </a:r>
          </a:p>
        </p:txBody>
      </p:sp>
      <p:cxnSp>
        <p:nvCxnSpPr>
          <p:cNvPr id="7" name="Düz Ok Bağlayıcısı 6">
            <a:extLst>
              <a:ext uri="{FF2B5EF4-FFF2-40B4-BE49-F238E27FC236}">
                <a16:creationId xmlns:a16="http://schemas.microsoft.com/office/drawing/2014/main" id="{B6D32FDC-63EA-4F80-8676-53B091B2D41B}"/>
              </a:ext>
            </a:extLst>
          </p:cNvPr>
          <p:cNvCxnSpPr/>
          <p:nvPr/>
        </p:nvCxnSpPr>
        <p:spPr>
          <a:xfrm flipH="1">
            <a:off x="2731721" y="3933056"/>
            <a:ext cx="826853" cy="0"/>
          </a:xfrm>
          <a:prstGeom prst="straightConnector1">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Düz Ok Bağlayıcısı 8">
            <a:extLst>
              <a:ext uri="{FF2B5EF4-FFF2-40B4-BE49-F238E27FC236}">
                <a16:creationId xmlns:a16="http://schemas.microsoft.com/office/drawing/2014/main" id="{BD9FA5A4-14E4-4AE8-9585-CAC76289A3D9}"/>
              </a:ext>
            </a:extLst>
          </p:cNvPr>
          <p:cNvCxnSpPr/>
          <p:nvPr/>
        </p:nvCxnSpPr>
        <p:spPr>
          <a:xfrm flipH="1">
            <a:off x="2731720" y="4581128"/>
            <a:ext cx="826853" cy="0"/>
          </a:xfrm>
          <a:prstGeom prst="straightConnector1">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Metin kutusu 7">
            <a:extLst>
              <a:ext uri="{FF2B5EF4-FFF2-40B4-BE49-F238E27FC236}">
                <a16:creationId xmlns:a16="http://schemas.microsoft.com/office/drawing/2014/main" id="{5B3B26FE-550F-49C1-944A-56CEDDD428FE}"/>
              </a:ext>
            </a:extLst>
          </p:cNvPr>
          <p:cNvSpPr txBox="1"/>
          <p:nvPr/>
        </p:nvSpPr>
        <p:spPr>
          <a:xfrm>
            <a:off x="1517214" y="3932324"/>
            <a:ext cx="992579" cy="646331"/>
          </a:xfrm>
          <a:prstGeom prst="rect">
            <a:avLst/>
          </a:prstGeom>
          <a:noFill/>
        </p:spPr>
        <p:txBody>
          <a:bodyPr wrap="none" rtlCol="0">
            <a:spAutoFit/>
          </a:bodyPr>
          <a:lstStyle/>
          <a:p>
            <a:r>
              <a:rPr lang="tr-TR" dirty="0">
                <a:latin typeface="Candara" panose="020E0502030303020204" pitchFamily="34" charset="0"/>
              </a:rPr>
              <a:t>Girişler</a:t>
            </a:r>
          </a:p>
          <a:p>
            <a:r>
              <a:rPr lang="tr-TR" dirty="0">
                <a:latin typeface="Candara" panose="020E0502030303020204" pitchFamily="34" charset="0"/>
              </a:rPr>
              <a:t>A,B,C,…</a:t>
            </a:r>
          </a:p>
        </p:txBody>
      </p:sp>
      <p:cxnSp>
        <p:nvCxnSpPr>
          <p:cNvPr id="11" name="Düz Ok Bağlayıcısı 10">
            <a:extLst>
              <a:ext uri="{FF2B5EF4-FFF2-40B4-BE49-F238E27FC236}">
                <a16:creationId xmlns:a16="http://schemas.microsoft.com/office/drawing/2014/main" id="{D530049F-FAB5-408D-BFDD-C085D7BCDC14}"/>
              </a:ext>
            </a:extLst>
          </p:cNvPr>
          <p:cNvCxnSpPr>
            <a:cxnSpLocks/>
            <a:endCxn id="4" idx="3"/>
          </p:cNvCxnSpPr>
          <p:nvPr/>
        </p:nvCxnSpPr>
        <p:spPr>
          <a:xfrm flipH="1">
            <a:off x="5430782" y="4257092"/>
            <a:ext cx="826853" cy="0"/>
          </a:xfrm>
          <a:prstGeom prst="straightConnector1">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Metin kutusu 13">
            <a:extLst>
              <a:ext uri="{FF2B5EF4-FFF2-40B4-BE49-F238E27FC236}">
                <a16:creationId xmlns:a16="http://schemas.microsoft.com/office/drawing/2014/main" id="{C3E394AD-A740-4E6D-853A-C5EC00C57F10}"/>
              </a:ext>
            </a:extLst>
          </p:cNvPr>
          <p:cNvSpPr txBox="1"/>
          <p:nvPr/>
        </p:nvSpPr>
        <p:spPr>
          <a:xfrm>
            <a:off x="6257635" y="3932324"/>
            <a:ext cx="1266693" cy="646331"/>
          </a:xfrm>
          <a:prstGeom prst="rect">
            <a:avLst/>
          </a:prstGeom>
          <a:noFill/>
        </p:spPr>
        <p:txBody>
          <a:bodyPr wrap="none" rtlCol="0">
            <a:spAutoFit/>
          </a:bodyPr>
          <a:lstStyle/>
          <a:p>
            <a:r>
              <a:rPr lang="tr-TR" dirty="0">
                <a:latin typeface="Candara" panose="020E0502030303020204" pitchFamily="34" charset="0"/>
              </a:rPr>
              <a:t>Çıkış</a:t>
            </a:r>
          </a:p>
          <a:p>
            <a:r>
              <a:rPr lang="tr-TR" dirty="0">
                <a:latin typeface="Candara" panose="020E0502030303020204" pitchFamily="34" charset="0"/>
              </a:rPr>
              <a:t>Q,X,Y,W,…</a:t>
            </a:r>
          </a:p>
        </p:txBody>
      </p:sp>
      <mc:AlternateContent xmlns:mc="http://schemas.openxmlformats.org/markup-compatibility/2006">
        <mc:Choice xmlns:a14="http://schemas.microsoft.com/office/drawing/2010/main" Requires="a14">
          <p:sp>
            <p:nvSpPr>
              <p:cNvPr id="13" name="Metin kutusu 12">
                <a:extLst>
                  <a:ext uri="{FF2B5EF4-FFF2-40B4-BE49-F238E27FC236}">
                    <a16:creationId xmlns:a16="http://schemas.microsoft.com/office/drawing/2014/main" id="{5E5BF82F-A8C0-40F4-8362-2ED771229E03}"/>
                  </a:ext>
                </a:extLst>
              </p:cNvPr>
              <p:cNvSpPr txBox="1"/>
              <p:nvPr/>
            </p:nvSpPr>
            <p:spPr>
              <a:xfrm>
                <a:off x="3080622" y="4118748"/>
                <a:ext cx="1250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m:t>
                      </m:r>
                    </m:oMath>
                  </m:oMathPara>
                </a14:m>
                <a:endParaRPr lang="tr-TR" dirty="0"/>
              </a:p>
            </p:txBody>
          </p:sp>
        </mc:Choice>
        <mc:Fallback>
          <p:sp>
            <p:nvSpPr>
              <p:cNvPr id="13" name="Metin kutusu 12">
                <a:extLst>
                  <a:ext uri="{FF2B5EF4-FFF2-40B4-BE49-F238E27FC236}">
                    <a16:creationId xmlns:a16="http://schemas.microsoft.com/office/drawing/2014/main" id="{5E5BF82F-A8C0-40F4-8362-2ED771229E03}"/>
                  </a:ext>
                </a:extLst>
              </p:cNvPr>
              <p:cNvSpPr txBox="1">
                <a:spLocks noRot="1" noChangeAspect="1" noMove="1" noResize="1" noEditPoints="1" noAdjustHandles="1" noChangeArrowheads="1" noChangeShapeType="1" noTextEdit="1"/>
              </p:cNvSpPr>
              <p:nvPr/>
            </p:nvSpPr>
            <p:spPr>
              <a:xfrm>
                <a:off x="3080622" y="4118748"/>
                <a:ext cx="125034" cy="276999"/>
              </a:xfrm>
              <a:prstGeom prst="rect">
                <a:avLst/>
              </a:prstGeom>
              <a:blipFill>
                <a:blip r:embed="rId3"/>
                <a:stretch>
                  <a:fillRect l="-42857" r="-38095" b="-6667"/>
                </a:stretch>
              </a:blipFill>
            </p:spPr>
            <p:txBody>
              <a:bodyPr/>
              <a:lstStyle/>
              <a:p>
                <a:r>
                  <a:rPr lang="tr-TR">
                    <a:noFill/>
                  </a:rPr>
                  <a:t> </a:t>
                </a:r>
              </a:p>
            </p:txBody>
          </p:sp>
        </mc:Fallback>
      </mc:AlternateContent>
      <p:sp>
        <p:nvSpPr>
          <p:cNvPr id="16" name="Metin kutusu 15">
            <a:extLst>
              <a:ext uri="{FF2B5EF4-FFF2-40B4-BE49-F238E27FC236}">
                <a16:creationId xmlns:a16="http://schemas.microsoft.com/office/drawing/2014/main" id="{3ABCFD88-74C9-4D0D-9C1C-FE8A1EAB27E2}"/>
              </a:ext>
            </a:extLst>
          </p:cNvPr>
          <p:cNvSpPr txBox="1"/>
          <p:nvPr/>
        </p:nvSpPr>
        <p:spPr>
          <a:xfrm>
            <a:off x="6261882" y="4602587"/>
            <a:ext cx="2390398" cy="369332"/>
          </a:xfrm>
          <a:prstGeom prst="rect">
            <a:avLst/>
          </a:prstGeom>
          <a:noFill/>
        </p:spPr>
        <p:txBody>
          <a:bodyPr wrap="none" rtlCol="0">
            <a:spAutoFit/>
          </a:bodyPr>
          <a:lstStyle/>
          <a:p>
            <a:r>
              <a:rPr lang="tr-TR" dirty="0">
                <a:latin typeface="Candara" panose="020E0502030303020204" pitchFamily="34" charset="0"/>
              </a:rPr>
              <a:t>F = ABC + AB’C’ + A’B’C</a:t>
            </a:r>
          </a:p>
        </p:txBody>
      </p:sp>
      <p:sp>
        <p:nvSpPr>
          <p:cNvPr id="17" name="Metin kutusu 16">
            <a:extLst>
              <a:ext uri="{FF2B5EF4-FFF2-40B4-BE49-F238E27FC236}">
                <a16:creationId xmlns:a16="http://schemas.microsoft.com/office/drawing/2014/main" id="{70A61BE5-A8E0-42AF-AD4E-4B09B7D63C51}"/>
              </a:ext>
            </a:extLst>
          </p:cNvPr>
          <p:cNvSpPr txBox="1"/>
          <p:nvPr/>
        </p:nvSpPr>
        <p:spPr>
          <a:xfrm>
            <a:off x="2850214" y="5013600"/>
            <a:ext cx="3443571" cy="369332"/>
          </a:xfrm>
          <a:prstGeom prst="rect">
            <a:avLst/>
          </a:prstGeom>
          <a:noFill/>
        </p:spPr>
        <p:txBody>
          <a:bodyPr wrap="none" rtlCol="0">
            <a:spAutoFit/>
          </a:bodyPr>
          <a:lstStyle/>
          <a:p>
            <a:r>
              <a:rPr lang="tr-TR" b="1" dirty="0">
                <a:latin typeface="Candara" panose="020E0502030303020204" pitchFamily="34" charset="0"/>
              </a:rPr>
              <a:t>Şekil 5.29. </a:t>
            </a:r>
            <a:r>
              <a:rPr lang="tr-TR" dirty="0">
                <a:latin typeface="Candara" panose="020E0502030303020204" pitchFamily="34" charset="0"/>
              </a:rPr>
              <a:t>Lojik devre blok şeması</a:t>
            </a:r>
          </a:p>
        </p:txBody>
      </p:sp>
    </p:spTree>
    <p:extLst>
      <p:ext uri="{BB962C8B-B14F-4D97-AF65-F5344CB8AC3E}">
        <p14:creationId xmlns:p14="http://schemas.microsoft.com/office/powerpoint/2010/main" val="2843778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84" y="1124745"/>
            <a:ext cx="8435834" cy="53285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ayt Numarası Yer Tutucusu 1">
            <a:extLst>
              <a:ext uri="{FF2B5EF4-FFF2-40B4-BE49-F238E27FC236}">
                <a16:creationId xmlns:a16="http://schemas.microsoft.com/office/drawing/2014/main" id="{F91FF986-4548-440E-B909-749093763B1C}"/>
              </a:ext>
            </a:extLst>
          </p:cNvPr>
          <p:cNvSpPr>
            <a:spLocks noGrp="1"/>
          </p:cNvSpPr>
          <p:nvPr>
            <p:ph type="sldNum" sz="quarter" idx="12"/>
          </p:nvPr>
        </p:nvSpPr>
        <p:spPr/>
        <p:txBody>
          <a:bodyPr/>
          <a:lstStyle/>
          <a:p>
            <a:fld id="{D1BC5D5A-A3FB-46A1-A862-24F6D41195CB}" type="slidenum">
              <a:rPr lang="tr-TR" smtClean="0"/>
              <a:t>31</a:t>
            </a:fld>
            <a:endParaRPr lang="tr-TR"/>
          </a:p>
        </p:txBody>
      </p:sp>
      <p:sp>
        <p:nvSpPr>
          <p:cNvPr id="4" name="Dikdörtgen 3">
            <a:extLst>
              <a:ext uri="{FF2B5EF4-FFF2-40B4-BE49-F238E27FC236}">
                <a16:creationId xmlns:a16="http://schemas.microsoft.com/office/drawing/2014/main" id="{5CDBC694-A904-4E51-971B-BF7566030292}"/>
              </a:ext>
            </a:extLst>
          </p:cNvPr>
          <p:cNvSpPr/>
          <p:nvPr/>
        </p:nvSpPr>
        <p:spPr>
          <a:xfrm>
            <a:off x="0" y="0"/>
            <a:ext cx="9144000" cy="10527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LOJİK İFADELERİN LOJİK ELEMANLAR İLE GERÇEKLEŞTİRİLMESİ</a:t>
            </a:r>
          </a:p>
        </p:txBody>
      </p:sp>
    </p:spTree>
    <p:extLst>
      <p:ext uri="{BB962C8B-B14F-4D97-AF65-F5344CB8AC3E}">
        <p14:creationId xmlns:p14="http://schemas.microsoft.com/office/powerpoint/2010/main" val="11291404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340768"/>
            <a:ext cx="8136904" cy="15994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6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381" y="3212976"/>
            <a:ext cx="7535238" cy="3456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ayt Numarası Yer Tutucusu 1">
            <a:extLst>
              <a:ext uri="{FF2B5EF4-FFF2-40B4-BE49-F238E27FC236}">
                <a16:creationId xmlns:a16="http://schemas.microsoft.com/office/drawing/2014/main" id="{5CB5B63D-3EA1-458B-B22A-2DA27A26811D}"/>
              </a:ext>
            </a:extLst>
          </p:cNvPr>
          <p:cNvSpPr>
            <a:spLocks noGrp="1"/>
          </p:cNvSpPr>
          <p:nvPr>
            <p:ph type="sldNum" sz="quarter" idx="12"/>
          </p:nvPr>
        </p:nvSpPr>
        <p:spPr/>
        <p:txBody>
          <a:bodyPr/>
          <a:lstStyle/>
          <a:p>
            <a:fld id="{D1BC5D5A-A3FB-46A1-A862-24F6D41195CB}" type="slidenum">
              <a:rPr lang="tr-TR" smtClean="0"/>
              <a:t>32</a:t>
            </a:fld>
            <a:endParaRPr lang="tr-TR"/>
          </a:p>
        </p:txBody>
      </p:sp>
      <p:sp>
        <p:nvSpPr>
          <p:cNvPr id="5" name="Dikdörtgen 4">
            <a:extLst>
              <a:ext uri="{FF2B5EF4-FFF2-40B4-BE49-F238E27FC236}">
                <a16:creationId xmlns:a16="http://schemas.microsoft.com/office/drawing/2014/main" id="{9A92941B-3812-4B20-890F-12F5C10FF4D4}"/>
              </a:ext>
            </a:extLst>
          </p:cNvPr>
          <p:cNvSpPr/>
          <p:nvPr/>
        </p:nvSpPr>
        <p:spPr>
          <a:xfrm>
            <a:off x="0" y="0"/>
            <a:ext cx="9144000" cy="10527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LOJİK İFADELERİN LOJİK ELEMANLAR İLE GERÇEKLEŞTİRİLMESİ</a:t>
            </a:r>
          </a:p>
        </p:txBody>
      </p:sp>
    </p:spTree>
    <p:extLst>
      <p:ext uri="{BB962C8B-B14F-4D97-AF65-F5344CB8AC3E}">
        <p14:creationId xmlns:p14="http://schemas.microsoft.com/office/powerpoint/2010/main" val="22375901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50" y="1124744"/>
            <a:ext cx="8815301" cy="5544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ayt Numarası Yer Tutucusu 1">
            <a:extLst>
              <a:ext uri="{FF2B5EF4-FFF2-40B4-BE49-F238E27FC236}">
                <a16:creationId xmlns:a16="http://schemas.microsoft.com/office/drawing/2014/main" id="{33422FB9-1042-4724-A440-8EF724D04D08}"/>
              </a:ext>
            </a:extLst>
          </p:cNvPr>
          <p:cNvSpPr>
            <a:spLocks noGrp="1"/>
          </p:cNvSpPr>
          <p:nvPr>
            <p:ph type="sldNum" sz="quarter" idx="12"/>
          </p:nvPr>
        </p:nvSpPr>
        <p:spPr/>
        <p:txBody>
          <a:bodyPr/>
          <a:lstStyle/>
          <a:p>
            <a:fld id="{D1BC5D5A-A3FB-46A1-A862-24F6D41195CB}" type="slidenum">
              <a:rPr lang="tr-TR" smtClean="0"/>
              <a:t>33</a:t>
            </a:fld>
            <a:endParaRPr lang="tr-TR"/>
          </a:p>
        </p:txBody>
      </p:sp>
      <p:sp>
        <p:nvSpPr>
          <p:cNvPr id="4" name="Dikdörtgen 3">
            <a:extLst>
              <a:ext uri="{FF2B5EF4-FFF2-40B4-BE49-F238E27FC236}">
                <a16:creationId xmlns:a16="http://schemas.microsoft.com/office/drawing/2014/main" id="{99C66099-CCE6-4A1B-BD5A-19C26DBF18F8}"/>
              </a:ext>
            </a:extLst>
          </p:cNvPr>
          <p:cNvSpPr/>
          <p:nvPr/>
        </p:nvSpPr>
        <p:spPr>
          <a:xfrm>
            <a:off x="0" y="0"/>
            <a:ext cx="9144000" cy="10527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LOJİK İFADELERİN LOJİK ELEMANLAR İLE GERÇEKLEŞTİRİLMESİ</a:t>
            </a:r>
          </a:p>
        </p:txBody>
      </p:sp>
    </p:spTree>
    <p:extLst>
      <p:ext uri="{BB962C8B-B14F-4D97-AF65-F5344CB8AC3E}">
        <p14:creationId xmlns:p14="http://schemas.microsoft.com/office/powerpoint/2010/main" val="13903218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56944"/>
          <a:stretch/>
        </p:blipFill>
        <p:spPr bwMode="auto">
          <a:xfrm>
            <a:off x="554270" y="1124744"/>
            <a:ext cx="8035461" cy="2232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94444"/>
          <a:stretch/>
        </p:blipFill>
        <p:spPr bwMode="auto">
          <a:xfrm>
            <a:off x="554270" y="6525345"/>
            <a:ext cx="8035461" cy="2880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4443" y="3356993"/>
            <a:ext cx="6695114" cy="3096344"/>
          </a:xfrm>
          <a:prstGeom prst="rect">
            <a:avLst/>
          </a:prstGeom>
        </p:spPr>
      </p:pic>
      <p:sp>
        <p:nvSpPr>
          <p:cNvPr id="4" name="Slayt Numarası Yer Tutucusu 3">
            <a:extLst>
              <a:ext uri="{FF2B5EF4-FFF2-40B4-BE49-F238E27FC236}">
                <a16:creationId xmlns:a16="http://schemas.microsoft.com/office/drawing/2014/main" id="{E958E9C4-7557-4015-8C9E-E499A76C2A55}"/>
              </a:ext>
            </a:extLst>
          </p:cNvPr>
          <p:cNvSpPr>
            <a:spLocks noGrp="1"/>
          </p:cNvSpPr>
          <p:nvPr>
            <p:ph type="sldNum" sz="quarter" idx="12"/>
          </p:nvPr>
        </p:nvSpPr>
        <p:spPr/>
        <p:txBody>
          <a:bodyPr/>
          <a:lstStyle/>
          <a:p>
            <a:fld id="{D1BC5D5A-A3FB-46A1-A862-24F6D41195CB}" type="slidenum">
              <a:rPr lang="tr-TR" smtClean="0"/>
              <a:t>34</a:t>
            </a:fld>
            <a:endParaRPr lang="tr-TR"/>
          </a:p>
        </p:txBody>
      </p:sp>
      <p:sp>
        <p:nvSpPr>
          <p:cNvPr id="6" name="Dikdörtgen 5">
            <a:extLst>
              <a:ext uri="{FF2B5EF4-FFF2-40B4-BE49-F238E27FC236}">
                <a16:creationId xmlns:a16="http://schemas.microsoft.com/office/drawing/2014/main" id="{FDB7479F-CAA6-48EE-A8D8-782BACBBB4A2}"/>
              </a:ext>
            </a:extLst>
          </p:cNvPr>
          <p:cNvSpPr/>
          <p:nvPr/>
        </p:nvSpPr>
        <p:spPr>
          <a:xfrm>
            <a:off x="0" y="0"/>
            <a:ext cx="9144000" cy="10527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LOJİK İFADELERİN LOJİK ELEMANLAR İLE GERÇEKLEŞTİRİLMESİ</a:t>
            </a:r>
          </a:p>
        </p:txBody>
      </p:sp>
    </p:spTree>
    <p:extLst>
      <p:ext uri="{BB962C8B-B14F-4D97-AF65-F5344CB8AC3E}">
        <p14:creationId xmlns:p14="http://schemas.microsoft.com/office/powerpoint/2010/main" val="4203373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a:extLst>
              <a:ext uri="{FF2B5EF4-FFF2-40B4-BE49-F238E27FC236}">
                <a16:creationId xmlns:a16="http://schemas.microsoft.com/office/drawing/2014/main" id="{CC790551-EFC1-4F95-AC77-54D38AA9D98C}"/>
              </a:ext>
            </a:extLst>
          </p:cNvPr>
          <p:cNvPicPr>
            <a:picLocks noChangeAspect="1"/>
          </p:cNvPicPr>
          <p:nvPr/>
        </p:nvPicPr>
        <p:blipFill rotWithShape="1">
          <a:blip r:embed="rId2"/>
          <a:srcRect b="88417"/>
          <a:stretch/>
        </p:blipFill>
        <p:spPr>
          <a:xfrm>
            <a:off x="342900" y="1274416"/>
            <a:ext cx="8458200" cy="607914"/>
          </a:xfrm>
          <a:prstGeom prst="rect">
            <a:avLst/>
          </a:prstGeom>
        </p:spPr>
      </p:pic>
      <p:pic>
        <p:nvPicPr>
          <p:cNvPr id="3" name="Resim 1">
            <a:extLst>
              <a:ext uri="{FF2B5EF4-FFF2-40B4-BE49-F238E27FC236}">
                <a16:creationId xmlns:a16="http://schemas.microsoft.com/office/drawing/2014/main" id="{CC790551-EFC1-4F95-AC77-54D38AA9D98C}"/>
              </a:ext>
            </a:extLst>
          </p:cNvPr>
          <p:cNvPicPr>
            <a:picLocks noChangeAspect="1"/>
          </p:cNvPicPr>
          <p:nvPr/>
        </p:nvPicPr>
        <p:blipFill rotWithShape="1">
          <a:blip r:embed="rId2"/>
          <a:srcRect t="90197" b="-1"/>
          <a:stretch/>
        </p:blipFill>
        <p:spPr>
          <a:xfrm>
            <a:off x="342900" y="5661248"/>
            <a:ext cx="8458200" cy="514497"/>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475" y="2207865"/>
            <a:ext cx="8401050" cy="3381375"/>
          </a:xfrm>
          <a:prstGeom prst="rect">
            <a:avLst/>
          </a:prstGeom>
        </p:spPr>
      </p:pic>
      <p:sp>
        <p:nvSpPr>
          <p:cNvPr id="5" name="Slayt Numarası Yer Tutucusu 4">
            <a:extLst>
              <a:ext uri="{FF2B5EF4-FFF2-40B4-BE49-F238E27FC236}">
                <a16:creationId xmlns:a16="http://schemas.microsoft.com/office/drawing/2014/main" id="{CCCF59EE-6C81-44BF-97D5-FC2180F3FB1C}"/>
              </a:ext>
            </a:extLst>
          </p:cNvPr>
          <p:cNvSpPr>
            <a:spLocks noGrp="1"/>
          </p:cNvSpPr>
          <p:nvPr>
            <p:ph type="sldNum" sz="quarter" idx="12"/>
          </p:nvPr>
        </p:nvSpPr>
        <p:spPr/>
        <p:txBody>
          <a:bodyPr/>
          <a:lstStyle/>
          <a:p>
            <a:fld id="{D1BC5D5A-A3FB-46A1-A862-24F6D41195CB}" type="slidenum">
              <a:rPr lang="tr-TR" smtClean="0"/>
              <a:t>35</a:t>
            </a:fld>
            <a:endParaRPr lang="tr-TR"/>
          </a:p>
        </p:txBody>
      </p:sp>
      <p:sp>
        <p:nvSpPr>
          <p:cNvPr id="6" name="Dikdörtgen 5">
            <a:extLst>
              <a:ext uri="{FF2B5EF4-FFF2-40B4-BE49-F238E27FC236}">
                <a16:creationId xmlns:a16="http://schemas.microsoft.com/office/drawing/2014/main" id="{E4588CDF-AFF0-4CC1-9ACF-0FEE78CA1C75}"/>
              </a:ext>
            </a:extLst>
          </p:cNvPr>
          <p:cNvSpPr/>
          <p:nvPr/>
        </p:nvSpPr>
        <p:spPr>
          <a:xfrm>
            <a:off x="0" y="0"/>
            <a:ext cx="9144000" cy="10527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LOJİK İFADELERİN LOJİK ELEMANLAR İLE GERÇEKLEŞTİRİLMESİ</a:t>
            </a:r>
          </a:p>
        </p:txBody>
      </p:sp>
    </p:spTree>
    <p:extLst>
      <p:ext uri="{BB962C8B-B14F-4D97-AF65-F5344CB8AC3E}">
        <p14:creationId xmlns:p14="http://schemas.microsoft.com/office/powerpoint/2010/main" val="39152636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444" y="1146676"/>
            <a:ext cx="6915112" cy="566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ayt Numarası Yer Tutucusu 1">
            <a:extLst>
              <a:ext uri="{FF2B5EF4-FFF2-40B4-BE49-F238E27FC236}">
                <a16:creationId xmlns:a16="http://schemas.microsoft.com/office/drawing/2014/main" id="{2811ACAF-D2FE-4676-9A41-17F3E97C2178}"/>
              </a:ext>
            </a:extLst>
          </p:cNvPr>
          <p:cNvSpPr>
            <a:spLocks noGrp="1"/>
          </p:cNvSpPr>
          <p:nvPr>
            <p:ph type="sldNum" sz="quarter" idx="12"/>
          </p:nvPr>
        </p:nvSpPr>
        <p:spPr/>
        <p:txBody>
          <a:bodyPr/>
          <a:lstStyle/>
          <a:p>
            <a:fld id="{D1BC5D5A-A3FB-46A1-A862-24F6D41195CB}" type="slidenum">
              <a:rPr lang="tr-TR" smtClean="0"/>
              <a:t>36</a:t>
            </a:fld>
            <a:endParaRPr lang="tr-TR"/>
          </a:p>
        </p:txBody>
      </p:sp>
      <p:sp>
        <p:nvSpPr>
          <p:cNvPr id="4" name="Dikdörtgen 3">
            <a:extLst>
              <a:ext uri="{FF2B5EF4-FFF2-40B4-BE49-F238E27FC236}">
                <a16:creationId xmlns:a16="http://schemas.microsoft.com/office/drawing/2014/main" id="{E9B633BB-D6B7-45B3-A329-807A52C76EDA}"/>
              </a:ext>
            </a:extLst>
          </p:cNvPr>
          <p:cNvSpPr/>
          <p:nvPr/>
        </p:nvSpPr>
        <p:spPr>
          <a:xfrm>
            <a:off x="0" y="0"/>
            <a:ext cx="9144000" cy="10527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tr-TR" sz="2800" b="1" dirty="0">
                <a:latin typeface="Candara" panose="020E0502030303020204" pitchFamily="34" charset="0"/>
              </a:rPr>
              <a:t>LOJİK İFADELERİN LOJİK ELEMANLAR İLE GERÇEKLEŞTİRİLMESİ</a:t>
            </a:r>
          </a:p>
        </p:txBody>
      </p:sp>
    </p:spTree>
    <p:extLst>
      <p:ext uri="{BB962C8B-B14F-4D97-AF65-F5344CB8AC3E}">
        <p14:creationId xmlns:p14="http://schemas.microsoft.com/office/powerpoint/2010/main" val="42881999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Metin kutusu 13">
            <a:extLst>
              <a:ext uri="{FF2B5EF4-FFF2-40B4-BE49-F238E27FC236}">
                <a16:creationId xmlns:a16="http://schemas.microsoft.com/office/drawing/2014/main" id="{75E2584A-6E2F-4B5E-A321-320E575E3BD3}"/>
              </a:ext>
            </a:extLst>
          </p:cNvPr>
          <p:cNvSpPr txBox="1"/>
          <p:nvPr/>
        </p:nvSpPr>
        <p:spPr>
          <a:xfrm>
            <a:off x="0" y="207991"/>
            <a:ext cx="9144000" cy="923330"/>
          </a:xfrm>
          <a:prstGeom prst="rect">
            <a:avLst/>
          </a:prstGeom>
          <a:solidFill>
            <a:schemeClr val="bg2">
              <a:lumMod val="90000"/>
            </a:schemeClr>
          </a:solid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tr-TR" sz="5400" dirty="0">
                <a:ln w="0"/>
                <a:solidFill>
                  <a:schemeClr val="accent1"/>
                </a:solidFill>
                <a:effectLst>
                  <a:outerShdw blurRad="38100" dist="25400" dir="5400000" algn="ctr" rotWithShape="0">
                    <a:srgbClr val="6E747A">
                      <a:alpha val="43000"/>
                    </a:srgbClr>
                  </a:outerShdw>
                </a:effectLst>
                <a:latin typeface="Candara" panose="020E0502030303020204" pitchFamily="34" charset="0"/>
              </a:rPr>
              <a:t>ÖDEV </a:t>
            </a:r>
            <a:endParaRPr lang="tr-TR" sz="5400" dirty="0">
              <a:ln w="0"/>
              <a:solidFill>
                <a:schemeClr val="accent1"/>
              </a:solidFill>
              <a:effectLst>
                <a:outerShdw blurRad="38100" dist="25400" dir="5400000" algn="ctr" rotWithShape="0">
                  <a:srgbClr val="6E747A">
                    <a:alpha val="43000"/>
                  </a:srgbClr>
                </a:outerShdw>
              </a:effectLst>
            </a:endParaRPr>
          </a:p>
        </p:txBody>
      </p:sp>
      <p:pic>
        <p:nvPicPr>
          <p:cNvPr id="10" name="Resim 9" descr="Not defterinde alt yazı yazma">
            <a:extLst>
              <a:ext uri="{FF2B5EF4-FFF2-40B4-BE49-F238E27FC236}">
                <a16:creationId xmlns:a16="http://schemas.microsoft.com/office/drawing/2014/main" id="{8D542A15-0EA5-485A-BAE2-B5B98B3962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9098"/>
            <a:ext cx="1395239" cy="930160"/>
          </a:xfrm>
          <a:prstGeom prst="rect">
            <a:avLst/>
          </a:prstGeom>
          <a:ln>
            <a:noFill/>
          </a:ln>
          <a:effectLst>
            <a:softEdge rad="112500"/>
          </a:effectLst>
        </p:spPr>
      </p:pic>
      <p:sp>
        <p:nvSpPr>
          <p:cNvPr id="15" name="İçerik Yer Tutucusu 14">
            <a:extLst>
              <a:ext uri="{FF2B5EF4-FFF2-40B4-BE49-F238E27FC236}">
                <a16:creationId xmlns:a16="http://schemas.microsoft.com/office/drawing/2014/main" id="{1B0639DD-2445-46EE-8AA2-C07D882316A8}"/>
              </a:ext>
            </a:extLst>
          </p:cNvPr>
          <p:cNvSpPr>
            <a:spLocks noGrp="1"/>
          </p:cNvSpPr>
          <p:nvPr>
            <p:ph idx="1"/>
          </p:nvPr>
        </p:nvSpPr>
        <p:spPr>
          <a:xfrm>
            <a:off x="457200" y="1298426"/>
            <a:ext cx="8229600" cy="4827737"/>
          </a:xfrm>
        </p:spPr>
        <p:txBody>
          <a:bodyPr>
            <a:normAutofit/>
          </a:bodyPr>
          <a:lstStyle/>
          <a:p>
            <a:pPr marL="0" indent="0" algn="just">
              <a:buNone/>
            </a:pPr>
            <a:r>
              <a:rPr lang="tr-TR" sz="2400" dirty="0">
                <a:latin typeface="Candara" panose="020E0502030303020204" pitchFamily="34" charset="0"/>
              </a:rPr>
              <a:t>Kazanın içindeki yağ seviyesi A sensörünün üzerine çıktığında veya B sensörünün altına indiğinde alarm veren sistemin </a:t>
            </a:r>
            <a:r>
              <a:rPr lang="tr-TR" sz="2400" b="1" dirty="0">
                <a:latin typeface="Candara" panose="020E0502030303020204" pitchFamily="34" charset="0"/>
              </a:rPr>
              <a:t>doğruluk tablosu</a:t>
            </a:r>
            <a:r>
              <a:rPr lang="tr-TR" sz="2400" dirty="0">
                <a:latin typeface="Candara" panose="020E0502030303020204" pitchFamily="34" charset="0"/>
              </a:rPr>
              <a:t>nu oluşturunuz.</a:t>
            </a:r>
          </a:p>
          <a:p>
            <a:pPr marL="685800" lvl="1" algn="just"/>
            <a:r>
              <a:rPr lang="tr-TR" sz="1800" dirty="0">
                <a:latin typeface="Candara" panose="020E0502030303020204" pitchFamily="34" charset="0"/>
              </a:rPr>
              <a:t>Sistemde kaç giriş değişkeni vardır? </a:t>
            </a:r>
          </a:p>
          <a:p>
            <a:pPr marL="685800" lvl="1" algn="just"/>
            <a:r>
              <a:rPr lang="tr-TR" sz="1800" dirty="0">
                <a:latin typeface="Candara" panose="020E0502030303020204" pitchFamily="34" charset="0"/>
              </a:rPr>
              <a:t>Sistemde kaç çıkış vardır? </a:t>
            </a:r>
          </a:p>
          <a:p>
            <a:pPr marL="685800" lvl="1" algn="just"/>
            <a:r>
              <a:rPr lang="tr-TR" sz="1800" dirty="0">
                <a:latin typeface="Candara" panose="020E0502030303020204" pitchFamily="34" charset="0"/>
              </a:rPr>
              <a:t>Sistem girişi kaç farklı kombinasyondan oluşur?</a:t>
            </a:r>
            <a:endParaRPr lang="tr-TR" sz="1800" dirty="0"/>
          </a:p>
        </p:txBody>
      </p:sp>
      <p:sp>
        <p:nvSpPr>
          <p:cNvPr id="3" name="Slayt Numarası Yer Tutucusu 2">
            <a:extLst>
              <a:ext uri="{FF2B5EF4-FFF2-40B4-BE49-F238E27FC236}">
                <a16:creationId xmlns:a16="http://schemas.microsoft.com/office/drawing/2014/main" id="{92F7B349-6370-4F63-9BF1-86C6ACBF41F4}"/>
              </a:ext>
            </a:extLst>
          </p:cNvPr>
          <p:cNvSpPr>
            <a:spLocks noGrp="1"/>
          </p:cNvSpPr>
          <p:nvPr>
            <p:ph type="sldNum" sz="quarter" idx="12"/>
          </p:nvPr>
        </p:nvSpPr>
        <p:spPr/>
        <p:txBody>
          <a:bodyPr/>
          <a:lstStyle/>
          <a:p>
            <a:fld id="{D1BC5D5A-A3FB-46A1-A862-24F6D41195CB}" type="slidenum">
              <a:rPr lang="tr-TR" smtClean="0"/>
              <a:t>37</a:t>
            </a:fld>
            <a:endParaRPr lang="tr-TR"/>
          </a:p>
        </p:txBody>
      </p:sp>
      <p:sp>
        <p:nvSpPr>
          <p:cNvPr id="4" name="Dikdörtgen 3"/>
          <p:cNvSpPr/>
          <p:nvPr/>
        </p:nvSpPr>
        <p:spPr>
          <a:xfrm>
            <a:off x="1187624" y="3944093"/>
            <a:ext cx="1461542" cy="265325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tr-TR" dirty="0"/>
              <a:t>Kazan</a:t>
            </a:r>
            <a:endParaRPr lang="en-GB" dirty="0"/>
          </a:p>
        </p:txBody>
      </p:sp>
      <p:sp>
        <p:nvSpPr>
          <p:cNvPr id="5" name="Oval 4"/>
          <p:cNvSpPr/>
          <p:nvPr/>
        </p:nvSpPr>
        <p:spPr>
          <a:xfrm>
            <a:off x="929045" y="4183935"/>
            <a:ext cx="258580" cy="35976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p:cNvSpPr/>
          <p:nvPr/>
        </p:nvSpPr>
        <p:spPr>
          <a:xfrm>
            <a:off x="929044" y="6000243"/>
            <a:ext cx="258580" cy="35976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ağ Ok 6"/>
          <p:cNvSpPr/>
          <p:nvPr/>
        </p:nvSpPr>
        <p:spPr>
          <a:xfrm>
            <a:off x="2649166" y="6142650"/>
            <a:ext cx="523250" cy="434714"/>
          </a:xfrm>
          <a:prstGeom prst="rightArrow">
            <a:avLst>
              <a:gd name="adj1" fmla="val 33663"/>
              <a:gd name="adj2" fmla="val 5000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U Dönüş Oku 10"/>
          <p:cNvSpPr/>
          <p:nvPr/>
        </p:nvSpPr>
        <p:spPr>
          <a:xfrm>
            <a:off x="563660" y="3598982"/>
            <a:ext cx="989351" cy="432626"/>
          </a:xfrm>
          <a:prstGeom prst="uturnArrow">
            <a:avLst>
              <a:gd name="adj1" fmla="val 33884"/>
              <a:gd name="adj2" fmla="val 25000"/>
              <a:gd name="adj3" fmla="val 25000"/>
              <a:gd name="adj4" fmla="val 43750"/>
              <a:gd name="adj5" fmla="val 75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2" name="Metin kutusu 11"/>
          <p:cNvSpPr txBox="1"/>
          <p:nvPr/>
        </p:nvSpPr>
        <p:spPr>
          <a:xfrm>
            <a:off x="585912" y="6000243"/>
            <a:ext cx="365384" cy="461665"/>
          </a:xfrm>
          <a:prstGeom prst="rect">
            <a:avLst/>
          </a:prstGeom>
          <a:noFill/>
        </p:spPr>
        <p:txBody>
          <a:bodyPr wrap="square" rtlCol="0">
            <a:spAutoFit/>
          </a:bodyPr>
          <a:lstStyle/>
          <a:p>
            <a:r>
              <a:rPr lang="tr-TR" sz="2400" dirty="0">
                <a:latin typeface="Candara" panose="020E0502030303020204" pitchFamily="34" charset="0"/>
              </a:rPr>
              <a:t>B</a:t>
            </a:r>
            <a:endParaRPr lang="en-GB" sz="2400" dirty="0">
              <a:latin typeface="Candara" panose="020E0502030303020204" pitchFamily="34" charset="0"/>
            </a:endParaRPr>
          </a:p>
        </p:txBody>
      </p:sp>
      <p:sp>
        <p:nvSpPr>
          <p:cNvPr id="13" name="Metin kutusu 12"/>
          <p:cNvSpPr txBox="1"/>
          <p:nvPr/>
        </p:nvSpPr>
        <p:spPr>
          <a:xfrm>
            <a:off x="585912" y="4234362"/>
            <a:ext cx="365384" cy="461665"/>
          </a:xfrm>
          <a:prstGeom prst="rect">
            <a:avLst/>
          </a:prstGeom>
          <a:noFill/>
        </p:spPr>
        <p:txBody>
          <a:bodyPr wrap="square" rtlCol="0">
            <a:spAutoFit/>
          </a:bodyPr>
          <a:lstStyle/>
          <a:p>
            <a:r>
              <a:rPr lang="tr-TR" sz="2400" dirty="0">
                <a:latin typeface="Candara" panose="020E0502030303020204" pitchFamily="34" charset="0"/>
              </a:rPr>
              <a:t>A</a:t>
            </a:r>
            <a:endParaRPr lang="en-GB" sz="2400" dirty="0">
              <a:latin typeface="Candara" panose="020E0502030303020204" pitchFamily="34" charset="0"/>
            </a:endParaRPr>
          </a:p>
        </p:txBody>
      </p:sp>
    </p:spTree>
    <p:extLst>
      <p:ext uri="{BB962C8B-B14F-4D97-AF65-F5344CB8AC3E}">
        <p14:creationId xmlns:p14="http://schemas.microsoft.com/office/powerpoint/2010/main" val="1179093137"/>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385</TotalTime>
  <Words>720</Words>
  <Application>Microsoft Office PowerPoint</Application>
  <PresentationFormat>Ekran Gösterisi (4:3)</PresentationFormat>
  <Paragraphs>113</Paragraphs>
  <Slides>37</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37</vt:i4>
      </vt:variant>
    </vt:vector>
  </HeadingPairs>
  <TitlesOfParts>
    <vt:vector size="43" baseType="lpstr">
      <vt:lpstr>Arial</vt:lpstr>
      <vt:lpstr>Calibri</vt:lpstr>
      <vt:lpstr>Cambria Math</vt:lpstr>
      <vt:lpstr>Candara</vt:lpstr>
      <vt:lpstr>Times New Roman</vt:lpstr>
      <vt:lpstr>Ofis Teması</vt:lpstr>
      <vt:lpstr>Mantık Devreleri  Ders 4: Lojik Kapılar ve Lojik Devreler  (Logic Gates and Logic Circuits)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Mantık Devreleri  DERS 4 </dc:title>
  <dc:creator>bilgisayarim</dc:creator>
  <cp:lastModifiedBy>asarikas1212@outlook.com</cp:lastModifiedBy>
  <cp:revision>46</cp:revision>
  <dcterms:created xsi:type="dcterms:W3CDTF">2019-10-01T09:24:12Z</dcterms:created>
  <dcterms:modified xsi:type="dcterms:W3CDTF">2024-10-21T14:10:16Z</dcterms:modified>
</cp:coreProperties>
</file>