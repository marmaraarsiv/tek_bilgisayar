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6" r:id="rId3"/>
    <p:sldId id="276" r:id="rId4"/>
    <p:sldId id="277" r:id="rId5"/>
    <p:sldId id="278" r:id="rId6"/>
    <p:sldId id="281" r:id="rId7"/>
    <p:sldId id="279" r:id="rId8"/>
    <p:sldId id="280" r:id="rId9"/>
    <p:sldId id="282" r:id="rId10"/>
    <p:sldId id="283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257" r:id="rId32"/>
    <p:sldId id="284" r:id="rId33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014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7271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344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326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541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1897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7303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250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611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927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229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19B8E-E23C-4971-9DAD-2507FAD6F2BF}" type="datetimeFigureOut">
              <a:rPr lang="tr-TR" smtClean="0"/>
              <a:t>10.10.2023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046DB-64C6-406F-8511-D1AD0B0E10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134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Mantık Devreleri </a:t>
            </a:r>
            <a:br>
              <a:rPr lang="tr-TR" dirty="0"/>
            </a:br>
            <a:r>
              <a:rPr lang="tr-TR" dirty="0"/>
              <a:t>DERS 2 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025" y="233998"/>
            <a:ext cx="7429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16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539552" y="1340768"/>
            <a:ext cx="7772400" cy="1470025"/>
          </a:xfrm>
        </p:spPr>
        <p:txBody>
          <a:bodyPr/>
          <a:lstStyle/>
          <a:p>
            <a:r>
              <a:rPr lang="tr-TR" dirty="0"/>
              <a:t>SAYI SİSTEMLERİ </a:t>
            </a:r>
          </a:p>
        </p:txBody>
      </p:sp>
      <p:sp>
        <p:nvSpPr>
          <p:cNvPr id="4" name="Başlık 1"/>
          <p:cNvSpPr txBox="1">
            <a:spLocks/>
          </p:cNvSpPr>
          <p:nvPr/>
        </p:nvSpPr>
        <p:spPr>
          <a:xfrm>
            <a:off x="691952" y="2708920"/>
            <a:ext cx="7772400" cy="3528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/>
              <a:t>Matematikteki </a:t>
            </a:r>
            <a:r>
              <a:rPr lang="tr-TR"/>
              <a:t>sayı sistemlerinden </a:t>
            </a:r>
            <a:r>
              <a:rPr lang="tr-TR" dirty="0"/>
              <a:t>elektronik ve bilgisayar bilimlerinde kullanılan 4 temel sayı sistemi vardır. </a:t>
            </a:r>
          </a:p>
          <a:p>
            <a:endParaRPr lang="tr-TR" dirty="0"/>
          </a:p>
          <a:p>
            <a:r>
              <a:rPr lang="tr-TR" dirty="0"/>
              <a:t>Bunlar;</a:t>
            </a:r>
          </a:p>
          <a:p>
            <a:r>
              <a:rPr lang="tr-TR" dirty="0"/>
              <a:t>1. Onluk (</a:t>
            </a:r>
            <a:r>
              <a:rPr lang="tr-TR" dirty="0" err="1"/>
              <a:t>decimal</a:t>
            </a:r>
            <a:r>
              <a:rPr lang="tr-TR" dirty="0"/>
              <a:t>), </a:t>
            </a:r>
          </a:p>
          <a:p>
            <a:r>
              <a:rPr lang="tr-TR" dirty="0"/>
              <a:t> 2. ikili (</a:t>
            </a:r>
            <a:r>
              <a:rPr lang="tr-TR" dirty="0" err="1"/>
              <a:t>binary-dual</a:t>
            </a:r>
            <a:r>
              <a:rPr lang="tr-TR" dirty="0"/>
              <a:t>), </a:t>
            </a:r>
          </a:p>
          <a:p>
            <a:pPr algn="l"/>
            <a:r>
              <a:rPr lang="tr-TR" dirty="0"/>
              <a:t>	                         3. sekizli (</a:t>
            </a:r>
            <a:r>
              <a:rPr lang="tr-TR" dirty="0" err="1"/>
              <a:t>octal</a:t>
            </a:r>
            <a:r>
              <a:rPr lang="tr-TR" dirty="0"/>
              <a:t>),</a:t>
            </a:r>
          </a:p>
          <a:p>
            <a:r>
              <a:rPr lang="tr-TR" dirty="0"/>
              <a:t>         4. </a:t>
            </a:r>
            <a:r>
              <a:rPr lang="tr-TR" dirty="0" err="1"/>
              <a:t>onaltılı</a:t>
            </a:r>
            <a:r>
              <a:rPr lang="tr-TR" dirty="0"/>
              <a:t> (</a:t>
            </a:r>
            <a:r>
              <a:rPr lang="tr-TR" dirty="0" err="1"/>
              <a:t>hexadecimal</a:t>
            </a:r>
            <a:r>
              <a:rPr lang="tr-TR" dirty="0"/>
              <a:t>) 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Sayı sistemleridir. </a:t>
            </a:r>
          </a:p>
        </p:txBody>
      </p:sp>
    </p:spTree>
    <p:extLst>
      <p:ext uri="{BB962C8B-B14F-4D97-AF65-F5344CB8AC3E}">
        <p14:creationId xmlns:p14="http://schemas.microsoft.com/office/powerpoint/2010/main" val="130751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493305"/>
            <a:ext cx="799288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dirty="0"/>
              <a:t>Bir sayı sistemini ‘S’, sayı sisteminde kullanılan rakam/karakterleri ‘d’ ve kökü de ‘R’ ile  gösterir ve ‘S’ ile gösterilen sayı sistemini formülle ifade edersek;</a:t>
            </a:r>
          </a:p>
          <a:p>
            <a:endParaRPr lang="tr-TR" sz="2800" dirty="0"/>
          </a:p>
          <a:p>
            <a:endParaRPr lang="tr-TR" sz="2800" dirty="0"/>
          </a:p>
          <a:p>
            <a:r>
              <a:rPr lang="tr-TR" sz="2800" dirty="0"/>
              <a:t>eşitliği elde edilir. Formülde dn-d0; sayı değerlerini, Rn- R0 ise; köke bağlı olarak oluşan</a:t>
            </a:r>
          </a:p>
          <a:p>
            <a:r>
              <a:rPr lang="tr-TR" sz="2800" dirty="0"/>
              <a:t>basamak değerlerini temsil eder.</a:t>
            </a:r>
          </a:p>
          <a:p>
            <a:endParaRPr lang="tr-TR" sz="2800" dirty="0"/>
          </a:p>
          <a:p>
            <a:r>
              <a:rPr lang="tr-TR" sz="2800" dirty="0"/>
              <a:t>Kesirli kısmı bulunan sayıları ifade etmek için;</a:t>
            </a:r>
          </a:p>
          <a:p>
            <a:endParaRPr lang="tr-TR" sz="2800" dirty="0"/>
          </a:p>
          <a:p>
            <a:endParaRPr lang="tr-TR" sz="2800" dirty="0"/>
          </a:p>
          <a:p>
            <a:r>
              <a:rPr lang="tr-TR" sz="2800" dirty="0"/>
              <a:t>eşitliği kullanılır.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16832"/>
            <a:ext cx="6984776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869160"/>
            <a:ext cx="7418881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743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474345"/>
            <a:ext cx="84249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Onlu (</a:t>
            </a:r>
            <a:r>
              <a:rPr lang="tr-TR" b="1" dirty="0" err="1"/>
              <a:t>Decimal</a:t>
            </a:r>
            <a:r>
              <a:rPr lang="tr-TR" b="1" dirty="0"/>
              <a:t>) Sayı Sistemi</a:t>
            </a:r>
          </a:p>
          <a:p>
            <a:r>
              <a:rPr lang="tr-TR" dirty="0"/>
              <a:t>Günlük hayatımızda en çok kullandığımız onluk sayı sisteminde on değişik rakam vardır ve bunlar sırasıyla; 0, 1, 2, 3, 4, 5, 6, 7, 8, 9’dur. Bu durumda </a:t>
            </a:r>
            <a:r>
              <a:rPr lang="tr-TR" dirty="0" err="1"/>
              <a:t>dn</a:t>
            </a:r>
            <a:r>
              <a:rPr lang="tr-TR" dirty="0"/>
              <a:t>- d0 sayı değerleri; 0, 1, 2, 3, 4, 5, 6, 7, 8, 9 sayıları ile ifade edilir ve R; taban değeri olan 10 ile gösterilir. Bu durumda daha önce ifade edilen denklem (</a:t>
            </a:r>
            <a:r>
              <a:rPr lang="tr-TR" dirty="0" err="1"/>
              <a:t>D:Decimal</a:t>
            </a:r>
            <a:r>
              <a:rPr lang="tr-TR" dirty="0"/>
              <a:t> Sayı);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şeklini alır. Kesirli kısmı bulunan onlu sayıları ifade etmek için;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eşitliği kullanılır.</a:t>
            </a:r>
          </a:p>
          <a:p>
            <a:endParaRPr lang="tr-TR" dirty="0"/>
          </a:p>
          <a:p>
            <a:r>
              <a:rPr lang="tr-TR" dirty="0"/>
              <a:t>ÖRNEK: </a:t>
            </a:r>
          </a:p>
          <a:p>
            <a:r>
              <a:rPr lang="tr-TR" dirty="0"/>
              <a:t>Denkleme göre en sağdaki basamak en düşük ve en soldaki en yüksek anlamlı basamak</a:t>
            </a:r>
          </a:p>
          <a:p>
            <a:r>
              <a:rPr lang="tr-TR" dirty="0"/>
              <a:t>olarak; 1985 sayısı,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şeklinde yazılabilir.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1844824"/>
            <a:ext cx="6215427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51" y="2867026"/>
            <a:ext cx="7882122" cy="51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5157192"/>
            <a:ext cx="5832648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4961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7920880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315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187624" y="1484784"/>
            <a:ext cx="691276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3200" b="1" u="sng" dirty="0">
                <a:sym typeface="Wingdings" panose="05000000000000000000" pitchFamily="2" charset="2"/>
              </a:rPr>
              <a:t>MSB</a:t>
            </a:r>
            <a:r>
              <a:rPr lang="tr-TR" sz="3200" dirty="0">
                <a:sym typeface="Wingdings" panose="05000000000000000000" pitchFamily="2" charset="2"/>
              </a:rPr>
              <a:t> (</a:t>
            </a:r>
            <a:r>
              <a:rPr lang="tr-TR" sz="3200" dirty="0" err="1">
                <a:sym typeface="Wingdings" panose="05000000000000000000" pitchFamily="2" charset="2"/>
              </a:rPr>
              <a:t>Most</a:t>
            </a:r>
            <a:r>
              <a:rPr lang="tr-TR" sz="3200" dirty="0">
                <a:sym typeface="Wingdings" panose="05000000000000000000" pitchFamily="2" charset="2"/>
              </a:rPr>
              <a:t> </a:t>
            </a:r>
            <a:r>
              <a:rPr lang="tr-TR" sz="3200" dirty="0" err="1">
                <a:sym typeface="Wingdings" panose="05000000000000000000" pitchFamily="2" charset="2"/>
              </a:rPr>
              <a:t>Significant</a:t>
            </a:r>
            <a:r>
              <a:rPr lang="tr-TR" sz="3200" dirty="0">
                <a:sym typeface="Wingdings" panose="05000000000000000000" pitchFamily="2" charset="2"/>
              </a:rPr>
              <a:t> Bit)(En yüksek </a:t>
            </a:r>
            <a:r>
              <a:rPr lang="tr-TR" sz="3200" dirty="0" err="1">
                <a:sym typeface="Wingdings" panose="05000000000000000000" pitchFamily="2" charset="2"/>
              </a:rPr>
              <a:t>değerlikli</a:t>
            </a:r>
            <a:r>
              <a:rPr lang="tr-TR" sz="3200" dirty="0">
                <a:sym typeface="Wingdings" panose="05000000000000000000" pitchFamily="2" charset="2"/>
              </a:rPr>
              <a:t> bit)?</a:t>
            </a:r>
          </a:p>
          <a:p>
            <a:r>
              <a:rPr lang="tr-TR" sz="3200" b="1" u="sng" dirty="0">
                <a:sym typeface="Wingdings" panose="05000000000000000000" pitchFamily="2" charset="2"/>
              </a:rPr>
              <a:t>LSB </a:t>
            </a:r>
            <a:r>
              <a:rPr lang="tr-TR" sz="3200" dirty="0">
                <a:sym typeface="Wingdings" panose="05000000000000000000" pitchFamily="2" charset="2"/>
              </a:rPr>
              <a:t>(</a:t>
            </a:r>
            <a:r>
              <a:rPr lang="tr-TR" sz="3200" dirty="0" err="1">
                <a:sym typeface="Wingdings" panose="05000000000000000000" pitchFamily="2" charset="2"/>
              </a:rPr>
              <a:t>Least</a:t>
            </a:r>
            <a:r>
              <a:rPr lang="tr-TR" sz="3200" dirty="0">
                <a:sym typeface="Wingdings" panose="05000000000000000000" pitchFamily="2" charset="2"/>
              </a:rPr>
              <a:t> </a:t>
            </a:r>
            <a:r>
              <a:rPr lang="tr-TR" sz="3200" dirty="0" err="1">
                <a:sym typeface="Wingdings" panose="05000000000000000000" pitchFamily="2" charset="2"/>
              </a:rPr>
              <a:t>Significant</a:t>
            </a:r>
            <a:r>
              <a:rPr lang="tr-TR" sz="3200" dirty="0">
                <a:sym typeface="Wingdings" panose="05000000000000000000" pitchFamily="2" charset="2"/>
              </a:rPr>
              <a:t> Bit)(En düşük </a:t>
            </a:r>
            <a:r>
              <a:rPr lang="tr-TR" sz="3200" dirty="0" err="1">
                <a:sym typeface="Wingdings" panose="05000000000000000000" pitchFamily="2" charset="2"/>
              </a:rPr>
              <a:t>değerlikli</a:t>
            </a:r>
            <a:r>
              <a:rPr lang="tr-TR" sz="3200" dirty="0">
                <a:sym typeface="Wingdings" panose="05000000000000000000" pitchFamily="2" charset="2"/>
              </a:rPr>
              <a:t> bit)?</a:t>
            </a:r>
            <a:endParaRPr lang="en-GB" sz="3200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7" y="4365103"/>
            <a:ext cx="5411206" cy="179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3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94" y="1124744"/>
            <a:ext cx="8203700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365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8680"/>
            <a:ext cx="8640960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788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980728"/>
            <a:ext cx="3367780" cy="5328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899592" y="611396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Sayı Sistemleri</a:t>
            </a:r>
          </a:p>
        </p:txBody>
      </p:sp>
    </p:spTree>
    <p:extLst>
      <p:ext uri="{BB962C8B-B14F-4D97-AF65-F5344CB8AC3E}">
        <p14:creationId xmlns:p14="http://schemas.microsoft.com/office/powerpoint/2010/main" val="186690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43608" y="548680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Sayı Sistemlerinin Birbirlerine Dönüştürülmeleri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1187624" y="1012086"/>
            <a:ext cx="61926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Onlu Sayıların İkili, Sekizli ve </a:t>
            </a:r>
            <a:r>
              <a:rPr lang="tr-TR" b="1" dirty="0" err="1"/>
              <a:t>Onaltılı</a:t>
            </a:r>
            <a:r>
              <a:rPr lang="tr-TR" b="1" dirty="0"/>
              <a:t> Sayılara Dönüşümü</a:t>
            </a:r>
            <a:endParaRPr lang="tr-TR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16" y="1362074"/>
            <a:ext cx="7620900" cy="5096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7656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076" y="1196752"/>
            <a:ext cx="7726052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84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84E6C50D-F842-4D52-AF5D-1F70A84FD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95" y="563885"/>
            <a:ext cx="6067425" cy="2505075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92729EEF-545F-4893-B3B9-26C36A2A8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188965"/>
            <a:ext cx="53911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51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24" y="1412776"/>
            <a:ext cx="8650105" cy="4104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185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50" y="692696"/>
            <a:ext cx="8718221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1581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8"/>
            <a:ext cx="8592665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9207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08720"/>
            <a:ext cx="780663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016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404664"/>
            <a:ext cx="80648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u="sng" dirty="0"/>
              <a:t>İkili Sayı Sistemindeki Sayıların Onlu, Sekizli ve </a:t>
            </a:r>
            <a:r>
              <a:rPr lang="tr-TR" sz="2400" b="1" u="sng" dirty="0" err="1"/>
              <a:t>Onaltılı</a:t>
            </a:r>
            <a:r>
              <a:rPr lang="tr-TR" sz="2400" b="1" u="sng" dirty="0"/>
              <a:t> Sayı Sistemlerine Dönüştürülmesi</a:t>
            </a:r>
            <a:endParaRPr lang="tr-TR" sz="2400" u="sng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59" y="1556792"/>
            <a:ext cx="8351802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5655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698231D5-4367-4E55-8540-D0502436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085850"/>
            <a:ext cx="80200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90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51" y="980728"/>
            <a:ext cx="8281764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3005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68" y="764704"/>
            <a:ext cx="8482865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8127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836712"/>
            <a:ext cx="8280920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9485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8660095" cy="188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45" y="2852936"/>
            <a:ext cx="8635481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1"/>
            <a:ext cx="5832648" cy="1872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491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11" y="1052736"/>
            <a:ext cx="8204190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4136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06" y="980728"/>
            <a:ext cx="7707176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9565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539552" y="332656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u="sng" dirty="0"/>
              <a:t>Sekizli Sistemdeki Sayıların İkili, Onlu Ve </a:t>
            </a:r>
            <a:r>
              <a:rPr lang="tr-TR" b="1" u="sng" dirty="0" err="1"/>
              <a:t>Onaltılı</a:t>
            </a:r>
            <a:r>
              <a:rPr lang="tr-TR" b="1" u="sng" dirty="0"/>
              <a:t> Sistemlere Dönüştürülmesi</a:t>
            </a:r>
            <a:endParaRPr lang="tr-TR" u="sng" dirty="0"/>
          </a:p>
        </p:txBody>
      </p:sp>
      <p:sp>
        <p:nvSpPr>
          <p:cNvPr id="3" name="Dikdörtgen 2"/>
          <p:cNvSpPr/>
          <p:nvPr/>
        </p:nvSpPr>
        <p:spPr>
          <a:xfrm>
            <a:off x="539552" y="713265"/>
            <a:ext cx="4474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Sekizli Sayıların İkili Sayılara Dönüştürülmesi:</a:t>
            </a:r>
            <a:endParaRPr lang="tr-TR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87" y="1556792"/>
            <a:ext cx="8323822" cy="3744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153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64" y="1268760"/>
            <a:ext cx="8284078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5602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332656"/>
            <a:ext cx="89289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u="sng" dirty="0"/>
              <a:t>Onaltılık Sistemdeki Sayıların, İkili, Sekizli ve Onlu Sayı Sistemlerine</a:t>
            </a:r>
          </a:p>
          <a:p>
            <a:r>
              <a:rPr lang="tr-TR" b="1" u="sng" dirty="0"/>
              <a:t>Dönüştürülmesi</a:t>
            </a:r>
            <a:endParaRPr lang="tr-TR" u="sng" dirty="0"/>
          </a:p>
        </p:txBody>
      </p:sp>
      <p:sp>
        <p:nvSpPr>
          <p:cNvPr id="3" name="Dikdörtgen 2"/>
          <p:cNvSpPr/>
          <p:nvPr/>
        </p:nvSpPr>
        <p:spPr>
          <a:xfrm>
            <a:off x="323528" y="979378"/>
            <a:ext cx="4576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err="1"/>
              <a:t>Onaltılı</a:t>
            </a:r>
            <a:r>
              <a:rPr lang="tr-TR" b="1" dirty="0"/>
              <a:t> Sayıların İkili Sayılara Dönüştürülmesi:</a:t>
            </a:r>
            <a:endParaRPr lang="tr-TR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00" y="1484784"/>
            <a:ext cx="8481199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8382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45" y="1052736"/>
            <a:ext cx="8453263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5542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8" y="692696"/>
            <a:ext cx="8780221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9302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18" y="548680"/>
            <a:ext cx="7857499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573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69668" y="1412776"/>
            <a:ext cx="8229600" cy="4525963"/>
          </a:xfrm>
        </p:spPr>
        <p:txBody>
          <a:bodyPr>
            <a:normAutofit/>
          </a:bodyPr>
          <a:lstStyle/>
          <a:p>
            <a:r>
              <a:rPr lang="tr-TR" dirty="0"/>
              <a:t>(10101110)</a:t>
            </a:r>
            <a:r>
              <a:rPr lang="tr-TR" baseline="-25000" dirty="0"/>
              <a:t>2</a:t>
            </a:r>
            <a:r>
              <a:rPr lang="tr-TR" dirty="0"/>
              <a:t>--</a:t>
            </a:r>
            <a:r>
              <a:rPr lang="tr-TR" dirty="0">
                <a:sym typeface="Wingdings" panose="05000000000000000000" pitchFamily="2" charset="2"/>
              </a:rPr>
              <a:t>(AE)</a:t>
            </a:r>
            <a:r>
              <a:rPr lang="tr-TR" baseline="-25000" dirty="0">
                <a:sym typeface="Wingdings" panose="05000000000000000000" pitchFamily="2" charset="2"/>
              </a:rPr>
              <a:t>16 </a:t>
            </a:r>
            <a:r>
              <a:rPr lang="tr-TR" dirty="0">
                <a:sym typeface="Wingdings" panose="05000000000000000000" pitchFamily="2" charset="2"/>
              </a:rPr>
              <a:t>(256)</a:t>
            </a:r>
            <a:r>
              <a:rPr lang="tr-TR" baseline="-25000" dirty="0">
                <a:sym typeface="Wingdings" panose="05000000000000000000" pitchFamily="2" charset="2"/>
              </a:rPr>
              <a:t>8  </a:t>
            </a:r>
            <a:r>
              <a:rPr lang="tr-TR" dirty="0">
                <a:sym typeface="Wingdings" panose="05000000000000000000" pitchFamily="2" charset="2"/>
              </a:rPr>
              <a:t>(174)</a:t>
            </a:r>
            <a:r>
              <a:rPr lang="tr-TR" baseline="-25000" dirty="0">
                <a:sym typeface="Wingdings" panose="05000000000000000000" pitchFamily="2" charset="2"/>
              </a:rPr>
              <a:t>10</a:t>
            </a:r>
          </a:p>
          <a:p>
            <a:endParaRPr lang="tr-TR" baseline="-25000" dirty="0">
              <a:sym typeface="Wingdings" panose="05000000000000000000" pitchFamily="2" charset="2"/>
            </a:endParaRPr>
          </a:p>
          <a:p>
            <a:r>
              <a:rPr lang="tr-TR" dirty="0">
                <a:sym typeface="Wingdings" panose="05000000000000000000" pitchFamily="2" charset="2"/>
              </a:rPr>
              <a:t>238(11101110)</a:t>
            </a:r>
            <a:r>
              <a:rPr lang="tr-TR" baseline="-25000" dirty="0">
                <a:sym typeface="Wingdings" panose="05000000000000000000" pitchFamily="2" charset="2"/>
              </a:rPr>
              <a:t>2</a:t>
            </a:r>
            <a:r>
              <a:rPr lang="tr-TR" dirty="0">
                <a:sym typeface="Wingdings" panose="05000000000000000000" pitchFamily="2" charset="2"/>
              </a:rPr>
              <a:t>(EE)</a:t>
            </a:r>
            <a:r>
              <a:rPr lang="tr-TR" baseline="-25000" dirty="0">
                <a:sym typeface="Wingdings" panose="05000000000000000000" pitchFamily="2" charset="2"/>
              </a:rPr>
              <a:t>16</a:t>
            </a:r>
            <a:r>
              <a:rPr lang="tr-TR" dirty="0">
                <a:sym typeface="Wingdings" panose="05000000000000000000" pitchFamily="2" charset="2"/>
              </a:rPr>
              <a:t>(356)8</a:t>
            </a:r>
          </a:p>
          <a:p>
            <a:endParaRPr lang="tr-T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23572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755576" y="4149080"/>
            <a:ext cx="7254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sym typeface="Wingdings" panose="05000000000000000000" pitchFamily="2" charset="2"/>
              </a:rPr>
              <a:t>Ödev : 2,8,10 ve16 tabanında sayı sistemlerinden sorumlusunuz.</a:t>
            </a:r>
          </a:p>
          <a:p>
            <a:endParaRPr lang="tr-TR" dirty="0">
              <a:sym typeface="Wingdings" panose="05000000000000000000" pitchFamily="2" charset="2"/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/>
              <a:t>DİNLEDİĞİNİZ İÇİN TEŞEKKÜR EDERİZ</a:t>
            </a:r>
          </a:p>
        </p:txBody>
      </p:sp>
    </p:spTree>
    <p:extLst>
      <p:ext uri="{BB962C8B-B14F-4D97-AF65-F5344CB8AC3E}">
        <p14:creationId xmlns:p14="http://schemas.microsoft.com/office/powerpoint/2010/main" val="3765300000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379</Words>
  <Application>Microsoft Office PowerPoint</Application>
  <PresentationFormat>Ekran Gösterisi (4:3)</PresentationFormat>
  <Paragraphs>55</Paragraphs>
  <Slides>32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36" baseType="lpstr">
      <vt:lpstr>Arial</vt:lpstr>
      <vt:lpstr>Calibri</vt:lpstr>
      <vt:lpstr>Wingdings</vt:lpstr>
      <vt:lpstr>Ofis Teması</vt:lpstr>
      <vt:lpstr>Mantık Devreleri  DERS 2 </vt:lpstr>
      <vt:lpstr>SAYI SİSTEMLERİ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2</dc:title>
  <dc:creator>bilgisayarim</dc:creator>
  <cp:lastModifiedBy>Tiryaki</cp:lastModifiedBy>
  <cp:revision>25</cp:revision>
  <dcterms:created xsi:type="dcterms:W3CDTF">2019-09-30T14:59:31Z</dcterms:created>
  <dcterms:modified xsi:type="dcterms:W3CDTF">2023-10-10T06:58:56Z</dcterms:modified>
</cp:coreProperties>
</file>