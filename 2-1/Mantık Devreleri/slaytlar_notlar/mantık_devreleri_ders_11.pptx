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4" r:id="rId7"/>
    <p:sldId id="265" r:id="rId8"/>
    <p:sldId id="266" r:id="rId9"/>
    <p:sldId id="267" r:id="rId10"/>
    <p:sldId id="290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1" r:id="rId26"/>
    <p:sldId id="283" r:id="rId27"/>
    <p:sldId id="284" r:id="rId28"/>
    <p:sldId id="291" r:id="rId29"/>
    <p:sldId id="292" r:id="rId30"/>
    <p:sldId id="263" r:id="rId3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ryaki" initials="T" lastIdx="0" clrIdx="0">
    <p:extLst>
      <p:ext uri="{19B8F6BF-5375-455C-9EA6-DF929625EA0E}">
        <p15:presenceInfo xmlns:p15="http://schemas.microsoft.com/office/powerpoint/2012/main" userId="Tiryak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7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3390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1800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001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503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479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025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6307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460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8120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485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081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BEAC8-1C1B-47B3-8C8B-9C5BD1A0BC0D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606-9330-4AA3-87B4-10485B3E33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994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</p:spPr>
        <p:txBody>
          <a:bodyPr/>
          <a:lstStyle/>
          <a:p>
            <a:r>
              <a:rPr lang="tr-TR" dirty="0"/>
              <a:t>Mantık Devreleri </a:t>
            </a:r>
            <a:br>
              <a:rPr lang="tr-TR" dirty="0"/>
            </a:br>
            <a:r>
              <a:rPr lang="tr-TR" dirty="0"/>
              <a:t>DERS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100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575556" y="2705725"/>
            <a:ext cx="7992888" cy="144655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4400" b="1" dirty="0"/>
              <a:t>Flip – </a:t>
            </a:r>
            <a:r>
              <a:rPr lang="tr-TR" sz="4400" b="1" dirty="0"/>
              <a:t>Floplar</a:t>
            </a:r>
          </a:p>
          <a:p>
            <a:pPr algn="ctr"/>
            <a:r>
              <a:rPr lang="en-US" sz="4400" b="1" dirty="0"/>
              <a:t>(Flip-Flops)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94586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620688"/>
            <a:ext cx="878497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Kare veya dikdörtgen sinyal üreten elektronik devreler, ‘</a:t>
            </a:r>
            <a:r>
              <a:rPr lang="tr-TR" b="1" dirty="0"/>
              <a:t>Multivibratör</a:t>
            </a:r>
            <a:r>
              <a:rPr lang="tr-TR" dirty="0"/>
              <a:t>’ olarak adlandırılır.</a:t>
            </a:r>
            <a:r>
              <a:rPr lang="en-US" dirty="0"/>
              <a:t> </a:t>
            </a:r>
            <a:r>
              <a:rPr lang="tr-TR" dirty="0"/>
              <a:t>Multivibratörlerin ürettiği sinyaller, dijital devrelerde tetikleme / saat (clock) sinyali olarak</a:t>
            </a:r>
            <a:r>
              <a:rPr lang="en-US" dirty="0"/>
              <a:t> </a:t>
            </a:r>
            <a:r>
              <a:rPr lang="tr-TR" dirty="0"/>
              <a:t>kullanılır. </a:t>
            </a:r>
            <a:r>
              <a:rPr lang="tr-TR" dirty="0" err="1"/>
              <a:t>Multivibratörler</a:t>
            </a:r>
            <a:r>
              <a:rPr lang="tr-TR" dirty="0"/>
              <a:t> üç gruba ayrılır:</a:t>
            </a:r>
          </a:p>
          <a:p>
            <a:endParaRPr lang="tr-TR" dirty="0"/>
          </a:p>
          <a:p>
            <a:r>
              <a:rPr lang="tr-TR" dirty="0"/>
              <a:t>i- Serbest çalışan (</a:t>
            </a:r>
            <a:r>
              <a:rPr lang="tr-TR" dirty="0" err="1"/>
              <a:t>Astable</a:t>
            </a:r>
            <a:r>
              <a:rPr lang="tr-TR" dirty="0"/>
              <a:t>) </a:t>
            </a:r>
            <a:r>
              <a:rPr lang="tr-TR" dirty="0" err="1"/>
              <a:t>multivibratörler</a:t>
            </a:r>
            <a:r>
              <a:rPr lang="tr-TR" dirty="0"/>
              <a:t>,</a:t>
            </a:r>
          </a:p>
          <a:p>
            <a:r>
              <a:rPr lang="tr-TR" dirty="0"/>
              <a:t>ii- Tek kararlı (</a:t>
            </a:r>
            <a:r>
              <a:rPr lang="tr-TR" dirty="0" err="1"/>
              <a:t>Monostable</a:t>
            </a:r>
            <a:r>
              <a:rPr lang="tr-TR" dirty="0"/>
              <a:t>) </a:t>
            </a:r>
            <a:r>
              <a:rPr lang="tr-TR" dirty="0" err="1"/>
              <a:t>multivibratörler</a:t>
            </a:r>
            <a:r>
              <a:rPr lang="tr-TR" dirty="0"/>
              <a:t>,</a:t>
            </a:r>
          </a:p>
          <a:p>
            <a:r>
              <a:rPr lang="tr-TR" dirty="0"/>
              <a:t>iii- Çift kararlı (</a:t>
            </a:r>
            <a:r>
              <a:rPr lang="tr-TR" dirty="0" err="1"/>
              <a:t>Bistable</a:t>
            </a:r>
            <a:r>
              <a:rPr lang="tr-TR" dirty="0"/>
              <a:t>) </a:t>
            </a:r>
            <a:r>
              <a:rPr lang="tr-TR" dirty="0" err="1"/>
              <a:t>multivibratörler</a:t>
            </a:r>
            <a:r>
              <a:rPr lang="tr-TR" dirty="0"/>
              <a:t>.</a:t>
            </a:r>
          </a:p>
          <a:p>
            <a:endParaRPr lang="tr-TR" dirty="0"/>
          </a:p>
          <a:p>
            <a:pPr algn="just"/>
            <a:r>
              <a:rPr lang="tr-TR" dirty="0"/>
              <a:t>Dışarıdan bir müdahale</a:t>
            </a:r>
            <a:r>
              <a:rPr lang="en-US" dirty="0"/>
              <a:t>ye</a:t>
            </a:r>
            <a:r>
              <a:rPr lang="tr-TR" dirty="0"/>
              <a:t> gereksinim duymadan, belirli aralıklarla durum değiştirerek sinyal</a:t>
            </a:r>
            <a:r>
              <a:rPr lang="en-US" dirty="0"/>
              <a:t> </a:t>
            </a:r>
            <a:r>
              <a:rPr lang="tr-TR" dirty="0"/>
              <a:t>üreten multivibratör, ‘</a:t>
            </a:r>
            <a:r>
              <a:rPr lang="tr-TR" b="1" dirty="0"/>
              <a:t>serbest çalışan multivibratör</a:t>
            </a:r>
            <a:r>
              <a:rPr lang="tr-TR" dirty="0"/>
              <a:t>’ olarak isimlendirilir.</a:t>
            </a:r>
          </a:p>
          <a:p>
            <a:endParaRPr lang="tr-TR" dirty="0"/>
          </a:p>
          <a:p>
            <a:pPr algn="just"/>
            <a:r>
              <a:rPr lang="tr-TR" dirty="0"/>
              <a:t>Dışarıdan uygulanan uygun bir sinyal ile durumunu geçici bir süre değiştirip, bir süre sonra</a:t>
            </a:r>
            <a:r>
              <a:rPr lang="en-US" dirty="0"/>
              <a:t> </a:t>
            </a:r>
            <a:r>
              <a:rPr lang="tr-TR" dirty="0"/>
              <a:t>tekrar eski durumuna dönen multivibratör devresi, ‘</a:t>
            </a:r>
            <a:r>
              <a:rPr lang="tr-TR" b="1" dirty="0"/>
              <a:t>tek kararlı multivibratör</a:t>
            </a:r>
            <a:r>
              <a:rPr lang="tr-TR" dirty="0"/>
              <a:t>’ olarak</a:t>
            </a:r>
            <a:r>
              <a:rPr lang="en-US" dirty="0"/>
              <a:t> </a:t>
            </a:r>
            <a:r>
              <a:rPr lang="tr-TR" dirty="0"/>
              <a:t>adlandırılır. Bu tip multivibratörde, girişe uygulanan sinyal ile devrenin eski durumuna</a:t>
            </a:r>
            <a:r>
              <a:rPr lang="en-US" dirty="0"/>
              <a:t> </a:t>
            </a:r>
            <a:r>
              <a:rPr lang="tr-TR" dirty="0"/>
              <a:t>dönme süresi ayarlanarak, istenilen şekilde kare veya dikdörtgen dalga üretilebilir.</a:t>
            </a:r>
          </a:p>
          <a:p>
            <a:endParaRPr lang="tr-TR" dirty="0"/>
          </a:p>
          <a:p>
            <a:pPr algn="just"/>
            <a:r>
              <a:rPr lang="tr-TR" dirty="0"/>
              <a:t>Dışarıdan bir müdahale yapılmadığı sürece bulunduğu durumu sonsuza dek koruyan</a:t>
            </a:r>
            <a:r>
              <a:rPr lang="en-US" dirty="0"/>
              <a:t> </a:t>
            </a:r>
            <a:r>
              <a:rPr lang="tr-TR" dirty="0"/>
              <a:t>multivibratör devresi, ‘</a:t>
            </a:r>
            <a:r>
              <a:rPr lang="tr-TR" b="1" dirty="0"/>
              <a:t>çift kararlı multivibratör</a:t>
            </a:r>
            <a:r>
              <a:rPr lang="tr-TR" dirty="0"/>
              <a:t>’ olarak adlandırılır. Bu bölümde</a:t>
            </a:r>
            <a:r>
              <a:rPr lang="en-US" dirty="0"/>
              <a:t> </a:t>
            </a:r>
            <a:r>
              <a:rPr lang="tr-TR" dirty="0"/>
              <a:t>inceleyeceğimiz flip-flop devreleri çift kararlı multivibratör uygulamaları olduğundan,</a:t>
            </a:r>
            <a:r>
              <a:rPr lang="en-US" dirty="0"/>
              <a:t> </a:t>
            </a:r>
            <a:r>
              <a:rPr lang="tr-TR" dirty="0"/>
              <a:t>öncelikle bu tip multivibratörü oluşturan elektronik devreyi inceleyelim.</a:t>
            </a:r>
          </a:p>
        </p:txBody>
      </p:sp>
      <p:sp>
        <p:nvSpPr>
          <p:cNvPr id="3" name="Dikdörtgen 2"/>
          <p:cNvSpPr/>
          <p:nvPr/>
        </p:nvSpPr>
        <p:spPr>
          <a:xfrm>
            <a:off x="3275856" y="188640"/>
            <a:ext cx="2592288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tr-TR" sz="2000" b="1" dirty="0">
                <a:solidFill>
                  <a:srgbClr val="FF0000"/>
                </a:solidFill>
              </a:rPr>
              <a:t>MULTİVİBRATÖR</a:t>
            </a:r>
            <a:endParaRPr lang="tr-T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674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260648"/>
            <a:ext cx="3292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 err="1"/>
              <a:t>Flip-Flop’lar</a:t>
            </a:r>
            <a:r>
              <a:rPr lang="tr-TR" b="1" dirty="0"/>
              <a:t> ve </a:t>
            </a:r>
            <a:r>
              <a:rPr lang="tr-TR" b="1" dirty="0" err="1"/>
              <a:t>Flip-Flop</a:t>
            </a:r>
            <a:r>
              <a:rPr lang="tr-TR" b="1" dirty="0"/>
              <a:t> Çeşitleri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179512" y="692696"/>
            <a:ext cx="871296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Devreye çalışma gerilimi uygulandığı sürece durumunu ve buna bağlı olarak çıkışındaki</a:t>
            </a:r>
            <a:r>
              <a:rPr lang="en-US" dirty="0"/>
              <a:t> </a:t>
            </a:r>
            <a:r>
              <a:rPr lang="tr-TR" dirty="0"/>
              <a:t>değeri devamlı olarak koruyabilen multivibratör çeşidi, ‘</a:t>
            </a:r>
            <a:r>
              <a:rPr lang="tr-TR" b="1" dirty="0"/>
              <a:t>Flip-Flop</a:t>
            </a:r>
            <a:r>
              <a:rPr lang="tr-TR" dirty="0"/>
              <a:t>’ olarak adlandırılır ve</a:t>
            </a:r>
            <a:r>
              <a:rPr lang="en-US" dirty="0"/>
              <a:t> </a:t>
            </a:r>
            <a:r>
              <a:rPr lang="it-IT" dirty="0"/>
              <a:t>‘FF’ harfleri ile sembolize edilir.</a:t>
            </a:r>
            <a:endParaRPr lang="tr-TR" dirty="0"/>
          </a:p>
          <a:p>
            <a:pPr algn="just"/>
            <a:endParaRPr lang="tr-TR" dirty="0"/>
          </a:p>
          <a:p>
            <a:pPr algn="just"/>
            <a:r>
              <a:rPr lang="tr-TR" dirty="0"/>
              <a:t>Lojik kapılarla oluşturulan flip-flop’lar, lojik devrelerde kullanılan en önemli bellek</a:t>
            </a:r>
            <a:r>
              <a:rPr lang="en-US" dirty="0"/>
              <a:t> </a:t>
            </a:r>
            <a:r>
              <a:rPr lang="tr-TR" dirty="0"/>
              <a:t>elemanlarıdır. Flip-flop’ları oluşturan lojik kapılar normalde kendi başlarına bilgi saklama</a:t>
            </a:r>
            <a:r>
              <a:rPr lang="en-US" dirty="0"/>
              <a:t> </a:t>
            </a:r>
            <a:r>
              <a:rPr lang="tr-TR" dirty="0"/>
              <a:t>kapasitesine sahip değillerdir. Ancak, birkaç tane kapı devresi bilgi saklama işlemi</a:t>
            </a:r>
            <a:r>
              <a:rPr lang="en-US" dirty="0"/>
              <a:t> </a:t>
            </a:r>
            <a:r>
              <a:rPr lang="tr-TR" dirty="0"/>
              <a:t>oluşturacak şekilde bağlanarak bilgi saklama kapasitesi oluşturulabilir.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Bir bitlik bilgi saklama yeteneğine sahip flip-flop devrelerinde, biri saklanan bilginin (bitin)</a:t>
            </a:r>
            <a:r>
              <a:rPr lang="en-US" dirty="0"/>
              <a:t> </a:t>
            </a:r>
            <a:r>
              <a:rPr lang="tr-TR" dirty="0"/>
              <a:t>normal değerine, diğeri tümleyen değerine sahip iki çıkış bulunur. Şekil 9.2’de sembolü</a:t>
            </a:r>
            <a:r>
              <a:rPr lang="en-US" dirty="0"/>
              <a:t> </a:t>
            </a:r>
            <a:r>
              <a:rPr lang="tr-TR" dirty="0"/>
              <a:t>görülen FF, Q ve Q' olarak isimlendirilen ve birbirinin tersi olan iki çıkışa sahiptir. </a:t>
            </a:r>
            <a:r>
              <a:rPr lang="tr-TR" b="1" dirty="0"/>
              <a:t>‘Q çıkışı</a:t>
            </a:r>
            <a:r>
              <a:rPr lang="en-US" b="1" dirty="0"/>
              <a:t> </a:t>
            </a:r>
            <a:r>
              <a:rPr lang="tr-TR" b="1" dirty="0"/>
              <a:t>normal çıkış, Q' ise terslenmiş çıkış’ </a:t>
            </a:r>
            <a:r>
              <a:rPr lang="tr-TR" dirty="0"/>
              <a:t>olarak kabul edilir.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2" y="4509120"/>
            <a:ext cx="8601716" cy="208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5813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33265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i="1" dirty="0" err="1"/>
              <a:t>Flip</a:t>
            </a:r>
            <a:r>
              <a:rPr lang="tr-TR" b="1" i="1" dirty="0"/>
              <a:t> </a:t>
            </a:r>
            <a:r>
              <a:rPr lang="tr-TR" b="1" i="1" dirty="0" err="1"/>
              <a:t>Flop</a:t>
            </a:r>
            <a:r>
              <a:rPr lang="tr-TR" b="1" i="1" dirty="0"/>
              <a:t> çeşitleri;</a:t>
            </a:r>
          </a:p>
          <a:p>
            <a:r>
              <a:rPr lang="tr-TR" dirty="0"/>
              <a:t>FF çeşitlerinden  en çok kullanılanlar;</a:t>
            </a:r>
          </a:p>
        </p:txBody>
      </p:sp>
      <p:sp>
        <p:nvSpPr>
          <p:cNvPr id="3" name="Dikdörtgen 2"/>
          <p:cNvSpPr/>
          <p:nvPr/>
        </p:nvSpPr>
        <p:spPr>
          <a:xfrm>
            <a:off x="395536" y="1412776"/>
            <a:ext cx="8208912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1-) </a:t>
            </a:r>
            <a:r>
              <a:rPr lang="tr-TR" sz="2400" dirty="0"/>
              <a:t>R - S (</a:t>
            </a:r>
            <a:r>
              <a:rPr lang="tr-TR" sz="2400" dirty="0" err="1"/>
              <a:t>Reset</a:t>
            </a:r>
            <a:r>
              <a:rPr lang="tr-TR" sz="2400" dirty="0"/>
              <a:t> - Set) tipi FF.</a:t>
            </a:r>
          </a:p>
          <a:p>
            <a:r>
              <a:rPr lang="tr-TR" sz="2400" b="1" dirty="0"/>
              <a:t>2-) </a:t>
            </a:r>
            <a:r>
              <a:rPr lang="tr-TR" sz="2400" dirty="0"/>
              <a:t>Tetiklemeli (</a:t>
            </a:r>
            <a:r>
              <a:rPr lang="tr-TR" sz="2400" dirty="0" err="1"/>
              <a:t>clocked</a:t>
            </a:r>
            <a:r>
              <a:rPr lang="tr-TR" sz="2400" dirty="0"/>
              <a:t>) R- S FF.</a:t>
            </a:r>
          </a:p>
          <a:p>
            <a:r>
              <a:rPr lang="nn-NO" sz="2400" b="1" dirty="0"/>
              <a:t>3-) </a:t>
            </a:r>
            <a:r>
              <a:rPr lang="nn-NO" sz="2400" dirty="0"/>
              <a:t>J - K Tipi FF.</a:t>
            </a:r>
          </a:p>
          <a:p>
            <a:r>
              <a:rPr lang="sv-SE" sz="2400" b="1" dirty="0"/>
              <a:t>4-) </a:t>
            </a:r>
            <a:r>
              <a:rPr lang="sv-SE" sz="2400" dirty="0"/>
              <a:t>Ana - Uydu (Master - Slave) Tipi FF.</a:t>
            </a:r>
          </a:p>
          <a:p>
            <a:r>
              <a:rPr lang="tr-TR" sz="2400" b="1" dirty="0"/>
              <a:t>5-) </a:t>
            </a:r>
            <a:r>
              <a:rPr lang="tr-TR" sz="2400" dirty="0"/>
              <a:t>D (Data) Tipi FF.</a:t>
            </a:r>
          </a:p>
          <a:p>
            <a:r>
              <a:rPr lang="fr-FR" sz="2400" b="1" dirty="0"/>
              <a:t>6-) </a:t>
            </a:r>
            <a:r>
              <a:rPr lang="fr-FR" sz="2400" dirty="0"/>
              <a:t>T (</a:t>
            </a:r>
            <a:r>
              <a:rPr lang="fr-FR" sz="2400" dirty="0" err="1"/>
              <a:t>Toggle</a:t>
            </a:r>
            <a:r>
              <a:rPr lang="fr-FR" sz="2400" dirty="0"/>
              <a:t>) Tipi FF.</a:t>
            </a:r>
            <a:endParaRPr lang="tr-TR" sz="2400" dirty="0"/>
          </a:p>
          <a:p>
            <a:endParaRPr lang="fr-FR" sz="2400" dirty="0"/>
          </a:p>
          <a:p>
            <a:pPr algn="just"/>
            <a:r>
              <a:rPr lang="tr-TR" dirty="0"/>
              <a:t>olarak sıralanabilir. En çok kullanılan FF çeşitlerini ayrıntılı olarak inceleyelim.</a:t>
            </a:r>
          </a:p>
        </p:txBody>
      </p:sp>
    </p:spTree>
    <p:extLst>
      <p:ext uri="{BB962C8B-B14F-4D97-AF65-F5344CB8AC3E}">
        <p14:creationId xmlns:p14="http://schemas.microsoft.com/office/powerpoint/2010/main" val="322926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188640"/>
            <a:ext cx="2289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1. RS </a:t>
            </a:r>
            <a:r>
              <a:rPr lang="tr-TR" b="1" dirty="0" err="1"/>
              <a:t>Flip-Flop</a:t>
            </a:r>
            <a:r>
              <a:rPr lang="tr-TR" b="1" dirty="0"/>
              <a:t> Devresi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467544" y="764704"/>
            <a:ext cx="7992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RS tipi FF; Q=1 ve Q'=0 iken ‘</a:t>
            </a:r>
            <a:r>
              <a:rPr lang="tr-TR" b="1" dirty="0"/>
              <a:t>set’ </a:t>
            </a:r>
            <a:r>
              <a:rPr lang="tr-TR" dirty="0"/>
              <a:t>(kurma), Q=0 ve Q'=1 olduğunda ise ‘</a:t>
            </a:r>
            <a:r>
              <a:rPr lang="tr-TR" b="1" dirty="0" err="1"/>
              <a:t>reset</a:t>
            </a:r>
            <a:r>
              <a:rPr lang="tr-TR" b="1" dirty="0"/>
              <a:t>’ </a:t>
            </a:r>
            <a:r>
              <a:rPr lang="tr-TR" dirty="0"/>
              <a:t>(silme) durumundadır.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04" y="1432806"/>
            <a:ext cx="7128792" cy="218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3621360"/>
            <a:ext cx="778192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942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7504" y="908720"/>
            <a:ext cx="892899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‘VEYADEĞİL’ kapılarıyla oluşturulan FF devresinde, FF’nin durumu değiştirilmediği</a:t>
            </a:r>
            <a:r>
              <a:rPr lang="en-US" dirty="0"/>
              <a:t> </a:t>
            </a:r>
            <a:r>
              <a:rPr lang="tr-TR" dirty="0"/>
              <a:t>sürece her</a:t>
            </a:r>
            <a:r>
              <a:rPr lang="en-US" dirty="0"/>
              <a:t> </a:t>
            </a:r>
            <a:r>
              <a:rPr lang="tr-TR" dirty="0"/>
              <a:t>iki giriş ‘0’ değerine sahiptir (Şekil 9.4). Set girişine ‘1’ uygulanması, 2 nolu</a:t>
            </a:r>
            <a:r>
              <a:rPr lang="en-US" dirty="0"/>
              <a:t> </a:t>
            </a:r>
            <a:r>
              <a:rPr lang="tr-TR" dirty="0"/>
              <a:t>‘VEYADEĞİL’ kapısının çıkışının ve 1 nolu ‘VEYADEĞİL’ kapısının girişlerinin birisinin</a:t>
            </a:r>
            <a:r>
              <a:rPr lang="en-US" dirty="0"/>
              <a:t> </a:t>
            </a:r>
            <a:r>
              <a:rPr lang="tr-TR" dirty="0"/>
              <a:t>‘0’ olmasını sağlar. Bu</a:t>
            </a:r>
            <a:r>
              <a:rPr lang="en-US" dirty="0"/>
              <a:t> </a:t>
            </a:r>
            <a:r>
              <a:rPr lang="tr-TR" dirty="0"/>
              <a:t>anda 1 nolu ‘VEYADEĞİL’ kapısının her iki girişi ‘0’ değerini alır.</a:t>
            </a:r>
            <a:r>
              <a:rPr lang="en-US" dirty="0"/>
              <a:t> </a:t>
            </a:r>
            <a:r>
              <a:rPr lang="tr-TR" dirty="0"/>
              <a:t>Her iki girişi ‘0’ olan 1 nolu</a:t>
            </a:r>
            <a:r>
              <a:rPr lang="en-US" dirty="0"/>
              <a:t> </a:t>
            </a:r>
            <a:r>
              <a:rPr lang="tr-TR" dirty="0"/>
              <a:t>‘VEYADEĞİL’ kapısı çıkışı ‘1’ olur. Bu durum, FF’nin ‘set’</a:t>
            </a:r>
            <a:r>
              <a:rPr lang="en-US" dirty="0"/>
              <a:t> </a:t>
            </a:r>
            <a:r>
              <a:rPr lang="tr-TR" dirty="0"/>
              <a:t>durumuna (Q=1) geçmesine neden olur.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Reset girişine ‘1’ uygulanması; 1 nolu ‘VEYADEĞİL’ kapısının çıkışının ve 2 nolu</a:t>
            </a:r>
            <a:r>
              <a:rPr lang="en-US" dirty="0"/>
              <a:t> </a:t>
            </a:r>
            <a:r>
              <a:rPr lang="tr-TR" dirty="0"/>
              <a:t>‘VEYADEĞİL’</a:t>
            </a:r>
            <a:r>
              <a:rPr lang="en-US" dirty="0"/>
              <a:t> </a:t>
            </a:r>
            <a:r>
              <a:rPr lang="tr-TR" dirty="0"/>
              <a:t>kapısının girişinden birisinin ‘0’ olmasına neden olur. Aynı anda diğer girişi</a:t>
            </a:r>
            <a:r>
              <a:rPr lang="en-US" dirty="0"/>
              <a:t> </a:t>
            </a:r>
            <a:r>
              <a:rPr lang="tr-TR" dirty="0"/>
              <a:t>de ‘0’ olan 2 nolu</a:t>
            </a:r>
            <a:r>
              <a:rPr lang="en-US" dirty="0"/>
              <a:t> </a:t>
            </a:r>
            <a:r>
              <a:rPr lang="tr-TR" dirty="0"/>
              <a:t>‘VEYADEĞİL’ kapısının çıkışı ‘1’ değerini alır. Bu durum, FF’nin Q=0</a:t>
            </a:r>
            <a:r>
              <a:rPr lang="en-US" dirty="0"/>
              <a:t> </a:t>
            </a:r>
            <a:r>
              <a:rPr lang="tr-TR" dirty="0"/>
              <a:t>(reset) durumuna geçmesini</a:t>
            </a:r>
            <a:r>
              <a:rPr lang="en-US" dirty="0"/>
              <a:t> </a:t>
            </a:r>
            <a:r>
              <a:rPr lang="tr-TR" dirty="0"/>
              <a:t>sağlar.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Her iki girişe '0' uygulanması, FF set durumunda iken set girişine ‘1’ uygulanması veya FF</a:t>
            </a:r>
            <a:r>
              <a:rPr lang="en-US" dirty="0"/>
              <a:t> </a:t>
            </a:r>
            <a:r>
              <a:rPr lang="tr-TR" dirty="0"/>
              <a:t>reset</a:t>
            </a:r>
            <a:r>
              <a:rPr lang="en-US" dirty="0"/>
              <a:t> </a:t>
            </a:r>
            <a:r>
              <a:rPr lang="tr-TR" dirty="0"/>
              <a:t>durumunda iken reset girişine ‘1’ uygulanması durumları, FF’ un konumunu (çıkışları)</a:t>
            </a:r>
            <a:r>
              <a:rPr lang="en-US" dirty="0"/>
              <a:t> </a:t>
            </a:r>
            <a:r>
              <a:rPr lang="tr-TR" dirty="0"/>
              <a:t>değiştirmez. Her iki girişin '0' olduğu durum, </a:t>
            </a:r>
            <a:r>
              <a:rPr lang="tr-TR" b="1" dirty="0"/>
              <a:t>'belirsizlik' </a:t>
            </a:r>
            <a:r>
              <a:rPr lang="tr-TR" dirty="0"/>
              <a:t>olarak tanımlanır ve bu durumda</a:t>
            </a:r>
            <a:r>
              <a:rPr lang="en-US" dirty="0"/>
              <a:t> </a:t>
            </a:r>
            <a:r>
              <a:rPr lang="tr-TR" dirty="0"/>
              <a:t>FF</a:t>
            </a:r>
            <a:r>
              <a:rPr lang="en-US" dirty="0"/>
              <a:t> </a:t>
            </a:r>
            <a:r>
              <a:rPr lang="tr-TR" dirty="0"/>
              <a:t>en son bulunduğu konumu korur. Her iki girişe ‘1’ uygulanması durumunda ise iki çıkışta</a:t>
            </a:r>
            <a:r>
              <a:rPr lang="en-US" dirty="0"/>
              <a:t> </a:t>
            </a:r>
            <a:r>
              <a:rPr lang="tr-TR" dirty="0"/>
              <a:t>0’a</a:t>
            </a:r>
            <a:r>
              <a:rPr lang="en-US" dirty="0"/>
              <a:t> </a:t>
            </a:r>
            <a:r>
              <a:rPr lang="tr-TR" dirty="0"/>
              <a:t>gider. </a:t>
            </a:r>
            <a:r>
              <a:rPr lang="tr-TR" b="1" dirty="0"/>
              <a:t>'Tanımsız' </a:t>
            </a:r>
            <a:r>
              <a:rPr lang="tr-TR" dirty="0"/>
              <a:t>olarak isimlendirilen bu durumdan kaçınılması gerekir.</a:t>
            </a:r>
          </a:p>
        </p:txBody>
      </p:sp>
    </p:spTree>
    <p:extLst>
      <p:ext uri="{BB962C8B-B14F-4D97-AF65-F5344CB8AC3E}">
        <p14:creationId xmlns:p14="http://schemas.microsoft.com/office/powerpoint/2010/main" val="938401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548680"/>
            <a:ext cx="87129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RS FF, ‘VEYADEĞİL’ kapıları ile oluşturulmasına benzer şekilde, ‘VEDEĞİL’ kapıları ile</a:t>
            </a:r>
            <a:r>
              <a:rPr lang="en-US" dirty="0"/>
              <a:t> </a:t>
            </a:r>
            <a:r>
              <a:rPr lang="tr-TR" dirty="0"/>
              <a:t>de</a:t>
            </a:r>
            <a:r>
              <a:rPr lang="en-US" dirty="0"/>
              <a:t> </a:t>
            </a:r>
            <a:r>
              <a:rPr lang="tr-TR" dirty="0"/>
              <a:t>oluşturulabilir. Şekil 9.5’de ‘VEDEĞİL’ kapılarıyla oluşturulan RS FF devresi ve</a:t>
            </a:r>
            <a:r>
              <a:rPr lang="en-US" dirty="0"/>
              <a:t> </a:t>
            </a:r>
            <a:r>
              <a:rPr lang="tr-TR" dirty="0"/>
              <a:t>doğruluk tablosu görülmektedir.</a:t>
            </a:r>
          </a:p>
          <a:p>
            <a:pPr algn="just"/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53" y="1628800"/>
            <a:ext cx="8716495" cy="355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948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260648"/>
            <a:ext cx="712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2. Tetiklemeli - Saatli ( </a:t>
            </a:r>
            <a:r>
              <a:rPr lang="tr-TR" b="1" dirty="0" err="1"/>
              <a:t>Clocked</a:t>
            </a:r>
            <a:r>
              <a:rPr lang="tr-TR" b="1" dirty="0"/>
              <a:t> - </a:t>
            </a:r>
            <a:r>
              <a:rPr lang="tr-TR" b="1" dirty="0" err="1"/>
              <a:t>Triggered</a:t>
            </a:r>
            <a:r>
              <a:rPr lang="tr-TR" b="1" dirty="0"/>
              <a:t> ) R- S Tipi </a:t>
            </a:r>
            <a:r>
              <a:rPr lang="tr-TR" b="1" dirty="0" err="1"/>
              <a:t>Flip</a:t>
            </a:r>
            <a:r>
              <a:rPr lang="tr-TR" b="1" dirty="0"/>
              <a:t>- </a:t>
            </a:r>
            <a:r>
              <a:rPr lang="tr-TR" b="1" dirty="0" err="1"/>
              <a:t>Flop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395536" y="612845"/>
            <a:ext cx="83529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 err="1"/>
              <a:t>FF’nin</a:t>
            </a:r>
            <a:r>
              <a:rPr lang="tr-TR" dirty="0"/>
              <a:t> konumunun değiştirilmesi işlemi, </a:t>
            </a:r>
            <a:r>
              <a:rPr lang="tr-TR" b="1" dirty="0"/>
              <a:t>‘tetikleme’ </a:t>
            </a:r>
            <a:r>
              <a:rPr lang="tr-TR" dirty="0"/>
              <a:t>olarak adlandırılır. Tetikleme girişinin</a:t>
            </a:r>
            <a:r>
              <a:rPr lang="en-US" dirty="0"/>
              <a:t> </a:t>
            </a:r>
            <a:r>
              <a:rPr lang="tr-TR" dirty="0"/>
              <a:t>bulunmadığı, FF durumlarının kontrol girişlerindeki bilginin değişmesi anında</a:t>
            </a:r>
            <a:r>
              <a:rPr lang="en-US" dirty="0"/>
              <a:t> </a:t>
            </a:r>
            <a:r>
              <a:rPr lang="tr-TR" dirty="0"/>
              <a:t>değiştiği</a:t>
            </a:r>
            <a:r>
              <a:rPr lang="en-US" dirty="0"/>
              <a:t> </a:t>
            </a:r>
            <a:r>
              <a:rPr lang="tr-TR" dirty="0"/>
              <a:t>FF’ler ‘Asenkron FF’ler’ olarak isimlendirilir. Tetikleme girişine sahip ve FF’nin</a:t>
            </a:r>
            <a:r>
              <a:rPr lang="en-US" dirty="0"/>
              <a:t> </a:t>
            </a:r>
            <a:r>
              <a:rPr lang="tr-TR" dirty="0"/>
              <a:t>durumunun tetikleme girişinden uygulanan sinyale bağlı olarak değiştiği FF’ler ‘Senkron</a:t>
            </a:r>
            <a:r>
              <a:rPr lang="en-US" dirty="0"/>
              <a:t> </a:t>
            </a:r>
            <a:r>
              <a:rPr lang="tr-TR" dirty="0"/>
              <a:t>FF’ler’ olarak tanımlanır. Senkron sistemlerde herhangi bir çıkışın değerinin</a:t>
            </a:r>
            <a:r>
              <a:rPr lang="en-US" dirty="0"/>
              <a:t> </a:t>
            </a:r>
            <a:r>
              <a:rPr lang="tr-TR" dirty="0"/>
              <a:t>değişebileceği</a:t>
            </a:r>
            <a:r>
              <a:rPr lang="en-US" dirty="0"/>
              <a:t> </a:t>
            </a:r>
            <a:r>
              <a:rPr lang="tr-TR" dirty="0"/>
              <a:t>zamanlar, </a:t>
            </a:r>
            <a:r>
              <a:rPr lang="tr-TR" b="1" dirty="0"/>
              <a:t>‘tetikleme sinyali’ </a:t>
            </a:r>
            <a:r>
              <a:rPr lang="tr-TR" dirty="0"/>
              <a:t>(clock - saat) adı verilen, kare veya</a:t>
            </a:r>
            <a:r>
              <a:rPr lang="en-US" dirty="0"/>
              <a:t> </a:t>
            </a:r>
            <a:r>
              <a:rPr lang="tr-TR" dirty="0"/>
              <a:t>dikdörtgen şeklindeki</a:t>
            </a:r>
            <a:r>
              <a:rPr lang="en-US" dirty="0"/>
              <a:t> </a:t>
            </a:r>
            <a:r>
              <a:rPr lang="tr-TR" dirty="0"/>
              <a:t>sinyal tarafından belirlenir. Tetikleme sinyali olarak kullanılan</a:t>
            </a:r>
            <a:r>
              <a:rPr lang="en-US" dirty="0"/>
              <a:t> </a:t>
            </a:r>
            <a:r>
              <a:rPr lang="tr-TR" dirty="0"/>
              <a:t>sinyalin aktif durum (kenar)</a:t>
            </a:r>
            <a:r>
              <a:rPr lang="en-US" dirty="0"/>
              <a:t> </a:t>
            </a:r>
            <a:r>
              <a:rPr lang="tr-TR" dirty="0"/>
              <a:t>değişimi 0’dan 1’e ise buna </a:t>
            </a:r>
            <a:r>
              <a:rPr lang="tr-TR" b="1" dirty="0"/>
              <a:t>‘pozitif kenar değişimi’ </a:t>
            </a:r>
            <a:r>
              <a:rPr lang="tr-TR" dirty="0"/>
              <a:t>(positive</a:t>
            </a:r>
            <a:r>
              <a:rPr lang="en-US" dirty="0"/>
              <a:t> </a:t>
            </a:r>
            <a:r>
              <a:rPr lang="tr-TR" dirty="0"/>
              <a:t>going transition - PGT), aktif</a:t>
            </a:r>
            <a:r>
              <a:rPr lang="en-US" dirty="0"/>
              <a:t> </a:t>
            </a:r>
            <a:r>
              <a:rPr lang="tr-TR" dirty="0"/>
              <a:t>durum değişimi 1’den 0’a doğru ise </a:t>
            </a:r>
            <a:r>
              <a:rPr lang="tr-TR" b="1" dirty="0"/>
              <a:t>‘negatif kenar değişimi’</a:t>
            </a:r>
            <a:r>
              <a:rPr lang="en-US" b="1" dirty="0"/>
              <a:t> </a:t>
            </a:r>
            <a:r>
              <a:rPr lang="tr-TR" dirty="0"/>
              <a:t>(NGT) adı verilir.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33" y="3717032"/>
            <a:ext cx="7289335" cy="2881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024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68857"/>
            <a:ext cx="7488831" cy="570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1861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332656"/>
            <a:ext cx="87129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Tetikleme işleminin oluşması için gerekli tetikleme sinyalini FF’ye uygulamak</a:t>
            </a:r>
            <a:r>
              <a:rPr lang="en-US" dirty="0"/>
              <a:t> </a:t>
            </a:r>
            <a:r>
              <a:rPr lang="tr-TR" dirty="0"/>
              <a:t>amacıyla FF’de</a:t>
            </a:r>
            <a:r>
              <a:rPr lang="en-US" dirty="0"/>
              <a:t> </a:t>
            </a:r>
            <a:r>
              <a:rPr lang="tr-TR" dirty="0"/>
              <a:t>oluşturulan üçüncü giriş, </a:t>
            </a:r>
            <a:r>
              <a:rPr lang="tr-TR" b="1" dirty="0"/>
              <a:t>'tetikleme girişi' </a:t>
            </a:r>
            <a:r>
              <a:rPr lang="tr-TR" dirty="0"/>
              <a:t>olarak adlandırılır (Şekil 9.6).</a:t>
            </a:r>
            <a:r>
              <a:rPr lang="en-US" dirty="0"/>
              <a:t> </a:t>
            </a:r>
            <a:r>
              <a:rPr lang="tr-TR" dirty="0"/>
              <a:t>Tetikleme girişi, ‘clk’</a:t>
            </a:r>
            <a:r>
              <a:rPr lang="en-US" dirty="0"/>
              <a:t> </a:t>
            </a:r>
            <a:r>
              <a:rPr lang="tr-TR" dirty="0"/>
              <a:t>harfleri ile gösterilir ve </a:t>
            </a:r>
            <a:r>
              <a:rPr lang="tr-TR" b="1" dirty="0"/>
              <a:t>‘clk girişi’ </a:t>
            </a:r>
            <a:r>
              <a:rPr lang="tr-TR" dirty="0"/>
              <a:t>olarak da isimlendirilir. Tetikleme</a:t>
            </a:r>
            <a:r>
              <a:rPr lang="en-US" dirty="0"/>
              <a:t> </a:t>
            </a:r>
            <a:r>
              <a:rPr lang="tr-TR" dirty="0"/>
              <a:t>girişinin eklenmesiyle</a:t>
            </a:r>
            <a:r>
              <a:rPr lang="en-US" dirty="0"/>
              <a:t> </a:t>
            </a:r>
            <a:r>
              <a:rPr lang="tr-TR" dirty="0"/>
              <a:t>senkron ardışıl devre durumuna gelen R-S FF devresinde, kontrol (RS)</a:t>
            </a:r>
            <a:r>
              <a:rPr lang="en-US" dirty="0"/>
              <a:t> </a:t>
            </a:r>
            <a:r>
              <a:rPr lang="tr-TR" dirty="0"/>
              <a:t>girişlerinin değişmesi</a:t>
            </a:r>
            <a:r>
              <a:rPr lang="en-US" dirty="0"/>
              <a:t> </a:t>
            </a:r>
            <a:r>
              <a:rPr lang="tr-TR" dirty="0"/>
              <a:t>çıkışları hemen değiştiremez. Çıkışların değişmesi, tetikleme</a:t>
            </a:r>
            <a:r>
              <a:rPr lang="en-US" dirty="0"/>
              <a:t> </a:t>
            </a:r>
            <a:r>
              <a:rPr lang="tr-TR" dirty="0"/>
              <a:t>girişine uygulanan işarete bağımlıdır.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1" y="2276872"/>
            <a:ext cx="8885711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8836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33E2B35B-207E-4BC8-A4C1-FD637E3BB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871537"/>
            <a:ext cx="719137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473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474345"/>
            <a:ext cx="8784976" cy="59093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tr-TR" dirty="0"/>
              <a:t>‘VE’ ve ‘VEYADEĞİL’ kapıları ile oluşturulan tetiklemeli RS FF’de oluşan olaylar</a:t>
            </a:r>
            <a:r>
              <a:rPr lang="en-US" dirty="0"/>
              <a:t> </a:t>
            </a:r>
            <a:r>
              <a:rPr lang="tr-TR" dirty="0"/>
              <a:t>aşağıdaki şekilde özetlenebilir: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…Başlangıçta R=S=0 ve Q=0 iken; Clk=1 değerini alsa bile, FF’nin durumu değişmez ve Q=0</a:t>
            </a:r>
            <a:r>
              <a:rPr lang="en-US" dirty="0"/>
              <a:t> </a:t>
            </a:r>
            <a:r>
              <a:rPr lang="tr-TR" dirty="0"/>
              <a:t>durumu devam eder. Bu durum, R=S=0 girişlerinde FF mevcut durumunu korur şeklinde</a:t>
            </a:r>
            <a:r>
              <a:rPr lang="en-US" dirty="0"/>
              <a:t> </a:t>
            </a:r>
            <a:r>
              <a:rPr lang="tr-TR" dirty="0"/>
              <a:t>özetlenebilir.</a:t>
            </a:r>
          </a:p>
          <a:p>
            <a:pPr algn="just"/>
            <a:r>
              <a:rPr lang="tr-TR" dirty="0"/>
              <a:t>…S=1, R=0 girişlerinde, ‘Clk’ sinyalinin yükselen kenarı ile FF etkilenir ve Q=1 değerini alır.</a:t>
            </a:r>
            <a:r>
              <a:rPr lang="en-US" dirty="0"/>
              <a:t> </a:t>
            </a:r>
            <a:r>
              <a:rPr lang="tr-TR" dirty="0"/>
              <a:t>S, R</a:t>
            </a:r>
            <a:r>
              <a:rPr lang="en-US" dirty="0"/>
              <a:t> </a:t>
            </a:r>
            <a:r>
              <a:rPr lang="tr-TR" dirty="0"/>
              <a:t>girişleri durumlarını korurken, ‘Clk’ sinyali durum değiştirse dahi Q=1 durumu devam</a:t>
            </a:r>
            <a:r>
              <a:rPr lang="en-US" dirty="0"/>
              <a:t> </a:t>
            </a:r>
            <a:r>
              <a:rPr lang="tr-TR" dirty="0"/>
              <a:t>eder.</a:t>
            </a:r>
            <a:r>
              <a:rPr lang="en-US" dirty="0"/>
              <a:t> </a:t>
            </a:r>
            <a:r>
              <a:rPr lang="tr-TR" dirty="0"/>
              <a:t>S=1, R=0 durumunda iken, ‘Clk’ sinyalinin yükselen kenarının oluşturduğu Q=1 çıkışı,</a:t>
            </a:r>
            <a:r>
              <a:rPr lang="en-US" dirty="0"/>
              <a:t> </a:t>
            </a:r>
            <a:r>
              <a:rPr lang="tr-TR" b="1" dirty="0"/>
              <a:t>‘set’</a:t>
            </a:r>
            <a:r>
              <a:rPr lang="en-US" b="1" dirty="0"/>
              <a:t> </a:t>
            </a:r>
            <a:r>
              <a:rPr lang="tr-TR" dirty="0"/>
              <a:t>durumu olarak isimlendirilir.</a:t>
            </a:r>
          </a:p>
          <a:p>
            <a:pPr algn="just"/>
            <a:r>
              <a:rPr lang="tr-TR" dirty="0"/>
              <a:t>…S=0, R=1 değerlerine sahip iken ‘Clk’ sinyalinin ilk yükselen kenarı ile Q=0, Q'=1 değerleri</a:t>
            </a:r>
            <a:r>
              <a:rPr lang="en-US" dirty="0"/>
              <a:t> </a:t>
            </a:r>
            <a:r>
              <a:rPr lang="tr-TR" dirty="0"/>
              <a:t>oluşur. Bu durum S=0, R=1 olduğu sürece devam eder ve </a:t>
            </a:r>
            <a:r>
              <a:rPr lang="tr-TR" b="1" dirty="0"/>
              <a:t>‘sıfır (reset)’ </a:t>
            </a:r>
            <a:r>
              <a:rPr lang="tr-TR" dirty="0"/>
              <a:t>konumu olarak</a:t>
            </a:r>
            <a:r>
              <a:rPr lang="en-US" dirty="0"/>
              <a:t> </a:t>
            </a:r>
            <a:r>
              <a:rPr lang="tr-TR" dirty="0"/>
              <a:t>adlandırılır.</a:t>
            </a:r>
          </a:p>
          <a:p>
            <a:pPr algn="just"/>
            <a:r>
              <a:rPr lang="tr-TR" dirty="0"/>
              <a:t>…S=1, R=1 durumu çıkışta belirsizlik oluşturacağından bu durumdan kaçınılmalıdır. Belirsiz</a:t>
            </a:r>
            <a:r>
              <a:rPr lang="en-US" dirty="0"/>
              <a:t> </a:t>
            </a:r>
            <a:r>
              <a:rPr lang="tr-TR" dirty="0"/>
              <a:t>çıkış, FF’nin kullanıldığı devrede düzensiz çalışmaya neden olur.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Sonuç olarak; senkronize kontrol girişleri olarak isimlendirilen R ve S girişlerinin, ‘Clk’</a:t>
            </a:r>
            <a:r>
              <a:rPr lang="en-US" dirty="0"/>
              <a:t> </a:t>
            </a:r>
            <a:r>
              <a:rPr lang="tr-TR" dirty="0"/>
              <a:t>sinyali</a:t>
            </a:r>
            <a:r>
              <a:rPr lang="en-US" dirty="0"/>
              <a:t> </a:t>
            </a:r>
            <a:r>
              <a:rPr lang="tr-TR" dirty="0"/>
              <a:t>yardımıyla FF’nin çıkış durumunu belirlediği söylenebilir. Negatif tetiklemeli</a:t>
            </a:r>
            <a:r>
              <a:rPr lang="en-US" dirty="0"/>
              <a:t> </a:t>
            </a:r>
            <a:r>
              <a:rPr lang="tr-TR" dirty="0"/>
              <a:t>FF’lerde oluşan</a:t>
            </a:r>
            <a:r>
              <a:rPr lang="en-US" dirty="0"/>
              <a:t> </a:t>
            </a:r>
            <a:r>
              <a:rPr lang="tr-TR" dirty="0"/>
              <a:t>doğruluk tablosu, pozitif kenar tetiklemeli R-S FF’lerin aynısıdır. Tek fark; durum değişmesini</a:t>
            </a:r>
            <a:r>
              <a:rPr lang="en-US" dirty="0"/>
              <a:t> </a:t>
            </a:r>
            <a:r>
              <a:rPr lang="tr-TR" dirty="0"/>
              <a:t>sağlayan işaretin 1’den 0’a giderken FF’nin konumunu değiştirmesidir.</a:t>
            </a:r>
            <a:r>
              <a:rPr lang="en-US" dirty="0"/>
              <a:t> </a:t>
            </a:r>
            <a:r>
              <a:rPr lang="tr-TR" dirty="0"/>
              <a:t>Şekil 9.8’de gösterilen</a:t>
            </a:r>
            <a:r>
              <a:rPr lang="en-US" dirty="0"/>
              <a:t> </a:t>
            </a:r>
            <a:r>
              <a:rPr lang="tr-TR" dirty="0"/>
              <a:t>her iki tip tetiklemeli R-S FF, çeşitli dijital devrelerde</a:t>
            </a:r>
            <a:r>
              <a:rPr lang="en-US" dirty="0"/>
              <a:t> </a:t>
            </a:r>
            <a:r>
              <a:rPr lang="tr-TR" dirty="0"/>
              <a:t>kullanılmaktadır.</a:t>
            </a:r>
          </a:p>
        </p:txBody>
      </p:sp>
    </p:spTree>
    <p:extLst>
      <p:ext uri="{BB962C8B-B14F-4D97-AF65-F5344CB8AC3E}">
        <p14:creationId xmlns:p14="http://schemas.microsoft.com/office/powerpoint/2010/main" val="4035670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539552" y="367837"/>
            <a:ext cx="8136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RS FF’lerin, tetikleme işleminden beklenen işlemleri gerçekleştirmemesi nedeni ile RS</a:t>
            </a:r>
            <a:r>
              <a:rPr lang="en-US" dirty="0"/>
              <a:t> </a:t>
            </a:r>
            <a:r>
              <a:rPr lang="tr-TR" dirty="0"/>
              <a:t>FF’ler tetiklemesiz asenkron ardışıl devrelerde kullanılır. Tetikleme işleminin</a:t>
            </a:r>
            <a:r>
              <a:rPr lang="en-US" dirty="0"/>
              <a:t> </a:t>
            </a:r>
            <a:r>
              <a:rPr lang="tr-TR" dirty="0"/>
              <a:t>bulunduğu</a:t>
            </a:r>
            <a:r>
              <a:rPr lang="en-US" dirty="0"/>
              <a:t> </a:t>
            </a:r>
            <a:r>
              <a:rPr lang="tr-TR" dirty="0"/>
              <a:t>devrelerde ise Tetiklemeli FF olarak D ve JK Flip-Flop’lar ve özellikle daha</a:t>
            </a:r>
            <a:r>
              <a:rPr lang="en-US" dirty="0"/>
              <a:t> </a:t>
            </a:r>
            <a:r>
              <a:rPr lang="tr-TR" dirty="0"/>
              <a:t>basit yapıda</a:t>
            </a:r>
            <a:r>
              <a:rPr lang="en-US" dirty="0"/>
              <a:t> </a:t>
            </a:r>
            <a:r>
              <a:rPr lang="tr-TR" dirty="0"/>
              <a:t>olması nedeni ile D FF’ler tercih edilmektedir.</a:t>
            </a:r>
          </a:p>
        </p:txBody>
      </p:sp>
      <p:sp>
        <p:nvSpPr>
          <p:cNvPr id="3" name="Dikdörtgen 2"/>
          <p:cNvSpPr/>
          <p:nvPr/>
        </p:nvSpPr>
        <p:spPr>
          <a:xfrm>
            <a:off x="539552" y="1568166"/>
            <a:ext cx="8136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S ve R girişlerinin mümkün olan kombinasyonlarına tetikleme sinyali</a:t>
            </a:r>
            <a:r>
              <a:rPr lang="en-US" dirty="0"/>
              <a:t> </a:t>
            </a:r>
            <a:r>
              <a:rPr lang="tr-TR" dirty="0"/>
              <a:t>uygulanması</a:t>
            </a:r>
            <a:r>
              <a:rPr lang="en-US" dirty="0"/>
              <a:t> </a:t>
            </a:r>
            <a:r>
              <a:rPr lang="tr-TR" dirty="0"/>
              <a:t>durumunda oluşan yeni çıkış durumları, </a:t>
            </a:r>
            <a:r>
              <a:rPr lang="tr-TR" b="1" dirty="0"/>
              <a:t>'Q(t+1) durumu' </a:t>
            </a:r>
            <a:r>
              <a:rPr lang="tr-TR" dirty="0"/>
              <a:t>olarak isimlendirilir</a:t>
            </a:r>
            <a:r>
              <a:rPr lang="en-US" dirty="0"/>
              <a:t>.</a:t>
            </a:r>
            <a:endParaRPr lang="tr-T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541743"/>
            <a:ext cx="7776864" cy="3734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5742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332656"/>
            <a:ext cx="2376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3. J-K </a:t>
            </a:r>
            <a:r>
              <a:rPr lang="tr-TR" b="1" dirty="0" err="1"/>
              <a:t>Flip-Flop</a:t>
            </a:r>
            <a:r>
              <a:rPr lang="tr-TR" b="1" dirty="0"/>
              <a:t> (JK FF)</a:t>
            </a:r>
            <a:endParaRPr lang="tr-TR" dirty="0"/>
          </a:p>
        </p:txBody>
      </p:sp>
      <p:sp>
        <p:nvSpPr>
          <p:cNvPr id="4" name="Dikdörtgen 3"/>
          <p:cNvSpPr/>
          <p:nvPr/>
        </p:nvSpPr>
        <p:spPr>
          <a:xfrm>
            <a:off x="107504" y="730686"/>
            <a:ext cx="87849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J-K Flip-Flop, RS FF’lerin belirsizlik durumunu ortadan kaldırmak amacıyla geliştirilmiş</a:t>
            </a:r>
            <a:r>
              <a:rPr lang="en-US" dirty="0"/>
              <a:t> </a:t>
            </a:r>
            <a:r>
              <a:rPr lang="tr-TR" dirty="0"/>
              <a:t>FF</a:t>
            </a:r>
            <a:r>
              <a:rPr lang="en-US" dirty="0"/>
              <a:t> </a:t>
            </a:r>
            <a:r>
              <a:rPr lang="tr-TR" dirty="0"/>
              <a:t>çeşididir. Tanımsız durumların tanımlı hale geldiği J-K FF’lerde, J ve K girişleri FF’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tr-TR" dirty="0"/>
              <a:t>kurmak ve</a:t>
            </a:r>
            <a:r>
              <a:rPr lang="en-US" dirty="0"/>
              <a:t> </a:t>
            </a:r>
            <a:r>
              <a:rPr lang="tr-TR" dirty="0"/>
              <a:t>silmek için S ve R girişleri gibi davranır (Şekil 9.10.a). J girişinin S’ye, K</a:t>
            </a:r>
            <a:r>
              <a:rPr lang="en-US" dirty="0"/>
              <a:t> </a:t>
            </a:r>
            <a:r>
              <a:rPr lang="tr-TR" dirty="0"/>
              <a:t>girişinin R’ye denk</a:t>
            </a:r>
            <a:r>
              <a:rPr lang="en-US" dirty="0"/>
              <a:t> </a:t>
            </a:r>
            <a:r>
              <a:rPr lang="tr-TR" dirty="0"/>
              <a:t>geldiği J-K FF’lerde; J=K=1 durumunda iken, tetikleme sinyalinin her</a:t>
            </a:r>
            <a:r>
              <a:rPr lang="en-US" dirty="0"/>
              <a:t> </a:t>
            </a:r>
            <a:r>
              <a:rPr lang="tr-TR" dirty="0"/>
              <a:t>pozitif kenarı ile çıkış bir</a:t>
            </a:r>
            <a:r>
              <a:rPr lang="en-US" dirty="0"/>
              <a:t> </a:t>
            </a:r>
            <a:r>
              <a:rPr lang="tr-TR" dirty="0"/>
              <a:t>önceki durumun tersi değerini alır. Yani Q=1 ise 0’a, Q=0 ise 1’e</a:t>
            </a:r>
            <a:r>
              <a:rPr lang="en-US" dirty="0"/>
              <a:t> </a:t>
            </a:r>
            <a:r>
              <a:rPr lang="tr-TR" dirty="0"/>
              <a:t>geçiş olur. Bu işlem, </a:t>
            </a:r>
            <a:r>
              <a:rPr lang="tr-TR" b="1" dirty="0"/>
              <a:t>‘toggle’</a:t>
            </a:r>
            <a:r>
              <a:rPr lang="en-US" b="1" dirty="0"/>
              <a:t> </a:t>
            </a:r>
            <a:r>
              <a:rPr lang="tr-TR" dirty="0"/>
              <a:t>(ters çevirme) olarak isimlendirilir. Bu işlemin devamlı</a:t>
            </a:r>
            <a:r>
              <a:rPr lang="en-US" dirty="0"/>
              <a:t> </a:t>
            </a:r>
            <a:r>
              <a:rPr lang="tr-TR" dirty="0"/>
              <a:t>gerçekleştirilmesi için, J=1 ve K=1 durumunda bırakılır.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02" y="2996953"/>
            <a:ext cx="8075596" cy="309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7579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548680"/>
            <a:ext cx="84969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Şekil 9.10.b’deki doğruluk tablosu, J-K </a:t>
            </a:r>
            <a:r>
              <a:rPr lang="tr-TR" dirty="0" err="1"/>
              <a:t>FF’nin</a:t>
            </a:r>
            <a:r>
              <a:rPr lang="tr-TR" dirty="0"/>
              <a:t> çalışmasını özetlemektedir. JK FF doğruluk</a:t>
            </a:r>
            <a:r>
              <a:rPr lang="en-US" dirty="0"/>
              <a:t> </a:t>
            </a:r>
            <a:r>
              <a:rPr lang="tr-TR" dirty="0"/>
              <a:t>tablosu, her iki girişin ‘1’ olduğu durum haricinde tetiklemeli RS FF doğruluk tablosunun</a:t>
            </a:r>
            <a:r>
              <a:rPr lang="en-US" dirty="0"/>
              <a:t> </a:t>
            </a:r>
            <a:r>
              <a:rPr lang="tr-TR" dirty="0"/>
              <a:t>aynısıdır.</a:t>
            </a:r>
          </a:p>
          <a:p>
            <a:pPr algn="just"/>
            <a:r>
              <a:rPr lang="tr-TR" dirty="0"/>
              <a:t>Şekil 9.11.a’da lojik devre şeması görülen JK Flip-Flop devresinde, Q çıkışı K ve ‘Clk’</a:t>
            </a:r>
            <a:r>
              <a:rPr lang="en-US" dirty="0"/>
              <a:t> </a:t>
            </a:r>
            <a:r>
              <a:rPr lang="tr-TR" dirty="0"/>
              <a:t>girişleriyle, Q' çıkışı J ve ‘Clk’ girişleriyle beraber ‘VE’ işlemine tabi tutulmuştur.</a:t>
            </a:r>
          </a:p>
          <a:p>
            <a:pPr algn="just"/>
            <a:r>
              <a:rPr lang="tr-TR" dirty="0"/>
              <a:t>Q=0 iken, J=K=0 girişlerinin uygulanması ile çıkış bir önceki durumun aynısı olur. Bu</a:t>
            </a:r>
            <a:r>
              <a:rPr lang="en-US" dirty="0"/>
              <a:t> </a:t>
            </a:r>
            <a:r>
              <a:rPr lang="tr-TR" dirty="0"/>
              <a:t>durum Q(t+1) = Q(t) şeklinde özetlenebilir.</a:t>
            </a:r>
          </a:p>
          <a:p>
            <a:pPr algn="just"/>
            <a:r>
              <a:rPr lang="tr-TR" dirty="0"/>
              <a:t>J=0, K=1 ve J=1, K=0 giriş durumlarında çıkış J değerlerini izler. Yani J=0, K=1</a:t>
            </a:r>
            <a:r>
              <a:rPr lang="en-US" dirty="0"/>
              <a:t> </a:t>
            </a:r>
            <a:r>
              <a:rPr lang="tr-TR" dirty="0"/>
              <a:t>durumunda Q=0 ve J=1, K=0 durumunda Q=1 değerini alır.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075" y="3432770"/>
            <a:ext cx="3371850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207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77533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428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332656"/>
            <a:ext cx="2444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4</a:t>
            </a:r>
            <a:r>
              <a:rPr lang="en-US" b="1" dirty="0"/>
              <a:t>.</a:t>
            </a:r>
            <a:r>
              <a:rPr lang="tr-TR" b="1" dirty="0"/>
              <a:t> D Tipi Flip-Flop (D FF)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395536" y="836712"/>
            <a:ext cx="83529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Temel RS FF’den üretilen diğer bir FF çeşidi, tek bir senkron kontrol girişine sahip olan D</a:t>
            </a:r>
            <a:r>
              <a:rPr lang="en-US" dirty="0"/>
              <a:t> </a:t>
            </a:r>
            <a:r>
              <a:rPr lang="tr-TR" dirty="0"/>
              <a:t>(Data) tipi FF devresidir (Şekil 9.13.a). D tipi FF’de oluşan işlemler basittir; Q çıkışı</a:t>
            </a:r>
            <a:r>
              <a:rPr lang="en-US" dirty="0"/>
              <a:t> </a:t>
            </a:r>
            <a:r>
              <a:rPr lang="tr-TR" dirty="0"/>
              <a:t>tetikleme sinyalinin gelmesi ile D kontrol girişinin sahip olduğu değeri alır (Şekil 9.13.b).</a:t>
            </a:r>
          </a:p>
          <a:p>
            <a:pPr algn="just"/>
            <a:r>
              <a:rPr lang="tr-TR" dirty="0"/>
              <a:t>Bunun anlamı; D=0 iken, tetikleme sinyalinin gelmesi ile Q çıkışı ‘0’ değerine sahip olur</a:t>
            </a:r>
            <a:r>
              <a:rPr lang="en-US" dirty="0"/>
              <a:t> </a:t>
            </a:r>
            <a:r>
              <a:rPr lang="tr-TR" dirty="0"/>
              <a:t>demektir. D=0 durumu devam ettiği sürece, ‘Clk’ sinyalinin durumu değişse bile Q=0</a:t>
            </a:r>
            <a:r>
              <a:rPr lang="en-US" dirty="0"/>
              <a:t> </a:t>
            </a:r>
            <a:r>
              <a:rPr lang="tr-TR" dirty="0"/>
              <a:t>değerini korur. D=1 değerini alması durumunda, ilk gelen tetikleme sinyalinin pozitif</a:t>
            </a:r>
            <a:r>
              <a:rPr lang="en-US" dirty="0"/>
              <a:t> </a:t>
            </a:r>
            <a:r>
              <a:rPr lang="tr-TR" dirty="0"/>
              <a:t>kenarında Q=1 değerini alır. Burada, Q çıkışının yalnızca tetikleme sinyalinin pozitif</a:t>
            </a:r>
            <a:r>
              <a:rPr lang="en-US" dirty="0"/>
              <a:t> </a:t>
            </a:r>
            <a:r>
              <a:rPr lang="tr-TR" dirty="0"/>
              <a:t>kenarlarında durum değiştirdiği unutulmamalıdır (Şekil 9.14.b).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"/>
          <a:stretch/>
        </p:blipFill>
        <p:spPr bwMode="auto">
          <a:xfrm>
            <a:off x="719572" y="3429000"/>
            <a:ext cx="7704856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7868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332656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D tipi FF devresi, RS FF’nin girişine ‘DEĞİL’ kapısı bağlanarak elde edilebilir (Şekil</a:t>
            </a:r>
            <a:r>
              <a:rPr lang="en-US" dirty="0"/>
              <a:t> </a:t>
            </a:r>
            <a:r>
              <a:rPr lang="tr-TR" dirty="0"/>
              <a:t>9.14.a).</a:t>
            </a:r>
            <a:r>
              <a:rPr lang="en-US" dirty="0"/>
              <a:t> </a:t>
            </a:r>
            <a:r>
              <a:rPr lang="tr-TR" dirty="0"/>
              <a:t>Eklenen ‘DEĞİL’ kapısı, hem RS FF’lerde belirsiz durum oluşturan R=S=1</a:t>
            </a:r>
            <a:r>
              <a:rPr lang="en-US" dirty="0"/>
              <a:t> </a:t>
            </a:r>
            <a:r>
              <a:rPr lang="tr-TR" dirty="0"/>
              <a:t>durumunu ortadan kaldırır, hem de çıkışın D girişini takip etmesini sağlar.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6"/>
            <a:ext cx="8784976" cy="5269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5516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332656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5. T Tipi Flip Flop (T FF)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287524" y="758488"/>
            <a:ext cx="856895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J-K FF’nin girişlerinin birleştirilip tek giriş olarak kullanılmasıyla oluşan devre, ‘</a:t>
            </a:r>
            <a:r>
              <a:rPr lang="tr-TR" b="1" dirty="0"/>
              <a:t>Toggle</a:t>
            </a:r>
            <a:r>
              <a:rPr lang="en-US" b="1" dirty="0"/>
              <a:t> </a:t>
            </a:r>
            <a:r>
              <a:rPr lang="tr-TR" b="1" dirty="0"/>
              <a:t>FF’ (T</a:t>
            </a:r>
            <a:r>
              <a:rPr lang="en-US" b="1" dirty="0"/>
              <a:t> </a:t>
            </a:r>
            <a:r>
              <a:rPr lang="tr-TR" b="1" dirty="0"/>
              <a:t>tipi FF) </a:t>
            </a:r>
            <a:r>
              <a:rPr lang="tr-TR" dirty="0"/>
              <a:t>olarak isimlendirilir (Şekil 9.16). ‘Toggle’, durumdan duruma geçme</a:t>
            </a:r>
            <a:r>
              <a:rPr lang="en-US" dirty="0"/>
              <a:t> </a:t>
            </a:r>
            <a:r>
              <a:rPr lang="tr-TR" dirty="0"/>
              <a:t>demektir. T tipi</a:t>
            </a:r>
            <a:r>
              <a:rPr lang="en-US" dirty="0"/>
              <a:t> </a:t>
            </a:r>
            <a:r>
              <a:rPr lang="tr-TR" dirty="0"/>
              <a:t>FF’de; T=1 iken, tetikleme sinyalinin uygulanmasıyla sahip olunan çıkışın</a:t>
            </a:r>
            <a:r>
              <a:rPr lang="en-US" dirty="0"/>
              <a:t> </a:t>
            </a:r>
            <a:r>
              <a:rPr lang="tr-TR" dirty="0"/>
              <a:t>terslenmiş hali</a:t>
            </a:r>
            <a:r>
              <a:rPr lang="en-US" dirty="0"/>
              <a:t> </a:t>
            </a:r>
            <a:r>
              <a:rPr lang="tr-TR" dirty="0"/>
              <a:t>elde edilir.</a:t>
            </a:r>
          </a:p>
          <a:p>
            <a:pPr algn="just"/>
            <a:r>
              <a:rPr lang="tr-TR" dirty="0"/>
              <a:t>T tipi FF’de Q=0 ve T=0 iken, ‘Clk’ sinyalinin gelmesi durumunda çıkışta Q=0 değeri</a:t>
            </a:r>
            <a:r>
              <a:rPr lang="en-US" dirty="0"/>
              <a:t> </a:t>
            </a:r>
            <a:r>
              <a:rPr lang="tr-TR" dirty="0"/>
              <a:t>korunur. Q=0 ve T=1 değerlerinde, ilk gelen ‘Clk’ sinyali ile çıkış durum değiştirerek bir</a:t>
            </a:r>
            <a:r>
              <a:rPr lang="en-US" dirty="0"/>
              <a:t> </a:t>
            </a:r>
            <a:r>
              <a:rPr lang="tr-TR" dirty="0"/>
              <a:t>önceki durumun tersi olur ve Q=1 değerini alır.</a:t>
            </a:r>
          </a:p>
          <a:p>
            <a:pPr algn="just"/>
            <a:r>
              <a:rPr lang="tr-TR" dirty="0"/>
              <a:t>Q=1 ve T=0 iken, ‘Clk’ sinyali uygulansa bile devre sahip olduğu çıkışı korur ve Q=1</a:t>
            </a:r>
            <a:r>
              <a:rPr lang="en-US" dirty="0"/>
              <a:t> </a:t>
            </a:r>
            <a:r>
              <a:rPr lang="tr-TR" dirty="0"/>
              <a:t>değerini</a:t>
            </a:r>
            <a:r>
              <a:rPr lang="en-US" dirty="0"/>
              <a:t> </a:t>
            </a:r>
            <a:r>
              <a:rPr lang="tr-TR" dirty="0"/>
              <a:t>alır. Q=1, T=1 iken ‘</a:t>
            </a:r>
            <a:r>
              <a:rPr lang="tr-TR" dirty="0" err="1"/>
              <a:t>Clk</a:t>
            </a:r>
            <a:r>
              <a:rPr lang="tr-TR" dirty="0"/>
              <a:t>’ sinyali ile çıkış terslenir ve Q=0 olur.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43" y="3343811"/>
            <a:ext cx="8323314" cy="3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39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08" y="548680"/>
            <a:ext cx="8688124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9093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260648"/>
            <a:ext cx="36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/>
              <a:t>6. Ana Uydu (Master-Slave) Flip-Flop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385315" y="635419"/>
            <a:ext cx="84249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Ana-Uydu (Master-Slave) tipi FF devresi, Şekil 9.18’de görüldüğü gibi iki RS Flip-Flop ve</a:t>
            </a:r>
            <a:r>
              <a:rPr lang="en-US" dirty="0"/>
              <a:t> </a:t>
            </a:r>
            <a:r>
              <a:rPr lang="tr-TR" dirty="0"/>
              <a:t>bir ‘DEĞİL’ kapısı ile oluşturulur. Devrede kullanılan FF’lerden birisi ana devreyi, diğeri ise</a:t>
            </a:r>
            <a:r>
              <a:rPr lang="en-US" dirty="0"/>
              <a:t> </a:t>
            </a:r>
            <a:r>
              <a:rPr lang="tr-TR" dirty="0"/>
              <a:t>ana devreye bağlı olarak çalışan uydu FF’yi oluşturur.</a:t>
            </a:r>
          </a:p>
          <a:p>
            <a:pPr algn="just"/>
            <a:r>
              <a:rPr lang="tr-TR" dirty="0"/>
              <a:t>Ana-Uydu FF devresi, ‘Clk’ girişi ‘1’ olduğunda ‘Ana FF’ devresi, ‘0’ olduğunda ‘Uydu FF’</a:t>
            </a:r>
            <a:r>
              <a:rPr lang="en-US" dirty="0"/>
              <a:t> </a:t>
            </a:r>
            <a:r>
              <a:rPr lang="tr-TR" dirty="0"/>
              <a:t>devresi çalışacak şekilde düzenlenmiştir.</a:t>
            </a:r>
          </a:p>
          <a:p>
            <a:pPr algn="just"/>
            <a:r>
              <a:rPr lang="tr-TR" dirty="0"/>
              <a:t>Tetikleme girişine ‘0’ uygulandığı zaman, ‘DEĞİL’ kapısının çıkışı uydu FF’nin ‘Clk’</a:t>
            </a:r>
            <a:r>
              <a:rPr lang="en-US" dirty="0"/>
              <a:t> </a:t>
            </a:r>
            <a:r>
              <a:rPr lang="tr-TR" dirty="0"/>
              <a:t>girişini</a:t>
            </a:r>
            <a:r>
              <a:rPr lang="en-US" dirty="0"/>
              <a:t> </a:t>
            </a:r>
            <a:r>
              <a:rPr lang="tr-TR" dirty="0"/>
              <a:t>‘1’ yapar. Bu durumda Q çıkışı Y’ye, Q' çıkışı da Y' çıkışına eşittir. Bu anda ana</a:t>
            </a:r>
            <a:r>
              <a:rPr lang="en-US" dirty="0"/>
              <a:t> </a:t>
            </a:r>
            <a:r>
              <a:rPr lang="tr-TR" dirty="0"/>
              <a:t>FF’nin</a:t>
            </a:r>
            <a:r>
              <a:rPr lang="en-US" dirty="0"/>
              <a:t> </a:t>
            </a:r>
            <a:r>
              <a:rPr lang="tr-TR" dirty="0"/>
              <a:t>tetikleme girişi ‘0’ olduğundan bu FF çalışmaz ve bir önceki konumu korur. Bunun</a:t>
            </a:r>
            <a:r>
              <a:rPr lang="en-US" dirty="0"/>
              <a:t> </a:t>
            </a:r>
            <a:r>
              <a:rPr lang="tr-TR" dirty="0"/>
              <a:t>anlamı; uydu FF’nin Q ve Q' çıkış değerlerinin, ana FF’nin bir önceki değerlerine sahip</a:t>
            </a:r>
          </a:p>
          <a:p>
            <a:pPr algn="just"/>
            <a:r>
              <a:rPr lang="tr-TR" dirty="0"/>
              <a:t>olmasıdır.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410677"/>
            <a:ext cx="8424936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3186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404664"/>
            <a:ext cx="8352928" cy="2126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tr-TR" b="1" dirty="0"/>
              <a:t>ii- Yayılım Gecikmesi (</a:t>
            </a:r>
            <a:r>
              <a:rPr lang="tr-TR" b="1" dirty="0" err="1"/>
              <a:t>Propagation</a:t>
            </a:r>
            <a:r>
              <a:rPr lang="tr-TR" b="1" dirty="0"/>
              <a:t> </a:t>
            </a:r>
            <a:r>
              <a:rPr lang="tr-TR" b="1" dirty="0" err="1"/>
              <a:t>Delay</a:t>
            </a:r>
            <a:r>
              <a:rPr lang="tr-TR" b="1" dirty="0"/>
              <a:t>):</a:t>
            </a:r>
          </a:p>
          <a:p>
            <a:pPr algn="just">
              <a:lnSpc>
                <a:spcPct val="150000"/>
              </a:lnSpc>
            </a:pPr>
            <a:r>
              <a:rPr lang="tr-TR" dirty="0"/>
              <a:t>FF’lerda tetikleme sinyalinin uygulandığı an ile, çıkışın konum değiştirdiği an arasındaki</a:t>
            </a:r>
            <a:r>
              <a:rPr lang="en-US" dirty="0"/>
              <a:t> </a:t>
            </a:r>
            <a:r>
              <a:rPr lang="tr-TR" dirty="0"/>
              <a:t>zaman farkına </a:t>
            </a:r>
            <a:r>
              <a:rPr lang="tr-TR" b="1" dirty="0"/>
              <a:t>'yayılım gecikmesi' </a:t>
            </a:r>
            <a:r>
              <a:rPr lang="tr-TR" dirty="0"/>
              <a:t>denir. FF’nin durumunun 0’dan 1’e geçerken ve 1’den</a:t>
            </a:r>
            <a:r>
              <a:rPr lang="en-US" dirty="0"/>
              <a:t> </a:t>
            </a:r>
            <a:r>
              <a:rPr lang="tr-TR" dirty="0"/>
              <a:t>0’a geçerken oluşan yayılım gecikmeleri, üretici kataloglarında tPHL ve tPLH şeklinde</a:t>
            </a:r>
            <a:r>
              <a:rPr lang="en-US" dirty="0"/>
              <a:t> </a:t>
            </a:r>
            <a:r>
              <a:rPr lang="tr-TR" dirty="0"/>
              <a:t>maksimum değerler olarak verilir</a:t>
            </a:r>
            <a:r>
              <a:rPr lang="en-US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37849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0"/>
            <a:ext cx="8784976" cy="6697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tr-TR" b="1" dirty="0"/>
              <a:t>‘Flip-Flop doğruluk tablosu’, </a:t>
            </a:r>
            <a:r>
              <a:rPr lang="tr-TR" dirty="0"/>
              <a:t>FF’nin özelliğini ve çalışmasını tanımlar. Flip-flop’ların</a:t>
            </a:r>
            <a:r>
              <a:rPr lang="en-US" dirty="0"/>
              <a:t> </a:t>
            </a:r>
            <a:r>
              <a:rPr lang="tr-TR" dirty="0"/>
              <a:t>özelliklerini tanımlayan RS, JK</a:t>
            </a:r>
            <a:r>
              <a:rPr lang="en-US" dirty="0"/>
              <a:t>,</a:t>
            </a:r>
            <a:r>
              <a:rPr lang="tr-TR" dirty="0"/>
              <a:t> D ve T FF’lere ait doğruluk tabloları Şekil 9.25’de</a:t>
            </a:r>
            <a:r>
              <a:rPr lang="en-US" dirty="0"/>
              <a:t> </a:t>
            </a:r>
            <a:r>
              <a:rPr lang="tr-TR" dirty="0"/>
              <a:t>verilmiştir. Flip-Flopların çalışma durumunu analiz etmede oldukça kullanışlı olan doğruluk</a:t>
            </a:r>
            <a:r>
              <a:rPr lang="en-US" dirty="0"/>
              <a:t> </a:t>
            </a:r>
            <a:r>
              <a:rPr lang="tr-TR" dirty="0"/>
              <a:t>tabloları</a:t>
            </a:r>
            <a:r>
              <a:rPr lang="en-US" dirty="0"/>
              <a:t> </a:t>
            </a:r>
            <a:r>
              <a:rPr lang="tr-TR" dirty="0"/>
              <a:t>yardımıyla, giriş ve mevcut durum değerlerinden faydalanılarak sonraki durum</a:t>
            </a:r>
            <a:r>
              <a:rPr lang="en-US" dirty="0"/>
              <a:t> </a:t>
            </a:r>
            <a:r>
              <a:rPr lang="tr-TR" dirty="0"/>
              <a:t>kolayca</a:t>
            </a:r>
            <a:r>
              <a:rPr lang="en-US" dirty="0"/>
              <a:t> </a:t>
            </a:r>
            <a:r>
              <a:rPr lang="tr-TR" dirty="0"/>
              <a:t>bulunabilir. Tablodaki </a:t>
            </a:r>
            <a:r>
              <a:rPr lang="tr-TR" b="1" dirty="0"/>
              <a:t>Q(t) </a:t>
            </a:r>
            <a:r>
              <a:rPr lang="tr-TR" dirty="0"/>
              <a:t>mevcut durumu, </a:t>
            </a:r>
            <a:r>
              <a:rPr lang="tr-TR" b="1" dirty="0"/>
              <a:t>Q(t+1) </a:t>
            </a:r>
            <a:r>
              <a:rPr lang="tr-TR" dirty="0"/>
              <a:t>ise tetikleme sinyali</a:t>
            </a:r>
            <a:r>
              <a:rPr lang="en-US" dirty="0"/>
              <a:t> </a:t>
            </a:r>
            <a:r>
              <a:rPr lang="tr-TR" dirty="0"/>
              <a:t>uygulanınca meydana</a:t>
            </a:r>
            <a:r>
              <a:rPr lang="en-US" dirty="0"/>
              <a:t> </a:t>
            </a:r>
            <a:r>
              <a:rPr lang="tr-TR" dirty="0"/>
              <a:t>gelen yeni durumu açıklar. Şimdi Flip-Flop’lara ait doğruluk tabloları</a:t>
            </a:r>
            <a:r>
              <a:rPr lang="en-US" dirty="0"/>
              <a:t> </a:t>
            </a:r>
            <a:r>
              <a:rPr lang="tr-TR" dirty="0"/>
              <a:t>inceleyelim:</a:t>
            </a:r>
          </a:p>
          <a:p>
            <a:pPr algn="just">
              <a:lnSpc>
                <a:spcPct val="150000"/>
              </a:lnSpc>
            </a:pPr>
            <a:r>
              <a:rPr lang="tr-TR" dirty="0"/>
              <a:t>Şekil 9.25.a’da görülen RS Flip-Flop’un doğruluk tablosundan; R=S=0 durumunda önceki</a:t>
            </a:r>
            <a:r>
              <a:rPr lang="en-US" dirty="0"/>
              <a:t> </a:t>
            </a:r>
            <a:r>
              <a:rPr lang="tr-TR" dirty="0"/>
              <a:t>ile</a:t>
            </a:r>
            <a:r>
              <a:rPr lang="en-US" dirty="0"/>
              <a:t> </a:t>
            </a:r>
            <a:r>
              <a:rPr lang="tr-TR" dirty="0"/>
              <a:t>sonraki lojik seviyelerin aynı olduğunu görürüz. S=1 yapıldığında FF çıkışı Q=1</a:t>
            </a:r>
            <a:r>
              <a:rPr lang="en-US" dirty="0"/>
              <a:t> </a:t>
            </a:r>
            <a:r>
              <a:rPr lang="tr-TR" dirty="0"/>
              <a:t>pozisyonunu</a:t>
            </a:r>
            <a:r>
              <a:rPr lang="en-US" dirty="0"/>
              <a:t> </a:t>
            </a:r>
            <a:r>
              <a:rPr lang="tr-TR" dirty="0"/>
              <a:t>alırken, R=1 olduğunda FF’nin çıkışı Q=0 durumunu alır. S=R=1 durumunda</a:t>
            </a:r>
            <a:r>
              <a:rPr lang="en-US" dirty="0"/>
              <a:t> </a:t>
            </a:r>
            <a:r>
              <a:rPr lang="tr-TR" dirty="0"/>
              <a:t>ise çıkış durumu</a:t>
            </a:r>
            <a:r>
              <a:rPr lang="en-US" dirty="0"/>
              <a:t> </a:t>
            </a:r>
            <a:r>
              <a:rPr lang="tr-TR" dirty="0"/>
              <a:t>belirsizdir.</a:t>
            </a:r>
          </a:p>
          <a:p>
            <a:pPr algn="just">
              <a:lnSpc>
                <a:spcPct val="150000"/>
              </a:lnSpc>
            </a:pPr>
            <a:r>
              <a:rPr lang="tr-TR" dirty="0"/>
              <a:t>J-K FF’e ait doğruluk tablosu, tanımsız durum haricinde R-S FF’ninki ile aynıdır. Kontrol</a:t>
            </a:r>
            <a:r>
              <a:rPr lang="en-US" dirty="0"/>
              <a:t> </a:t>
            </a:r>
            <a:r>
              <a:rPr lang="tr-TR" dirty="0"/>
              <a:t>girişlerinin J=K=1 olması durumunda, yeni durum mevcut durumun lojik olarak tersidir.</a:t>
            </a:r>
          </a:p>
          <a:p>
            <a:pPr algn="just">
              <a:lnSpc>
                <a:spcPct val="150000"/>
              </a:lnSpc>
            </a:pPr>
            <a:r>
              <a:rPr lang="tr-TR" dirty="0"/>
              <a:t>D tipi </a:t>
            </a:r>
            <a:r>
              <a:rPr lang="tr-TR" dirty="0" err="1"/>
              <a:t>FF’lerde</a:t>
            </a:r>
            <a:r>
              <a:rPr lang="tr-TR" dirty="0"/>
              <a:t> Q(t+1) durumu tamamen D girişine bağlıdır. Mevcut durumun çıkışa bir</a:t>
            </a:r>
            <a:r>
              <a:rPr lang="en-US" dirty="0"/>
              <a:t> </a:t>
            </a:r>
            <a:r>
              <a:rPr lang="tr-TR" dirty="0"/>
              <a:t>etkisi</a:t>
            </a:r>
            <a:r>
              <a:rPr lang="en-US" dirty="0"/>
              <a:t> </a:t>
            </a:r>
            <a:r>
              <a:rPr lang="tr-TR" dirty="0"/>
              <a:t>yoktur.</a:t>
            </a:r>
          </a:p>
          <a:p>
            <a:pPr algn="just">
              <a:lnSpc>
                <a:spcPct val="150000"/>
              </a:lnSpc>
            </a:pPr>
            <a:r>
              <a:rPr lang="tr-TR" dirty="0"/>
              <a:t>T tipi FF’lerin yeni durumu T=0 olduğunda mevcut durum ile aynı iken, T=1 olduğunda</a:t>
            </a:r>
            <a:r>
              <a:rPr lang="en-US" dirty="0"/>
              <a:t> </a:t>
            </a:r>
            <a:r>
              <a:rPr lang="tr-TR" dirty="0"/>
              <a:t>mevcut durumun tersidir.</a:t>
            </a:r>
          </a:p>
        </p:txBody>
      </p:sp>
    </p:spTree>
    <p:extLst>
      <p:ext uri="{BB962C8B-B14F-4D97-AF65-F5344CB8AC3E}">
        <p14:creationId xmlns:p14="http://schemas.microsoft.com/office/powerpoint/2010/main" val="3503634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404664"/>
            <a:ext cx="3456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err="1"/>
              <a:t>Flip-Flop</a:t>
            </a:r>
            <a:r>
              <a:rPr lang="tr-TR" b="1" dirty="0"/>
              <a:t> Durum Geçiş Tabloları</a:t>
            </a:r>
            <a:endParaRPr lang="tr-TR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09" y="1052736"/>
            <a:ext cx="7851195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5235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188640"/>
            <a:ext cx="87849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Şekil 9.25’de verilen doğruluk tablolarından faydalanarak, RS, JK, D ve T tipi FF’lere ait</a:t>
            </a:r>
            <a:r>
              <a:rPr lang="en-US" dirty="0"/>
              <a:t> </a:t>
            </a:r>
            <a:r>
              <a:rPr lang="tr-TR" dirty="0"/>
              <a:t>durum</a:t>
            </a:r>
            <a:r>
              <a:rPr lang="en-US" dirty="0"/>
              <a:t> </a:t>
            </a:r>
            <a:r>
              <a:rPr lang="tr-TR" dirty="0"/>
              <a:t>geçiş tablolarının oluşturulmasını açıklayalım:</a:t>
            </a:r>
          </a:p>
          <a:p>
            <a:pPr algn="just"/>
            <a:r>
              <a:rPr lang="tr-TR" dirty="0"/>
              <a:t>RS FF’lerde mevcut ve yeni durumun aynı olması isteniyorsa, RS FF doğruluk tablosundan</a:t>
            </a:r>
            <a:r>
              <a:rPr lang="en-US" dirty="0"/>
              <a:t> </a:t>
            </a:r>
            <a:r>
              <a:rPr lang="tr-TR" dirty="0"/>
              <a:t>R=S=0 giriş değerlerine sahip olması gerektiği bulunur (Şekil 9.26.a). Bununla beraber, S=0</a:t>
            </a:r>
            <a:r>
              <a:rPr lang="en-US" dirty="0"/>
              <a:t> </a:t>
            </a:r>
            <a:r>
              <a:rPr lang="tr-TR" dirty="0"/>
              <a:t>olması çıkışın ‘0’ olması için yeterli olduğundan, 0’dan 0’a durum değişikliğinde R’nin</a:t>
            </a:r>
            <a:r>
              <a:rPr lang="en-US" dirty="0"/>
              <a:t> </a:t>
            </a:r>
            <a:r>
              <a:rPr lang="tr-TR" dirty="0"/>
              <a:t>alacağı</a:t>
            </a:r>
            <a:r>
              <a:rPr lang="en-US" dirty="0"/>
              <a:t> </a:t>
            </a:r>
            <a:r>
              <a:rPr lang="tr-TR" dirty="0"/>
              <a:t>değerin önemi yoktur. Bu nedenle, geçiş tablosuna S=0, R=X değerleri yazılabilir.</a:t>
            </a:r>
          </a:p>
          <a:p>
            <a:pPr algn="just"/>
            <a:r>
              <a:rPr lang="tr-TR" dirty="0"/>
              <a:t>Durum geçiş tablosundan, FF’in ‘0’ dan ‘1’ durumuna geçmesi isteniyorsa; S=1 ve R=0</a:t>
            </a:r>
            <a:r>
              <a:rPr lang="en-US" dirty="0"/>
              <a:t> </a:t>
            </a:r>
            <a:r>
              <a:rPr lang="tr-TR" dirty="0"/>
              <a:t>değerlerinin, aynı şekilde 1’den 0’ a geçiş isteniyorsa; S=0 ve R=1 değerlerinin uygulanması</a:t>
            </a:r>
            <a:r>
              <a:rPr lang="en-US" dirty="0"/>
              <a:t> </a:t>
            </a:r>
            <a:r>
              <a:rPr lang="tr-TR" dirty="0"/>
              <a:t>gerektiği bulunabilir. ‘1’ konumundaki çıkışın durumunu ‘1’ olarak koruması için R=0</a:t>
            </a:r>
            <a:r>
              <a:rPr lang="en-US" dirty="0"/>
              <a:t> </a:t>
            </a:r>
            <a:r>
              <a:rPr lang="tr-TR" dirty="0"/>
              <a:t>değeri uygulanırken, S’ye uygulanacak bilginin önemi yoktur.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105461"/>
            <a:ext cx="6419850" cy="3716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3484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332656"/>
            <a:ext cx="856895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dirty="0"/>
              <a:t>JK FF’lerde mevcut ve yeni durumun ‘0’ olması durumunda; J=0, K=X uygulanmalıdır</a:t>
            </a:r>
            <a:r>
              <a:rPr lang="en-US" dirty="0"/>
              <a:t> </a:t>
            </a:r>
            <a:r>
              <a:rPr lang="tr-TR" dirty="0"/>
              <a:t>(Şekil</a:t>
            </a:r>
            <a:r>
              <a:rPr lang="en-US" dirty="0"/>
              <a:t> </a:t>
            </a:r>
            <a:r>
              <a:rPr lang="tr-TR" dirty="0"/>
              <a:t>9.26.b). Aynı şekilde, çıkış ‘1’ durumunda iken konumunun devam etmesi isteniyorsa</a:t>
            </a:r>
            <a:r>
              <a:rPr lang="en-US" dirty="0"/>
              <a:t> </a:t>
            </a:r>
            <a:r>
              <a:rPr lang="tr-TR" dirty="0"/>
              <a:t>girişlerde K=0, J=X değerleri bulunmalıdır. FF çıkışının 0’dan 1’e değişmesi isteniyorsa;</a:t>
            </a:r>
            <a:r>
              <a:rPr lang="en-US" dirty="0"/>
              <a:t> </a:t>
            </a:r>
            <a:r>
              <a:rPr lang="tr-TR" dirty="0"/>
              <a:t>J=1</a:t>
            </a:r>
            <a:r>
              <a:rPr lang="en-US" dirty="0"/>
              <a:t> </a:t>
            </a:r>
            <a:r>
              <a:rPr lang="tr-TR" dirty="0"/>
              <a:t>değerinin uygulanması yeterlidir ve K’ya uygulanacak değerin önemi yoktur. Çıkış</a:t>
            </a:r>
            <a:r>
              <a:rPr lang="en-US" dirty="0"/>
              <a:t> </a:t>
            </a:r>
            <a:r>
              <a:rPr lang="tr-TR" dirty="0"/>
              <a:t>konumunun 1’den 0’a geçmesi isteniyorsa; K=1 uygulanması çıkışın ‘0’ değerini alması için</a:t>
            </a:r>
            <a:r>
              <a:rPr lang="en-US" dirty="0"/>
              <a:t> </a:t>
            </a:r>
            <a:r>
              <a:rPr lang="tr-TR" dirty="0"/>
              <a:t>yeterli olduğundan, J girişinin değeri önemsizdir.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D tipi FF geçiş tablosundan (Şekil 9.26.c), FF’nin sonraki durumunun her zaman D girişine</a:t>
            </a:r>
            <a:r>
              <a:rPr lang="en-US" dirty="0"/>
              <a:t> </a:t>
            </a:r>
            <a:r>
              <a:rPr lang="tr-TR" dirty="0"/>
              <a:t>eşit olduğu söyleyebiliriz. Yani mevcut durumun bir etkisi yoktur. Q(t+1) değerinin ne</a:t>
            </a:r>
            <a:r>
              <a:rPr lang="en-US" dirty="0"/>
              <a:t> </a:t>
            </a:r>
            <a:r>
              <a:rPr lang="tr-TR" dirty="0"/>
              <a:t>olması isteniyorsa, D’ye aynı bilginin uygulanması yeterlidir.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T tipi FF’ye ait durum geçiş tablosundan (Şekil 9.26.d); T=1 durumunda FF’nin durum</a:t>
            </a:r>
            <a:r>
              <a:rPr lang="en-US" dirty="0"/>
              <a:t> </a:t>
            </a:r>
            <a:r>
              <a:rPr lang="tr-TR" dirty="0"/>
              <a:t>değiştirdiğini, T=0 olduğunda ise FF’nin çıkışının bir önceki durumunu koruduğunu</a:t>
            </a:r>
            <a:r>
              <a:rPr lang="en-US" dirty="0"/>
              <a:t> </a:t>
            </a:r>
            <a:r>
              <a:rPr lang="tr-TR" dirty="0"/>
              <a:t>bulabiliriz. Bu nedenle; T tipi FF’nin çıkışının bir önceki durumunu koruması isteniyorsa</a:t>
            </a:r>
            <a:r>
              <a:rPr lang="en-US" dirty="0"/>
              <a:t> </a:t>
            </a:r>
            <a:r>
              <a:rPr lang="tr-TR" dirty="0"/>
              <a:t>T=0, durumunu değiştirmesi isteniyorsa T=1 yapılmalıdır.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Durum geçiş tabloları sayıcı tasarımında önemli bir yere sahip olduğundan, sayıcılar</a:t>
            </a:r>
            <a:r>
              <a:rPr lang="en-US" dirty="0"/>
              <a:t> </a:t>
            </a:r>
            <a:r>
              <a:rPr lang="tr-TR" dirty="0"/>
              <a:t>konusunda sıkça kullanılacaktır.</a:t>
            </a:r>
          </a:p>
        </p:txBody>
      </p:sp>
    </p:spTree>
    <p:extLst>
      <p:ext uri="{BB962C8B-B14F-4D97-AF65-F5344CB8AC3E}">
        <p14:creationId xmlns:p14="http://schemas.microsoft.com/office/powerpoint/2010/main" val="2781521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E85C542-1073-47BF-9E3A-C4C0D8AB8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242102"/>
            <a:ext cx="7772400" cy="1362075"/>
          </a:xfrm>
        </p:spPr>
        <p:txBody>
          <a:bodyPr/>
          <a:lstStyle/>
          <a:p>
            <a:r>
              <a:rPr lang="tr-TR" dirty="0"/>
              <a:t>Dört bitlik </a:t>
            </a:r>
            <a:r>
              <a:rPr lang="tr-TR" dirty="0" err="1"/>
              <a:t>shift</a:t>
            </a:r>
            <a:r>
              <a:rPr lang="tr-TR" dirty="0"/>
              <a:t> </a:t>
            </a:r>
            <a:r>
              <a:rPr lang="tr-TR" dirty="0" err="1"/>
              <a:t>register</a:t>
            </a:r>
            <a:r>
              <a:rPr lang="tr-TR" dirty="0"/>
              <a:t> tasarımı 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56E2867-CCEF-4F16-9684-FAB660DA0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01" y="1638245"/>
            <a:ext cx="7772400" cy="626688"/>
          </a:xfrm>
        </p:spPr>
        <p:txBody>
          <a:bodyPr>
            <a:normAutofit/>
          </a:bodyPr>
          <a:lstStyle/>
          <a:p>
            <a:r>
              <a:rPr lang="tr-TR" sz="1600" dirty="0">
                <a:solidFill>
                  <a:schemeClr val="tx1"/>
                </a:solidFill>
              </a:rPr>
              <a:t>D tipi </a:t>
            </a:r>
            <a:r>
              <a:rPr lang="tr-TR" sz="1600">
                <a:solidFill>
                  <a:schemeClr val="tx1"/>
                </a:solidFill>
              </a:rPr>
              <a:t>flip-flop</a:t>
            </a:r>
            <a:r>
              <a:rPr lang="tr-TR" sz="1600" dirty="0">
                <a:solidFill>
                  <a:schemeClr val="tx1"/>
                </a:solidFill>
              </a:rPr>
              <a:t> kullanarak kayan ışık devresinin gerçekleştireceğimiz 4 bitlik bir devre tasarlayalım .  </a:t>
            </a:r>
          </a:p>
        </p:txBody>
      </p:sp>
    </p:spTree>
    <p:extLst>
      <p:ext uri="{BB962C8B-B14F-4D97-AF65-F5344CB8AC3E}">
        <p14:creationId xmlns:p14="http://schemas.microsoft.com/office/powerpoint/2010/main" val="669334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www.eecg.utoronto.ca/~jayar/ece241_06F/lab4_files/image001.gif">
            <a:extLst>
              <a:ext uri="{FF2B5EF4-FFF2-40B4-BE49-F238E27FC236}">
                <a16:creationId xmlns:a16="http://schemas.microsoft.com/office/drawing/2014/main" id="{67823D79-887F-460E-A15A-8839B2CFD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30" y="2300176"/>
            <a:ext cx="8250842" cy="285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972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43708" y="2767281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4000" dirty="0"/>
              <a:t>DİNLEDİĞİNİZ İÇİN TEŞEKKÜR EDERİZ</a:t>
            </a:r>
          </a:p>
        </p:txBody>
      </p:sp>
    </p:spTree>
    <p:extLst>
      <p:ext uri="{BB962C8B-B14F-4D97-AF65-F5344CB8AC3E}">
        <p14:creationId xmlns:p14="http://schemas.microsoft.com/office/powerpoint/2010/main" val="3239315360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2802</Words>
  <Application>Microsoft Office PowerPoint</Application>
  <PresentationFormat>Ekran Gösterisi (4:3)</PresentationFormat>
  <Paragraphs>92</Paragraphs>
  <Slides>30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30</vt:i4>
      </vt:variant>
    </vt:vector>
  </HeadingPairs>
  <TitlesOfParts>
    <vt:vector size="33" baseType="lpstr">
      <vt:lpstr>Arial</vt:lpstr>
      <vt:lpstr>Calibri</vt:lpstr>
      <vt:lpstr>Ofis Teması</vt:lpstr>
      <vt:lpstr>Mantık Devreleri  DERS 11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Dört bitlik shift register tasarımı 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11</dc:title>
  <dc:creator>bilgisayarim</dc:creator>
  <cp:lastModifiedBy>marmara</cp:lastModifiedBy>
  <cp:revision>38</cp:revision>
  <dcterms:created xsi:type="dcterms:W3CDTF">2019-11-20T09:32:26Z</dcterms:created>
  <dcterms:modified xsi:type="dcterms:W3CDTF">2023-12-19T08:56:10Z</dcterms:modified>
</cp:coreProperties>
</file>