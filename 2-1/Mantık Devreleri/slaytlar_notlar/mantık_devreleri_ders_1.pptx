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3" r:id="rId4"/>
    <p:sldId id="297" r:id="rId5"/>
    <p:sldId id="259" r:id="rId6"/>
    <p:sldId id="260" r:id="rId7"/>
    <p:sldId id="258" r:id="rId8"/>
    <p:sldId id="294" r:id="rId9"/>
    <p:sldId id="295" r:id="rId10"/>
    <p:sldId id="296" r:id="rId11"/>
    <p:sldId id="261" r:id="rId12"/>
    <p:sldId id="262" r:id="rId13"/>
    <p:sldId id="263" r:id="rId14"/>
    <p:sldId id="298" r:id="rId15"/>
    <p:sldId id="299" r:id="rId16"/>
    <p:sldId id="300" r:id="rId17"/>
    <p:sldId id="304" r:id="rId18"/>
    <p:sldId id="307" r:id="rId19"/>
    <p:sldId id="308" r:id="rId20"/>
    <p:sldId id="305" r:id="rId21"/>
    <p:sldId id="306" r:id="rId22"/>
    <p:sldId id="301" r:id="rId23"/>
    <p:sldId id="302" r:id="rId24"/>
    <p:sldId id="303" r:id="rId25"/>
    <p:sldId id="264" r:id="rId26"/>
    <p:sldId id="30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en-GB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187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GB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903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246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GB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GB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39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GB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GB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61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7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731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GB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7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94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GB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48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GB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10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GB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GB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DB5EB-4351-467A-9A5C-220CD29BFBEB}" type="datetimeFigureOut">
              <a:rPr lang="en-GB" smtClean="0"/>
              <a:t>04/10/2022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6DD23-FD2D-4CC9-B5A3-6EE57C229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81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izimi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2.jpeg"/><Relationship Id="rId4" Type="http://schemas.openxmlformats.org/officeDocument/2006/relationships/image" Target="../media/image21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gif"/><Relationship Id="rId4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Mantık Devreleri </a:t>
            </a:r>
            <a:br>
              <a:rPr lang="tr-TR" dirty="0" smtClean="0"/>
            </a:br>
            <a:r>
              <a:rPr lang="tr-TR" dirty="0" smtClean="0"/>
              <a:t>DERS 1 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700" y="233997"/>
            <a:ext cx="990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913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u="sng" dirty="0" smtClean="0"/>
              <a:t>Referans Kaynaklar</a:t>
            </a:r>
            <a:endParaRPr lang="en-GB" b="1" u="sng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12695"/>
          </a:xfrm>
        </p:spPr>
        <p:txBody>
          <a:bodyPr/>
          <a:lstStyle/>
          <a:p>
            <a:r>
              <a:rPr lang="tr-TR" dirty="0" err="1" smtClean="0"/>
              <a:t>Digital</a:t>
            </a:r>
            <a:r>
              <a:rPr lang="tr-TR" dirty="0" smtClean="0"/>
              <a:t> </a:t>
            </a:r>
            <a:r>
              <a:rPr lang="tr-TR" dirty="0" err="1" smtClean="0"/>
              <a:t>Engineering</a:t>
            </a:r>
            <a:r>
              <a:rPr lang="tr-TR" dirty="0" smtClean="0"/>
              <a:t> Design, Richard F. </a:t>
            </a:r>
            <a:r>
              <a:rPr lang="tr-TR" dirty="0" err="1" smtClean="0"/>
              <a:t>Tinder</a:t>
            </a:r>
            <a:r>
              <a:rPr lang="tr-TR" dirty="0" smtClean="0"/>
              <a:t>, </a:t>
            </a:r>
            <a:r>
              <a:rPr lang="tr-TR" dirty="0" err="1" smtClean="0"/>
              <a:t>Prentice</a:t>
            </a:r>
            <a:r>
              <a:rPr lang="tr-TR" dirty="0" smtClean="0"/>
              <a:t> </a:t>
            </a:r>
            <a:r>
              <a:rPr lang="tr-TR" dirty="0" err="1" smtClean="0"/>
              <a:t>Hall</a:t>
            </a:r>
            <a:endParaRPr lang="tr-TR" dirty="0" smtClean="0"/>
          </a:p>
          <a:p>
            <a:r>
              <a:rPr lang="tr-TR" dirty="0" smtClean="0"/>
              <a:t>Lojik Devre Tasarımı, Taner </a:t>
            </a:r>
            <a:r>
              <a:rPr lang="tr-TR" dirty="0" err="1" smtClean="0"/>
              <a:t>Arşan,Rıfat</a:t>
            </a:r>
            <a:r>
              <a:rPr lang="tr-TR" dirty="0" smtClean="0"/>
              <a:t> </a:t>
            </a:r>
            <a:r>
              <a:rPr lang="tr-TR" dirty="0" err="1" smtClean="0"/>
              <a:t>Çölkesen</a:t>
            </a:r>
            <a:r>
              <a:rPr lang="tr-TR" dirty="0" smtClean="0"/>
              <a:t>(Papatya Yayıncılık)</a:t>
            </a:r>
          </a:p>
          <a:p>
            <a:r>
              <a:rPr lang="tr-TR" dirty="0" smtClean="0"/>
              <a:t>Mantık Devreleri, Hüseyin Ekiz, Değişim Yayınları</a:t>
            </a:r>
          </a:p>
          <a:p>
            <a:r>
              <a:rPr lang="tr-TR" dirty="0" smtClean="0"/>
              <a:t>Dijital Elektronik Metin Bereket, Engin Tekin, Mavi kitaplar /U</a:t>
            </a:r>
            <a:r>
              <a:rPr lang="tr-TR" sz="2400" dirty="0" smtClean="0"/>
              <a:t>şşak </a:t>
            </a:r>
            <a:r>
              <a:rPr lang="tr-TR" dirty="0" smtClean="0"/>
              <a:t>Yayıncılık 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5660" y="218758"/>
            <a:ext cx="990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352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45440" y="355600"/>
            <a:ext cx="1125728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b="1" u="sng" dirty="0"/>
              <a:t>Giriş</a:t>
            </a:r>
          </a:p>
          <a:p>
            <a:pPr algn="just"/>
            <a:r>
              <a:rPr lang="tr-TR" sz="2800" dirty="0"/>
              <a:t>Bilim, </a:t>
            </a:r>
            <a:r>
              <a:rPr lang="tr-TR" sz="2800" dirty="0" smtClean="0"/>
              <a:t>teknoloji ve </a:t>
            </a:r>
            <a:r>
              <a:rPr lang="tr-TR" sz="2800" dirty="0"/>
              <a:t>benzeri bir çok alan büyüklükler ile ilgilenmektedir. Bu </a:t>
            </a:r>
            <a:r>
              <a:rPr lang="tr-TR" sz="2800" dirty="0" smtClean="0"/>
              <a:t>alanların ilgilendiği </a:t>
            </a:r>
            <a:r>
              <a:rPr lang="tr-TR" sz="2800" dirty="0"/>
              <a:t>büyüklükler; ölçülebilme, görüntülenebilme, kaydedilebilme, aritmetik </a:t>
            </a:r>
            <a:r>
              <a:rPr lang="tr-TR" sz="2800" dirty="0" smtClean="0"/>
              <a:t>olarak hesaplanabilme</a:t>
            </a:r>
            <a:r>
              <a:rPr lang="tr-TR" sz="2800" dirty="0"/>
              <a:t>, vb. özelliklere sahiptir. Büyüklükler ile işlem </a:t>
            </a:r>
            <a:r>
              <a:rPr lang="tr-TR" sz="2800" dirty="0" smtClean="0"/>
              <a:t>yapmak için değerleri </a:t>
            </a:r>
            <a:r>
              <a:rPr lang="tr-TR" sz="2800" dirty="0"/>
              <a:t>etkin ve güvenli olarak ifade etmek büyük bir önem taşır. </a:t>
            </a:r>
            <a:r>
              <a:rPr lang="tr-TR" sz="2800" dirty="0" smtClean="0"/>
              <a:t>Büyüklüklerin sayısal </a:t>
            </a:r>
            <a:r>
              <a:rPr lang="tr-TR" sz="2800" dirty="0"/>
              <a:t>değerlerini ifade etmede, </a:t>
            </a:r>
            <a:r>
              <a:rPr lang="tr-TR" sz="2800" u="sng" dirty="0"/>
              <a:t>analog</a:t>
            </a:r>
            <a:r>
              <a:rPr lang="tr-TR" sz="2800" dirty="0"/>
              <a:t> ve </a:t>
            </a:r>
            <a:r>
              <a:rPr lang="tr-TR" sz="2800" u="sng" dirty="0"/>
              <a:t>sayısal</a:t>
            </a:r>
            <a:r>
              <a:rPr lang="tr-TR" sz="2800" dirty="0"/>
              <a:t> olarak isimlendirilen iki yöntem kullanılır</a:t>
            </a:r>
            <a:r>
              <a:rPr lang="tr-TR" sz="2800" dirty="0" smtClean="0"/>
              <a:t>.</a:t>
            </a:r>
          </a:p>
          <a:p>
            <a:endParaRPr lang="tr-TR" sz="2800" dirty="0"/>
          </a:p>
          <a:p>
            <a:pPr algn="just"/>
            <a:r>
              <a:rPr lang="tr-TR" sz="2800" dirty="0"/>
              <a:t>İfade edilen büyüklüklerin, taşınabilir fiziksel büyüklüklere, örneğin bir gerilim veya </a:t>
            </a:r>
            <a:r>
              <a:rPr lang="tr-TR" sz="2800" dirty="0" smtClean="0"/>
              <a:t>akım şekline </a:t>
            </a:r>
            <a:r>
              <a:rPr lang="tr-TR" sz="2800" dirty="0"/>
              <a:t>dönüştürülmeleri gerekebilir. Fiziksel bir olayın/büyüklüğün elektriksel </a:t>
            </a:r>
            <a:r>
              <a:rPr lang="tr-TR" sz="2800" dirty="0" smtClean="0"/>
              <a:t>olarak gösterilmesi</a:t>
            </a:r>
            <a:r>
              <a:rPr lang="tr-TR" sz="2800" dirty="0"/>
              <a:t>, ‘</a:t>
            </a:r>
            <a:r>
              <a:rPr lang="tr-TR" sz="2800" b="1" dirty="0"/>
              <a:t>işaret</a:t>
            </a:r>
            <a:r>
              <a:rPr lang="tr-TR" sz="2800" dirty="0"/>
              <a:t>’ olarak adlandırılır. Gerek fiziksel büyüklükleri dönüştürme </a:t>
            </a:r>
            <a:r>
              <a:rPr lang="tr-TR" sz="2800" dirty="0" smtClean="0"/>
              <a:t>işleminde, gerekse </a:t>
            </a:r>
            <a:r>
              <a:rPr lang="tr-TR" sz="2800" dirty="0"/>
              <a:t>de bilginin işlenmesi / iletilmesinde temel olarak </a:t>
            </a:r>
            <a:r>
              <a:rPr lang="tr-TR" sz="2800" b="1" u="sng" dirty="0"/>
              <a:t>analog </a:t>
            </a:r>
            <a:r>
              <a:rPr lang="tr-TR" sz="2800" b="1" dirty="0"/>
              <a:t>ve </a:t>
            </a:r>
            <a:r>
              <a:rPr lang="tr-TR" sz="2800" b="1" u="sng" dirty="0"/>
              <a:t>sayısal (dijital)</a:t>
            </a:r>
          </a:p>
          <a:p>
            <a:pPr algn="just"/>
            <a:r>
              <a:rPr lang="tr-TR" sz="2800" dirty="0"/>
              <a:t>işaretlerden faydalanılır.</a:t>
            </a:r>
          </a:p>
        </p:txBody>
      </p:sp>
    </p:spTree>
    <p:extLst>
      <p:ext uri="{BB962C8B-B14F-4D97-AF65-F5344CB8AC3E}">
        <p14:creationId xmlns:p14="http://schemas.microsoft.com/office/powerpoint/2010/main" val="385343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26" y="2854960"/>
            <a:ext cx="10876548" cy="1148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407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u="sng" dirty="0" smtClean="0"/>
              <a:t>Analog İşaret</a:t>
            </a:r>
            <a:endParaRPr lang="en-GB" b="1" u="sng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tr-TR" dirty="0" smtClean="0"/>
          </a:p>
          <a:p>
            <a:r>
              <a:rPr lang="tr-TR" dirty="0" smtClean="0"/>
              <a:t>Tanım: Sıcaklık, basınç, görüntü, ses vb. fiziksel olayların sürekli değerler olarak temsil edilmesidir. </a:t>
            </a:r>
          </a:p>
          <a:p>
            <a:r>
              <a:rPr lang="tr-TR" dirty="0" smtClean="0"/>
              <a:t>Dünya </a:t>
            </a:r>
            <a:r>
              <a:rPr lang="tr-TR" dirty="0" err="1" smtClean="0"/>
              <a:t>ANALOG’tur</a:t>
            </a:r>
            <a:r>
              <a:rPr lang="tr-TR" dirty="0" smtClean="0"/>
              <a:t>.</a:t>
            </a:r>
          </a:p>
          <a:p>
            <a:r>
              <a:rPr lang="tr-TR" dirty="0" smtClean="0"/>
              <a:t>B</a:t>
            </a:r>
            <a:r>
              <a:rPr lang="en-GB" dirty="0" err="1" smtClean="0"/>
              <a:t>ir</a:t>
            </a:r>
            <a:r>
              <a:rPr lang="en-GB" dirty="0" smtClean="0"/>
              <a:t> </a:t>
            </a:r>
            <a:r>
              <a:rPr lang="en-GB" dirty="0" err="1" smtClean="0"/>
              <a:t>sinyal</a:t>
            </a:r>
            <a:r>
              <a:rPr lang="en-GB" dirty="0" smtClean="0"/>
              <a:t> her an </a:t>
            </a:r>
            <a:r>
              <a:rPr lang="en-GB" dirty="0" err="1" smtClean="0"/>
              <a:t>için</a:t>
            </a:r>
            <a:r>
              <a:rPr lang="en-GB" dirty="0" smtClean="0"/>
              <a:t> </a:t>
            </a:r>
            <a:r>
              <a:rPr lang="en-GB" dirty="0" err="1" smtClean="0"/>
              <a:t>tanımlı</a:t>
            </a:r>
            <a:r>
              <a:rPr lang="en-GB" dirty="0" smtClean="0"/>
              <a:t> </a:t>
            </a:r>
            <a:r>
              <a:rPr lang="en-GB" dirty="0" err="1" smtClean="0"/>
              <a:t>ise</a:t>
            </a:r>
            <a:r>
              <a:rPr lang="en-GB" dirty="0" smtClean="0"/>
              <a:t> </a:t>
            </a:r>
            <a:r>
              <a:rPr lang="en-GB" dirty="0" err="1" smtClean="0"/>
              <a:t>analog</a:t>
            </a:r>
            <a:r>
              <a:rPr lang="tr-TR" dirty="0" smtClean="0"/>
              <a:t> tur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86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u="sng" dirty="0" smtClean="0"/>
              <a:t>Sayısal </a:t>
            </a:r>
            <a:r>
              <a:rPr lang="tr-TR" b="1" u="sng" dirty="0"/>
              <a:t>(</a:t>
            </a:r>
            <a:r>
              <a:rPr lang="tr-TR" b="1" u="sng" dirty="0" err="1" smtClean="0"/>
              <a:t>Digital</a:t>
            </a:r>
            <a:r>
              <a:rPr lang="tr-TR" b="1" u="sng" dirty="0" smtClean="0"/>
              <a:t> )işaret</a:t>
            </a:r>
            <a:endParaRPr lang="en-GB" b="1" u="sng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24455"/>
          </a:xfrm>
        </p:spPr>
        <p:txBody>
          <a:bodyPr/>
          <a:lstStyle/>
          <a:p>
            <a:pPr marL="0" indent="0">
              <a:buNone/>
            </a:pPr>
            <a:r>
              <a:rPr lang="tr-TR" dirty="0" smtClean="0"/>
              <a:t>Tanım:</a:t>
            </a:r>
          </a:p>
          <a:p>
            <a:pPr marL="0" indent="0">
              <a:buNone/>
            </a:pPr>
            <a:r>
              <a:rPr lang="tr-TR" dirty="0" smtClean="0"/>
              <a:t>Orijinal bilgi veya elektriksel bilginin ikili sayı sistemine çevrilerek temsil edilmesidir. </a:t>
            </a:r>
          </a:p>
          <a:p>
            <a:r>
              <a:rPr lang="tr-TR" dirty="0" smtClean="0"/>
              <a:t>Değerler sürekli değildir. Örnekleme noktalarına ait değerler mevcuttur.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226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u="sng" dirty="0" smtClean="0"/>
              <a:t>Analog </a:t>
            </a:r>
            <a:r>
              <a:rPr lang="tr-TR" b="1" u="sng" dirty="0" err="1" smtClean="0"/>
              <a:t>vs</a:t>
            </a:r>
            <a:r>
              <a:rPr lang="tr-TR" b="1" u="sng" dirty="0" smtClean="0"/>
              <a:t> Sayısal(</a:t>
            </a:r>
            <a:r>
              <a:rPr lang="tr-TR" b="1" u="sng" dirty="0" err="1" smtClean="0"/>
              <a:t>Digital</a:t>
            </a:r>
            <a:r>
              <a:rPr lang="tr-TR" b="1" u="sng" dirty="0" smtClean="0"/>
              <a:t>)</a:t>
            </a:r>
            <a:endParaRPr lang="en-GB" b="1" u="sng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378" y="1896044"/>
            <a:ext cx="2828925" cy="161925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6044"/>
            <a:ext cx="2847975" cy="1609725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347" y="1890855"/>
            <a:ext cx="3648075" cy="1247775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4613" y="4407957"/>
            <a:ext cx="3152775" cy="144780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5551" y="4508870"/>
            <a:ext cx="3057525" cy="1495425"/>
          </a:xfrm>
          <a:prstGeom prst="rect">
            <a:avLst/>
          </a:prstGeom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" y="3765919"/>
            <a:ext cx="3733800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024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680" y="590550"/>
            <a:ext cx="10393680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1016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628650"/>
            <a:ext cx="7810500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4391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760" y="1066800"/>
            <a:ext cx="9367520" cy="521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531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u="sng" dirty="0" smtClean="0"/>
              <a:t>Analog </a:t>
            </a:r>
            <a:r>
              <a:rPr lang="tr-TR" b="1" u="sng" dirty="0" err="1" smtClean="0"/>
              <a:t>vs</a:t>
            </a:r>
            <a:r>
              <a:rPr lang="tr-TR" b="1" u="sng" dirty="0" smtClean="0"/>
              <a:t> Sayısal(</a:t>
            </a:r>
            <a:r>
              <a:rPr lang="tr-TR" b="1" u="sng" dirty="0" err="1" smtClean="0"/>
              <a:t>Digital</a:t>
            </a:r>
            <a:r>
              <a:rPr lang="tr-TR" b="1" u="sng" dirty="0" smtClean="0"/>
              <a:t>)</a:t>
            </a:r>
            <a:endParaRPr lang="en-GB" dirty="0"/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612088"/>
              </p:ext>
            </p:extLst>
          </p:nvPr>
        </p:nvGraphicFramePr>
        <p:xfrm>
          <a:off x="838200" y="1825625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Analog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Sayısal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tr-TR" dirty="0" smtClean="0"/>
                        <a:t>Sürekli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tr-TR" dirty="0" smtClean="0"/>
                        <a:t>Sürekli değil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tr-TR" dirty="0" smtClean="0"/>
                        <a:t>Sonsuz</a:t>
                      </a:r>
                      <a:r>
                        <a:rPr lang="tr-TR" baseline="0" dirty="0" smtClean="0"/>
                        <a:t> sayıda değer alabilir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tr-TR" dirty="0" smtClean="0"/>
                        <a:t>Sınırlı</a:t>
                      </a:r>
                      <a:r>
                        <a:rPr lang="tr-TR" baseline="0" dirty="0" smtClean="0"/>
                        <a:t> sayıda değerler alabilir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tr-TR" dirty="0" smtClean="0"/>
                        <a:t>Daha doğru</a:t>
                      </a:r>
                      <a:r>
                        <a:rPr lang="tr-TR" baseline="0" dirty="0" smtClean="0"/>
                        <a:t> değerler fakat çalışması zor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tr-TR" dirty="0" smtClean="0"/>
                        <a:t>Analog kadar net değil kayıplar var fakat çalışması kolay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71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Sayısal Sinyalin Avantajları</a:t>
            </a:r>
            <a:endParaRPr lang="en-GB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AutoNum type="arabicPeriod"/>
            </a:pPr>
            <a:r>
              <a:rPr lang="tr-TR" dirty="0" smtClean="0"/>
              <a:t>Gürültü Bağışıklığı yüksektir.</a:t>
            </a:r>
          </a:p>
          <a:p>
            <a:pPr marL="514350" indent="-514350">
              <a:buAutoNum type="arabicPeriod"/>
            </a:pPr>
            <a:r>
              <a:rPr lang="tr-TR" dirty="0" smtClean="0"/>
              <a:t>Kolayca işlenebilir(kodlanabilir, şifrelenebilir </a:t>
            </a:r>
            <a:r>
              <a:rPr lang="tr-TR" dirty="0" err="1" smtClean="0"/>
              <a:t>vb</a:t>
            </a:r>
            <a:r>
              <a:rPr lang="tr-TR" dirty="0" smtClean="0"/>
              <a:t>)</a:t>
            </a:r>
          </a:p>
          <a:p>
            <a:pPr marL="514350" indent="-514350">
              <a:buAutoNum type="arabicPeriod"/>
            </a:pPr>
            <a:r>
              <a:rPr lang="tr-TR" dirty="0" smtClean="0"/>
              <a:t>Kolayca hafızada saklanabilir.</a:t>
            </a:r>
          </a:p>
          <a:p>
            <a:pPr marL="514350" indent="-514350">
              <a:buAutoNum type="arabicPeriod"/>
            </a:pPr>
            <a:r>
              <a:rPr lang="tr-TR" dirty="0" smtClean="0"/>
              <a:t>Daha az güç tüketimi sağlar</a:t>
            </a:r>
          </a:p>
          <a:p>
            <a:pPr marL="0" indent="0">
              <a:buNone/>
            </a:pPr>
            <a:r>
              <a:rPr lang="tr-TR" dirty="0" smtClean="0"/>
              <a:t>5.  Analog sinyallere göre daha fazla veri iletimi    sağlar.</a:t>
            </a:r>
          </a:p>
          <a:p>
            <a:pPr marL="0" indent="0">
              <a:buNone/>
            </a:pPr>
            <a:r>
              <a:rPr lang="tr-TR" dirty="0" smtClean="0"/>
              <a:t>6.  Tasarım açısından çok daha sistematik bir yaklaşıma izin veriyor.</a:t>
            </a:r>
          </a:p>
          <a:p>
            <a:pPr marL="0" indent="0">
              <a:buNone/>
            </a:pPr>
            <a:r>
              <a:rPr lang="tr-TR" b="1" dirty="0" smtClean="0"/>
              <a:t>Dezavantajları</a:t>
            </a:r>
          </a:p>
          <a:p>
            <a:pPr marL="0" indent="0">
              <a:buNone/>
            </a:pPr>
            <a:r>
              <a:rPr lang="tr-TR" dirty="0" smtClean="0"/>
              <a:t>Dünyamız analog olduğu için ilk olarak sayısala çevrilen veri işlendikten sonra yine analog sinyale çevrilmesi gerekebilir. Bu aşamada kayıplar oluşur.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dirty="0" smtClean="0"/>
              <a:t>Analog Sayısal Çevrim(ADC)-Sayısal Analog çevrim(DAC)</a:t>
            </a:r>
            <a:endParaRPr lang="en-GB" sz="3600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2399" y="3755023"/>
            <a:ext cx="6293787" cy="311730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962" y="1226663"/>
            <a:ext cx="7336075" cy="252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2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MANTIK DEVRELERİ AİLELERİ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RTL(Direnç </a:t>
            </a:r>
            <a:r>
              <a:rPr lang="tr-TR" dirty="0" err="1" smtClean="0"/>
              <a:t>Transistör</a:t>
            </a:r>
            <a:r>
              <a:rPr lang="tr-TR" dirty="0" smtClean="0"/>
              <a:t> Lojik) Ailesi</a:t>
            </a:r>
          </a:p>
          <a:p>
            <a:r>
              <a:rPr lang="tr-TR" dirty="0" smtClean="0"/>
              <a:t>DTL(Diyot </a:t>
            </a:r>
            <a:r>
              <a:rPr lang="tr-TR" dirty="0" err="1" smtClean="0"/>
              <a:t>Transistör</a:t>
            </a:r>
            <a:r>
              <a:rPr lang="tr-TR" dirty="0" smtClean="0"/>
              <a:t> Lojik) Ailesi</a:t>
            </a:r>
          </a:p>
          <a:p>
            <a:r>
              <a:rPr lang="tr-TR" dirty="0" smtClean="0"/>
              <a:t>TTL(</a:t>
            </a:r>
            <a:r>
              <a:rPr lang="tr-TR" dirty="0" err="1" smtClean="0"/>
              <a:t>Transistör-Transistör</a:t>
            </a:r>
            <a:r>
              <a:rPr lang="tr-TR" dirty="0" smtClean="0"/>
              <a:t> Lojik) Ailesi</a:t>
            </a:r>
          </a:p>
          <a:p>
            <a:r>
              <a:rPr lang="tr-TR" dirty="0" smtClean="0"/>
              <a:t>CMOS </a:t>
            </a:r>
            <a:r>
              <a:rPr lang="tr-TR" dirty="0"/>
              <a:t>(</a:t>
            </a:r>
            <a:r>
              <a:rPr lang="tr-TR" dirty="0" err="1"/>
              <a:t>Complemantary</a:t>
            </a:r>
            <a:r>
              <a:rPr lang="tr-TR" dirty="0"/>
              <a:t> MOSFET) </a:t>
            </a:r>
            <a:r>
              <a:rPr lang="tr-TR" dirty="0" smtClean="0"/>
              <a:t>Ailesi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877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6146" name="Picture 2" descr="TTL family AND gate ile ilgili görsel sonuc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8" y="208678"/>
            <a:ext cx="10516142" cy="664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79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smtClean="0"/>
              <a:t>CMOS Ailesi</a:t>
            </a:r>
            <a:endParaRPr lang="tr-TR" dirty="0"/>
          </a:p>
        </p:txBody>
      </p:sp>
      <p:pic>
        <p:nvPicPr>
          <p:cNvPr id="8194" name="Picture 2" descr="cmos nand gate ile ilgili görsel sonuc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789" y="1825625"/>
            <a:ext cx="379095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22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238" y="924560"/>
            <a:ext cx="9653223" cy="489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0590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280" y="657225"/>
            <a:ext cx="9621519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3735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809624"/>
            <a:ext cx="9977120" cy="552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4640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476250"/>
            <a:ext cx="9956799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2064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240" y="438476"/>
            <a:ext cx="8808720" cy="5962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6032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6758"/>
          </a:xfrm>
        </p:spPr>
        <p:txBody>
          <a:bodyPr>
            <a:normAutofit/>
          </a:bodyPr>
          <a:lstStyle/>
          <a:p>
            <a:r>
              <a:rPr lang="tr-TR" sz="3200" dirty="0" smtClean="0"/>
              <a:t>TTL ve CMOS Kapıların Giriş-Çıkış Elektriksel Özellikleri</a:t>
            </a:r>
            <a:endParaRPr lang="en-GB" sz="32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69743" y="24156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5" name="Nesne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714770"/>
              </p:ext>
            </p:extLst>
          </p:nvPr>
        </p:nvGraphicFramePr>
        <p:xfrm>
          <a:off x="559558" y="889970"/>
          <a:ext cx="8770656" cy="3589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Visio" r:id="rId3" imgW="2500864" imgH="1024507" progId="Visio.Drawing.15">
                  <p:embed/>
                </p:oleObj>
              </mc:Choice>
              <mc:Fallback>
                <p:oleObj name="Visio" r:id="rId3" imgW="2500864" imgH="1024507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58" y="889970"/>
                        <a:ext cx="8770656" cy="35893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6" name="Resim 6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95" r="11382"/>
          <a:stretch>
            <a:fillRect/>
          </a:stretch>
        </p:blipFill>
        <p:spPr bwMode="auto">
          <a:xfrm>
            <a:off x="6536212" y="4664453"/>
            <a:ext cx="5319830" cy="195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2"/>
          <p:cNvSpPr txBox="1">
            <a:spLocks noChangeArrowheads="1"/>
          </p:cNvSpPr>
          <p:nvPr/>
        </p:nvSpPr>
        <p:spPr bwMode="auto">
          <a:xfrm>
            <a:off x="718474" y="4804011"/>
            <a:ext cx="6487544" cy="181588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tr-TR" altLang="en-US" sz="14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IL</a:t>
            </a:r>
            <a:r>
              <a:rPr kumimoji="0" lang="tr-TR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tr-TR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Kapının düşük (LOW) olarak algılayabileceği en yüksek giriş gerilim seviyesi,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</a:t>
            </a:r>
            <a:r>
              <a:rPr kumimoji="0" lang="tr-TR" altLang="en-US" sz="14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IH</a:t>
            </a:r>
            <a:r>
              <a:rPr kumimoji="0" lang="tr-TR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tr-TR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Kapının yüksek (HIGH) olarak algılayabileceği en düşük giriş gerilim seviyesi,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</a:t>
            </a:r>
            <a:r>
              <a:rPr kumimoji="0" lang="tr-TR" altLang="en-US" sz="14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OL</a:t>
            </a:r>
            <a:r>
              <a:rPr kumimoji="0" lang="tr-TR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tr-TR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Kapının düşük (LOW) olarak verebileceği en büyük gerilim seviyesi,</a:t>
            </a:r>
            <a:endParaRPr kumimoji="0" lang="tr-TR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kumimoji="0" lang="tr-TR" altLang="en-US" sz="1400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OH</a:t>
            </a:r>
            <a:r>
              <a:rPr kumimoji="0" lang="tr-TR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tr-TR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Kapının yüksek (HIGH) olarak verebileceği en düşük gerilim seviyesi</a:t>
            </a:r>
            <a:r>
              <a:rPr kumimoji="0" lang="tr-TR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tr-TR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olarak tanımlanır.</a:t>
            </a:r>
            <a:endParaRPr kumimoji="0" lang="tr-TR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148687" y="3651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148687" y="822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</a:pPr>
            <a:r>
              <a:rPr kumimoji="0" lang="tr-TR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 panose="020B0604020202020204" pitchFamily="34" charset="0"/>
              </a:rPr>
              <a:t>		</a:t>
            </a:r>
            <a:endParaRPr kumimoji="0" lang="en-GB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</a:pPr>
            <a:r>
              <a:rPr kumimoji="0" lang="tr-TR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 panose="020B0604020202020204" pitchFamily="34" charset="0"/>
              </a:rPr>
              <a:t>                                        </a:t>
            </a:r>
            <a:endParaRPr kumimoji="0" lang="en-GB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49263" algn="l"/>
                <a:tab pos="898525" algn="l"/>
                <a:tab pos="1349375" algn="l"/>
                <a:tab pos="1798638" algn="l"/>
                <a:tab pos="2247900" algn="l"/>
                <a:tab pos="2697163" algn="l"/>
                <a:tab pos="3146425" algn="l"/>
                <a:tab pos="3597275" algn="l"/>
                <a:tab pos="4046538" algn="l"/>
                <a:tab pos="4495800" algn="l"/>
                <a:tab pos="4945063" algn="l"/>
                <a:tab pos="5394325" algn="l"/>
                <a:tab pos="5845175" algn="l"/>
              </a:tabLst>
            </a:pPr>
            <a:endParaRPr kumimoji="0" lang="en-GB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48687" y="822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Metin kutusu 2"/>
          <p:cNvSpPr txBox="1"/>
          <p:nvPr/>
        </p:nvSpPr>
        <p:spPr>
          <a:xfrm>
            <a:off x="9054790" y="1605776"/>
            <a:ext cx="28012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NM</a:t>
            </a:r>
            <a:r>
              <a:rPr lang="tr-TR" baseline="-25000" dirty="0" err="1" smtClean="0"/>
              <a:t>h</a:t>
            </a:r>
            <a:r>
              <a:rPr lang="tr-TR" baseline="-25000" dirty="0" smtClean="0"/>
              <a:t> </a:t>
            </a:r>
            <a:r>
              <a:rPr lang="tr-TR" dirty="0" err="1" smtClean="0"/>
              <a:t>Noise</a:t>
            </a:r>
            <a:r>
              <a:rPr lang="tr-TR" dirty="0" smtClean="0"/>
              <a:t> </a:t>
            </a:r>
            <a:r>
              <a:rPr lang="tr-TR" dirty="0" err="1" smtClean="0"/>
              <a:t>Margin</a:t>
            </a:r>
            <a:r>
              <a:rPr lang="tr-TR" dirty="0" smtClean="0"/>
              <a:t>(H)</a:t>
            </a:r>
          </a:p>
          <a:p>
            <a:r>
              <a:rPr lang="tr-TR" dirty="0" smtClean="0"/>
              <a:t>NM</a:t>
            </a:r>
            <a:r>
              <a:rPr lang="tr-TR" baseline="-25000" dirty="0" smtClean="0"/>
              <a:t>L </a:t>
            </a:r>
            <a:r>
              <a:rPr lang="tr-TR" dirty="0" err="1" smtClean="0"/>
              <a:t>Noise</a:t>
            </a:r>
            <a:r>
              <a:rPr lang="tr-TR" dirty="0" smtClean="0"/>
              <a:t> </a:t>
            </a:r>
            <a:r>
              <a:rPr lang="tr-TR" dirty="0" err="1" smtClean="0"/>
              <a:t>Margin</a:t>
            </a:r>
            <a:r>
              <a:rPr lang="tr-TR" dirty="0" smtClean="0"/>
              <a:t>(L)</a:t>
            </a:r>
          </a:p>
          <a:p>
            <a:endParaRPr lang="tr-TR" baseline="-25000" dirty="0"/>
          </a:p>
          <a:p>
            <a:r>
              <a:rPr lang="tr-TR" dirty="0" err="1"/>
              <a:t>NM</a:t>
            </a:r>
            <a:r>
              <a:rPr lang="tr-TR" baseline="-25000" dirty="0" err="1"/>
              <a:t>h</a:t>
            </a:r>
            <a:r>
              <a:rPr lang="tr-TR" baseline="-25000" dirty="0"/>
              <a:t> </a:t>
            </a:r>
            <a:r>
              <a:rPr lang="tr-TR" dirty="0" smtClean="0"/>
              <a:t>= </a:t>
            </a:r>
            <a:r>
              <a:rPr lang="tr-TR" altLang="en-US" b="1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lang="tr-TR" altLang="en-US" b="1" baseline="-300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OH</a:t>
            </a:r>
            <a:r>
              <a:rPr lang="tr-TR" altLang="en-US" b="1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- </a:t>
            </a:r>
            <a:r>
              <a:rPr lang="tr-TR" alt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lang="tr-TR" altLang="en-US" b="1" baseline="-30000" dirty="0">
                <a:latin typeface="Arial" panose="020B0604020202020204" pitchFamily="34" charset="0"/>
                <a:ea typeface="Times New Roman" panose="02020603050405020304" pitchFamily="18" charset="0"/>
              </a:rPr>
              <a:t>IH</a:t>
            </a:r>
            <a:r>
              <a:rPr lang="tr-TR" alt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tr-TR" altLang="en-US" b="1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tr-TR" altLang="en-US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tr-TR" dirty="0"/>
              <a:t>NM</a:t>
            </a:r>
            <a:r>
              <a:rPr lang="tr-TR" baseline="-25000" dirty="0"/>
              <a:t>L </a:t>
            </a:r>
            <a:r>
              <a:rPr lang="tr-TR" dirty="0" smtClean="0"/>
              <a:t>= </a:t>
            </a:r>
            <a:r>
              <a:rPr lang="tr-TR" altLang="en-US" b="1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lang="tr-TR" altLang="en-US" b="1" baseline="-300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IL</a:t>
            </a:r>
            <a:r>
              <a:rPr lang="tr-TR" altLang="en-US" b="1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- </a:t>
            </a:r>
            <a:r>
              <a:rPr lang="tr-TR" alt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lang="tr-TR" altLang="en-US" b="1" baseline="-30000" dirty="0">
                <a:latin typeface="Arial" panose="020B0604020202020204" pitchFamily="34" charset="0"/>
                <a:ea typeface="Times New Roman" panose="02020603050405020304" pitchFamily="18" charset="0"/>
              </a:rPr>
              <a:t>OL</a:t>
            </a:r>
            <a:endParaRPr lang="tr-TR" altLang="en-US" b="1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tr-TR" baseline="-25000" dirty="0"/>
          </a:p>
        </p:txBody>
      </p:sp>
    </p:spTree>
    <p:extLst>
      <p:ext uri="{BB962C8B-B14F-4D97-AF65-F5344CB8AC3E}">
        <p14:creationId xmlns:p14="http://schemas.microsoft.com/office/powerpoint/2010/main" val="296142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982731"/>
              </p:ext>
            </p:extLst>
          </p:nvPr>
        </p:nvGraphicFramePr>
        <p:xfrm>
          <a:off x="2518939" y="853479"/>
          <a:ext cx="6368583" cy="4934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466">
                  <a:extLst>
                    <a:ext uri="{9D8B030D-6E8A-4147-A177-3AD203B41FA5}">
                      <a16:colId xmlns:a16="http://schemas.microsoft.com/office/drawing/2014/main" val="1637941317"/>
                    </a:ext>
                  </a:extLst>
                </a:gridCol>
                <a:gridCol w="2135663">
                  <a:extLst>
                    <a:ext uri="{9D8B030D-6E8A-4147-A177-3AD203B41FA5}">
                      <a16:colId xmlns:a16="http://schemas.microsoft.com/office/drawing/2014/main" val="1611517613"/>
                    </a:ext>
                  </a:extLst>
                </a:gridCol>
                <a:gridCol w="2319454">
                  <a:extLst>
                    <a:ext uri="{9D8B030D-6E8A-4147-A177-3AD203B41FA5}">
                      <a16:colId xmlns:a16="http://schemas.microsoft.com/office/drawing/2014/main" val="297374613"/>
                    </a:ext>
                  </a:extLst>
                </a:gridCol>
              </a:tblGrid>
              <a:tr h="545554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TTL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CMOS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081535"/>
                  </a:ext>
                </a:extLst>
              </a:tr>
              <a:tr h="545554">
                <a:tc>
                  <a:txBody>
                    <a:bodyPr/>
                    <a:lstStyle/>
                    <a:p>
                      <a:r>
                        <a:rPr lang="tr-TR" dirty="0" smtClean="0"/>
                        <a:t>Gürültü Aralık</a:t>
                      </a:r>
                      <a:r>
                        <a:rPr lang="tr-TR" baseline="0" dirty="0" smtClean="0"/>
                        <a:t> bandı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0.4 V(H), 0.4V(L)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0.2*</a:t>
                      </a:r>
                      <a:r>
                        <a:rPr lang="tr-TR" dirty="0" err="1" smtClean="0"/>
                        <a:t>Vcc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93468"/>
                  </a:ext>
                </a:extLst>
              </a:tr>
              <a:tr h="545554">
                <a:tc>
                  <a:txBody>
                    <a:bodyPr/>
                    <a:lstStyle/>
                    <a:p>
                      <a:r>
                        <a:rPr lang="tr-TR" dirty="0" smtClean="0"/>
                        <a:t>Giriş</a:t>
                      </a:r>
                      <a:r>
                        <a:rPr lang="tr-TR" baseline="0" dirty="0" smtClean="0"/>
                        <a:t> akımları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0.2 </a:t>
                      </a:r>
                      <a:r>
                        <a:rPr lang="tr-TR" dirty="0" err="1" smtClean="0"/>
                        <a:t>to</a:t>
                      </a:r>
                      <a:r>
                        <a:rPr lang="tr-TR" dirty="0" smtClean="0"/>
                        <a:t> 2 </a:t>
                      </a:r>
                      <a:r>
                        <a:rPr lang="tr-TR" dirty="0" err="1" smtClean="0"/>
                        <a:t>mA</a:t>
                      </a:r>
                      <a:r>
                        <a:rPr lang="tr-TR" dirty="0" smtClean="0"/>
                        <a:t>(L)</a:t>
                      </a:r>
                    </a:p>
                    <a:p>
                      <a:r>
                        <a:rPr lang="tr-TR" dirty="0" smtClean="0"/>
                        <a:t>20-50uA(H)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&lt;1uA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037334"/>
                  </a:ext>
                </a:extLst>
              </a:tr>
              <a:tr h="545554">
                <a:tc>
                  <a:txBody>
                    <a:bodyPr/>
                    <a:lstStyle/>
                    <a:p>
                      <a:r>
                        <a:rPr lang="tr-TR" dirty="0" smtClean="0"/>
                        <a:t>Güç tüketimleri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74LS</a:t>
                      </a:r>
                      <a:r>
                        <a:rPr lang="tr-TR" baseline="0" dirty="0" smtClean="0"/>
                        <a:t> için 2mW</a:t>
                      </a:r>
                    </a:p>
                    <a:p>
                      <a:r>
                        <a:rPr lang="tr-TR" baseline="0" dirty="0" smtClean="0"/>
                        <a:t>74S için 20mW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Vcc’ye</a:t>
                      </a:r>
                      <a:r>
                        <a:rPr lang="tr-TR" dirty="0" smtClean="0"/>
                        <a:t> ve frekansa  bağlı </a:t>
                      </a:r>
                      <a:r>
                        <a:rPr lang="tr-TR" dirty="0" err="1" smtClean="0"/>
                        <a:t>TTL’e</a:t>
                      </a:r>
                      <a:r>
                        <a:rPr lang="tr-TR" dirty="0" smtClean="0"/>
                        <a:t> göre düşük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104978"/>
                  </a:ext>
                </a:extLst>
              </a:tr>
              <a:tr h="545554">
                <a:tc>
                  <a:txBody>
                    <a:bodyPr/>
                    <a:lstStyle/>
                    <a:p>
                      <a:r>
                        <a:rPr lang="tr-TR" dirty="0" smtClean="0"/>
                        <a:t>Çıkış Sürme Akımı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8-20 </a:t>
                      </a:r>
                      <a:r>
                        <a:rPr lang="tr-TR" dirty="0" err="1" smtClean="0"/>
                        <a:t>mA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Tipik 4 </a:t>
                      </a:r>
                      <a:r>
                        <a:rPr lang="tr-TR" dirty="0" err="1" smtClean="0"/>
                        <a:t>mA</a:t>
                      </a:r>
                      <a:r>
                        <a:rPr lang="tr-TR" dirty="0" smtClean="0"/>
                        <a:t> fakat AC serisi</a:t>
                      </a:r>
                      <a:r>
                        <a:rPr lang="tr-TR" baseline="0" dirty="0" smtClean="0"/>
                        <a:t> 24mA verebilir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168727"/>
                  </a:ext>
                </a:extLst>
              </a:tr>
              <a:tr h="545554">
                <a:tc>
                  <a:txBody>
                    <a:bodyPr/>
                    <a:lstStyle/>
                    <a:p>
                      <a:r>
                        <a:rPr lang="tr-TR" dirty="0" smtClean="0"/>
                        <a:t>Besleme Voltajı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5V±%10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3V &lt;=</a:t>
                      </a:r>
                      <a:r>
                        <a:rPr lang="tr-TR" dirty="0" err="1" smtClean="0"/>
                        <a:t>Vcc</a:t>
                      </a:r>
                      <a:r>
                        <a:rPr lang="tr-TR" dirty="0" smtClean="0"/>
                        <a:t>&lt;=18V (4000 ailesi)</a:t>
                      </a:r>
                    </a:p>
                    <a:p>
                      <a:r>
                        <a:rPr lang="tr-TR" dirty="0" smtClean="0"/>
                        <a:t>2V &lt;=</a:t>
                      </a:r>
                      <a:r>
                        <a:rPr lang="tr-TR" dirty="0" err="1" smtClean="0"/>
                        <a:t>Vcc</a:t>
                      </a:r>
                      <a:r>
                        <a:rPr lang="tr-TR" dirty="0" smtClean="0"/>
                        <a:t>&lt;=6V(Yeni Nesil CMOS)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171945"/>
                  </a:ext>
                </a:extLst>
              </a:tr>
              <a:tr h="545554">
                <a:tc>
                  <a:txBody>
                    <a:bodyPr/>
                    <a:lstStyle/>
                    <a:p>
                      <a:r>
                        <a:rPr lang="tr-TR" dirty="0" smtClean="0"/>
                        <a:t>Birlikte bağlantı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CMOS’u</a:t>
                      </a:r>
                      <a:r>
                        <a:rPr lang="tr-TR" dirty="0" smtClean="0"/>
                        <a:t> süremez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Doğrudan </a:t>
                      </a:r>
                      <a:r>
                        <a:rPr lang="tr-TR" dirty="0" err="1" smtClean="0"/>
                        <a:t>TTL’i</a:t>
                      </a:r>
                      <a:r>
                        <a:rPr lang="tr-TR" dirty="0" smtClean="0"/>
                        <a:t> sürebilir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563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226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7170" name="Picture 2" descr="TTL family AND gate ile ilgili görsel sonuc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56" y="291377"/>
            <a:ext cx="6863304" cy="4489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ttps://upload.wikimedia.org/wikipedia/commons/4/4f/TI_SN7400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850" y="291377"/>
            <a:ext cx="3513027" cy="195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https://www.picclickimg.com/d/l400/pict/301924722997_/100pcs-SN74HC00N-74HC00N-IC-QUAD-2-INPUT-NAND-GAT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038" y="2259438"/>
            <a:ext cx="2810649" cy="239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7400 ile ilgili görsel sonucu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528" y="4650059"/>
            <a:ext cx="2823349" cy="205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74HC00 ile ilgili görsel sonucu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87" y="4780518"/>
            <a:ext cx="3044825" cy="2003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331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Pozitif Lojik –Negatif Lojik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6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 smtClean="0"/>
              <a:t>Pozitif Lojik</a:t>
            </a:r>
          </a:p>
          <a:p>
            <a:r>
              <a:rPr lang="tr-TR" dirty="0" smtClean="0"/>
              <a:t>H (</a:t>
            </a:r>
            <a:r>
              <a:rPr lang="tr-TR" dirty="0" err="1" smtClean="0"/>
              <a:t>high</a:t>
            </a:r>
            <a:r>
              <a:rPr lang="tr-TR" dirty="0" smtClean="0"/>
              <a:t>) Yüksek seviye lojik 1</a:t>
            </a:r>
          </a:p>
          <a:p>
            <a:r>
              <a:rPr lang="tr-TR" dirty="0" smtClean="0"/>
              <a:t>L(</a:t>
            </a:r>
            <a:r>
              <a:rPr lang="tr-TR" dirty="0" err="1" smtClean="0"/>
              <a:t>Low</a:t>
            </a:r>
            <a:r>
              <a:rPr lang="tr-TR" dirty="0" smtClean="0"/>
              <a:t>) Alçak seviye lojik 0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 smtClean="0"/>
              <a:t>Negatif  Lojik</a:t>
            </a:r>
          </a:p>
          <a:p>
            <a:r>
              <a:rPr lang="tr-TR" dirty="0" smtClean="0"/>
              <a:t>H (</a:t>
            </a:r>
            <a:r>
              <a:rPr lang="tr-TR" dirty="0" err="1" smtClean="0"/>
              <a:t>high</a:t>
            </a:r>
            <a:r>
              <a:rPr lang="tr-TR" dirty="0" smtClean="0"/>
              <a:t>) Yüksek seviye lojik 0</a:t>
            </a:r>
          </a:p>
          <a:p>
            <a:r>
              <a:rPr lang="tr-TR" dirty="0" smtClean="0"/>
              <a:t>L(</a:t>
            </a:r>
            <a:r>
              <a:rPr lang="tr-TR" dirty="0" err="1" smtClean="0"/>
              <a:t>Low</a:t>
            </a:r>
            <a:r>
              <a:rPr lang="tr-TR" dirty="0" smtClean="0"/>
              <a:t>) Alçak seviye lojik 1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27667"/>
            <a:ext cx="5715000" cy="1838325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1023582" y="5522457"/>
            <a:ext cx="9689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Pozitif Lojikte 1 değeri  gerilim var 0 ifadesi gerilim yok.</a:t>
            </a:r>
          </a:p>
          <a:p>
            <a:r>
              <a:rPr lang="tr-TR" dirty="0" smtClean="0"/>
              <a:t>Negatif Lojikte 1 ifadesi gerilim yok , 0 değeri gerilim var.</a:t>
            </a:r>
          </a:p>
          <a:p>
            <a:r>
              <a:rPr lang="tr-TR" dirty="0" smtClean="0"/>
              <a:t>Biz derslerimizde pozitif lojik kullanacağız.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322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2926080" y="3190240"/>
            <a:ext cx="80656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4000" dirty="0" smtClean="0"/>
              <a:t>DİNLEDİĞİNİZ İÇİN TEŞEKKÜR EDERİZ. 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718436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600</Words>
  <Application>Microsoft Office PowerPoint</Application>
  <PresentationFormat>Geniş ekran</PresentationFormat>
  <Paragraphs>94</Paragraphs>
  <Slides>26</Slides>
  <Notes>0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Helvetica</vt:lpstr>
      <vt:lpstr>Times New Roman</vt:lpstr>
      <vt:lpstr>Office Teması</vt:lpstr>
      <vt:lpstr>Visio</vt:lpstr>
      <vt:lpstr>Mantık Devreleri  DERS 1 </vt:lpstr>
      <vt:lpstr>Referans Kaynaklar</vt:lpstr>
      <vt:lpstr>PowerPoint Sunusu</vt:lpstr>
      <vt:lpstr>PowerPoint Sunusu</vt:lpstr>
      <vt:lpstr>Analog İşaret</vt:lpstr>
      <vt:lpstr>Sayısal (Digital )işaret</vt:lpstr>
      <vt:lpstr>Analog vs Sayısal(Digital)</vt:lpstr>
      <vt:lpstr>PowerPoint Sunusu</vt:lpstr>
      <vt:lpstr>PowerPoint Sunusu</vt:lpstr>
      <vt:lpstr>PowerPoint Sunusu</vt:lpstr>
      <vt:lpstr>Analog vs Sayısal(Digital)</vt:lpstr>
      <vt:lpstr>Sayısal Sinyalin Avantajları</vt:lpstr>
      <vt:lpstr>Analog Sayısal Çevrim(ADC)-Sayısal Analog çevrim(DAC)</vt:lpstr>
      <vt:lpstr>MANTIK DEVRELERİ AİLELERİ</vt:lpstr>
      <vt:lpstr>PowerPoint Sunusu</vt:lpstr>
      <vt:lpstr>CMOS Ailesi</vt:lpstr>
      <vt:lpstr>PowerPoint Sunusu</vt:lpstr>
      <vt:lpstr>PowerPoint Sunusu</vt:lpstr>
      <vt:lpstr>PowerPoint Sunusu</vt:lpstr>
      <vt:lpstr>PowerPoint Sunusu</vt:lpstr>
      <vt:lpstr>PowerPoint Sunusu</vt:lpstr>
      <vt:lpstr>TTL ve CMOS Kapıların Giriş-Çıkış Elektriksel Özellikleri</vt:lpstr>
      <vt:lpstr>PowerPoint Sunusu</vt:lpstr>
      <vt:lpstr>PowerPoint Sunusu</vt:lpstr>
      <vt:lpstr>Pozitif Lojik –Negatif Lojik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Sayısal Tasarım Dersi</dc:title>
  <dc:creator>Ulvi</dc:creator>
  <cp:lastModifiedBy>Bilgisayar-Mühendisl</cp:lastModifiedBy>
  <cp:revision>80</cp:revision>
  <dcterms:created xsi:type="dcterms:W3CDTF">2017-09-17T19:25:16Z</dcterms:created>
  <dcterms:modified xsi:type="dcterms:W3CDTF">2022-10-04T06:16:49Z</dcterms:modified>
</cp:coreProperties>
</file>