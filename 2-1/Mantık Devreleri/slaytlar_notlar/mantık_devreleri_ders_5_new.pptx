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9" r:id="rId2"/>
    <p:sldId id="257" r:id="rId3"/>
    <p:sldId id="289" r:id="rId4"/>
    <p:sldId id="290" r:id="rId5"/>
    <p:sldId id="262" r:id="rId6"/>
    <p:sldId id="263" r:id="rId7"/>
    <p:sldId id="264" r:id="rId8"/>
    <p:sldId id="265" r:id="rId9"/>
    <p:sldId id="266" r:id="rId10"/>
    <p:sldId id="291" r:id="rId11"/>
    <p:sldId id="292" r:id="rId12"/>
    <p:sldId id="267" r:id="rId13"/>
    <p:sldId id="293" r:id="rId14"/>
    <p:sldId id="268" r:id="rId15"/>
    <p:sldId id="294" r:id="rId16"/>
    <p:sldId id="269" r:id="rId17"/>
    <p:sldId id="271" r:id="rId18"/>
    <p:sldId id="295" r:id="rId19"/>
    <p:sldId id="272" r:id="rId20"/>
    <p:sldId id="273" r:id="rId21"/>
    <p:sldId id="296" r:id="rId22"/>
    <p:sldId id="274" r:id="rId23"/>
    <p:sldId id="275" r:id="rId24"/>
    <p:sldId id="299" r:id="rId25"/>
    <p:sldId id="276" r:id="rId26"/>
    <p:sldId id="278" r:id="rId27"/>
    <p:sldId id="279" r:id="rId28"/>
    <p:sldId id="280" r:id="rId29"/>
    <p:sldId id="281" r:id="rId30"/>
    <p:sldId id="302" r:id="rId31"/>
    <p:sldId id="301" r:id="rId32"/>
    <p:sldId id="303" r:id="rId33"/>
    <p:sldId id="304" r:id="rId34"/>
    <p:sldId id="283" r:id="rId35"/>
    <p:sldId id="305" r:id="rId36"/>
    <p:sldId id="284" r:id="rId37"/>
    <p:sldId id="306" r:id="rId38"/>
    <p:sldId id="285" r:id="rId39"/>
    <p:sldId id="286" r:id="rId40"/>
    <p:sldId id="287" r:id="rId41"/>
    <p:sldId id="258" r:id="rId4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52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C9A0A3-DD9A-4C75-92C6-6154FAD26123}" type="datetimeFigureOut">
              <a:rPr lang="tr-TR" smtClean="0"/>
              <a:t>5.11.2024</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294974-3D4B-41B5-A459-8D362D0430AE}" type="slidenum">
              <a:rPr lang="tr-TR" smtClean="0"/>
              <a:t>‹#›</a:t>
            </a:fld>
            <a:endParaRPr lang="tr-TR"/>
          </a:p>
        </p:txBody>
      </p:sp>
    </p:spTree>
    <p:extLst>
      <p:ext uri="{BB962C8B-B14F-4D97-AF65-F5344CB8AC3E}">
        <p14:creationId xmlns:p14="http://schemas.microsoft.com/office/powerpoint/2010/main" val="1522598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3F59AC6A-089A-499E-8C14-F9442D32F643}" type="datetimeFigureOut">
              <a:rPr lang="tr-TR" smtClean="0"/>
              <a:t>5.11.2024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276264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5.11.2024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1354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3F59AC6A-089A-499E-8C14-F9442D32F643}" type="datetimeFigureOut">
              <a:rPr lang="tr-TR" smtClean="0"/>
              <a:t>5.11.2024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117815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3F59AC6A-089A-499E-8C14-F9442D32F643}" type="datetimeFigureOut">
              <a:rPr lang="tr-TR" smtClean="0"/>
              <a:t>5.11.2024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568593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3F59AC6A-089A-499E-8C14-F9442D32F643}" type="datetimeFigureOut">
              <a:rPr lang="tr-TR" smtClean="0"/>
              <a:t>5.11.2024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11944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3F59AC6A-089A-499E-8C14-F9442D32F643}" type="datetimeFigureOut">
              <a:rPr lang="tr-TR" smtClean="0"/>
              <a:t>5.11.2024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33267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3F59AC6A-089A-499E-8C14-F9442D32F643}" type="datetimeFigureOut">
              <a:rPr lang="tr-TR" smtClean="0"/>
              <a:t>5.11.2024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36613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3F59AC6A-089A-499E-8C14-F9442D32F643}" type="datetimeFigureOut">
              <a:rPr lang="tr-TR" smtClean="0"/>
              <a:t>5.11.2024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56373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3F59AC6A-089A-499E-8C14-F9442D32F643}" type="datetimeFigureOut">
              <a:rPr lang="tr-TR" smtClean="0"/>
              <a:t>5.11.2024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29107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5.11.2024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891995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5.11.2024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1860569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59AC6A-089A-499E-8C14-F9442D32F643}" type="datetimeFigureOut">
              <a:rPr lang="tr-TR" smtClean="0"/>
              <a:t>5.11.2024</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758499-DD0B-4F9C-8CB0-F87EB1F29810}" type="slidenum">
              <a:rPr lang="tr-TR" smtClean="0"/>
              <a:t>‹#›</a:t>
            </a:fld>
            <a:endParaRPr lang="tr-TR"/>
          </a:p>
        </p:txBody>
      </p:sp>
    </p:spTree>
    <p:extLst>
      <p:ext uri="{BB962C8B-B14F-4D97-AF65-F5344CB8AC3E}">
        <p14:creationId xmlns:p14="http://schemas.microsoft.com/office/powerpoint/2010/main" val="2509584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barcode.tec-it.com/en/Code128" TargetMode="External"/><Relationship Id="rId7" Type="http://schemas.openxmlformats.org/officeDocument/2006/relationships/image" Target="../media/image25.png"/><Relationship Id="rId2" Type="http://schemas.openxmlformats.org/officeDocument/2006/relationships/image" Target="../media/image22.gif"/><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4.sv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E532FA53-CB82-4319-82D0-CC062EC391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8626" y="2722612"/>
            <a:ext cx="3946748" cy="3946748"/>
          </a:xfrm>
          <a:prstGeom prst="rect">
            <a:avLst/>
          </a:prstGeom>
        </p:spPr>
      </p:pic>
      <p:sp>
        <p:nvSpPr>
          <p:cNvPr id="8" name="Unvan 1">
            <a:extLst>
              <a:ext uri="{FF2B5EF4-FFF2-40B4-BE49-F238E27FC236}">
                <a16:creationId xmlns:a16="http://schemas.microsoft.com/office/drawing/2014/main" id="{489A0133-A6DC-4419-8F28-91C52FBFD44D}"/>
              </a:ext>
            </a:extLst>
          </p:cNvPr>
          <p:cNvSpPr txBox="1">
            <a:spLocks/>
          </p:cNvSpPr>
          <p:nvPr/>
        </p:nvSpPr>
        <p:spPr>
          <a:xfrm>
            <a:off x="685800" y="345491"/>
            <a:ext cx="7772400" cy="252027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sz="5300" b="1" dirty="0">
                <a:latin typeface="Candara" panose="020E0502030303020204" pitchFamily="34" charset="0"/>
              </a:rPr>
              <a:t>Mantık Devreleri </a:t>
            </a:r>
            <a:r>
              <a:rPr lang="tr-TR" dirty="0">
                <a:latin typeface="Candara" panose="020E0502030303020204" pitchFamily="34" charset="0"/>
              </a:rPr>
              <a:t/>
            </a:r>
            <a:br>
              <a:rPr lang="tr-TR" dirty="0">
                <a:latin typeface="Candara" panose="020E0502030303020204" pitchFamily="34" charset="0"/>
              </a:rPr>
            </a:br>
            <a:r>
              <a:rPr lang="tr-TR" sz="3200" dirty="0">
                <a:latin typeface="Candara" panose="020E0502030303020204" pitchFamily="34" charset="0"/>
              </a:rPr>
              <a:t>Ders 5: Kodlama</a:t>
            </a:r>
            <a:r>
              <a:rPr lang="en-US" sz="3200" dirty="0">
                <a:latin typeface="Candara" panose="020E0502030303020204" pitchFamily="34" charset="0"/>
              </a:rPr>
              <a:t> </a:t>
            </a:r>
            <a:r>
              <a:rPr lang="tr-TR" sz="3200" dirty="0">
                <a:latin typeface="Candara" panose="020E0502030303020204" pitchFamily="34" charset="0"/>
              </a:rPr>
              <a:t>ve</a:t>
            </a:r>
            <a:r>
              <a:rPr lang="en-US" sz="3200" dirty="0">
                <a:latin typeface="Candara" panose="020E0502030303020204" pitchFamily="34" charset="0"/>
              </a:rPr>
              <a:t> </a:t>
            </a:r>
            <a:r>
              <a:rPr lang="tr-TR" sz="3200" dirty="0">
                <a:latin typeface="Candara" panose="020E0502030303020204" pitchFamily="34" charset="0"/>
              </a:rPr>
              <a:t>Kodlar</a:t>
            </a:r>
          </a:p>
          <a:p>
            <a:r>
              <a:rPr lang="en-US" sz="3200" dirty="0">
                <a:latin typeface="Candara" panose="020E0502030303020204" pitchFamily="34" charset="0"/>
              </a:rPr>
              <a:t>(Coding and Codes)</a:t>
            </a:r>
          </a:p>
        </p:txBody>
      </p:sp>
    </p:spTree>
    <p:extLst>
      <p:ext uri="{BB962C8B-B14F-4D97-AF65-F5344CB8AC3E}">
        <p14:creationId xmlns:p14="http://schemas.microsoft.com/office/powerpoint/2010/main" val="1406218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F509910F-E623-422E-8EB0-8B64A4FB996B}"/>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Giriş</a:t>
            </a:r>
            <a:endParaRPr lang="tr-TR" sz="2800" dirty="0">
              <a:latin typeface="Candara" panose="020E0502030303020204" pitchFamily="34" charset="0"/>
            </a:endParaRPr>
          </a:p>
        </p:txBody>
      </p:sp>
      <p:sp>
        <p:nvSpPr>
          <p:cNvPr id="5" name="İçerik Yer Tutucusu 4">
            <a:extLst>
              <a:ext uri="{FF2B5EF4-FFF2-40B4-BE49-F238E27FC236}">
                <a16:creationId xmlns:a16="http://schemas.microsoft.com/office/drawing/2014/main" id="{8573DA8B-6261-4018-AE9E-C6FBA94A5CF3}"/>
              </a:ext>
            </a:extLst>
          </p:cNvPr>
          <p:cNvSpPr>
            <a:spLocks noGrp="1"/>
          </p:cNvSpPr>
          <p:nvPr>
            <p:ph idx="1"/>
          </p:nvPr>
        </p:nvSpPr>
        <p:spPr>
          <a:xfrm>
            <a:off x="457200" y="1124744"/>
            <a:ext cx="8229600" cy="5001419"/>
          </a:xfrm>
        </p:spPr>
        <p:txBody>
          <a:bodyPr>
            <a:noAutofit/>
          </a:bodyPr>
          <a:lstStyle/>
          <a:p>
            <a:pPr algn="just">
              <a:lnSpc>
                <a:spcPct val="170000"/>
              </a:lnSpc>
            </a:pPr>
            <a:r>
              <a:rPr lang="tr-TR" sz="2000" dirty="0">
                <a:latin typeface="Candara" panose="020E0502030303020204" pitchFamily="34" charset="0"/>
              </a:rPr>
              <a:t>Kodlama, iki küme elemanları arasında karşılığı kesin olarak belirtilen kurallar bütünüdür diye tanımlanabilir. Diğer bir deyişle, görünebilen, okunabilen yazı, sayı ve işaretlerin değiştirilmesi işlemine ‘kodlama’ denir. Başka bir bakış açısı ile, sonlu elemana sahip bir kümenin her bir elemanına bir kod verilmesi, kodlama olarak tanımlanır.</a:t>
            </a:r>
          </a:p>
          <a:p>
            <a:pPr algn="just">
              <a:lnSpc>
                <a:spcPct val="170000"/>
              </a:lnSpc>
            </a:pPr>
            <a:r>
              <a:rPr lang="tr-TR" sz="2000" dirty="0">
                <a:latin typeface="Candara" panose="020E0502030303020204" pitchFamily="34" charset="0"/>
              </a:rPr>
              <a:t>Mors alfabesi kodlamaya iyi bir örnektir. Kodlama işlemine diğer bir örnek, bilgisayarın çevresel birimleri ile merkezi işlem ünitesi arasındaki bilgi iletişimidir. Bilgisayarlarda, bir alfabetik-sayısal kaynak olan klavyeden gönderilen bilgi, 7 veya 8 bitlik ikili sayılar şeklinde kodlandıktan sonra ilgili birime gönderilir.</a:t>
            </a:r>
          </a:p>
        </p:txBody>
      </p:sp>
    </p:spTree>
    <p:extLst>
      <p:ext uri="{BB962C8B-B14F-4D97-AF65-F5344CB8AC3E}">
        <p14:creationId xmlns:p14="http://schemas.microsoft.com/office/powerpoint/2010/main" val="4104171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F509910F-E623-422E-8EB0-8B64A4FB996B}"/>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Giriş</a:t>
            </a:r>
            <a:endParaRPr lang="tr-TR" sz="2800" dirty="0">
              <a:latin typeface="Candara" panose="020E0502030303020204" pitchFamily="34" charset="0"/>
            </a:endParaRPr>
          </a:p>
        </p:txBody>
      </p:sp>
      <p:sp>
        <p:nvSpPr>
          <p:cNvPr id="5" name="İçerik Yer Tutucusu 4">
            <a:extLst>
              <a:ext uri="{FF2B5EF4-FFF2-40B4-BE49-F238E27FC236}">
                <a16:creationId xmlns:a16="http://schemas.microsoft.com/office/drawing/2014/main" id="{8573DA8B-6261-4018-AE9E-C6FBA94A5CF3}"/>
              </a:ext>
            </a:extLst>
          </p:cNvPr>
          <p:cNvSpPr>
            <a:spLocks noGrp="1"/>
          </p:cNvSpPr>
          <p:nvPr>
            <p:ph idx="1"/>
          </p:nvPr>
        </p:nvSpPr>
        <p:spPr>
          <a:xfrm>
            <a:off x="457200" y="1124744"/>
            <a:ext cx="8229600" cy="5001419"/>
          </a:xfrm>
        </p:spPr>
        <p:txBody>
          <a:bodyPr>
            <a:noAutofit/>
          </a:bodyPr>
          <a:lstStyle/>
          <a:p>
            <a:pPr algn="just">
              <a:lnSpc>
                <a:spcPct val="170000"/>
              </a:lnSpc>
            </a:pPr>
            <a:r>
              <a:rPr lang="tr-TR" sz="2000" dirty="0">
                <a:latin typeface="Candara" panose="020E0502030303020204" pitchFamily="34" charset="0"/>
              </a:rPr>
              <a:t>Kodlama işlemi yalnızca onluk sistemdeki sayıları (0, 1, 2,....,9) içerebileceği gibi, alfabetik ve alfa sayısal bilgilerin kodlanmasını içerebilir. Farklı bilgileri kodlama ihtiyacı ve değişik alanlarda kodlama gereksinimi çeşitli kodlama yöntemlerini doğurmuştur.</a:t>
            </a:r>
          </a:p>
          <a:p>
            <a:pPr algn="just">
              <a:lnSpc>
                <a:spcPct val="170000"/>
              </a:lnSpc>
            </a:pPr>
            <a:r>
              <a:rPr lang="tr-TR" sz="2000" dirty="0">
                <a:latin typeface="Candara" panose="020E0502030303020204" pitchFamily="34" charset="0"/>
              </a:rPr>
              <a:t>Kodlama işlemi aşağıdaki avantajları sağlar:</a:t>
            </a:r>
          </a:p>
          <a:p>
            <a:pPr lvl="1" algn="just">
              <a:lnSpc>
                <a:spcPct val="170000"/>
              </a:lnSpc>
            </a:pPr>
            <a:r>
              <a:rPr lang="tr-TR" sz="1800" dirty="0">
                <a:latin typeface="Candara" panose="020E0502030303020204" pitchFamily="34" charset="0"/>
              </a:rPr>
              <a:t>Aritmetik işlemlerde kolaylık sağlar.</a:t>
            </a:r>
          </a:p>
          <a:p>
            <a:pPr lvl="1" algn="just">
              <a:lnSpc>
                <a:spcPct val="170000"/>
              </a:lnSpc>
            </a:pPr>
            <a:r>
              <a:rPr lang="tr-TR" sz="1800" dirty="0">
                <a:latin typeface="Candara" panose="020E0502030303020204" pitchFamily="34" charset="0"/>
              </a:rPr>
              <a:t>Hataların bulunmasını kolaylaştırır.</a:t>
            </a:r>
          </a:p>
          <a:p>
            <a:pPr lvl="1" algn="just">
              <a:lnSpc>
                <a:spcPct val="170000"/>
              </a:lnSpc>
            </a:pPr>
            <a:r>
              <a:rPr lang="tr-TR" sz="1800" dirty="0">
                <a:latin typeface="Candara" panose="020E0502030303020204" pitchFamily="34" charset="0"/>
              </a:rPr>
              <a:t>Hataların düzeltilmesi işlemlerini basitleştirir.</a:t>
            </a:r>
          </a:p>
          <a:p>
            <a:pPr lvl="1" algn="just">
              <a:lnSpc>
                <a:spcPct val="170000"/>
              </a:lnSpc>
            </a:pPr>
            <a:r>
              <a:rPr lang="tr-TR" sz="1800" dirty="0">
                <a:latin typeface="Candara" panose="020E0502030303020204" pitchFamily="34" charset="0"/>
              </a:rPr>
              <a:t>Bellek işlemlerinde verimliliği artırır.</a:t>
            </a:r>
          </a:p>
          <a:p>
            <a:pPr lvl="1" algn="just">
              <a:lnSpc>
                <a:spcPct val="170000"/>
              </a:lnSpc>
            </a:pPr>
            <a:r>
              <a:rPr lang="tr-TR" sz="1800" dirty="0">
                <a:latin typeface="Candara" panose="020E0502030303020204" pitchFamily="34" charset="0"/>
              </a:rPr>
              <a:t>Bilgilerin işlenmesi işleminin insanlarca kolayca anlaşılmasını sağlar.</a:t>
            </a:r>
          </a:p>
          <a:p>
            <a:pPr marL="0" indent="0" algn="just">
              <a:lnSpc>
                <a:spcPct val="170000"/>
              </a:lnSpc>
              <a:buNone/>
            </a:pPr>
            <a:endParaRPr lang="tr-TR" sz="2000" dirty="0">
              <a:latin typeface="Candara" panose="020E0502030303020204" pitchFamily="34" charset="0"/>
            </a:endParaRPr>
          </a:p>
          <a:p>
            <a:pPr algn="just">
              <a:lnSpc>
                <a:spcPct val="170000"/>
              </a:lnSpc>
            </a:pPr>
            <a:endParaRPr lang="tr-TR" sz="2000" dirty="0">
              <a:latin typeface="Candara" panose="020E0502030303020204" pitchFamily="34" charset="0"/>
            </a:endParaRPr>
          </a:p>
        </p:txBody>
      </p:sp>
    </p:spTree>
    <p:extLst>
      <p:ext uri="{BB962C8B-B14F-4D97-AF65-F5344CB8AC3E}">
        <p14:creationId xmlns:p14="http://schemas.microsoft.com/office/powerpoint/2010/main" val="3493487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F509910F-E623-422E-8EB0-8B64A4FB996B}"/>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Giriş</a:t>
            </a:r>
            <a:endParaRPr lang="tr-TR" sz="2800" dirty="0">
              <a:latin typeface="Candara" panose="020E0502030303020204" pitchFamily="34" charset="0"/>
            </a:endParaRPr>
          </a:p>
        </p:txBody>
      </p:sp>
      <p:sp>
        <p:nvSpPr>
          <p:cNvPr id="5" name="İçerik Yer Tutucusu 4">
            <a:extLst>
              <a:ext uri="{FF2B5EF4-FFF2-40B4-BE49-F238E27FC236}">
                <a16:creationId xmlns:a16="http://schemas.microsoft.com/office/drawing/2014/main" id="{8573DA8B-6261-4018-AE9E-C6FBA94A5CF3}"/>
              </a:ext>
            </a:extLst>
          </p:cNvPr>
          <p:cNvSpPr>
            <a:spLocks noGrp="1"/>
          </p:cNvSpPr>
          <p:nvPr>
            <p:ph idx="1"/>
          </p:nvPr>
        </p:nvSpPr>
        <p:spPr>
          <a:xfrm>
            <a:off x="457200" y="1124744"/>
            <a:ext cx="8229600" cy="5001419"/>
          </a:xfrm>
        </p:spPr>
        <p:txBody>
          <a:bodyPr>
            <a:noAutofit/>
          </a:bodyPr>
          <a:lstStyle/>
          <a:p>
            <a:pPr algn="just">
              <a:lnSpc>
                <a:spcPct val="170000"/>
              </a:lnSpc>
            </a:pPr>
            <a:r>
              <a:rPr lang="tr-TR" sz="2000" dirty="0">
                <a:latin typeface="Candara" panose="020E0502030303020204" pitchFamily="34" charset="0"/>
              </a:rPr>
              <a:t>Yalnızca sayısal karakterlerin kodlanmasıyla ortaya çıkan kodlara ‘sayısal kodlar’ (BCD kodları) denilirken, alfabetik ve sayısal karakterlerin kodlanmasını içeren kodlama yöntemlerine ‘alfasayısal kodlar’ denir. Bu durumda kodlar iki grup altında incelenebilir:</a:t>
            </a:r>
          </a:p>
          <a:p>
            <a:pPr lvl="1" algn="just">
              <a:lnSpc>
                <a:spcPct val="170000"/>
              </a:lnSpc>
            </a:pPr>
            <a:r>
              <a:rPr lang="tr-TR" sz="1800" dirty="0">
                <a:latin typeface="Candara" panose="020E0502030303020204" pitchFamily="34" charset="0"/>
              </a:rPr>
              <a:t>Sayısal ve </a:t>
            </a:r>
          </a:p>
          <a:p>
            <a:pPr lvl="1" algn="just">
              <a:lnSpc>
                <a:spcPct val="170000"/>
              </a:lnSpc>
            </a:pPr>
            <a:r>
              <a:rPr lang="tr-TR" sz="1800" dirty="0">
                <a:latin typeface="Candara" panose="020E0502030303020204" pitchFamily="34" charset="0"/>
              </a:rPr>
              <a:t>Alfa Sayısal kodlar.</a:t>
            </a:r>
          </a:p>
          <a:p>
            <a:pPr algn="just">
              <a:lnSpc>
                <a:spcPct val="170000"/>
              </a:lnSpc>
            </a:pPr>
            <a:endParaRPr lang="tr-TR" sz="2000" dirty="0">
              <a:latin typeface="Candara" panose="020E0502030303020204" pitchFamily="34" charset="0"/>
            </a:endParaRPr>
          </a:p>
        </p:txBody>
      </p:sp>
    </p:spTree>
    <p:extLst>
      <p:ext uri="{BB962C8B-B14F-4D97-AF65-F5344CB8AC3E}">
        <p14:creationId xmlns:p14="http://schemas.microsoft.com/office/powerpoint/2010/main" val="2335262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86602DE7-9D7C-4DB4-B4B6-B32B43E54815}"/>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1. Sayısal Kodlar</a:t>
            </a:r>
          </a:p>
        </p:txBody>
      </p:sp>
      <p:sp>
        <p:nvSpPr>
          <p:cNvPr id="6" name="İçerik Yer Tutucusu 5">
            <a:extLst>
              <a:ext uri="{FF2B5EF4-FFF2-40B4-BE49-F238E27FC236}">
                <a16:creationId xmlns:a16="http://schemas.microsoft.com/office/drawing/2014/main" id="{1E4AD8E6-1EFC-45A6-9543-E1595249E3C5}"/>
              </a:ext>
            </a:extLst>
          </p:cNvPr>
          <p:cNvSpPr>
            <a:spLocks noGrp="1"/>
          </p:cNvSpPr>
          <p:nvPr>
            <p:ph idx="1"/>
          </p:nvPr>
        </p:nvSpPr>
        <p:spPr>
          <a:xfrm>
            <a:off x="457200" y="836712"/>
            <a:ext cx="8229600" cy="5760640"/>
          </a:xfrm>
        </p:spPr>
        <p:txBody>
          <a:bodyPr>
            <a:normAutofit/>
          </a:bodyPr>
          <a:lstStyle/>
          <a:p>
            <a:pPr algn="just">
              <a:lnSpc>
                <a:spcPct val="170000"/>
              </a:lnSpc>
            </a:pPr>
            <a:r>
              <a:rPr lang="tr-TR" sz="1800" dirty="0">
                <a:latin typeface="Candara" panose="020E0502030303020204" pitchFamily="34" charset="0"/>
              </a:rPr>
              <a:t>Onlu bir sayının ikili sayı sistemindeki karşılığının yazılması ile oluşan kodlama sistemi,</a:t>
            </a:r>
            <a:r>
              <a:rPr lang="en-US" sz="1800" dirty="0">
                <a:latin typeface="Candara" panose="020E0502030303020204" pitchFamily="34" charset="0"/>
              </a:rPr>
              <a:t> </a:t>
            </a:r>
            <a:r>
              <a:rPr lang="tr-TR" sz="1800" dirty="0">
                <a:latin typeface="Candara" panose="020E0502030303020204" pitchFamily="34" charset="0"/>
              </a:rPr>
              <a:t>‘</a:t>
            </a:r>
            <a:r>
              <a:rPr lang="tr-TR" sz="1800" b="1" dirty="0">
                <a:latin typeface="Candara" panose="020E0502030303020204" pitchFamily="34" charset="0"/>
              </a:rPr>
              <a:t>yalın ikili kodlama’ </a:t>
            </a:r>
            <a:r>
              <a:rPr lang="tr-TR" sz="1800" dirty="0">
                <a:latin typeface="Candara" panose="020E0502030303020204" pitchFamily="34" charset="0"/>
              </a:rPr>
              <a:t>(</a:t>
            </a:r>
            <a:r>
              <a:rPr lang="tr-TR" sz="1800" dirty="0" err="1">
                <a:latin typeface="Candara" panose="020E0502030303020204" pitchFamily="34" charset="0"/>
              </a:rPr>
              <a:t>pure</a:t>
            </a:r>
            <a:r>
              <a:rPr lang="tr-TR" sz="1800" dirty="0">
                <a:latin typeface="Candara" panose="020E0502030303020204" pitchFamily="34" charset="0"/>
              </a:rPr>
              <a:t> </a:t>
            </a:r>
            <a:r>
              <a:rPr lang="tr-TR" sz="1800" dirty="0" err="1">
                <a:latin typeface="Candara" panose="020E0502030303020204" pitchFamily="34" charset="0"/>
              </a:rPr>
              <a:t>binary</a:t>
            </a:r>
            <a:r>
              <a:rPr lang="tr-TR" sz="1800" dirty="0">
                <a:latin typeface="Candara" panose="020E0502030303020204" pitchFamily="34" charset="0"/>
              </a:rPr>
              <a:t> </a:t>
            </a:r>
            <a:r>
              <a:rPr lang="tr-TR" sz="1800" dirty="0" err="1">
                <a:latin typeface="Candara" panose="020E0502030303020204" pitchFamily="34" charset="0"/>
              </a:rPr>
              <a:t>coding</a:t>
            </a:r>
            <a:r>
              <a:rPr lang="tr-TR" sz="1800" dirty="0">
                <a:latin typeface="Candara" panose="020E0502030303020204" pitchFamily="34" charset="0"/>
              </a:rPr>
              <a:t>) olarak isimlendirilir. Sayısal sistemlerde</a:t>
            </a:r>
            <a:r>
              <a:rPr lang="en-US" sz="1800" dirty="0">
                <a:latin typeface="Candara" panose="020E0502030303020204" pitchFamily="34" charset="0"/>
              </a:rPr>
              <a:t> </a:t>
            </a:r>
            <a:r>
              <a:rPr lang="tr-TR" sz="1800" dirty="0">
                <a:latin typeface="Candara" panose="020E0502030303020204" pitchFamily="34" charset="0"/>
              </a:rPr>
              <a:t>kullanılan kodlama sistemleri yalın ikili sayı sisteminde olmayabilir.</a:t>
            </a:r>
          </a:p>
          <a:p>
            <a:pPr algn="just">
              <a:lnSpc>
                <a:spcPct val="170000"/>
              </a:lnSpc>
            </a:pPr>
            <a:r>
              <a:rPr lang="tr-TR" sz="1800" dirty="0">
                <a:latin typeface="Candara" panose="020E0502030303020204" pitchFamily="34" charset="0"/>
              </a:rPr>
              <a:t>Yalnızca sayısal karakterlerin kullanıldığı sayısal kodlama sistemlerinin çok geniş uygulama alanı olması nedeni ile, çok farklı sayısal kodlama yöntemleri kullanılmaktadır. Sayısal kodlama yöntemlerine örnek olarak;</a:t>
            </a:r>
          </a:p>
          <a:p>
            <a:pPr lvl="1" algn="just">
              <a:lnSpc>
                <a:spcPct val="170000"/>
              </a:lnSpc>
            </a:pPr>
            <a:r>
              <a:rPr lang="tr-TR" sz="1600" dirty="0">
                <a:latin typeface="Candara" panose="020E0502030303020204" pitchFamily="34" charset="0"/>
              </a:rPr>
              <a:t>BCD kodu,</a:t>
            </a:r>
          </a:p>
          <a:p>
            <a:pPr lvl="1" algn="just">
              <a:lnSpc>
                <a:spcPct val="170000"/>
              </a:lnSpc>
            </a:pPr>
            <a:r>
              <a:rPr lang="tr-TR" sz="1600" dirty="0">
                <a:latin typeface="Candara" panose="020E0502030303020204" pitchFamily="34" charset="0"/>
              </a:rPr>
              <a:t>Gray kodu,</a:t>
            </a:r>
          </a:p>
          <a:p>
            <a:pPr lvl="1" algn="just">
              <a:lnSpc>
                <a:spcPct val="170000"/>
              </a:lnSpc>
            </a:pPr>
            <a:r>
              <a:rPr lang="tr-TR" sz="1600" dirty="0">
                <a:latin typeface="Candara" panose="020E0502030303020204" pitchFamily="34" charset="0"/>
              </a:rPr>
              <a:t>+3 kodu,</a:t>
            </a:r>
          </a:p>
          <a:p>
            <a:pPr lvl="1" algn="just">
              <a:lnSpc>
                <a:spcPct val="170000"/>
              </a:lnSpc>
            </a:pPr>
            <a:r>
              <a:rPr lang="tr-TR" sz="1600" dirty="0" err="1">
                <a:latin typeface="Candara" panose="020E0502030303020204" pitchFamily="34" charset="0"/>
              </a:rPr>
              <a:t>Aiken</a:t>
            </a:r>
            <a:r>
              <a:rPr lang="tr-TR" sz="1600" dirty="0">
                <a:latin typeface="Candara" panose="020E0502030303020204" pitchFamily="34" charset="0"/>
              </a:rPr>
              <a:t> kodu,</a:t>
            </a:r>
          </a:p>
          <a:p>
            <a:pPr lvl="1" algn="just">
              <a:lnSpc>
                <a:spcPct val="170000"/>
              </a:lnSpc>
            </a:pPr>
            <a:r>
              <a:rPr lang="tr-TR" sz="1600" dirty="0">
                <a:latin typeface="Candara" panose="020E0502030303020204" pitchFamily="34" charset="0"/>
              </a:rPr>
              <a:t>5’te 2 kodu,</a:t>
            </a:r>
          </a:p>
          <a:p>
            <a:pPr lvl="1" algn="just">
              <a:lnSpc>
                <a:spcPct val="170000"/>
              </a:lnSpc>
            </a:pPr>
            <a:r>
              <a:rPr lang="tr-TR" sz="1600" dirty="0">
                <a:latin typeface="Candara" panose="020E0502030303020204" pitchFamily="34" charset="0"/>
              </a:rPr>
              <a:t>Bar kodu kodlama yöntemleri verilebilir.</a:t>
            </a:r>
          </a:p>
          <a:p>
            <a:pPr algn="just">
              <a:lnSpc>
                <a:spcPct val="170000"/>
              </a:lnSpc>
            </a:pPr>
            <a:endParaRPr lang="tr-TR" sz="1600" dirty="0">
              <a:latin typeface="Candara" panose="020E0502030303020204" pitchFamily="34" charset="0"/>
            </a:endParaRPr>
          </a:p>
        </p:txBody>
      </p:sp>
    </p:spTree>
    <p:extLst>
      <p:ext uri="{BB962C8B-B14F-4D97-AF65-F5344CB8AC3E}">
        <p14:creationId xmlns:p14="http://schemas.microsoft.com/office/powerpoint/2010/main" val="831470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59532" y="777059"/>
            <a:ext cx="8424936" cy="3000821"/>
          </a:xfrm>
          <a:prstGeom prst="rect">
            <a:avLst/>
          </a:prstGeom>
        </p:spPr>
        <p:txBody>
          <a:bodyPr wrap="square">
            <a:spAutoFit/>
          </a:bodyPr>
          <a:lstStyle/>
          <a:p>
            <a:pPr algn="just">
              <a:lnSpc>
                <a:spcPct val="150000"/>
              </a:lnSpc>
            </a:pPr>
            <a:r>
              <a:rPr lang="tr-TR" dirty="0">
                <a:latin typeface="Candara" panose="020E0502030303020204" pitchFamily="34" charset="0"/>
              </a:rPr>
              <a:t>Onluk sistemdeki bir sayının, her bir basamağının ikilik sayı sistemindeki karşılığının dört bit şeklinde yazılması ile ortaya </a:t>
            </a:r>
            <a:r>
              <a:rPr lang="tr-TR" dirty="0" err="1">
                <a:latin typeface="Candara" panose="020E0502030303020204" pitchFamily="34" charset="0"/>
              </a:rPr>
              <a:t>cıkan</a:t>
            </a:r>
            <a:r>
              <a:rPr lang="tr-TR" dirty="0">
                <a:latin typeface="Candara" panose="020E0502030303020204" pitchFamily="34" charset="0"/>
              </a:rPr>
              <a:t> kodlama yöntemine, </a:t>
            </a:r>
            <a:r>
              <a:rPr lang="tr-TR" b="1" dirty="0">
                <a:latin typeface="Candara" panose="020E0502030303020204" pitchFamily="34" charset="0"/>
              </a:rPr>
              <a:t>‘İkili Kodlanmış Onlu Sayı Kodu - BCD kodu’ </a:t>
            </a:r>
            <a:r>
              <a:rPr lang="tr-TR" dirty="0">
                <a:latin typeface="Candara" panose="020E0502030303020204" pitchFamily="34" charset="0"/>
              </a:rPr>
              <a:t>(</a:t>
            </a:r>
            <a:r>
              <a:rPr lang="tr-TR" b="1" dirty="0" err="1">
                <a:latin typeface="Candara" panose="020E0502030303020204" pitchFamily="34" charset="0"/>
              </a:rPr>
              <a:t>B</a:t>
            </a:r>
            <a:r>
              <a:rPr lang="tr-TR" dirty="0" err="1">
                <a:latin typeface="Candara" panose="020E0502030303020204" pitchFamily="34" charset="0"/>
              </a:rPr>
              <a:t>inary</a:t>
            </a:r>
            <a:r>
              <a:rPr lang="tr-TR" dirty="0">
                <a:latin typeface="Candara" panose="020E0502030303020204" pitchFamily="34" charset="0"/>
              </a:rPr>
              <a:t> </a:t>
            </a:r>
            <a:r>
              <a:rPr lang="tr-TR" b="1" dirty="0" err="1">
                <a:latin typeface="Candara" panose="020E0502030303020204" pitchFamily="34" charset="0"/>
              </a:rPr>
              <a:t>C</a:t>
            </a:r>
            <a:r>
              <a:rPr lang="tr-TR" dirty="0" err="1">
                <a:latin typeface="Candara" panose="020E0502030303020204" pitchFamily="34" charset="0"/>
              </a:rPr>
              <a:t>oded</a:t>
            </a:r>
            <a:r>
              <a:rPr lang="tr-TR" dirty="0">
                <a:latin typeface="Candara" panose="020E0502030303020204" pitchFamily="34" charset="0"/>
              </a:rPr>
              <a:t> </a:t>
            </a:r>
            <a:r>
              <a:rPr lang="tr-TR" b="1" dirty="0" err="1">
                <a:latin typeface="Candara" panose="020E0502030303020204" pitchFamily="34" charset="0"/>
              </a:rPr>
              <a:t>D</a:t>
            </a:r>
            <a:r>
              <a:rPr lang="tr-TR" dirty="0" err="1">
                <a:latin typeface="Candara" panose="020E0502030303020204" pitchFamily="34" charset="0"/>
              </a:rPr>
              <a:t>ecimal</a:t>
            </a:r>
            <a:r>
              <a:rPr lang="tr-TR" dirty="0">
                <a:latin typeface="Candara" panose="020E0502030303020204" pitchFamily="34" charset="0"/>
              </a:rPr>
              <a:t> </a:t>
            </a:r>
            <a:r>
              <a:rPr lang="tr-TR" dirty="0" err="1">
                <a:latin typeface="Candara" panose="020E0502030303020204" pitchFamily="34" charset="0"/>
              </a:rPr>
              <a:t>Code</a:t>
            </a:r>
            <a:r>
              <a:rPr lang="tr-TR" dirty="0">
                <a:latin typeface="Candara" panose="020E0502030303020204" pitchFamily="34" charset="0"/>
              </a:rPr>
              <a:t>) ismi verilir. Onluk sayı </a:t>
            </a:r>
            <a:r>
              <a:rPr lang="tr-TR">
                <a:latin typeface="Candara" panose="020E0502030303020204" pitchFamily="34" charset="0"/>
              </a:rPr>
              <a:t>sistemi 0</a:t>
            </a:r>
            <a:r>
              <a:rPr lang="tr-TR" smtClean="0">
                <a:latin typeface="Candara" panose="020E0502030303020204" pitchFamily="34" charset="0"/>
              </a:rPr>
              <a:t> </a:t>
            </a:r>
            <a:r>
              <a:rPr lang="tr-TR" dirty="0">
                <a:latin typeface="Candara" panose="020E0502030303020204" pitchFamily="34" charset="0"/>
              </a:rPr>
              <a:t>ile 9 arasındaki sayıları içerdiğinden, her basamaktaki sayının ikili sistemde kodlanması için 4 bite ihtiyaç vardır. Onlu bir sayıyı BCD kodlu olarak yazmak için, onlu sayının her bir basamağı 4 bitlik ikili sayı grupları şeklinde yazılır. Yazılan gruplar bir araya getirilince BCD kodlu sayı elde edilir.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564" y="3737652"/>
            <a:ext cx="3240361" cy="3120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8077" y="3734920"/>
            <a:ext cx="2739490" cy="3120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Dikdörtgen 5">
            <a:extLst>
              <a:ext uri="{FF2B5EF4-FFF2-40B4-BE49-F238E27FC236}">
                <a16:creationId xmlns:a16="http://schemas.microsoft.com/office/drawing/2014/main" id="{B6266116-08CB-4FAB-96CD-62437D3E1E30}"/>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1.1. BCD Kodu (</a:t>
            </a:r>
            <a:r>
              <a:rPr lang="tr-TR" sz="2800" b="1" dirty="0" err="1">
                <a:latin typeface="Candara" panose="020E0502030303020204" pitchFamily="34" charset="0"/>
              </a:rPr>
              <a:t>Binary</a:t>
            </a:r>
            <a:r>
              <a:rPr lang="tr-TR" sz="2800" b="1" dirty="0">
                <a:latin typeface="Candara" panose="020E0502030303020204" pitchFamily="34" charset="0"/>
              </a:rPr>
              <a:t> </a:t>
            </a:r>
            <a:r>
              <a:rPr lang="tr-TR" sz="2800" b="1" dirty="0" err="1">
                <a:latin typeface="Candara" panose="020E0502030303020204" pitchFamily="34" charset="0"/>
              </a:rPr>
              <a:t>Coded</a:t>
            </a:r>
            <a:r>
              <a:rPr lang="tr-TR" sz="2800" b="1" dirty="0">
                <a:latin typeface="Candara" panose="020E0502030303020204" pitchFamily="34" charset="0"/>
              </a:rPr>
              <a:t> </a:t>
            </a:r>
            <a:r>
              <a:rPr lang="tr-TR" sz="2800" b="1" dirty="0" err="1">
                <a:latin typeface="Candara" panose="020E0502030303020204" pitchFamily="34" charset="0"/>
              </a:rPr>
              <a:t>Decimal</a:t>
            </a:r>
            <a:r>
              <a:rPr lang="tr-TR" sz="2800" b="1" dirty="0">
                <a:latin typeface="Candara" panose="020E0502030303020204" pitchFamily="34" charset="0"/>
              </a:rPr>
              <a:t> </a:t>
            </a:r>
            <a:r>
              <a:rPr lang="tr-TR" sz="2800" b="1" dirty="0" err="1">
                <a:latin typeface="Candara" panose="020E0502030303020204" pitchFamily="34" charset="0"/>
              </a:rPr>
              <a:t>Code</a:t>
            </a:r>
            <a:r>
              <a:rPr lang="tr-TR" sz="2800" b="1" dirty="0">
                <a:latin typeface="Candara" panose="020E0502030303020204" pitchFamily="34" charset="0"/>
              </a:rPr>
              <a:t>) - 8421 Kodu</a:t>
            </a:r>
          </a:p>
        </p:txBody>
      </p:sp>
    </p:spTree>
    <p:extLst>
      <p:ext uri="{BB962C8B-B14F-4D97-AF65-F5344CB8AC3E}">
        <p14:creationId xmlns:p14="http://schemas.microsoft.com/office/powerpoint/2010/main" val="2049379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a:extLst>
              <a:ext uri="{FF2B5EF4-FFF2-40B4-BE49-F238E27FC236}">
                <a16:creationId xmlns:a16="http://schemas.microsoft.com/office/drawing/2014/main" id="{580B05A4-85E1-4492-ADEE-FB86BCFA7611}"/>
              </a:ext>
            </a:extLst>
          </p:cNvPr>
          <p:cNvPicPr>
            <a:picLocks noGrp="1" noChangeAspect="1"/>
          </p:cNvPicPr>
          <p:nvPr>
            <p:ph idx="1"/>
          </p:nvPr>
        </p:nvPicPr>
        <p:blipFill>
          <a:blip r:embed="rId2"/>
          <a:stretch>
            <a:fillRect/>
          </a:stretch>
        </p:blipFill>
        <p:spPr>
          <a:xfrm>
            <a:off x="179512" y="692696"/>
            <a:ext cx="8784976" cy="4257885"/>
          </a:xfrm>
          <a:prstGeom prst="rect">
            <a:avLst/>
          </a:prstGeom>
        </p:spPr>
      </p:pic>
    </p:spTree>
    <p:extLst>
      <p:ext uri="{BB962C8B-B14F-4D97-AF65-F5344CB8AC3E}">
        <p14:creationId xmlns:p14="http://schemas.microsoft.com/office/powerpoint/2010/main" val="1503051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EB4D6909-53D3-4A70-BB38-F7D9C81640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606" y="620688"/>
            <a:ext cx="8722882"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684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806405CD-C44D-43D7-82D1-E85C72C9D4F9}"/>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1.2. Gray Kodu</a:t>
            </a:r>
          </a:p>
        </p:txBody>
      </p:sp>
      <mc:AlternateContent xmlns:mc="http://schemas.openxmlformats.org/markup-compatibility/2006" xmlns:a14="http://schemas.microsoft.com/office/drawing/2010/main">
        <mc:Choice Requires="a14">
          <p:sp>
            <p:nvSpPr>
              <p:cNvPr id="5" name="İçerik Yer Tutucusu 4">
                <a:extLst>
                  <a:ext uri="{FF2B5EF4-FFF2-40B4-BE49-F238E27FC236}">
                    <a16:creationId xmlns:a16="http://schemas.microsoft.com/office/drawing/2014/main" id="{CB6DE028-02E9-42D9-9384-92384943C32F}"/>
                  </a:ext>
                </a:extLst>
              </p:cNvPr>
              <p:cNvSpPr>
                <a:spLocks noGrp="1"/>
              </p:cNvSpPr>
              <p:nvPr>
                <p:ph idx="1"/>
              </p:nvPr>
            </p:nvSpPr>
            <p:spPr>
              <a:xfrm>
                <a:off x="457200" y="1124744"/>
                <a:ext cx="8229600" cy="5001419"/>
              </a:xfrm>
            </p:spPr>
            <p:txBody>
              <a:bodyPr>
                <a:normAutofit/>
              </a:bodyPr>
              <a:lstStyle/>
              <a:p>
                <a:pPr algn="just">
                  <a:lnSpc>
                    <a:spcPct val="150000"/>
                  </a:lnSpc>
                </a:pPr>
                <a:r>
                  <a:rPr lang="tr-TR" sz="2000" dirty="0">
                    <a:latin typeface="Candara" panose="020E0502030303020204" pitchFamily="34" charset="0"/>
                  </a:rPr>
                  <a:t>Gray kodlama yöntemi, basamak ağırlığı olmayan bir kodlama yöntemidir. Basamak ağırlığının olmaması, her bir basamaktaki sayıların basamak ağırlıklarına göre karşılıklarının olmamasıdır.</a:t>
                </a:r>
              </a:p>
              <a:p>
                <a:pPr algn="just">
                  <a:lnSpc>
                    <a:spcPct val="150000"/>
                  </a:lnSpc>
                </a:pPr>
                <a:r>
                  <a:rPr lang="tr-TR" sz="2000" dirty="0">
                    <a:latin typeface="Candara" panose="020E0502030303020204" pitchFamily="34" charset="0"/>
                  </a:rPr>
                  <a:t>Sayısal elektronik ve bilgisayar giriş-çıkış işlemlerinde kullanılan Gray kodlama yöntemi, minimum değişimli kodlar sınıfı içerisinde yer alır. Bunun nedeni bir sayıdan diğerine geçerken yalnızca bir bitin konum değiştirmesidir. Örneğin; yalın ikili (</a:t>
                </a:r>
                <a:r>
                  <a:rPr lang="tr-TR" sz="2000" dirty="0" err="1">
                    <a:latin typeface="Candara" panose="020E0502030303020204" pitchFamily="34" charset="0"/>
                  </a:rPr>
                  <a:t>binary</a:t>
                </a:r>
                <a:r>
                  <a:rPr lang="tr-TR" sz="2000" dirty="0">
                    <a:latin typeface="Candara" panose="020E0502030303020204" pitchFamily="34" charset="0"/>
                  </a:rPr>
                  <a:t>) kodlamada, </a:t>
                </a:r>
                <a14:m>
                  <m:oMath xmlns:m="http://schemas.openxmlformats.org/officeDocument/2006/math">
                    <m:sSub>
                      <m:sSubPr>
                        <m:ctrlPr>
                          <a:rPr lang="tr-TR" sz="2000" i="1" smtClean="0">
                            <a:latin typeface="Cambria Math" panose="02040503050406030204" pitchFamily="18" charset="0"/>
                          </a:rPr>
                        </m:ctrlPr>
                      </m:sSubPr>
                      <m:e>
                        <m:r>
                          <a:rPr lang="en-US" sz="2000" b="0" i="1" smtClean="0">
                            <a:latin typeface="Cambria Math" panose="02040503050406030204" pitchFamily="18" charset="0"/>
                          </a:rPr>
                          <m:t>(3)</m:t>
                        </m:r>
                      </m:e>
                      <m:sub>
                        <m:r>
                          <a:rPr lang="en-US" sz="2000" b="0" i="1" smtClean="0">
                            <a:latin typeface="Cambria Math" panose="02040503050406030204" pitchFamily="18" charset="0"/>
                          </a:rPr>
                          <m:t>10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(0011)</m:t>
                        </m:r>
                      </m:e>
                      <m:sub>
                        <m:r>
                          <a:rPr lang="en-US" sz="2000" b="0" i="1" smtClean="0">
                            <a:latin typeface="Cambria Math" panose="02040503050406030204" pitchFamily="18" charset="0"/>
                          </a:rPr>
                          <m:t>2</m:t>
                        </m:r>
                      </m:sub>
                    </m:sSub>
                  </m:oMath>
                </a14:m>
                <a:r>
                  <a:rPr lang="tr-TR" sz="2000" dirty="0"/>
                  <a:t> </a:t>
                </a:r>
                <a:r>
                  <a:rPr lang="tr-TR" sz="2000" dirty="0">
                    <a:latin typeface="Candara" panose="020E0502030303020204" pitchFamily="34" charset="0"/>
                  </a:rPr>
                  <a:t>değerinden </a:t>
                </a:r>
                <a14:m>
                  <m:oMath xmlns:m="http://schemas.openxmlformats.org/officeDocument/2006/math">
                    <m:sSub>
                      <m:sSubPr>
                        <m:ctrlPr>
                          <a:rPr lang="tr-TR" sz="2000" i="1">
                            <a:latin typeface="Cambria Math" panose="02040503050406030204" pitchFamily="18" charset="0"/>
                          </a:rPr>
                        </m:ctrlPr>
                      </m:sSubPr>
                      <m:e>
                        <m:r>
                          <a:rPr lang="en-US" sz="2000" i="1">
                            <a:latin typeface="Cambria Math" panose="02040503050406030204" pitchFamily="18" charset="0"/>
                          </a:rPr>
                          <m:t>(4)</m:t>
                        </m:r>
                      </m:e>
                      <m:sub>
                        <m:r>
                          <a:rPr lang="en-US" sz="2000" i="1">
                            <a:latin typeface="Cambria Math" panose="02040503050406030204" pitchFamily="18" charset="0"/>
                          </a:rPr>
                          <m:t>10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(0100)</m:t>
                        </m:r>
                      </m:e>
                      <m:sub>
                        <m:r>
                          <a:rPr lang="en-US" sz="2000" i="1">
                            <a:latin typeface="Cambria Math" panose="02040503050406030204" pitchFamily="18" charset="0"/>
                          </a:rPr>
                          <m:t>2</m:t>
                        </m:r>
                      </m:sub>
                    </m:sSub>
                    <m:r>
                      <a:rPr lang="en-US" sz="2000" i="1">
                        <a:latin typeface="Cambria Math" panose="02040503050406030204" pitchFamily="18" charset="0"/>
                      </a:rPr>
                      <m:t> </m:t>
                    </m:r>
                  </m:oMath>
                </a14:m>
                <a:r>
                  <a:rPr lang="tr-TR" sz="2000" dirty="0">
                    <a:latin typeface="Candara" panose="020E0502030303020204" pitchFamily="34" charset="0"/>
                  </a:rPr>
                  <a:t>değerine geçerken, üç bitin değeri değişirken; </a:t>
                </a:r>
                <a:r>
                  <a:rPr lang="tr-TR" sz="2000" dirty="0" err="1">
                    <a:latin typeface="Candara" panose="020E0502030303020204" pitchFamily="34" charset="0"/>
                  </a:rPr>
                  <a:t>gray</a:t>
                </a:r>
                <a:r>
                  <a:rPr lang="tr-TR" sz="2000" dirty="0">
                    <a:latin typeface="Candara" panose="020E0502030303020204" pitchFamily="34" charset="0"/>
                  </a:rPr>
                  <a:t> kodlamada yalnızca bir bitin değeri değişir. Yalnızca, 9’dan 0’a geçişte çok sayıda bit konum değiştirir.</a:t>
                </a:r>
              </a:p>
              <a:p>
                <a:pPr algn="just">
                  <a:lnSpc>
                    <a:spcPct val="150000"/>
                  </a:lnSpc>
                </a:pPr>
                <a:endParaRPr lang="tr-TR" sz="2000" dirty="0">
                  <a:latin typeface="Candara" panose="020E0502030303020204" pitchFamily="34" charset="0"/>
                </a:endParaRPr>
              </a:p>
              <a:p>
                <a:pPr algn="just">
                  <a:lnSpc>
                    <a:spcPct val="150000"/>
                  </a:lnSpc>
                </a:pPr>
                <a:endParaRPr lang="tr-TR" sz="2000" dirty="0">
                  <a:latin typeface="Candara" panose="020E0502030303020204" pitchFamily="34" charset="0"/>
                </a:endParaRPr>
              </a:p>
            </p:txBody>
          </p:sp>
        </mc:Choice>
        <mc:Fallback xmlns="">
          <p:sp>
            <p:nvSpPr>
              <p:cNvPr id="5" name="İçerik Yer Tutucusu 4">
                <a:extLst>
                  <a:ext uri="{FF2B5EF4-FFF2-40B4-BE49-F238E27FC236}">
                    <a16:creationId xmlns:a16="http://schemas.microsoft.com/office/drawing/2014/main" id="{CB6DE028-02E9-42D9-9384-92384943C32F}"/>
                  </a:ext>
                </a:extLst>
              </p:cNvPr>
              <p:cNvSpPr>
                <a:spLocks noGrp="1" noRot="1" noChangeAspect="1" noMove="1" noResize="1" noEditPoints="1" noAdjustHandles="1" noChangeArrowheads="1" noChangeShapeType="1" noTextEdit="1"/>
              </p:cNvSpPr>
              <p:nvPr>
                <p:ph idx="1"/>
              </p:nvPr>
            </p:nvSpPr>
            <p:spPr>
              <a:xfrm>
                <a:off x="457200" y="1124744"/>
                <a:ext cx="8229600" cy="5001419"/>
              </a:xfrm>
              <a:blipFill>
                <a:blip r:embed="rId2"/>
                <a:stretch>
                  <a:fillRect l="-667" r="-741"/>
                </a:stretch>
              </a:blipFill>
            </p:spPr>
            <p:txBody>
              <a:bodyPr/>
              <a:lstStyle/>
              <a:p>
                <a:r>
                  <a:rPr lang="tr-TR">
                    <a:noFill/>
                  </a:rPr>
                  <a:t> </a:t>
                </a:r>
              </a:p>
            </p:txBody>
          </p:sp>
        </mc:Fallback>
      </mc:AlternateContent>
    </p:spTree>
    <p:extLst>
      <p:ext uri="{BB962C8B-B14F-4D97-AF65-F5344CB8AC3E}">
        <p14:creationId xmlns:p14="http://schemas.microsoft.com/office/powerpoint/2010/main" val="2551451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836713"/>
            <a:ext cx="8784976" cy="5400600"/>
          </a:xfrm>
          <a:prstGeom prst="rect">
            <a:avLst/>
          </a:prstGeom>
        </p:spPr>
        <p:txBody>
          <a:bodyPr vert="horz" lIns="91440" tIns="45720" rIns="91440" bIns="45720" rtlCol="0">
            <a:normAutofit lnSpcReduction="10000"/>
          </a:bodyPr>
          <a:lstStyle/>
          <a:p>
            <a:pPr marL="342900" indent="-342900" algn="just">
              <a:lnSpc>
                <a:spcPct val="150000"/>
              </a:lnSpc>
              <a:spcBef>
                <a:spcPct val="20000"/>
              </a:spcBef>
              <a:buFont typeface="Arial" panose="020B0604020202020204" pitchFamily="34" charset="0"/>
              <a:buChar char="•"/>
            </a:pPr>
            <a:r>
              <a:rPr lang="tr-TR" sz="2000" dirty="0">
                <a:latin typeface="Candara" panose="020E0502030303020204" pitchFamily="34" charset="0"/>
              </a:rPr>
              <a:t>Gray kodlanmış sayılarda basamak değeri olmadığından, bu kodlama yönteminin aritmetik</a:t>
            </a:r>
            <a:r>
              <a:rPr lang="en-US" sz="2000" dirty="0">
                <a:latin typeface="Candara" panose="020E0502030303020204" pitchFamily="34" charset="0"/>
              </a:rPr>
              <a:t> </a:t>
            </a:r>
            <a:r>
              <a:rPr lang="tr-TR" sz="2000" dirty="0">
                <a:latin typeface="Candara" panose="020E0502030303020204" pitchFamily="34" charset="0"/>
              </a:rPr>
              <a:t>işlemlerin olduğu yerlerde kullanılması mümkün değildir. Ancak sütun esasına göre çalışan</a:t>
            </a:r>
            <a:r>
              <a:rPr lang="en-US" sz="2000" dirty="0">
                <a:latin typeface="Candara" panose="020E0502030303020204" pitchFamily="34" charset="0"/>
              </a:rPr>
              <a:t> </a:t>
            </a:r>
            <a:r>
              <a:rPr lang="tr-TR" sz="2000" dirty="0">
                <a:latin typeface="Candara" panose="020E0502030303020204" pitchFamily="34" charset="0"/>
              </a:rPr>
              <a:t>cihazlardaki hatayı azalttığından, giriş / çıkış birimlerinde ve analog - dijital çeviricilerde</a:t>
            </a:r>
            <a:r>
              <a:rPr lang="en-US" sz="2000" dirty="0">
                <a:latin typeface="Candara" panose="020E0502030303020204" pitchFamily="34" charset="0"/>
              </a:rPr>
              <a:t> </a:t>
            </a:r>
            <a:r>
              <a:rPr lang="tr-TR" sz="2000" dirty="0">
                <a:latin typeface="Candara" panose="020E0502030303020204" pitchFamily="34" charset="0"/>
              </a:rPr>
              <a:t>tercih edilirler.</a:t>
            </a:r>
          </a:p>
          <a:p>
            <a:pPr marL="342900" indent="-342900" algn="just">
              <a:lnSpc>
                <a:spcPct val="150000"/>
              </a:lnSpc>
              <a:spcBef>
                <a:spcPct val="20000"/>
              </a:spcBef>
              <a:buFont typeface="Arial" panose="020B0604020202020204" pitchFamily="34" charset="0"/>
              <a:buChar char="•"/>
            </a:pPr>
            <a:r>
              <a:rPr lang="tr-TR" sz="2000" dirty="0">
                <a:latin typeface="Candara" panose="020E0502030303020204" pitchFamily="34" charset="0"/>
              </a:rPr>
              <a:t>Onlu sayıların karşılığı olan ikili sayıları Gray kodlanmış olarak ifade etmek için, bir sayıdan</a:t>
            </a:r>
            <a:r>
              <a:rPr lang="en-US" sz="2000" dirty="0">
                <a:latin typeface="Candara" panose="020E0502030303020204" pitchFamily="34" charset="0"/>
              </a:rPr>
              <a:t> </a:t>
            </a:r>
            <a:r>
              <a:rPr lang="tr-TR" sz="2000" dirty="0">
                <a:latin typeface="Candara" panose="020E0502030303020204" pitchFamily="34" charset="0"/>
              </a:rPr>
              <a:t>diğerine geçişte tek bir bitin değer değiştirmesi esas alınır. Tablo 3.1’de, 0-15 arasındaki</a:t>
            </a:r>
            <a:r>
              <a:rPr lang="en-US" sz="2000" dirty="0">
                <a:latin typeface="Candara" panose="020E0502030303020204" pitchFamily="34" charset="0"/>
              </a:rPr>
              <a:t> </a:t>
            </a:r>
            <a:r>
              <a:rPr lang="tr-TR" sz="2000" dirty="0">
                <a:latin typeface="Candara" panose="020E0502030303020204" pitchFamily="34" charset="0"/>
              </a:rPr>
              <a:t>onlu sayıların karşılığı olan ikili ve </a:t>
            </a:r>
            <a:r>
              <a:rPr lang="tr-TR" sz="2000" dirty="0" err="1">
                <a:latin typeface="Candara" panose="020E0502030303020204" pitchFamily="34" charset="0"/>
              </a:rPr>
              <a:t>gray</a:t>
            </a:r>
            <a:r>
              <a:rPr lang="tr-TR" sz="2000" dirty="0">
                <a:latin typeface="Candara" panose="020E0502030303020204" pitchFamily="34" charset="0"/>
              </a:rPr>
              <a:t> kodlanmış sayılar görülmektedir. </a:t>
            </a:r>
          </a:p>
          <a:p>
            <a:pPr marL="342900" indent="-342900" algn="just">
              <a:lnSpc>
                <a:spcPct val="150000"/>
              </a:lnSpc>
              <a:spcBef>
                <a:spcPct val="20000"/>
              </a:spcBef>
              <a:buFont typeface="Arial" panose="020B0604020202020204" pitchFamily="34" charset="0"/>
              <a:buChar char="•"/>
            </a:pPr>
            <a:r>
              <a:rPr lang="tr-TR" sz="2000" dirty="0">
                <a:latin typeface="Candara" panose="020E0502030303020204" pitchFamily="34" charset="0"/>
              </a:rPr>
              <a:t>Gray kodlu</a:t>
            </a:r>
            <a:r>
              <a:rPr lang="en-US" sz="2000" dirty="0">
                <a:latin typeface="Candara" panose="020E0502030303020204" pitchFamily="34" charset="0"/>
              </a:rPr>
              <a:t> </a:t>
            </a:r>
            <a:r>
              <a:rPr lang="tr-TR" sz="2000" dirty="0">
                <a:latin typeface="Candara" panose="020E0502030303020204" pitchFamily="34" charset="0"/>
              </a:rPr>
              <a:t>sayıların</a:t>
            </a:r>
            <a:r>
              <a:rPr lang="en-US" sz="2000" dirty="0">
                <a:latin typeface="Candara" panose="020E0502030303020204" pitchFamily="34" charset="0"/>
              </a:rPr>
              <a:t> </a:t>
            </a:r>
            <a:r>
              <a:rPr lang="tr-TR" sz="2000" dirty="0">
                <a:latin typeface="Candara" panose="020E0502030303020204" pitchFamily="34" charset="0"/>
              </a:rPr>
              <a:t>dezavantajı; toplama, çıkarma ve diğer aritmetik işlemleri yapabilmek için ikili sayı</a:t>
            </a:r>
            <a:r>
              <a:rPr lang="en-US" sz="2000" dirty="0">
                <a:latin typeface="Candara" panose="020E0502030303020204" pitchFamily="34" charset="0"/>
              </a:rPr>
              <a:t> </a:t>
            </a:r>
            <a:r>
              <a:rPr lang="tr-TR" sz="2000" dirty="0">
                <a:latin typeface="Candara" panose="020E0502030303020204" pitchFamily="34" charset="0"/>
              </a:rPr>
              <a:t>sistemine dönüştürülme zorunluluğudur. Bu durumda ikili sayıları Gray koda çevirmek veya</a:t>
            </a:r>
            <a:r>
              <a:rPr lang="en-US" sz="2000" dirty="0">
                <a:latin typeface="Candara" panose="020E0502030303020204" pitchFamily="34" charset="0"/>
              </a:rPr>
              <a:t> </a:t>
            </a:r>
            <a:r>
              <a:rPr lang="tr-TR" sz="2000" dirty="0">
                <a:latin typeface="Candara" panose="020E0502030303020204" pitchFamily="34" charset="0"/>
              </a:rPr>
              <a:t>Gray kodlu bir sayının ikili karşılığını bulmak için aşağıdaki yöntemler kullanılır.</a:t>
            </a:r>
          </a:p>
        </p:txBody>
      </p:sp>
      <p:sp>
        <p:nvSpPr>
          <p:cNvPr id="3" name="Dikdörtgen 2">
            <a:extLst>
              <a:ext uri="{FF2B5EF4-FFF2-40B4-BE49-F238E27FC236}">
                <a16:creationId xmlns:a16="http://schemas.microsoft.com/office/drawing/2014/main" id="{806405CD-C44D-43D7-82D1-E85C72C9D4F9}"/>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1.2. Gray Kodu</a:t>
            </a:r>
          </a:p>
        </p:txBody>
      </p:sp>
    </p:spTree>
    <p:extLst>
      <p:ext uri="{BB962C8B-B14F-4D97-AF65-F5344CB8AC3E}">
        <p14:creationId xmlns:p14="http://schemas.microsoft.com/office/powerpoint/2010/main" val="951152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836713"/>
            <a:ext cx="8784976" cy="5400600"/>
          </a:xfrm>
          <a:prstGeom prst="rect">
            <a:avLst/>
          </a:prstGeom>
        </p:spPr>
        <p:txBody>
          <a:bodyPr vert="horz" lIns="91440" tIns="45720" rIns="91440" bIns="45720" rtlCol="0">
            <a:normAutofit/>
          </a:bodyPr>
          <a:lstStyle/>
          <a:p>
            <a:pPr marL="342900" indent="-342900" algn="just">
              <a:lnSpc>
                <a:spcPct val="150000"/>
              </a:lnSpc>
              <a:spcBef>
                <a:spcPct val="20000"/>
              </a:spcBef>
              <a:buFont typeface="Arial" panose="020B0604020202020204" pitchFamily="34" charset="0"/>
              <a:buChar char="•"/>
            </a:pPr>
            <a:endParaRPr lang="tr-TR" sz="2000" dirty="0">
              <a:latin typeface="Candara" panose="020E0502030303020204" pitchFamily="34" charset="0"/>
            </a:endParaRPr>
          </a:p>
        </p:txBody>
      </p:sp>
      <p:sp>
        <p:nvSpPr>
          <p:cNvPr id="3" name="Dikdörtgen 2">
            <a:extLst>
              <a:ext uri="{FF2B5EF4-FFF2-40B4-BE49-F238E27FC236}">
                <a16:creationId xmlns:a16="http://schemas.microsoft.com/office/drawing/2014/main" id="{806405CD-C44D-43D7-82D1-E85C72C9D4F9}"/>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1.2. Gray Kodu</a:t>
            </a:r>
          </a:p>
        </p:txBody>
      </p:sp>
      <p:pic>
        <p:nvPicPr>
          <p:cNvPr id="8" name="Resim 7">
            <a:extLst>
              <a:ext uri="{FF2B5EF4-FFF2-40B4-BE49-F238E27FC236}">
                <a16:creationId xmlns:a16="http://schemas.microsoft.com/office/drawing/2014/main" id="{9EDDC86B-9138-46DB-A51D-6C0F4795BCFB}"/>
              </a:ext>
            </a:extLst>
          </p:cNvPr>
          <p:cNvPicPr>
            <a:picLocks noChangeAspect="1"/>
          </p:cNvPicPr>
          <p:nvPr/>
        </p:nvPicPr>
        <p:blipFill>
          <a:blip r:embed="rId2"/>
          <a:stretch>
            <a:fillRect/>
          </a:stretch>
        </p:blipFill>
        <p:spPr>
          <a:xfrm>
            <a:off x="1511660" y="622890"/>
            <a:ext cx="6120680" cy="6200299"/>
          </a:xfrm>
          <a:prstGeom prst="rect">
            <a:avLst/>
          </a:prstGeom>
        </p:spPr>
      </p:pic>
    </p:spTree>
    <p:extLst>
      <p:ext uri="{BB962C8B-B14F-4D97-AF65-F5344CB8AC3E}">
        <p14:creationId xmlns:p14="http://schemas.microsoft.com/office/powerpoint/2010/main" val="1830615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B6C6EED0-DEF8-4004-AF22-6E66EBC2465F}"/>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İkili Sayıların Gray Koduna Çevrilmesi</a:t>
            </a:r>
          </a:p>
        </p:txBody>
      </p:sp>
      <p:sp>
        <p:nvSpPr>
          <p:cNvPr id="5" name="İçerik Yer Tutucusu 4">
            <a:extLst>
              <a:ext uri="{FF2B5EF4-FFF2-40B4-BE49-F238E27FC236}">
                <a16:creationId xmlns:a16="http://schemas.microsoft.com/office/drawing/2014/main" id="{E8F68F0E-C4DC-4903-A5C5-5FDA0D323988}"/>
              </a:ext>
            </a:extLst>
          </p:cNvPr>
          <p:cNvSpPr>
            <a:spLocks noGrp="1"/>
          </p:cNvSpPr>
          <p:nvPr>
            <p:ph idx="1"/>
          </p:nvPr>
        </p:nvSpPr>
        <p:spPr>
          <a:xfrm>
            <a:off x="179512" y="908720"/>
            <a:ext cx="8784976" cy="2952328"/>
          </a:xfrm>
        </p:spPr>
        <p:txBody>
          <a:bodyPr>
            <a:normAutofit/>
          </a:bodyPr>
          <a:lstStyle/>
          <a:p>
            <a:pPr marL="0" indent="0" algn="just">
              <a:lnSpc>
                <a:spcPct val="150000"/>
              </a:lnSpc>
              <a:buNone/>
            </a:pPr>
            <a:r>
              <a:rPr lang="tr-TR" sz="2400" dirty="0">
                <a:latin typeface="Candara" panose="020E0502030303020204" pitchFamily="34" charset="0"/>
              </a:rPr>
              <a:t>İkili sistemdeki bir sayıyı Gray kodlu sayı şekline dönüştürmek için, en yüksek basamak değerine sahip bitin solunda ‘0’ olduğu kabul edilip, her bit solundaki bit ile toplanarak yazılır. Bu işleme en düşük basamak değerlikli bite kadar devam edilir. Elde edilen sayı Gray kodlu sayıdır.</a:t>
            </a:r>
          </a:p>
          <a:p>
            <a:pPr marL="0" indent="0" algn="just">
              <a:lnSpc>
                <a:spcPct val="150000"/>
              </a:lnSpc>
              <a:buNone/>
            </a:pPr>
            <a:endParaRPr lang="tr-TR" sz="2400" dirty="0">
              <a:latin typeface="Candara" panose="020E0502030303020204" pitchFamily="34" charset="0"/>
            </a:endParaRPr>
          </a:p>
        </p:txBody>
      </p:sp>
    </p:spTree>
    <p:extLst>
      <p:ext uri="{BB962C8B-B14F-4D97-AF65-F5344CB8AC3E}">
        <p14:creationId xmlns:p14="http://schemas.microsoft.com/office/powerpoint/2010/main" val="213283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22" y="332656"/>
            <a:ext cx="8613957" cy="6264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822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ikdörtgen 4">
            <a:extLst>
              <a:ext uri="{FF2B5EF4-FFF2-40B4-BE49-F238E27FC236}">
                <a16:creationId xmlns:a16="http://schemas.microsoft.com/office/drawing/2014/main" id="{FF527E9B-A5BB-40B6-85F2-B9F7D8A19CF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tr-TR" sz="2800" b="1" dirty="0">
                <a:latin typeface="Candara" panose="020E0502030303020204" pitchFamily="34" charset="0"/>
              </a:rPr>
              <a:t>Gray Kodlu Bir Sayının İkili Sayıya Çevrilmesi</a:t>
            </a:r>
          </a:p>
        </p:txBody>
      </p:sp>
      <p:sp>
        <p:nvSpPr>
          <p:cNvPr id="7" name="İçerik Yer Tutucusu 6">
            <a:extLst>
              <a:ext uri="{FF2B5EF4-FFF2-40B4-BE49-F238E27FC236}">
                <a16:creationId xmlns:a16="http://schemas.microsoft.com/office/drawing/2014/main" id="{5B69A0AC-37CC-4FC2-8388-6E514291F62C}"/>
              </a:ext>
            </a:extLst>
          </p:cNvPr>
          <p:cNvSpPr>
            <a:spLocks noGrp="1"/>
          </p:cNvSpPr>
          <p:nvPr>
            <p:ph idx="1"/>
          </p:nvPr>
        </p:nvSpPr>
        <p:spPr>
          <a:xfrm>
            <a:off x="251520" y="980728"/>
            <a:ext cx="8640960" cy="2836912"/>
          </a:xfrm>
        </p:spPr>
        <p:txBody>
          <a:bodyPr>
            <a:normAutofit/>
          </a:bodyPr>
          <a:lstStyle/>
          <a:p>
            <a:pPr marL="0" indent="0" algn="just">
              <a:lnSpc>
                <a:spcPct val="150000"/>
              </a:lnSpc>
              <a:buNone/>
            </a:pPr>
            <a:r>
              <a:rPr lang="tr-TR" sz="2400" dirty="0">
                <a:latin typeface="Candara" panose="020E0502030303020204" pitchFamily="34" charset="0"/>
              </a:rPr>
              <a:t>Gray kodlu bir sayıyı ikili sistemdeki sayı şekline dönüştürmek için, en soldaki bit olduğu gibi aşağıya indirilir ve indirilen sayıyla bir sonraki basamakta bulunan sayı toplanarak yazılır. Bulunan sayı ile bir sonraki basamaktaki sayı toplanır ve bu işleme en düşük değerlikteki bite kadar devam edilir.</a:t>
            </a:r>
          </a:p>
        </p:txBody>
      </p:sp>
    </p:spTree>
    <p:extLst>
      <p:ext uri="{BB962C8B-B14F-4D97-AF65-F5344CB8AC3E}">
        <p14:creationId xmlns:p14="http://schemas.microsoft.com/office/powerpoint/2010/main" val="141938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4DD2A651-56BC-4506-9631-4BA2897684F0}"/>
              </a:ext>
            </a:extLst>
          </p:cNvPr>
          <p:cNvPicPr>
            <a:picLocks noChangeAspect="1"/>
          </p:cNvPicPr>
          <p:nvPr/>
        </p:nvPicPr>
        <p:blipFill>
          <a:blip r:embed="rId2"/>
          <a:stretch>
            <a:fillRect/>
          </a:stretch>
        </p:blipFill>
        <p:spPr>
          <a:xfrm>
            <a:off x="23152" y="836712"/>
            <a:ext cx="9097696" cy="4752528"/>
          </a:xfrm>
          <a:prstGeom prst="rect">
            <a:avLst/>
          </a:prstGeom>
        </p:spPr>
      </p:pic>
    </p:spTree>
    <p:extLst>
      <p:ext uri="{BB962C8B-B14F-4D97-AF65-F5344CB8AC3E}">
        <p14:creationId xmlns:p14="http://schemas.microsoft.com/office/powerpoint/2010/main" val="247987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64" y="692696"/>
            <a:ext cx="8978871" cy="4351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195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BDF3EEB5-E4DA-4092-853F-E9DD1632127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1.3. </a:t>
            </a:r>
            <a:r>
              <a:rPr lang="en-US" sz="2800" b="1" dirty="0" err="1">
                <a:latin typeface="Candara" panose="020E0502030303020204" pitchFamily="34" charset="0"/>
              </a:rPr>
              <a:t>Artı</a:t>
            </a:r>
            <a:r>
              <a:rPr lang="tr-TR" sz="2800" b="1" dirty="0">
                <a:latin typeface="Candara" panose="020E0502030303020204" pitchFamily="34" charset="0"/>
              </a:rPr>
              <a:t>-</a:t>
            </a:r>
            <a:r>
              <a:rPr lang="en-US" sz="2800" b="1" dirty="0">
                <a:latin typeface="Candara" panose="020E0502030303020204" pitchFamily="34" charset="0"/>
              </a:rPr>
              <a:t>3 (Excess</a:t>
            </a:r>
            <a:r>
              <a:rPr lang="tr-TR" sz="2800" b="1" dirty="0">
                <a:latin typeface="Candara" panose="020E0502030303020204" pitchFamily="34" charset="0"/>
              </a:rPr>
              <a:t>-</a:t>
            </a:r>
            <a:r>
              <a:rPr lang="en-US" sz="2800" b="1" dirty="0">
                <a:latin typeface="Candara" panose="020E0502030303020204" pitchFamily="34" charset="0"/>
              </a:rPr>
              <a:t>3) Kodu</a:t>
            </a:r>
          </a:p>
        </p:txBody>
      </p:sp>
      <p:sp>
        <p:nvSpPr>
          <p:cNvPr id="5" name="İçerik Yer Tutucusu 4">
            <a:extLst>
              <a:ext uri="{FF2B5EF4-FFF2-40B4-BE49-F238E27FC236}">
                <a16:creationId xmlns:a16="http://schemas.microsoft.com/office/drawing/2014/main" id="{D429C0CC-A798-4A40-859A-790D667698B9}"/>
              </a:ext>
            </a:extLst>
          </p:cNvPr>
          <p:cNvSpPr>
            <a:spLocks noGrp="1"/>
          </p:cNvSpPr>
          <p:nvPr>
            <p:ph idx="1"/>
          </p:nvPr>
        </p:nvSpPr>
        <p:spPr>
          <a:xfrm>
            <a:off x="457200" y="908720"/>
            <a:ext cx="8229600" cy="5832648"/>
          </a:xfrm>
        </p:spPr>
        <p:txBody>
          <a:bodyPr>
            <a:normAutofit/>
          </a:bodyPr>
          <a:lstStyle/>
          <a:p>
            <a:pPr algn="just">
              <a:lnSpc>
                <a:spcPct val="150000"/>
              </a:lnSpc>
            </a:pPr>
            <a:r>
              <a:rPr lang="tr-TR" sz="2400" dirty="0"/>
              <a:t>Artı-3 kodu, BCD kodu ile ilgilidir ve belirli aritmetik işlemlerde işlem kolaylığı nedeniyle BCD kodu yerine kullanılır. Bir onlu sayının Artı-3 kodundaki karşılığı, onlu sayının karşılığı olan ikili sayıya 3 eklenmiş halidir. Bu nedenle bu kodlama yöntemi, </a:t>
            </a:r>
            <a:r>
              <a:rPr lang="tr-TR" sz="2400" b="1" dirty="0"/>
              <a:t>‘3 fazlalık kodu’</a:t>
            </a:r>
            <a:r>
              <a:rPr lang="tr-TR" sz="2400" dirty="0"/>
              <a:t> olarak da isimlendirilir. Artı-3 kodundaki sayılar, BCD kodunda olduğu gibi dört bitlik ikili sayılar şeklinde ifade edilir.</a:t>
            </a:r>
          </a:p>
          <a:p>
            <a:pPr algn="just">
              <a:lnSpc>
                <a:spcPct val="150000"/>
              </a:lnSpc>
            </a:pPr>
            <a:r>
              <a:rPr lang="tr-TR" sz="2400" dirty="0"/>
              <a:t>Hesaplama yapmada ve hataları düzeltmelerde sağladığı kolaylıklara rağmen, </a:t>
            </a:r>
            <a:r>
              <a:rPr lang="tr-TR" sz="2400" dirty="0" err="1"/>
              <a:t>tümleyenini</a:t>
            </a:r>
            <a:r>
              <a:rPr lang="tr-TR" sz="2400" dirty="0"/>
              <a:t> almadaki güçlükler nedeniyle son zamanlarda nadiren kullanılmaktadır.</a:t>
            </a:r>
          </a:p>
        </p:txBody>
      </p:sp>
    </p:spTree>
    <p:extLst>
      <p:ext uri="{BB962C8B-B14F-4D97-AF65-F5344CB8AC3E}">
        <p14:creationId xmlns:p14="http://schemas.microsoft.com/office/powerpoint/2010/main" val="65840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5455"/>
          <a:stretch/>
        </p:blipFill>
        <p:spPr bwMode="auto">
          <a:xfrm>
            <a:off x="179512" y="692696"/>
            <a:ext cx="8828482"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8667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4B31471C-68DD-41CE-B586-6AA0FE7EE3C8}"/>
              </a:ext>
            </a:extLst>
          </p:cNvPr>
          <p:cNvPicPr>
            <a:picLocks noChangeAspect="1"/>
          </p:cNvPicPr>
          <p:nvPr/>
        </p:nvPicPr>
        <p:blipFill>
          <a:blip r:embed="rId2"/>
          <a:stretch>
            <a:fillRect/>
          </a:stretch>
        </p:blipFill>
        <p:spPr>
          <a:xfrm>
            <a:off x="138112" y="692696"/>
            <a:ext cx="8867775" cy="5048250"/>
          </a:xfrm>
          <a:prstGeom prst="rect">
            <a:avLst/>
          </a:prstGeom>
        </p:spPr>
      </p:pic>
    </p:spTree>
    <p:extLst>
      <p:ext uri="{BB962C8B-B14F-4D97-AF65-F5344CB8AC3E}">
        <p14:creationId xmlns:p14="http://schemas.microsoft.com/office/powerpoint/2010/main" val="430872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CABBADFE-88F6-44D2-8A49-2CB7D53A34C2}"/>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1.4. 5’te 2 Kodu</a:t>
            </a:r>
          </a:p>
        </p:txBody>
      </p:sp>
      <mc:AlternateContent xmlns:mc="http://schemas.openxmlformats.org/markup-compatibility/2006" xmlns:a14="http://schemas.microsoft.com/office/drawing/2010/main">
        <mc:Choice Requires="a14">
          <p:sp>
            <p:nvSpPr>
              <p:cNvPr id="7" name="İçerik Yer Tutucusu 6">
                <a:extLst>
                  <a:ext uri="{FF2B5EF4-FFF2-40B4-BE49-F238E27FC236}">
                    <a16:creationId xmlns:a16="http://schemas.microsoft.com/office/drawing/2014/main" id="{8342F716-30FD-4223-AD43-7D4A213D4B22}"/>
                  </a:ext>
                </a:extLst>
              </p:cNvPr>
              <p:cNvSpPr>
                <a:spLocks noGrp="1"/>
              </p:cNvSpPr>
              <p:nvPr>
                <p:ph idx="1"/>
              </p:nvPr>
            </p:nvSpPr>
            <p:spPr>
              <a:xfrm>
                <a:off x="457200" y="1052736"/>
                <a:ext cx="8229600" cy="5073427"/>
              </a:xfrm>
            </p:spPr>
            <p:txBody>
              <a:bodyPr>
                <a:normAutofit/>
              </a:bodyPr>
              <a:lstStyle/>
              <a:p>
                <a:pPr algn="just">
                  <a:lnSpc>
                    <a:spcPct val="150000"/>
                  </a:lnSpc>
                </a:pPr>
                <a:r>
                  <a:rPr lang="tr-TR" sz="2000" dirty="0">
                    <a:latin typeface="Candara" panose="020E0502030303020204" pitchFamily="34" charset="0"/>
                  </a:rPr>
                  <a:t>5’</a:t>
                </a:r>
                <a:r>
                  <a:rPr lang="en-US" sz="2000" dirty="0">
                    <a:latin typeface="Candara" panose="020E0502030303020204" pitchFamily="34" charset="0"/>
                  </a:rPr>
                  <a:t>t</a:t>
                </a:r>
                <a:r>
                  <a:rPr lang="tr-TR" sz="2000" dirty="0">
                    <a:latin typeface="Candara" panose="020E0502030303020204" pitchFamily="34" charset="0"/>
                  </a:rPr>
                  <a:t>e 2 kodunda, her onlu sayı, içinde mutlaka iki tane '1' bulunan 5 bitlik ikili sayı ile temsil</a:t>
                </a:r>
                <a:r>
                  <a:rPr lang="en-US" sz="2000" dirty="0">
                    <a:latin typeface="Candara" panose="020E0502030303020204" pitchFamily="34" charset="0"/>
                  </a:rPr>
                  <a:t> </a:t>
                </a:r>
                <a:r>
                  <a:rPr lang="tr-TR" sz="2000" dirty="0">
                    <a:latin typeface="Candara" panose="020E0502030303020204" pitchFamily="34" charset="0"/>
                  </a:rPr>
                  <a:t>edilir. </a:t>
                </a:r>
              </a:p>
              <a:p>
                <a:pPr algn="just">
                  <a:lnSpc>
                    <a:spcPct val="150000"/>
                  </a:lnSpc>
                </a:pPr>
                <a:r>
                  <a:rPr lang="tr-TR" sz="2000" dirty="0">
                    <a:latin typeface="Candara" panose="020E0502030303020204" pitchFamily="34" charset="0"/>
                  </a:rPr>
                  <a:t>Bütün sayılarda mutlaka iki tane '1' bulunduğundan hataların kolayca bulunmasını</a:t>
                </a:r>
                <a:r>
                  <a:rPr lang="en-US" sz="2000" dirty="0">
                    <a:latin typeface="Candara" panose="020E0502030303020204" pitchFamily="34" charset="0"/>
                  </a:rPr>
                  <a:t> </a:t>
                </a:r>
                <a:r>
                  <a:rPr lang="tr-TR" sz="2000" dirty="0">
                    <a:latin typeface="Candara" panose="020E0502030303020204" pitchFamily="34" charset="0"/>
                  </a:rPr>
                  <a:t>sağlar. </a:t>
                </a:r>
              </a:p>
              <a:p>
                <a:pPr algn="just">
                  <a:lnSpc>
                    <a:spcPct val="150000"/>
                  </a:lnSpc>
                </a:pPr>
                <a:r>
                  <a:rPr lang="tr-TR" sz="2000" dirty="0">
                    <a:latin typeface="Candara" panose="020E0502030303020204" pitchFamily="34" charset="0"/>
                  </a:rPr>
                  <a:t>Sayılar ikili sistemde ifade edilirken basamak değerleri '7 4 2 1 0' şeklinde sıralanır.</a:t>
                </a:r>
                <a:r>
                  <a:rPr lang="en-US" sz="2000" dirty="0">
                    <a:latin typeface="Candara" panose="020E0502030303020204" pitchFamily="34" charset="0"/>
                  </a:rPr>
                  <a: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(0)</m:t>
                        </m:r>
                      </m:e>
                      <m:sub>
                        <m:r>
                          <a:rPr lang="en-US" sz="2000" b="0" i="1" smtClean="0">
                            <a:latin typeface="Cambria Math" panose="02040503050406030204" pitchFamily="18" charset="0"/>
                          </a:rPr>
                          <m:t>10</m:t>
                        </m:r>
                      </m:sub>
                    </m:sSub>
                  </m:oMath>
                </a14:m>
                <a:r>
                  <a:rPr lang="tr-TR" sz="2000" dirty="0">
                    <a:latin typeface="Candara" panose="020E0502030303020204" pitchFamily="34" charset="0"/>
                  </a:rPr>
                  <a:t>sayısını 5’te 2 kodunda ifade etmek için (11000) kombinasyonu kullanılır. </a:t>
                </a:r>
              </a:p>
              <a:p>
                <a:pPr algn="just">
                  <a:lnSpc>
                    <a:spcPct val="150000"/>
                  </a:lnSpc>
                </a:pPr>
                <a:r>
                  <a:rPr lang="tr-TR" sz="2000" dirty="0">
                    <a:latin typeface="Candara" panose="020E0502030303020204" pitchFamily="34" charset="0"/>
                  </a:rPr>
                  <a:t>0-9</a:t>
                </a:r>
                <a:r>
                  <a:rPr lang="en-US" sz="2000" dirty="0">
                    <a:latin typeface="Candara" panose="020E0502030303020204" pitchFamily="34" charset="0"/>
                  </a:rPr>
                  <a:t> </a:t>
                </a:r>
                <a:r>
                  <a:rPr lang="tr-TR" sz="2000" dirty="0">
                    <a:latin typeface="Candara" panose="020E0502030303020204" pitchFamily="34" charset="0"/>
                  </a:rPr>
                  <a:t>arasındaki sayıların 5’te 2 kodunda ifade edilmesi ile Tablo 3.2’deki değerler elde edilir.</a:t>
                </a:r>
              </a:p>
              <a:p>
                <a:pPr algn="just">
                  <a:lnSpc>
                    <a:spcPct val="150000"/>
                  </a:lnSpc>
                </a:pPr>
                <a:endParaRPr lang="tr-TR" sz="2000" dirty="0">
                  <a:latin typeface="Candara" panose="020E0502030303020204" pitchFamily="34" charset="0"/>
                </a:endParaRPr>
              </a:p>
            </p:txBody>
          </p:sp>
        </mc:Choice>
        <mc:Fallback xmlns="">
          <p:sp>
            <p:nvSpPr>
              <p:cNvPr id="7" name="İçerik Yer Tutucusu 6">
                <a:extLst>
                  <a:ext uri="{FF2B5EF4-FFF2-40B4-BE49-F238E27FC236}">
                    <a16:creationId xmlns:a16="http://schemas.microsoft.com/office/drawing/2014/main" id="{8342F716-30FD-4223-AD43-7D4A213D4B22}"/>
                  </a:ext>
                </a:extLst>
              </p:cNvPr>
              <p:cNvSpPr>
                <a:spLocks noGrp="1" noRot="1" noChangeAspect="1" noMove="1" noResize="1" noEditPoints="1" noAdjustHandles="1" noChangeArrowheads="1" noChangeShapeType="1" noTextEdit="1"/>
              </p:cNvSpPr>
              <p:nvPr>
                <p:ph idx="1"/>
              </p:nvPr>
            </p:nvSpPr>
            <p:spPr>
              <a:xfrm>
                <a:off x="457200" y="1052736"/>
                <a:ext cx="8229600" cy="5073427"/>
              </a:xfrm>
              <a:blipFill>
                <a:blip r:embed="rId2"/>
                <a:stretch>
                  <a:fillRect l="-667" r="-741"/>
                </a:stretch>
              </a:blipFill>
            </p:spPr>
            <p:txBody>
              <a:bodyPr/>
              <a:lstStyle/>
              <a:p>
                <a:r>
                  <a:rPr lang="tr-TR">
                    <a:noFill/>
                  </a:rPr>
                  <a:t> </a:t>
                </a:r>
              </a:p>
            </p:txBody>
          </p:sp>
        </mc:Fallback>
      </mc:AlternateContent>
    </p:spTree>
    <p:extLst>
      <p:ext uri="{BB962C8B-B14F-4D97-AF65-F5344CB8AC3E}">
        <p14:creationId xmlns:p14="http://schemas.microsoft.com/office/powerpoint/2010/main" val="837825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CABBADFE-88F6-44D2-8A49-2CB7D53A34C2}"/>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1.4. 5’te 2 Kodu</a:t>
            </a:r>
          </a:p>
        </p:txBody>
      </p:sp>
      <p:pic>
        <p:nvPicPr>
          <p:cNvPr id="6" name="İçerik Yer Tutucusu 5">
            <a:extLst>
              <a:ext uri="{FF2B5EF4-FFF2-40B4-BE49-F238E27FC236}">
                <a16:creationId xmlns:a16="http://schemas.microsoft.com/office/drawing/2014/main" id="{3027296A-5ABB-4834-8160-9993BCFD2205}"/>
              </a:ext>
            </a:extLst>
          </p:cNvPr>
          <p:cNvPicPr>
            <a:picLocks noGrp="1" noChangeAspect="1"/>
          </p:cNvPicPr>
          <p:nvPr>
            <p:ph idx="1"/>
          </p:nvPr>
        </p:nvPicPr>
        <p:blipFill>
          <a:blip r:embed="rId2"/>
          <a:stretch>
            <a:fillRect/>
          </a:stretch>
        </p:blipFill>
        <p:spPr>
          <a:xfrm>
            <a:off x="1254264" y="836712"/>
            <a:ext cx="6635472" cy="5556533"/>
          </a:xfrm>
          <a:prstGeom prst="rect">
            <a:avLst/>
          </a:prstGeom>
        </p:spPr>
      </p:pic>
    </p:spTree>
    <p:extLst>
      <p:ext uri="{BB962C8B-B14F-4D97-AF65-F5344CB8AC3E}">
        <p14:creationId xmlns:p14="http://schemas.microsoft.com/office/powerpoint/2010/main" val="1944365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906" y="476672"/>
            <a:ext cx="8690659"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3420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0" y="692696"/>
            <a:ext cx="9036496" cy="604627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İkili sayı sisteminde ifade edilen bilginin bir yerden başka bir yere taşınması dijital sistemlerde sıkça karşılaşılan bir olaydır. Bilginin bir yerden başka bölgeye taşınması sırasında, değişik nedenlerden dolayı gürültü oluşması ve oluşan gürültünün iletilen bilgiyi bozması zaman zaman karşılaşılan hadiselerdir. Bilgi iletimi sırasında bu şekilde oluşan hataları tespit etmek ve mümkünse düzeltmek sayısal sistemlerin özelliklerindendir.</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Hataları tespit etmede kullanılan en yaygın ve en kolay yöntem eşlik biti kodlama (</a:t>
            </a:r>
            <a:r>
              <a:rPr lang="tr-TR" sz="2000" dirty="0" err="1">
                <a:latin typeface="Candara" panose="020E0502030303020204" pitchFamily="34" charset="0"/>
              </a:rPr>
              <a:t>parity</a:t>
            </a:r>
            <a:r>
              <a:rPr lang="tr-TR" sz="2000" dirty="0">
                <a:latin typeface="Candara" panose="020E0502030303020204" pitchFamily="34" charset="0"/>
              </a:rPr>
              <a:t> </a:t>
            </a:r>
            <a:r>
              <a:rPr lang="tr-TR" sz="2000" dirty="0" err="1">
                <a:latin typeface="Candara" panose="020E0502030303020204" pitchFamily="34" charset="0"/>
              </a:rPr>
              <a:t>code</a:t>
            </a:r>
            <a:r>
              <a:rPr lang="tr-TR" sz="2000" dirty="0">
                <a:latin typeface="Candara" panose="020E0502030303020204" pitchFamily="34" charset="0"/>
              </a:rPr>
              <a:t>) yöntemidir. Bu yöntemde, hataların ortaya çıkarılmasını sağlamak amacıyla BCD kodlu sayının sağındaki veya solundaki basamağa </a:t>
            </a:r>
            <a:r>
              <a:rPr lang="tr-TR" sz="2000" b="1" dirty="0">
                <a:latin typeface="Candara" panose="020E0502030303020204" pitchFamily="34" charset="0"/>
              </a:rPr>
              <a:t>‘eşlik biti’ </a:t>
            </a:r>
            <a:r>
              <a:rPr lang="tr-TR" sz="2000" dirty="0">
                <a:latin typeface="Candara" panose="020E0502030303020204" pitchFamily="34" charset="0"/>
              </a:rPr>
              <a:t>(</a:t>
            </a:r>
            <a:r>
              <a:rPr lang="tr-TR" sz="2000" dirty="0" err="1">
                <a:latin typeface="Candara" panose="020E0502030303020204" pitchFamily="34" charset="0"/>
              </a:rPr>
              <a:t>parity</a:t>
            </a:r>
            <a:r>
              <a:rPr lang="tr-TR" sz="2000" dirty="0">
                <a:latin typeface="Candara" panose="020E0502030303020204" pitchFamily="34" charset="0"/>
              </a:rPr>
              <a:t> bit) eklenir. Eşlik biti, kodlanan veride 1 yada 0’ların tek mi, çift mi olduğunu belirtir. İki türlü eşlik biti yöntemi bulunmaktadır: </a:t>
            </a:r>
          </a:p>
          <a:p>
            <a:pPr marL="800100" lvl="1" indent="-342900" algn="just">
              <a:lnSpc>
                <a:spcPct val="150000"/>
              </a:lnSpc>
              <a:buFont typeface="Courier New" panose="02070309020205020404" pitchFamily="49" charset="0"/>
              <a:buChar char="o"/>
            </a:pPr>
            <a:r>
              <a:rPr lang="tr-TR" sz="2000" dirty="0">
                <a:latin typeface="Candara" panose="020E0502030303020204" pitchFamily="34" charset="0"/>
              </a:rPr>
              <a:t>Çift eşlik (</a:t>
            </a:r>
            <a:r>
              <a:rPr lang="tr-TR" sz="2000" dirty="0" err="1">
                <a:latin typeface="Candara" panose="020E0502030303020204" pitchFamily="34" charset="0"/>
              </a:rPr>
              <a:t>even</a:t>
            </a:r>
            <a:r>
              <a:rPr lang="tr-TR" sz="2000" dirty="0">
                <a:latin typeface="Candara" panose="020E0502030303020204" pitchFamily="34" charset="0"/>
              </a:rPr>
              <a:t> </a:t>
            </a:r>
            <a:r>
              <a:rPr lang="tr-TR" sz="2000" dirty="0" err="1">
                <a:latin typeface="Candara" panose="020E0502030303020204" pitchFamily="34" charset="0"/>
              </a:rPr>
              <a:t>parity</a:t>
            </a:r>
            <a:r>
              <a:rPr lang="tr-TR" sz="2000" dirty="0">
                <a:latin typeface="Candara" panose="020E0502030303020204" pitchFamily="34" charset="0"/>
              </a:rPr>
              <a:t>),</a:t>
            </a:r>
          </a:p>
          <a:p>
            <a:pPr marL="800100" lvl="1" indent="-342900" algn="just">
              <a:lnSpc>
                <a:spcPct val="150000"/>
              </a:lnSpc>
              <a:buFont typeface="Courier New" panose="02070309020205020404" pitchFamily="49" charset="0"/>
              <a:buChar char="o"/>
            </a:pPr>
            <a:r>
              <a:rPr lang="tr-TR" sz="2000" dirty="0">
                <a:latin typeface="Candara" panose="020E0502030303020204" pitchFamily="34" charset="0"/>
              </a:rPr>
              <a:t>Tek eşlik (</a:t>
            </a:r>
            <a:r>
              <a:rPr lang="tr-TR" sz="2000" dirty="0" err="1">
                <a:latin typeface="Candara" panose="020E0502030303020204" pitchFamily="34" charset="0"/>
              </a:rPr>
              <a:t>odd</a:t>
            </a:r>
            <a:r>
              <a:rPr lang="tr-TR" sz="2000" dirty="0">
                <a:latin typeface="Candara" panose="020E0502030303020204" pitchFamily="34" charset="0"/>
              </a:rPr>
              <a:t> </a:t>
            </a:r>
            <a:r>
              <a:rPr lang="tr-TR" sz="2000" dirty="0" err="1">
                <a:latin typeface="Candara" panose="020E0502030303020204" pitchFamily="34" charset="0"/>
              </a:rPr>
              <a:t>parity</a:t>
            </a:r>
            <a:r>
              <a:rPr lang="tr-TR" sz="2000" dirty="0">
                <a:latin typeface="Candara" panose="020E0502030303020204" pitchFamily="34" charset="0"/>
              </a:rPr>
              <a:t>).</a:t>
            </a:r>
          </a:p>
        </p:txBody>
      </p:sp>
      <p:sp>
        <p:nvSpPr>
          <p:cNvPr id="3" name="Dikdörtgen 2">
            <a:extLst>
              <a:ext uri="{FF2B5EF4-FFF2-40B4-BE49-F238E27FC236}">
                <a16:creationId xmlns:a16="http://schemas.microsoft.com/office/drawing/2014/main" id="{8EBCC4DE-2E58-4016-B660-7EAB12AED9C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1.5. Eşlik</a:t>
            </a:r>
            <a:r>
              <a:rPr lang="tr-TR" sz="2800" b="1" dirty="0">
                <a:latin typeface="Candara" panose="020E0502030303020204" pitchFamily="34" charset="0"/>
              </a:rPr>
              <a:t>/Eşitlik</a:t>
            </a:r>
            <a:r>
              <a:rPr lang="en-US" sz="2800" b="1" dirty="0">
                <a:latin typeface="Candara" panose="020E0502030303020204" pitchFamily="34" charset="0"/>
              </a:rPr>
              <a:t> (Parity) Kodu</a:t>
            </a:r>
          </a:p>
        </p:txBody>
      </p:sp>
    </p:spTree>
    <p:extLst>
      <p:ext uri="{BB962C8B-B14F-4D97-AF65-F5344CB8AC3E}">
        <p14:creationId xmlns:p14="http://schemas.microsoft.com/office/powerpoint/2010/main" val="1747636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87524" y="1124744"/>
            <a:ext cx="8568952" cy="2071208"/>
          </a:xfrm>
          <a:prstGeom prst="rect">
            <a:avLst/>
          </a:prstGeom>
        </p:spPr>
        <p:txBody>
          <a:bodyPr wrap="square">
            <a:spAutoFit/>
          </a:bodyPr>
          <a:lstStyle/>
          <a:p>
            <a:pPr algn="just">
              <a:lnSpc>
                <a:spcPct val="150000"/>
              </a:lnSpc>
            </a:pPr>
            <a:r>
              <a:rPr lang="tr-TR" sz="2200" b="1" dirty="0"/>
              <a:t>Çift eşlik yönteminde; </a:t>
            </a:r>
            <a:r>
              <a:rPr lang="tr-TR" sz="2200" dirty="0"/>
              <a:t>eşlik bitinin değeri, kodlanacak bilgideki 1’lerin toplam sayısı (eşlik biti dahil) çift olacak şekilde seçilir. Kodlanacak sayıdaki 1’lerin sayısı tek ise, eşlik biti olarak ‘1’ eklenir. Kodlanacak bilgideki 1’lerin sayısı çift olması durumunda ise, </a:t>
            </a:r>
            <a:r>
              <a:rPr lang="nn-NO" sz="2200" dirty="0"/>
              <a:t>eşlik biti olarak ‘0’ eklenir.</a:t>
            </a:r>
            <a:endParaRPr lang="tr-TR" sz="2200" dirty="0"/>
          </a:p>
        </p:txBody>
      </p:sp>
      <p:sp>
        <p:nvSpPr>
          <p:cNvPr id="3" name="Dikdörtgen 2">
            <a:extLst>
              <a:ext uri="{FF2B5EF4-FFF2-40B4-BE49-F238E27FC236}">
                <a16:creationId xmlns:a16="http://schemas.microsoft.com/office/drawing/2014/main" id="{8EBCC4DE-2E58-4016-B660-7EAB12AED9C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1.5. Eşlik</a:t>
            </a:r>
            <a:r>
              <a:rPr lang="tr-TR" sz="2800" b="1" dirty="0">
                <a:latin typeface="Candara" panose="020E0502030303020204" pitchFamily="34" charset="0"/>
              </a:rPr>
              <a:t>/Eşitlik</a:t>
            </a:r>
            <a:r>
              <a:rPr lang="en-US" sz="2800" b="1" dirty="0">
                <a:latin typeface="Candara" panose="020E0502030303020204" pitchFamily="34" charset="0"/>
              </a:rPr>
              <a:t> (Parity) Kodu</a:t>
            </a:r>
          </a:p>
        </p:txBody>
      </p:sp>
    </p:spTree>
    <p:extLst>
      <p:ext uri="{BB962C8B-B14F-4D97-AF65-F5344CB8AC3E}">
        <p14:creationId xmlns:p14="http://schemas.microsoft.com/office/powerpoint/2010/main" val="1206899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08" y="692696"/>
            <a:ext cx="9090592"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9676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0" y="632882"/>
            <a:ext cx="9144000" cy="707886"/>
          </a:xfrm>
          <a:prstGeom prst="rect">
            <a:avLst/>
          </a:prstGeom>
        </p:spPr>
        <p:txBody>
          <a:bodyPr wrap="square">
            <a:spAutoFit/>
          </a:bodyPr>
          <a:lstStyle/>
          <a:p>
            <a:pPr algn="just"/>
            <a:r>
              <a:rPr lang="tr-TR" sz="2000" b="1" dirty="0">
                <a:latin typeface="Candara" panose="020E0502030303020204" pitchFamily="34" charset="0"/>
              </a:rPr>
              <a:t>Tek eşlik bit yöntemi; </a:t>
            </a:r>
            <a:r>
              <a:rPr lang="tr-TR" sz="2000" dirty="0">
                <a:latin typeface="Candara" panose="020E0502030303020204" pitchFamily="34" charset="0"/>
              </a:rPr>
              <a:t>aynı mantığa göre düzenlenir. Tek fark kodlanan bilgideki 1’lerin</a:t>
            </a:r>
            <a:r>
              <a:rPr lang="en-US" sz="2000" dirty="0">
                <a:latin typeface="Candara" panose="020E0502030303020204" pitchFamily="34" charset="0"/>
              </a:rPr>
              <a:t> </a:t>
            </a:r>
            <a:r>
              <a:rPr lang="tr-TR" sz="2000" dirty="0">
                <a:latin typeface="Candara" panose="020E0502030303020204" pitchFamily="34" charset="0"/>
              </a:rPr>
              <a:t>sayısı tek olmalıdır.</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52" y="1498422"/>
            <a:ext cx="8921495" cy="1714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02" y="3212602"/>
            <a:ext cx="8777178" cy="3456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ikdörtgen 4">
            <a:extLst>
              <a:ext uri="{FF2B5EF4-FFF2-40B4-BE49-F238E27FC236}">
                <a16:creationId xmlns:a16="http://schemas.microsoft.com/office/drawing/2014/main" id="{30245101-B40F-4C35-9756-AE6B5B1E660D}"/>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1.5. Eşlik</a:t>
            </a:r>
            <a:r>
              <a:rPr lang="tr-TR" sz="2800" b="1" dirty="0">
                <a:latin typeface="Candara" panose="020E0502030303020204" pitchFamily="34" charset="0"/>
              </a:rPr>
              <a:t>/Eşitlik</a:t>
            </a:r>
            <a:r>
              <a:rPr lang="en-US" sz="2800" b="1" dirty="0">
                <a:latin typeface="Candara" panose="020E0502030303020204" pitchFamily="34" charset="0"/>
              </a:rPr>
              <a:t> (Parity) Kodu</a:t>
            </a:r>
          </a:p>
        </p:txBody>
      </p:sp>
    </p:spTree>
    <p:extLst>
      <p:ext uri="{BB962C8B-B14F-4D97-AF65-F5344CB8AC3E}">
        <p14:creationId xmlns:p14="http://schemas.microsoft.com/office/powerpoint/2010/main" val="3262299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43506" y="715939"/>
            <a:ext cx="8892989" cy="3276282"/>
          </a:xfrm>
          <a:prstGeom prst="rect">
            <a:avLst/>
          </a:prstGeom>
        </p:spPr>
        <p:txBody>
          <a:bodyPr wrap="square">
            <a:spAutoFit/>
          </a:bodyPr>
          <a:lstStyle/>
          <a:p>
            <a:pPr algn="just">
              <a:lnSpc>
                <a:spcPct val="150000"/>
              </a:lnSpc>
            </a:pPr>
            <a:r>
              <a:rPr lang="tr-TR" sz="2000" dirty="0" err="1">
                <a:latin typeface="Candara" panose="020E0502030303020204" pitchFamily="34" charset="0"/>
              </a:rPr>
              <a:t>Aiken</a:t>
            </a:r>
            <a:r>
              <a:rPr lang="tr-TR" sz="2000" dirty="0">
                <a:latin typeface="Candara" panose="020E0502030303020204" pitchFamily="34" charset="0"/>
              </a:rPr>
              <a:t> kodu; 4 basamaklı ve basamak değerlerinin ‘2421’ şeklinde ifade edildiği bir kodlama şeklidir. Onlu sistemde 5’e kadar olan sayıları kodlamak için sağ taraftaki basamaklar kullanılırken, 5’den büyük değerleri ifade etmek için sol taraftaki bitler tercih edilir.</a:t>
            </a:r>
          </a:p>
          <a:p>
            <a:pPr algn="just">
              <a:lnSpc>
                <a:spcPct val="150000"/>
              </a:lnSpc>
            </a:pPr>
            <a:r>
              <a:rPr lang="tr-TR" sz="2000" dirty="0">
                <a:latin typeface="Candara" panose="020E0502030303020204" pitchFamily="34" charset="0"/>
              </a:rPr>
              <a:t>Bu kodlama şekli simetrik kodlamaya bir örnektir. (0-4) arasındaki sayılar için normal ikili</a:t>
            </a:r>
            <a:r>
              <a:rPr lang="en-US" sz="2000" dirty="0">
                <a:latin typeface="Candara" panose="020E0502030303020204" pitchFamily="34" charset="0"/>
              </a:rPr>
              <a:t> </a:t>
            </a:r>
            <a:r>
              <a:rPr lang="tr-TR" sz="2000" dirty="0">
                <a:latin typeface="Candara" panose="020E0502030303020204" pitchFamily="34" charset="0"/>
              </a:rPr>
              <a:t>sayılar kullanılırken, (5-9) arasındaki sayılar için başlangıçtaki sayıların simetriği</a:t>
            </a:r>
            <a:r>
              <a:rPr lang="en-US" sz="2000" dirty="0">
                <a:latin typeface="Candara" panose="020E0502030303020204" pitchFamily="34" charset="0"/>
              </a:rPr>
              <a:t> </a:t>
            </a:r>
            <a:r>
              <a:rPr lang="tr-TR" sz="2000" dirty="0">
                <a:latin typeface="Candara" panose="020E0502030303020204" pitchFamily="34" charset="0"/>
              </a:rPr>
              <a:t>kullanılır.</a:t>
            </a:r>
          </a:p>
        </p:txBody>
      </p:sp>
      <p:pic>
        <p:nvPicPr>
          <p:cNvPr id="4" name="Resim 3">
            <a:extLst>
              <a:ext uri="{FF2B5EF4-FFF2-40B4-BE49-F238E27FC236}">
                <a16:creationId xmlns:a16="http://schemas.microsoft.com/office/drawing/2014/main" id="{43F7B1BB-610D-46F6-8571-E8D11B276CD5}"/>
              </a:ext>
            </a:extLst>
          </p:cNvPr>
          <p:cNvPicPr>
            <a:picLocks noChangeAspect="1"/>
          </p:cNvPicPr>
          <p:nvPr/>
        </p:nvPicPr>
        <p:blipFill>
          <a:blip r:embed="rId2"/>
          <a:stretch>
            <a:fillRect/>
          </a:stretch>
        </p:blipFill>
        <p:spPr>
          <a:xfrm>
            <a:off x="3275856" y="3606159"/>
            <a:ext cx="5112568" cy="3251841"/>
          </a:xfrm>
          <a:prstGeom prst="rect">
            <a:avLst/>
          </a:prstGeom>
          <a:ln>
            <a:noFill/>
          </a:ln>
          <a:effectLst>
            <a:outerShdw blurRad="190500" algn="tl" rotWithShape="0">
              <a:srgbClr val="000000">
                <a:alpha val="70000"/>
              </a:srgbClr>
            </a:outerShdw>
          </a:effectLst>
        </p:spPr>
      </p:pic>
      <p:sp>
        <p:nvSpPr>
          <p:cNvPr id="6" name="Dikdörtgen 5">
            <a:extLst>
              <a:ext uri="{FF2B5EF4-FFF2-40B4-BE49-F238E27FC236}">
                <a16:creationId xmlns:a16="http://schemas.microsoft.com/office/drawing/2014/main" id="{DC0D7511-3F64-478A-AD85-2672C4C33502}"/>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1.6. Aiken Kodu</a:t>
            </a:r>
          </a:p>
        </p:txBody>
      </p:sp>
    </p:spTree>
    <p:extLst>
      <p:ext uri="{BB962C8B-B14F-4D97-AF65-F5344CB8AC3E}">
        <p14:creationId xmlns:p14="http://schemas.microsoft.com/office/powerpoint/2010/main" val="3820708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04664"/>
            <a:ext cx="7992888"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708920"/>
            <a:ext cx="8712968"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7148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7592378E-0C71-4287-8509-728FBFC25DC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1.7.</a:t>
            </a:r>
            <a:r>
              <a:rPr lang="tr-TR" sz="2800" b="1" dirty="0">
                <a:latin typeface="Candara" panose="020E0502030303020204" pitchFamily="34" charset="0"/>
              </a:rPr>
              <a:t> </a:t>
            </a:r>
            <a:r>
              <a:rPr lang="en-US" sz="2800" b="1" dirty="0" err="1">
                <a:latin typeface="Candara" panose="020E0502030303020204" pitchFamily="34" charset="0"/>
              </a:rPr>
              <a:t>Çubuk</a:t>
            </a:r>
            <a:r>
              <a:rPr lang="en-US" sz="2800" b="1" dirty="0">
                <a:latin typeface="Candara" panose="020E0502030303020204" pitchFamily="34" charset="0"/>
              </a:rPr>
              <a:t> Kodu (</a:t>
            </a:r>
            <a:r>
              <a:rPr lang="tr-TR" sz="2800" b="1" dirty="0">
                <a:latin typeface="Candara" panose="020E0502030303020204" pitchFamily="34" charset="0"/>
              </a:rPr>
              <a:t>B</a:t>
            </a:r>
            <a:r>
              <a:rPr lang="en-US" sz="2800" b="1" dirty="0" err="1">
                <a:latin typeface="Candara" panose="020E0502030303020204" pitchFamily="34" charset="0"/>
              </a:rPr>
              <a:t>arkod</a:t>
            </a:r>
            <a:r>
              <a:rPr lang="en-US" sz="2800" b="1" dirty="0">
                <a:latin typeface="Candara" panose="020E0502030303020204" pitchFamily="34" charset="0"/>
              </a:rPr>
              <a:t>)</a:t>
            </a:r>
          </a:p>
        </p:txBody>
      </p:sp>
      <p:pic>
        <p:nvPicPr>
          <p:cNvPr id="15" name="İçerik Yer Tutucusu 14">
            <a:extLst>
              <a:ext uri="{FF2B5EF4-FFF2-40B4-BE49-F238E27FC236}">
                <a16:creationId xmlns:a16="http://schemas.microsoft.com/office/drawing/2014/main" id="{36E7C26D-8401-46F7-AD3B-EAAC73E1E9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24" y="4265136"/>
            <a:ext cx="3229624" cy="1503014"/>
          </a:xfrm>
        </p:spPr>
      </p:pic>
      <p:sp>
        <p:nvSpPr>
          <p:cNvPr id="23" name="Metin kutusu 22">
            <a:extLst>
              <a:ext uri="{FF2B5EF4-FFF2-40B4-BE49-F238E27FC236}">
                <a16:creationId xmlns:a16="http://schemas.microsoft.com/office/drawing/2014/main" id="{7D074BC0-A162-45D5-B32D-6B75FB032C95}"/>
              </a:ext>
            </a:extLst>
          </p:cNvPr>
          <p:cNvSpPr txBox="1"/>
          <p:nvPr/>
        </p:nvSpPr>
        <p:spPr>
          <a:xfrm>
            <a:off x="827584" y="6131823"/>
            <a:ext cx="4641850" cy="369332"/>
          </a:xfrm>
          <a:prstGeom prst="rect">
            <a:avLst/>
          </a:prstGeom>
          <a:noFill/>
        </p:spPr>
        <p:txBody>
          <a:bodyPr wrap="square">
            <a:spAutoFit/>
          </a:bodyPr>
          <a:lstStyle/>
          <a:p>
            <a:r>
              <a:rPr lang="tr-TR" dirty="0">
                <a:hlinkClick r:id="rId3"/>
              </a:rPr>
              <a:t>https://barcode.tec-it.com/en/Code128</a:t>
            </a:r>
            <a:endParaRPr lang="tr-TR" dirty="0"/>
          </a:p>
        </p:txBody>
      </p:sp>
      <p:pic>
        <p:nvPicPr>
          <p:cNvPr id="25" name="Grafik 24" descr="İşaret parmağıyla sağı gösteren elin tersi düz dolguyla">
            <a:extLst>
              <a:ext uri="{FF2B5EF4-FFF2-40B4-BE49-F238E27FC236}">
                <a16:creationId xmlns:a16="http://schemas.microsoft.com/office/drawing/2014/main" id="{04F0925B-0930-4FEE-AB1C-929676DD410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63051" y="6045838"/>
            <a:ext cx="592525" cy="592525"/>
          </a:xfrm>
          <a:prstGeom prst="rect">
            <a:avLst/>
          </a:prstGeom>
        </p:spPr>
      </p:pic>
      <p:pic>
        <p:nvPicPr>
          <p:cNvPr id="27" name="Resim 26">
            <a:extLst>
              <a:ext uri="{FF2B5EF4-FFF2-40B4-BE49-F238E27FC236}">
                <a16:creationId xmlns:a16="http://schemas.microsoft.com/office/drawing/2014/main" id="{7524CCB5-A18A-4F31-8E21-EC3D619DDD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2040" y="4136817"/>
            <a:ext cx="3627140" cy="1909021"/>
          </a:xfrm>
          <a:prstGeom prst="rect">
            <a:avLst/>
          </a:prstGeom>
        </p:spPr>
      </p:pic>
      <p:pic>
        <p:nvPicPr>
          <p:cNvPr id="29" name="Resim 28">
            <a:extLst>
              <a:ext uri="{FF2B5EF4-FFF2-40B4-BE49-F238E27FC236}">
                <a16:creationId xmlns:a16="http://schemas.microsoft.com/office/drawing/2014/main" id="{C15CA2CD-CE54-46DF-95A2-D7DD75A318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3925" y="1131544"/>
            <a:ext cx="7296150" cy="2667000"/>
          </a:xfrm>
          <a:prstGeom prst="rect">
            <a:avLst/>
          </a:prstGeom>
        </p:spPr>
      </p:pic>
      <p:sp>
        <p:nvSpPr>
          <p:cNvPr id="30" name="Metin kutusu 29">
            <a:extLst>
              <a:ext uri="{FF2B5EF4-FFF2-40B4-BE49-F238E27FC236}">
                <a16:creationId xmlns:a16="http://schemas.microsoft.com/office/drawing/2014/main" id="{1932F2AD-D228-4BDB-B71B-24D1E0C1ABB4}"/>
              </a:ext>
            </a:extLst>
          </p:cNvPr>
          <p:cNvSpPr txBox="1"/>
          <p:nvPr/>
        </p:nvSpPr>
        <p:spPr>
          <a:xfrm>
            <a:off x="2411760" y="830606"/>
            <a:ext cx="4488921" cy="369332"/>
          </a:xfrm>
          <a:prstGeom prst="rect">
            <a:avLst/>
          </a:prstGeom>
          <a:noFill/>
        </p:spPr>
        <p:txBody>
          <a:bodyPr wrap="none" rtlCol="0">
            <a:spAutoFit/>
          </a:bodyPr>
          <a:lstStyle/>
          <a:p>
            <a:r>
              <a:rPr lang="tr-TR" dirty="0" err="1"/>
              <a:t>Python</a:t>
            </a:r>
            <a:r>
              <a:rPr lang="tr-TR" dirty="0"/>
              <a:t> kütüphaneleri ile oluşturulmuş barkod</a:t>
            </a:r>
          </a:p>
        </p:txBody>
      </p:sp>
    </p:spTree>
    <p:extLst>
      <p:ext uri="{BB962C8B-B14F-4D97-AF65-F5344CB8AC3E}">
        <p14:creationId xmlns:p14="http://schemas.microsoft.com/office/powerpoint/2010/main" val="4110162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052736"/>
            <a:ext cx="8784976" cy="3814890"/>
          </a:xfrm>
          <a:prstGeom prst="rect">
            <a:avLst/>
          </a:prstGeom>
        </p:spPr>
        <p:txBody>
          <a:bodyPr wrap="square">
            <a:spAutoFit/>
          </a:bodyPr>
          <a:lstStyle/>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Onlu sayıların, farklı şekilde düzenlenmiş çubuklarla ifade edildiği kodlama sistemi </a:t>
            </a:r>
            <a:r>
              <a:rPr lang="tr-TR" sz="2000" b="1" dirty="0">
                <a:latin typeface="Candara" panose="020E0502030303020204" pitchFamily="34" charset="0"/>
              </a:rPr>
              <a:t>'bar</a:t>
            </a:r>
            <a:r>
              <a:rPr lang="en-US" sz="2000" b="1" dirty="0">
                <a:latin typeface="Candara" panose="020E0502030303020204" pitchFamily="34" charset="0"/>
              </a:rPr>
              <a:t> </a:t>
            </a:r>
            <a:r>
              <a:rPr lang="tr-TR" sz="2000" b="1" dirty="0">
                <a:latin typeface="Candara" panose="020E0502030303020204" pitchFamily="34" charset="0"/>
              </a:rPr>
              <a:t>kodu‘</a:t>
            </a:r>
            <a:r>
              <a:rPr lang="en-US" sz="2000" b="1" dirty="0">
                <a:latin typeface="Candara" panose="020E0502030303020204" pitchFamily="34" charset="0"/>
              </a:rPr>
              <a:t> </a:t>
            </a:r>
            <a:r>
              <a:rPr lang="tr-TR" sz="2000" dirty="0">
                <a:latin typeface="Candara" panose="020E0502030303020204" pitchFamily="34" charset="0"/>
              </a:rPr>
              <a:t>olarak isimlendirilir. </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Bar kodu; bir birim malın üretildiği veya ambalajlandığı</a:t>
            </a:r>
            <a:r>
              <a:rPr lang="en-US" sz="2000" dirty="0">
                <a:latin typeface="Candara" panose="020E0502030303020204" pitchFamily="34" charset="0"/>
              </a:rPr>
              <a:t> </a:t>
            </a:r>
            <a:r>
              <a:rPr lang="tr-TR" sz="2000" dirty="0">
                <a:latin typeface="Candara" panose="020E0502030303020204" pitchFamily="34" charset="0"/>
              </a:rPr>
              <a:t>işletmeyi, malın</a:t>
            </a:r>
            <a:r>
              <a:rPr lang="en-US" sz="2000" dirty="0">
                <a:latin typeface="Candara" panose="020E0502030303020204" pitchFamily="34" charset="0"/>
              </a:rPr>
              <a:t> </a:t>
            </a:r>
            <a:r>
              <a:rPr lang="tr-TR" sz="2000" dirty="0">
                <a:latin typeface="Candara" panose="020E0502030303020204" pitchFamily="34" charset="0"/>
              </a:rPr>
              <a:t>cinsini ve özelliklerini tanımlamak amacıyla, önceden belirlenmiş kurallara</a:t>
            </a:r>
            <a:r>
              <a:rPr lang="en-US" sz="2000" dirty="0">
                <a:latin typeface="Candara" panose="020E0502030303020204" pitchFamily="34" charset="0"/>
              </a:rPr>
              <a:t> </a:t>
            </a:r>
            <a:r>
              <a:rPr lang="tr-TR" sz="2000" dirty="0">
                <a:latin typeface="Candara" panose="020E0502030303020204" pitchFamily="34" charset="0"/>
              </a:rPr>
              <a:t>uygun çeşitli</a:t>
            </a:r>
            <a:r>
              <a:rPr lang="en-US" sz="2000" dirty="0">
                <a:latin typeface="Candara" panose="020E0502030303020204" pitchFamily="34" charset="0"/>
              </a:rPr>
              <a:t> </a:t>
            </a:r>
            <a:r>
              <a:rPr lang="tr-TR" sz="2000" dirty="0">
                <a:latin typeface="Candara" panose="020E0502030303020204" pitchFamily="34" charset="0"/>
              </a:rPr>
              <a:t>kalınlıklarda bir dizi dikey paralel çizgiler ve bu çizgiler arasında çeşitli</a:t>
            </a:r>
            <a:r>
              <a:rPr lang="en-US" sz="2000" dirty="0">
                <a:latin typeface="Candara" panose="020E0502030303020204" pitchFamily="34" charset="0"/>
              </a:rPr>
              <a:t> </a:t>
            </a:r>
            <a:r>
              <a:rPr lang="tr-TR" sz="2000" dirty="0">
                <a:latin typeface="Candara" panose="020E0502030303020204" pitchFamily="34" charset="0"/>
              </a:rPr>
              <a:t>genişlikte boşluklardan</a:t>
            </a:r>
            <a:r>
              <a:rPr lang="en-US" sz="2000" dirty="0">
                <a:latin typeface="Candara" panose="020E0502030303020204" pitchFamily="34" charset="0"/>
              </a:rPr>
              <a:t> </a:t>
            </a:r>
            <a:r>
              <a:rPr lang="tr-TR" sz="2000" dirty="0">
                <a:latin typeface="Candara" panose="020E0502030303020204" pitchFamily="34" charset="0"/>
              </a:rPr>
              <a:t>meydana gelen bir kodlama yöntemidir. Diğer bir deyişle,</a:t>
            </a:r>
            <a:r>
              <a:rPr lang="en-US" sz="2000" dirty="0">
                <a:latin typeface="Candara" panose="020E0502030303020204" pitchFamily="34" charset="0"/>
              </a:rPr>
              <a:t> </a:t>
            </a:r>
            <a:r>
              <a:rPr lang="tr-TR" sz="2000" dirty="0">
                <a:latin typeface="Candara" panose="020E0502030303020204" pitchFamily="34" charset="0"/>
              </a:rPr>
              <a:t>karakterlerin (rakam veya harf)</a:t>
            </a:r>
            <a:r>
              <a:rPr lang="en-US" sz="2000" dirty="0">
                <a:latin typeface="Candara" panose="020E0502030303020204" pitchFamily="34" charset="0"/>
              </a:rPr>
              <a:t> </a:t>
            </a:r>
            <a:r>
              <a:rPr lang="tr-TR" sz="2000" dirty="0">
                <a:latin typeface="Candara" panose="020E0502030303020204" pitchFamily="34" charset="0"/>
              </a:rPr>
              <a:t>farklı kalınlıktaki çizgiler ve boşluklar ile temsil edildiği</a:t>
            </a:r>
            <a:r>
              <a:rPr lang="en-US" sz="2000" dirty="0">
                <a:latin typeface="Candara" panose="020E0502030303020204" pitchFamily="34" charset="0"/>
              </a:rPr>
              <a:t> </a:t>
            </a:r>
            <a:r>
              <a:rPr lang="tr-TR" sz="2000" dirty="0">
                <a:latin typeface="Candara" panose="020E0502030303020204" pitchFamily="34" charset="0"/>
              </a:rPr>
              <a:t>kodlama sistemi </a:t>
            </a:r>
            <a:r>
              <a:rPr lang="tr-TR" sz="2000" b="1" dirty="0">
                <a:latin typeface="Candara" panose="020E0502030303020204" pitchFamily="34" charset="0"/>
              </a:rPr>
              <a:t>‘barkod’ </a:t>
            </a:r>
            <a:r>
              <a:rPr lang="tr-TR" sz="2000" dirty="0">
                <a:latin typeface="Candara" panose="020E0502030303020204" pitchFamily="34" charset="0"/>
              </a:rPr>
              <a:t>olarak adlandırılır.</a:t>
            </a:r>
          </a:p>
        </p:txBody>
      </p:sp>
      <p:sp>
        <p:nvSpPr>
          <p:cNvPr id="3" name="Dikdörtgen 2">
            <a:extLst>
              <a:ext uri="{FF2B5EF4-FFF2-40B4-BE49-F238E27FC236}">
                <a16:creationId xmlns:a16="http://schemas.microsoft.com/office/drawing/2014/main" id="{7592378E-0C71-4287-8509-728FBFC25DC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1.7.</a:t>
            </a:r>
            <a:r>
              <a:rPr lang="tr-TR" sz="2800" b="1" dirty="0">
                <a:latin typeface="Candara" panose="020E0502030303020204" pitchFamily="34" charset="0"/>
              </a:rPr>
              <a:t> </a:t>
            </a:r>
            <a:r>
              <a:rPr lang="en-US" sz="2800" b="1" dirty="0" err="1">
                <a:latin typeface="Candara" panose="020E0502030303020204" pitchFamily="34" charset="0"/>
              </a:rPr>
              <a:t>Çubuk</a:t>
            </a:r>
            <a:r>
              <a:rPr lang="en-US" sz="2800" b="1" dirty="0">
                <a:latin typeface="Candara" panose="020E0502030303020204" pitchFamily="34" charset="0"/>
              </a:rPr>
              <a:t> Kodu (</a:t>
            </a:r>
            <a:r>
              <a:rPr lang="tr-TR" sz="2800" b="1" dirty="0">
                <a:latin typeface="Candara" panose="020E0502030303020204" pitchFamily="34" charset="0"/>
              </a:rPr>
              <a:t>B</a:t>
            </a:r>
            <a:r>
              <a:rPr lang="en-US" sz="2800" b="1" dirty="0" err="1">
                <a:latin typeface="Candara" panose="020E0502030303020204" pitchFamily="34" charset="0"/>
              </a:rPr>
              <a:t>arkod</a:t>
            </a:r>
            <a:r>
              <a:rPr lang="en-US" sz="2800" b="1" dirty="0">
                <a:latin typeface="Candara" panose="020E0502030303020204" pitchFamily="34" charset="0"/>
              </a:rPr>
              <a:t>)</a:t>
            </a:r>
          </a:p>
        </p:txBody>
      </p:sp>
    </p:spTree>
    <p:extLst>
      <p:ext uri="{BB962C8B-B14F-4D97-AF65-F5344CB8AC3E}">
        <p14:creationId xmlns:p14="http://schemas.microsoft.com/office/powerpoint/2010/main" val="1443772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124744"/>
            <a:ext cx="8784976" cy="512294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İlk olarak 1932’de Harward Universitesi’nde Wallace Flint tarafından yürütülen bir projede</a:t>
            </a:r>
            <a:r>
              <a:rPr lang="en-US" sz="2000" dirty="0">
                <a:latin typeface="Candara" panose="020E0502030303020204" pitchFamily="34" charset="0"/>
              </a:rPr>
              <a:t> </a:t>
            </a:r>
            <a:r>
              <a:rPr lang="tr-TR" sz="2000" dirty="0">
                <a:latin typeface="Candara" panose="020E0502030303020204" pitchFamily="34" charset="0"/>
              </a:rPr>
              <a:t>kullanılan barkod sisteminin modern anlamda ilk uygulaması 1948 yılında yemek sırasında</a:t>
            </a:r>
            <a:r>
              <a:rPr lang="en-US" sz="2000" dirty="0">
                <a:latin typeface="Candara" panose="020E0502030303020204" pitchFamily="34" charset="0"/>
              </a:rPr>
              <a:t> </a:t>
            </a:r>
            <a:r>
              <a:rPr lang="tr-TR" sz="2000" dirty="0">
                <a:latin typeface="Candara" panose="020E0502030303020204" pitchFamily="34" charset="0"/>
              </a:rPr>
              <a:t>kasadan geçen ürünlerin otomatik olarak okunması işlemi ile yapıldı.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İlk uygulamalarda</a:t>
            </a:r>
            <a:r>
              <a:rPr lang="en-US" sz="2000" dirty="0">
                <a:latin typeface="Candara" panose="020E0502030303020204" pitchFamily="34" charset="0"/>
              </a:rPr>
              <a:t> </a:t>
            </a:r>
            <a:r>
              <a:rPr lang="tr-TR" sz="2000" dirty="0">
                <a:latin typeface="Candara" panose="020E0502030303020204" pitchFamily="34" charset="0"/>
              </a:rPr>
              <a:t>kullanılan mürekkebin dengesiz olması ve sistemin pahalıya mal olması nedeni ile bugün</a:t>
            </a:r>
            <a:r>
              <a:rPr lang="en-US" sz="2000" dirty="0">
                <a:latin typeface="Candara" panose="020E0502030303020204" pitchFamily="34" charset="0"/>
              </a:rPr>
              <a:t> </a:t>
            </a:r>
            <a:r>
              <a:rPr lang="tr-TR" sz="2000" dirty="0">
                <a:latin typeface="Candara" panose="020E0502030303020204" pitchFamily="34" charset="0"/>
              </a:rPr>
              <a:t>kullanılan sisteme benzeyen, siyah zemin üzerinde 4 beyaz çizgi içeren ve bu çizgilerin bir</a:t>
            </a:r>
            <a:r>
              <a:rPr lang="en-US" sz="2000" dirty="0">
                <a:latin typeface="Candara" panose="020E0502030303020204" pitchFamily="34" charset="0"/>
              </a:rPr>
              <a:t> </a:t>
            </a:r>
            <a:r>
              <a:rPr lang="tr-TR" sz="2000" dirty="0">
                <a:latin typeface="Candara" panose="020E0502030303020204" pitchFamily="34" charset="0"/>
              </a:rPr>
              <a:t>veya bir kaçının olmaması esasına dayanan sistem geliştirildi.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Bu sistemin geliştirilmesi ile</a:t>
            </a:r>
            <a:r>
              <a:rPr lang="en-US" sz="2000" dirty="0">
                <a:latin typeface="Candara" panose="020E0502030303020204" pitchFamily="34" charset="0"/>
              </a:rPr>
              <a:t> </a:t>
            </a:r>
            <a:r>
              <a:rPr lang="tr-TR" sz="2000" dirty="0">
                <a:latin typeface="Candara" panose="020E0502030303020204" pitchFamily="34" charset="0"/>
              </a:rPr>
              <a:t>1973 yılında UPC (Universal Product Coding) sistemi geliştirildi ve 1974 yılında Ohio’da</a:t>
            </a:r>
            <a:r>
              <a:rPr lang="en-US" sz="2000" dirty="0">
                <a:latin typeface="Candara" panose="020E0502030303020204" pitchFamily="34" charset="0"/>
              </a:rPr>
              <a:t> </a:t>
            </a:r>
            <a:r>
              <a:rPr lang="tr-TR" sz="2000" dirty="0">
                <a:latin typeface="Candara" panose="020E0502030303020204" pitchFamily="34" charset="0"/>
              </a:rPr>
              <a:t>bir</a:t>
            </a:r>
            <a:r>
              <a:rPr lang="en-US" sz="2000" dirty="0">
                <a:latin typeface="Candara" panose="020E0502030303020204" pitchFamily="34" charset="0"/>
              </a:rPr>
              <a:t> </a:t>
            </a:r>
            <a:r>
              <a:rPr lang="tr-TR" sz="2000" dirty="0">
                <a:latin typeface="Candara" panose="020E0502030303020204" pitchFamily="34" charset="0"/>
              </a:rPr>
              <a:t>markette kullanılmaya başlandı. İlk </a:t>
            </a:r>
            <a:r>
              <a:rPr lang="tr-TR" sz="2000" dirty="0" err="1">
                <a:latin typeface="Candara" panose="020E0502030303020204" pitchFamily="34" charset="0"/>
              </a:rPr>
              <a:t>barkodlu</a:t>
            </a:r>
            <a:r>
              <a:rPr lang="tr-TR" sz="2000" dirty="0">
                <a:latin typeface="Candara" panose="020E0502030303020204" pitchFamily="34" charset="0"/>
              </a:rPr>
              <a:t> ürün ise </a:t>
            </a:r>
            <a:r>
              <a:rPr lang="tr-TR" sz="2000" dirty="0" err="1">
                <a:latin typeface="Candara" panose="020E0502030303020204" pitchFamily="34" charset="0"/>
              </a:rPr>
              <a:t>Wrigley’s</a:t>
            </a:r>
            <a:r>
              <a:rPr lang="tr-TR" sz="2000" dirty="0">
                <a:latin typeface="Candara" panose="020E0502030303020204" pitchFamily="34" charset="0"/>
              </a:rPr>
              <a:t>  çikletleri idi.</a:t>
            </a:r>
          </a:p>
        </p:txBody>
      </p:sp>
      <p:sp>
        <p:nvSpPr>
          <p:cNvPr id="3" name="Dikdörtgen 2">
            <a:extLst>
              <a:ext uri="{FF2B5EF4-FFF2-40B4-BE49-F238E27FC236}">
                <a16:creationId xmlns:a16="http://schemas.microsoft.com/office/drawing/2014/main" id="{7592378E-0C71-4287-8509-728FBFC25DC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1.7.</a:t>
            </a:r>
            <a:r>
              <a:rPr lang="tr-TR" sz="2800" b="1" dirty="0">
                <a:latin typeface="Candara" panose="020E0502030303020204" pitchFamily="34" charset="0"/>
              </a:rPr>
              <a:t> </a:t>
            </a:r>
            <a:r>
              <a:rPr lang="en-US" sz="2800" b="1" dirty="0" err="1">
                <a:latin typeface="Candara" panose="020E0502030303020204" pitchFamily="34" charset="0"/>
              </a:rPr>
              <a:t>Çubuk</a:t>
            </a:r>
            <a:r>
              <a:rPr lang="en-US" sz="2800" b="1" dirty="0">
                <a:latin typeface="Candara" panose="020E0502030303020204" pitchFamily="34" charset="0"/>
              </a:rPr>
              <a:t> Kodu (</a:t>
            </a:r>
            <a:r>
              <a:rPr lang="tr-TR" sz="2800" b="1" dirty="0">
                <a:latin typeface="Candara" panose="020E0502030303020204" pitchFamily="34" charset="0"/>
              </a:rPr>
              <a:t>B</a:t>
            </a:r>
            <a:r>
              <a:rPr lang="en-US" sz="2800" b="1" dirty="0" err="1">
                <a:latin typeface="Candara" panose="020E0502030303020204" pitchFamily="34" charset="0"/>
              </a:rPr>
              <a:t>arkod</a:t>
            </a:r>
            <a:r>
              <a:rPr lang="en-US" sz="2800" b="1" dirty="0">
                <a:latin typeface="Candara" panose="020E0502030303020204" pitchFamily="34" charset="0"/>
              </a:rPr>
              <a:t>)</a:t>
            </a:r>
          </a:p>
        </p:txBody>
      </p:sp>
    </p:spTree>
    <p:extLst>
      <p:ext uri="{BB962C8B-B14F-4D97-AF65-F5344CB8AC3E}">
        <p14:creationId xmlns:p14="http://schemas.microsoft.com/office/powerpoint/2010/main" val="2561406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124744"/>
            <a:ext cx="8784976" cy="558460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Klavyeye alternatif olarak kullanılan bar kodu yöntemi; veri giriş / çıkışının kolay olması,</a:t>
            </a:r>
            <a:r>
              <a:rPr lang="en-US" sz="2000" dirty="0">
                <a:latin typeface="Candara" panose="020E0502030303020204" pitchFamily="34" charset="0"/>
              </a:rPr>
              <a:t> </a:t>
            </a:r>
            <a:r>
              <a:rPr lang="tr-TR" sz="2000" dirty="0">
                <a:latin typeface="Candara" panose="020E0502030303020204" pitchFamily="34" charset="0"/>
              </a:rPr>
              <a:t>kullanıldığı sistemlerde verimliliği artırması, standardizasyon sağlaması, vb. nedenlerle</a:t>
            </a:r>
            <a:r>
              <a:rPr lang="en-US" sz="2000" dirty="0">
                <a:latin typeface="Candara" panose="020E0502030303020204" pitchFamily="34" charset="0"/>
              </a:rPr>
              <a:t> </a:t>
            </a:r>
            <a:r>
              <a:rPr lang="tr-TR" sz="2000" dirty="0">
                <a:latin typeface="Candara" panose="020E0502030303020204" pitchFamily="34" charset="0"/>
              </a:rPr>
              <a:t>özellikle stoklama işlemlerinde ve marketlerde yaygın olarak kullanılmaktadır.</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Sayısal ve alfasayısal bir dizinin çizgi veya boşluklardan oluşan bir kodlama yöntemi ile ifade edilmesi olarak tanımlayabileceğimiz barkod sistemi okunduğunda yalnızca ilgili karakter dizisi bilgisayara gönderilir.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Karakterleri temsil etmek için kullanılan çizgilerin uygun araçlarla okunup çözümlenmesi ve bilgisayara aktarılması için çeşitli barkod yöntemleri ve barkodları okuyacak farklı teknolojiler bulunmaktadır. </a:t>
            </a:r>
          </a:p>
          <a:p>
            <a:pPr marL="342900" indent="-342900" algn="just">
              <a:lnSpc>
                <a:spcPct val="150000"/>
              </a:lnSpc>
              <a:buFont typeface="Arial" panose="020B0604020202020204" pitchFamily="34" charset="0"/>
              <a:buChar char="•"/>
            </a:pPr>
            <a:endParaRPr lang="tr-TR" sz="2000" dirty="0">
              <a:latin typeface="Candara" panose="020E0502030303020204" pitchFamily="34" charset="0"/>
            </a:endParaRPr>
          </a:p>
          <a:p>
            <a:pPr algn="just">
              <a:lnSpc>
                <a:spcPct val="150000"/>
              </a:lnSpc>
            </a:pPr>
            <a:endParaRPr lang="tr-TR" sz="2000" dirty="0">
              <a:latin typeface="Candara" panose="020E0502030303020204" pitchFamily="34" charset="0"/>
            </a:endParaRPr>
          </a:p>
        </p:txBody>
      </p:sp>
      <p:sp>
        <p:nvSpPr>
          <p:cNvPr id="3" name="Dikdörtgen 2">
            <a:extLst>
              <a:ext uri="{FF2B5EF4-FFF2-40B4-BE49-F238E27FC236}">
                <a16:creationId xmlns:a16="http://schemas.microsoft.com/office/drawing/2014/main" id="{7592378E-0C71-4287-8509-728FBFC25DC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1.7.</a:t>
            </a:r>
            <a:r>
              <a:rPr lang="tr-TR" sz="2800" b="1" dirty="0">
                <a:latin typeface="Candara" panose="020E0502030303020204" pitchFamily="34" charset="0"/>
              </a:rPr>
              <a:t> </a:t>
            </a:r>
            <a:r>
              <a:rPr lang="en-US" sz="2800" b="1" dirty="0" err="1">
                <a:latin typeface="Candara" panose="020E0502030303020204" pitchFamily="34" charset="0"/>
              </a:rPr>
              <a:t>Çubuk</a:t>
            </a:r>
            <a:r>
              <a:rPr lang="en-US" sz="2800" b="1" dirty="0">
                <a:latin typeface="Candara" panose="020E0502030303020204" pitchFamily="34" charset="0"/>
              </a:rPr>
              <a:t> Kodu (</a:t>
            </a:r>
            <a:r>
              <a:rPr lang="tr-TR" sz="2800" b="1" dirty="0">
                <a:latin typeface="Candara" panose="020E0502030303020204" pitchFamily="34" charset="0"/>
              </a:rPr>
              <a:t>B</a:t>
            </a:r>
            <a:r>
              <a:rPr lang="en-US" sz="2800" b="1" dirty="0" err="1">
                <a:latin typeface="Candara" panose="020E0502030303020204" pitchFamily="34" charset="0"/>
              </a:rPr>
              <a:t>arkod</a:t>
            </a:r>
            <a:r>
              <a:rPr lang="en-US" sz="2800" b="1" dirty="0">
                <a:latin typeface="Candara" panose="020E0502030303020204" pitchFamily="34" charset="0"/>
              </a:rPr>
              <a:t>)</a:t>
            </a:r>
          </a:p>
        </p:txBody>
      </p:sp>
    </p:spTree>
    <p:extLst>
      <p:ext uri="{BB962C8B-B14F-4D97-AF65-F5344CB8AC3E}">
        <p14:creationId xmlns:p14="http://schemas.microsoft.com/office/powerpoint/2010/main" val="1345383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124744"/>
            <a:ext cx="8784976" cy="327628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Barkod ile ilgili teknolojileri / yöntemleri bir standart olarak ortaya koymak amacıyla on iki Avrupa ülkesinin katılımı ile ‘Avrupa Mal Numaralandırma Birliği’ (</a:t>
            </a:r>
            <a:r>
              <a:rPr lang="tr-TR" sz="2000" dirty="0" err="1">
                <a:latin typeface="Candara" panose="020E0502030303020204" pitchFamily="34" charset="0"/>
              </a:rPr>
              <a:t>European</a:t>
            </a:r>
            <a:r>
              <a:rPr lang="tr-TR" sz="2000" dirty="0">
                <a:latin typeface="Candara" panose="020E0502030303020204" pitchFamily="34" charset="0"/>
              </a:rPr>
              <a:t> </a:t>
            </a:r>
            <a:r>
              <a:rPr lang="tr-TR" sz="2000" dirty="0" err="1">
                <a:latin typeface="Candara" panose="020E0502030303020204" pitchFamily="34" charset="0"/>
              </a:rPr>
              <a:t>Article</a:t>
            </a:r>
            <a:r>
              <a:rPr lang="tr-TR" sz="2000" dirty="0">
                <a:latin typeface="Candara" panose="020E0502030303020204" pitchFamily="34" charset="0"/>
              </a:rPr>
              <a:t> </a:t>
            </a:r>
            <a:r>
              <a:rPr lang="tr-TR" sz="2000" dirty="0" err="1">
                <a:latin typeface="Candara" panose="020E0502030303020204" pitchFamily="34" charset="0"/>
              </a:rPr>
              <a:t>Numbering</a:t>
            </a:r>
            <a:r>
              <a:rPr lang="tr-TR" sz="2000" dirty="0">
                <a:latin typeface="Candara" panose="020E0502030303020204" pitchFamily="34" charset="0"/>
              </a:rPr>
              <a:t> </a:t>
            </a:r>
            <a:r>
              <a:rPr lang="tr-TR" sz="2000" dirty="0" err="1">
                <a:latin typeface="Candara" panose="020E0502030303020204" pitchFamily="34" charset="0"/>
              </a:rPr>
              <a:t>Association</a:t>
            </a:r>
            <a:r>
              <a:rPr lang="tr-TR" sz="2000" dirty="0">
                <a:latin typeface="Candara" panose="020E0502030303020204" pitchFamily="34" charset="0"/>
              </a:rPr>
              <a:t> - EAN) kurulmuştur.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Türkiye’nin de üye olduğu (kod numarası 869 olarak) birliğin Türkiye’deki temsilcisi Türkiye Odalar ve Borsalar Birliği’dir.</a:t>
            </a:r>
          </a:p>
          <a:p>
            <a:pPr marL="342900" indent="-342900" algn="just">
              <a:lnSpc>
                <a:spcPct val="150000"/>
              </a:lnSpc>
              <a:buFont typeface="Arial" panose="020B0604020202020204" pitchFamily="34" charset="0"/>
              <a:buChar char="•"/>
            </a:pPr>
            <a:endParaRPr lang="tr-TR" sz="2000" dirty="0">
              <a:latin typeface="Candara" panose="020E0502030303020204" pitchFamily="34" charset="0"/>
            </a:endParaRPr>
          </a:p>
          <a:p>
            <a:pPr algn="just">
              <a:lnSpc>
                <a:spcPct val="150000"/>
              </a:lnSpc>
            </a:pPr>
            <a:endParaRPr lang="tr-TR" sz="2000" dirty="0">
              <a:latin typeface="Candara" panose="020E0502030303020204" pitchFamily="34" charset="0"/>
            </a:endParaRPr>
          </a:p>
        </p:txBody>
      </p:sp>
      <p:sp>
        <p:nvSpPr>
          <p:cNvPr id="3" name="Dikdörtgen 2">
            <a:extLst>
              <a:ext uri="{FF2B5EF4-FFF2-40B4-BE49-F238E27FC236}">
                <a16:creationId xmlns:a16="http://schemas.microsoft.com/office/drawing/2014/main" id="{7592378E-0C71-4287-8509-728FBFC25DC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1.7.</a:t>
            </a:r>
            <a:r>
              <a:rPr lang="tr-TR" sz="2800" b="1" dirty="0">
                <a:latin typeface="Candara" panose="020E0502030303020204" pitchFamily="34" charset="0"/>
              </a:rPr>
              <a:t> </a:t>
            </a:r>
            <a:r>
              <a:rPr lang="en-US" sz="2800" b="1" dirty="0" err="1">
                <a:latin typeface="Candara" panose="020E0502030303020204" pitchFamily="34" charset="0"/>
              </a:rPr>
              <a:t>Çubuk</a:t>
            </a:r>
            <a:r>
              <a:rPr lang="en-US" sz="2800" b="1" dirty="0">
                <a:latin typeface="Candara" panose="020E0502030303020204" pitchFamily="34" charset="0"/>
              </a:rPr>
              <a:t> Kodu (</a:t>
            </a:r>
            <a:r>
              <a:rPr lang="tr-TR" sz="2800" b="1" dirty="0">
                <a:latin typeface="Candara" panose="020E0502030303020204" pitchFamily="34" charset="0"/>
              </a:rPr>
              <a:t>B</a:t>
            </a:r>
            <a:r>
              <a:rPr lang="en-US" sz="2800" b="1" dirty="0" err="1">
                <a:latin typeface="Candara" panose="020E0502030303020204" pitchFamily="34" charset="0"/>
              </a:rPr>
              <a:t>arkod</a:t>
            </a:r>
            <a:r>
              <a:rPr lang="en-US" sz="2800" b="1" dirty="0">
                <a:latin typeface="Candara" panose="020E0502030303020204" pitchFamily="34" charset="0"/>
              </a:rPr>
              <a:t>)</a:t>
            </a:r>
          </a:p>
        </p:txBody>
      </p:sp>
      <p:pic>
        <p:nvPicPr>
          <p:cNvPr id="5" name="Resim 4">
            <a:extLst>
              <a:ext uri="{FF2B5EF4-FFF2-40B4-BE49-F238E27FC236}">
                <a16:creationId xmlns:a16="http://schemas.microsoft.com/office/drawing/2014/main" id="{18E7594C-47EE-45BC-B5CF-1DF63DC0D56F}"/>
              </a:ext>
            </a:extLst>
          </p:cNvPr>
          <p:cNvPicPr>
            <a:picLocks noChangeAspect="1"/>
          </p:cNvPicPr>
          <p:nvPr/>
        </p:nvPicPr>
        <p:blipFill>
          <a:blip r:embed="rId2"/>
          <a:stretch>
            <a:fillRect/>
          </a:stretch>
        </p:blipFill>
        <p:spPr>
          <a:xfrm>
            <a:off x="1279982" y="3608938"/>
            <a:ext cx="6584036" cy="2736304"/>
          </a:xfrm>
          <a:prstGeom prst="rect">
            <a:avLst/>
          </a:prstGeom>
        </p:spPr>
      </p:pic>
    </p:spTree>
    <p:extLst>
      <p:ext uri="{BB962C8B-B14F-4D97-AF65-F5344CB8AC3E}">
        <p14:creationId xmlns:p14="http://schemas.microsoft.com/office/powerpoint/2010/main" val="106617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980728"/>
            <a:ext cx="8640960" cy="458433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Bilgisayarlarda sayılarla birlikte alfabedeki harfler, noktalama işaretleri ve diğer özel</a:t>
            </a:r>
            <a:r>
              <a:rPr lang="en-US" sz="2000" dirty="0">
                <a:latin typeface="Candara" panose="020E0502030303020204" pitchFamily="34" charset="0"/>
              </a:rPr>
              <a:t> </a:t>
            </a:r>
            <a:r>
              <a:rPr lang="tr-TR" sz="2000" dirty="0">
                <a:latin typeface="Candara" panose="020E0502030303020204" pitchFamily="34" charset="0"/>
              </a:rPr>
              <a:t>karakterler kullanılmaktadır. Tüm bu bilgileri kodlamak için kullanılan yöntemler,</a:t>
            </a:r>
            <a:r>
              <a:rPr lang="en-US" sz="2000" dirty="0">
                <a:latin typeface="Candara" panose="020E0502030303020204" pitchFamily="34" charset="0"/>
              </a:rPr>
              <a:t> </a:t>
            </a:r>
            <a:r>
              <a:rPr lang="tr-TR" sz="2000" b="1" dirty="0">
                <a:latin typeface="Candara" panose="020E0502030303020204" pitchFamily="34" charset="0"/>
              </a:rPr>
              <a:t>‘Alfasayısal kodlama yöntemleri’ </a:t>
            </a:r>
            <a:r>
              <a:rPr lang="tr-TR" sz="2000" dirty="0">
                <a:latin typeface="Candara" panose="020E0502030303020204" pitchFamily="34" charset="0"/>
              </a:rPr>
              <a:t>olarak isimlendirilir.</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Alfasayısal kodlar; tüm büyük ve küçük harfleri, 7 tane noktalama işaretini, 0’dan 9’a kadar 10 sayıyı ve +, /, #, %, *, vb. karakterleri içerir. </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Yaygın olarak kullanılan iki türlü alfasayısal kodlama yöntemi bulunmaktadır: </a:t>
            </a:r>
          </a:p>
          <a:p>
            <a:pPr marL="800100" lvl="1" indent="-342900" algn="just">
              <a:lnSpc>
                <a:spcPct val="150000"/>
              </a:lnSpc>
              <a:spcBef>
                <a:spcPts val="600"/>
              </a:spcBef>
              <a:buFont typeface="Courier New" panose="02070309020205020404" pitchFamily="49" charset="0"/>
              <a:buChar char="o"/>
            </a:pPr>
            <a:r>
              <a:rPr lang="tr-TR" sz="2000" dirty="0">
                <a:latin typeface="Candara" panose="020E0502030303020204" pitchFamily="34" charset="0"/>
              </a:rPr>
              <a:t>ASCII (Amerikan Standart </a:t>
            </a:r>
            <a:r>
              <a:rPr lang="tr-TR" sz="2000" dirty="0" err="1">
                <a:latin typeface="Candara" panose="020E0502030303020204" pitchFamily="34" charset="0"/>
              </a:rPr>
              <a:t>Code</a:t>
            </a:r>
            <a:r>
              <a:rPr lang="tr-TR" sz="2000" dirty="0">
                <a:latin typeface="Candara" panose="020E0502030303020204" pitchFamily="34" charset="0"/>
              </a:rPr>
              <a:t> </a:t>
            </a:r>
            <a:r>
              <a:rPr lang="tr-TR" sz="2000" dirty="0" err="1">
                <a:latin typeface="Candara" panose="020E0502030303020204" pitchFamily="34" charset="0"/>
              </a:rPr>
              <a:t>For</a:t>
            </a:r>
            <a:r>
              <a:rPr lang="tr-TR" sz="2000" dirty="0">
                <a:latin typeface="Candara" panose="020E0502030303020204" pitchFamily="34" charset="0"/>
              </a:rPr>
              <a:t> Information </a:t>
            </a:r>
            <a:r>
              <a:rPr lang="tr-TR" sz="2000" dirty="0" err="1">
                <a:latin typeface="Candara" panose="020E0502030303020204" pitchFamily="34" charset="0"/>
              </a:rPr>
              <a:t>Interchance</a:t>
            </a:r>
            <a:r>
              <a:rPr lang="tr-TR" sz="2000" dirty="0">
                <a:latin typeface="Candara" panose="020E0502030303020204" pitchFamily="34" charset="0"/>
              </a:rPr>
              <a:t>) ve </a:t>
            </a:r>
          </a:p>
          <a:p>
            <a:pPr marL="800100" lvl="1" indent="-342900" algn="just">
              <a:lnSpc>
                <a:spcPct val="150000"/>
              </a:lnSpc>
              <a:spcBef>
                <a:spcPts val="600"/>
              </a:spcBef>
              <a:buFont typeface="Courier New" panose="02070309020205020404" pitchFamily="49" charset="0"/>
              <a:buChar char="o"/>
            </a:pPr>
            <a:r>
              <a:rPr lang="tr-TR" sz="2000" dirty="0">
                <a:latin typeface="Candara" panose="020E0502030303020204" pitchFamily="34" charset="0"/>
              </a:rPr>
              <a:t>EBCDIC (</a:t>
            </a:r>
            <a:r>
              <a:rPr lang="tr-TR" sz="2000" dirty="0" err="1">
                <a:latin typeface="Candara" panose="020E0502030303020204" pitchFamily="34" charset="0"/>
              </a:rPr>
              <a:t>Extended</a:t>
            </a:r>
            <a:r>
              <a:rPr lang="tr-TR" sz="2000" dirty="0">
                <a:latin typeface="Candara" panose="020E0502030303020204" pitchFamily="34" charset="0"/>
              </a:rPr>
              <a:t> BCD </a:t>
            </a:r>
            <a:r>
              <a:rPr lang="tr-TR" sz="2000" dirty="0" err="1">
                <a:latin typeface="Candara" panose="020E0502030303020204" pitchFamily="34" charset="0"/>
              </a:rPr>
              <a:t>Interchance</a:t>
            </a:r>
            <a:r>
              <a:rPr lang="tr-TR" sz="2000" dirty="0">
                <a:latin typeface="Candara" panose="020E0502030303020204" pitchFamily="34" charset="0"/>
              </a:rPr>
              <a:t> </a:t>
            </a:r>
            <a:r>
              <a:rPr lang="tr-TR" sz="2000" dirty="0" err="1">
                <a:latin typeface="Candara" panose="020E0502030303020204" pitchFamily="34" charset="0"/>
              </a:rPr>
              <a:t>Code</a:t>
            </a:r>
            <a:r>
              <a:rPr lang="tr-TR" sz="2000" dirty="0">
                <a:latin typeface="Candara" panose="020E0502030303020204" pitchFamily="34" charset="0"/>
              </a:rPr>
              <a:t>) kodları. </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Bu kodlardan daha yaygın olarak kullanılan ASCII kodudur.</a:t>
            </a:r>
          </a:p>
        </p:txBody>
      </p:sp>
      <p:sp>
        <p:nvSpPr>
          <p:cNvPr id="4" name="Dikdörtgen 3">
            <a:extLst>
              <a:ext uri="{FF2B5EF4-FFF2-40B4-BE49-F238E27FC236}">
                <a16:creationId xmlns:a16="http://schemas.microsoft.com/office/drawing/2014/main" id="{40EAE46C-4D72-465A-945C-3524D0905F24}"/>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2. Alfa </a:t>
            </a:r>
            <a:r>
              <a:rPr lang="en-US" sz="2800" b="1" dirty="0" err="1">
                <a:latin typeface="Candara" panose="020E0502030303020204" pitchFamily="34" charset="0"/>
              </a:rPr>
              <a:t>Sayısal</a:t>
            </a:r>
            <a:r>
              <a:rPr lang="en-US" sz="2800" b="1" dirty="0">
                <a:latin typeface="Candara" panose="020E0502030303020204" pitchFamily="34" charset="0"/>
              </a:rPr>
              <a:t> </a:t>
            </a:r>
            <a:r>
              <a:rPr lang="en-US" sz="2800" b="1" dirty="0" err="1">
                <a:latin typeface="Candara" panose="020E0502030303020204" pitchFamily="34" charset="0"/>
              </a:rPr>
              <a:t>Kodlar</a:t>
            </a:r>
            <a:endParaRPr lang="en-US" sz="2800" b="1" dirty="0">
              <a:latin typeface="Candara" panose="020E0502030303020204" pitchFamily="34" charset="0"/>
            </a:endParaRPr>
          </a:p>
        </p:txBody>
      </p:sp>
    </p:spTree>
    <p:extLst>
      <p:ext uri="{BB962C8B-B14F-4D97-AF65-F5344CB8AC3E}">
        <p14:creationId xmlns:p14="http://schemas.microsoft.com/office/powerpoint/2010/main" val="1879984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07504" y="980728"/>
            <a:ext cx="8640960" cy="4353499"/>
          </a:xfrm>
          <a:prstGeom prst="rect">
            <a:avLst/>
          </a:prstGeom>
        </p:spPr>
        <p:txBody>
          <a:bodyPr wrap="square">
            <a:spAutoFit/>
          </a:bodyPr>
          <a:lstStyle/>
          <a:p>
            <a:pPr marL="342900" indent="-342900" algn="just">
              <a:lnSpc>
                <a:spcPct val="150000"/>
              </a:lnSpc>
              <a:spcBef>
                <a:spcPts val="600"/>
              </a:spcBef>
              <a:buFont typeface="Arial" panose="020B0604020202020204" pitchFamily="34" charset="0"/>
              <a:buChar char="•"/>
            </a:pPr>
            <a:r>
              <a:rPr lang="tr-TR" sz="2000" b="1" dirty="0">
                <a:latin typeface="Candara" panose="020E0502030303020204" pitchFamily="34" charset="0"/>
              </a:rPr>
              <a:t>ASCII kodu; </a:t>
            </a:r>
            <a:r>
              <a:rPr lang="tr-TR" sz="2000" dirty="0">
                <a:latin typeface="Candara" panose="020E0502030303020204" pitchFamily="34" charset="0"/>
              </a:rPr>
              <a:t>7 bitlik bir koddur (8. bit bazı karakterlerin kontrolü için kullanılır) ve</a:t>
            </a:r>
            <a:r>
              <a:rPr lang="en-US" sz="2000" dirty="0">
                <a:latin typeface="Candara" panose="020E0502030303020204" pitchFamily="34" charset="0"/>
              </a:rPr>
              <a:t> </a:t>
            </a:r>
            <a:r>
              <a:rPr lang="tr-TR" sz="2000" dirty="0">
                <a:latin typeface="Candara" panose="020E0502030303020204" pitchFamily="34" charset="0"/>
              </a:rPr>
              <a:t>2⁷ = 128</a:t>
            </a:r>
            <a:r>
              <a:rPr lang="en-US" sz="2000" dirty="0">
                <a:latin typeface="Candara" panose="020E0502030303020204" pitchFamily="34" charset="0"/>
              </a:rPr>
              <a:t> </a:t>
            </a:r>
            <a:r>
              <a:rPr lang="tr-TR" sz="2000" dirty="0">
                <a:latin typeface="Candara" panose="020E0502030303020204" pitchFamily="34" charset="0"/>
              </a:rPr>
              <a:t>bilgiyi kodlama kapasitesine sahiptir. Bu kapasite rakam ve harflerle birlikte</a:t>
            </a:r>
            <a:r>
              <a:rPr lang="en-US" sz="2000" dirty="0">
                <a:latin typeface="Candara" panose="020E0502030303020204" pitchFamily="34" charset="0"/>
              </a:rPr>
              <a:t> </a:t>
            </a:r>
            <a:r>
              <a:rPr lang="tr-TR" sz="2000" dirty="0">
                <a:latin typeface="Candara" panose="020E0502030303020204" pitchFamily="34" charset="0"/>
              </a:rPr>
              <a:t>bilgisayarda</a:t>
            </a:r>
            <a:r>
              <a:rPr lang="en-US" sz="2000" dirty="0">
                <a:latin typeface="Candara" panose="020E0502030303020204" pitchFamily="34" charset="0"/>
              </a:rPr>
              <a:t> </a:t>
            </a:r>
            <a:r>
              <a:rPr lang="tr-TR" sz="2000" dirty="0">
                <a:latin typeface="Candara" panose="020E0502030303020204" pitchFamily="34" charset="0"/>
              </a:rPr>
              <a:t>kullanılan Enter, Linefeed, vb. işlemleri ifade etmek için de yeterlidir. </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Tablo</a:t>
            </a:r>
            <a:r>
              <a:rPr lang="en-US" sz="2000" dirty="0">
                <a:latin typeface="Candara" panose="020E0502030303020204" pitchFamily="34" charset="0"/>
              </a:rPr>
              <a:t> </a:t>
            </a:r>
            <a:r>
              <a:rPr lang="tr-TR" sz="2000" dirty="0">
                <a:latin typeface="Candara" panose="020E0502030303020204" pitchFamily="34" charset="0"/>
              </a:rPr>
              <a:t>3.5’de kullanılan</a:t>
            </a:r>
            <a:r>
              <a:rPr lang="en-US" sz="2000" dirty="0">
                <a:latin typeface="Candara" panose="020E0502030303020204" pitchFamily="34" charset="0"/>
              </a:rPr>
              <a:t> </a:t>
            </a:r>
            <a:r>
              <a:rPr lang="tr-TR" sz="2000" dirty="0">
                <a:latin typeface="Candara" panose="020E0502030303020204" pitchFamily="34" charset="0"/>
              </a:rPr>
              <a:t>bazı bilgilerin ASCII kodlama yönteminde ve onaltılı sistemde kodlanmış</a:t>
            </a:r>
            <a:r>
              <a:rPr lang="en-US" sz="2000" dirty="0">
                <a:latin typeface="Candara" panose="020E0502030303020204" pitchFamily="34" charset="0"/>
              </a:rPr>
              <a:t> </a:t>
            </a:r>
            <a:r>
              <a:rPr lang="tr-TR" sz="2000" dirty="0">
                <a:latin typeface="Candara" panose="020E0502030303020204" pitchFamily="34" charset="0"/>
              </a:rPr>
              <a:t>karşılıkları</a:t>
            </a:r>
            <a:r>
              <a:rPr lang="en-US" sz="2000" dirty="0">
                <a:latin typeface="Candara" panose="020E0502030303020204" pitchFamily="34" charset="0"/>
              </a:rPr>
              <a:t> </a:t>
            </a:r>
            <a:r>
              <a:rPr lang="tr-TR" sz="2000" dirty="0">
                <a:latin typeface="Candara" panose="020E0502030303020204" pitchFamily="34" charset="0"/>
              </a:rPr>
              <a:t>görülmektedir. </a:t>
            </a:r>
          </a:p>
          <a:p>
            <a:pPr marL="342900" indent="-342900" algn="just">
              <a:lnSpc>
                <a:spcPct val="150000"/>
              </a:lnSpc>
              <a:spcBef>
                <a:spcPts val="600"/>
              </a:spcBef>
              <a:buFont typeface="Arial" panose="020B0604020202020204" pitchFamily="34" charset="0"/>
              <a:buChar char="•"/>
            </a:pPr>
            <a:r>
              <a:rPr lang="tr-TR" sz="2000" dirty="0">
                <a:latin typeface="Candara" panose="020E0502030303020204" pitchFamily="34" charset="0"/>
              </a:rPr>
              <a:t>İkili sayı formundaki ASCII kodlu bir sayının anlamını bulmak</a:t>
            </a:r>
            <a:r>
              <a:rPr lang="en-US" sz="2000" dirty="0">
                <a:latin typeface="Candara" panose="020E0502030303020204" pitchFamily="34" charset="0"/>
              </a:rPr>
              <a:t> </a:t>
            </a:r>
            <a:r>
              <a:rPr lang="tr-TR" sz="2000" dirty="0">
                <a:latin typeface="Candara" panose="020E0502030303020204" pitchFamily="34" charset="0"/>
              </a:rPr>
              <a:t>için, ikili sayının</a:t>
            </a:r>
            <a:r>
              <a:rPr lang="en-US" sz="2000" dirty="0">
                <a:latin typeface="Candara" panose="020E0502030303020204" pitchFamily="34" charset="0"/>
              </a:rPr>
              <a:t> </a:t>
            </a:r>
            <a:r>
              <a:rPr lang="tr-TR" sz="2000" dirty="0">
                <a:latin typeface="Candara" panose="020E0502030303020204" pitchFamily="34" charset="0"/>
              </a:rPr>
              <a:t>karşılığı olan onaltılı sayı bulunur. Onaltılı sayının ifade ettiği karakter</a:t>
            </a:r>
            <a:r>
              <a:rPr lang="en-US" sz="2000" dirty="0">
                <a:latin typeface="Candara" panose="020E0502030303020204" pitchFamily="34" charset="0"/>
              </a:rPr>
              <a:t> </a:t>
            </a:r>
            <a:r>
              <a:rPr lang="tr-TR" sz="2000" dirty="0">
                <a:latin typeface="Candara" panose="020E0502030303020204" pitchFamily="34" charset="0"/>
              </a:rPr>
              <a:t>tespit edilirse kodlanmış sayı anlamlı hale gelir.</a:t>
            </a:r>
          </a:p>
        </p:txBody>
      </p:sp>
      <p:sp>
        <p:nvSpPr>
          <p:cNvPr id="4" name="Dikdörtgen 3">
            <a:extLst>
              <a:ext uri="{FF2B5EF4-FFF2-40B4-BE49-F238E27FC236}">
                <a16:creationId xmlns:a16="http://schemas.microsoft.com/office/drawing/2014/main" id="{40EAE46C-4D72-465A-945C-3524D0905F24}"/>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2.1. ASCII </a:t>
            </a:r>
            <a:r>
              <a:rPr lang="en-US" sz="2800" b="1" dirty="0" err="1">
                <a:latin typeface="Candara" panose="020E0502030303020204" pitchFamily="34" charset="0"/>
              </a:rPr>
              <a:t>kodu</a:t>
            </a:r>
            <a:endParaRPr lang="en-US" sz="2800" b="1" dirty="0">
              <a:latin typeface="Candara" panose="020E0502030303020204" pitchFamily="34" charset="0"/>
            </a:endParaRPr>
          </a:p>
        </p:txBody>
      </p:sp>
    </p:spTree>
    <p:extLst>
      <p:ext uri="{BB962C8B-B14F-4D97-AF65-F5344CB8AC3E}">
        <p14:creationId xmlns:p14="http://schemas.microsoft.com/office/powerpoint/2010/main" val="2633369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AFF4FACF-A50B-4F05-B490-4EB54FB500DD}"/>
              </a:ext>
            </a:extLst>
          </p:cNvPr>
          <p:cNvSpPr txBox="1"/>
          <p:nvPr/>
        </p:nvSpPr>
        <p:spPr>
          <a:xfrm>
            <a:off x="3923928" y="548680"/>
            <a:ext cx="1296144" cy="369332"/>
          </a:xfrm>
          <a:prstGeom prst="rect">
            <a:avLst/>
          </a:prstGeom>
          <a:noFill/>
        </p:spPr>
        <p:txBody>
          <a:bodyPr wrap="square">
            <a:spAutoFit/>
          </a:bodyPr>
          <a:lstStyle/>
          <a:p>
            <a:r>
              <a:rPr lang="tr-TR" sz="1800" b="1" dirty="0">
                <a:latin typeface="Candara" panose="020E0502030303020204" pitchFamily="34" charset="0"/>
              </a:rPr>
              <a:t>Tablo</a:t>
            </a:r>
            <a:r>
              <a:rPr lang="en-US" sz="1800" b="1" dirty="0">
                <a:latin typeface="Candara" panose="020E0502030303020204" pitchFamily="34" charset="0"/>
              </a:rPr>
              <a:t> </a:t>
            </a:r>
            <a:r>
              <a:rPr lang="tr-TR" sz="1800" b="1" dirty="0">
                <a:latin typeface="Candara" panose="020E0502030303020204" pitchFamily="34" charset="0"/>
              </a:rPr>
              <a:t>3.5 </a:t>
            </a:r>
            <a:endParaRPr lang="tr-TR" b="1" dirty="0"/>
          </a:p>
        </p:txBody>
      </p:sp>
      <p:sp>
        <p:nvSpPr>
          <p:cNvPr id="5" name="Dikdörtgen 4">
            <a:extLst>
              <a:ext uri="{FF2B5EF4-FFF2-40B4-BE49-F238E27FC236}">
                <a16:creationId xmlns:a16="http://schemas.microsoft.com/office/drawing/2014/main" id="{0D90B87A-74F7-485C-91E2-21277B62EABC}"/>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2.1. ASCII </a:t>
            </a:r>
            <a:r>
              <a:rPr lang="en-US" sz="2800" b="1" dirty="0" err="1">
                <a:latin typeface="Candara" panose="020E0502030303020204" pitchFamily="34" charset="0"/>
              </a:rPr>
              <a:t>kodu</a:t>
            </a:r>
            <a:endParaRPr lang="en-US" sz="2800" b="1" dirty="0">
              <a:latin typeface="Candara" panose="020E0502030303020204" pitchFamily="34" charset="0"/>
            </a:endParaRPr>
          </a:p>
        </p:txBody>
      </p:sp>
      <p:pic>
        <p:nvPicPr>
          <p:cNvPr id="6" name="Resim 5">
            <a:extLst>
              <a:ext uri="{FF2B5EF4-FFF2-40B4-BE49-F238E27FC236}">
                <a16:creationId xmlns:a16="http://schemas.microsoft.com/office/drawing/2014/main" id="{0A867F8F-F7DC-4F3C-90F9-87CA998AB3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286" y="972781"/>
            <a:ext cx="8557428" cy="5840595"/>
          </a:xfrm>
          <a:prstGeom prst="rect">
            <a:avLst/>
          </a:prstGeom>
        </p:spPr>
      </p:pic>
    </p:spTree>
    <p:extLst>
      <p:ext uri="{BB962C8B-B14F-4D97-AF65-F5344CB8AC3E}">
        <p14:creationId xmlns:p14="http://schemas.microsoft.com/office/powerpoint/2010/main" val="3302011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461963"/>
            <a:ext cx="6057900" cy="593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12702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51722"/>
            <a:ext cx="7776864" cy="6678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4400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87524" y="1124744"/>
            <a:ext cx="8568952" cy="373794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tr-TR" sz="2000" dirty="0">
                <a:latin typeface="Candara" panose="020E0502030303020204" pitchFamily="34" charset="0"/>
              </a:rPr>
              <a:t>IBM tarafından geliştirilen ancak diğer üreticiler tarafından benimsenmediği için yaygın olarak kullanılmayan EBCDIC kodu, 8 bitlik alfasayısal bir kodlama sistemidir.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Her bir bilginin farklı şekilde onaltılı ve ikili sistemde temsil edildiği bu kodlama sisteminde, karakterlerin eşitlikleri Tablo 3.6’da toplu olarak görülmektedir. </a:t>
            </a:r>
          </a:p>
          <a:p>
            <a:pPr marL="342900" indent="-342900" algn="just">
              <a:lnSpc>
                <a:spcPct val="150000"/>
              </a:lnSpc>
              <a:buFont typeface="Arial" panose="020B0604020202020204" pitchFamily="34" charset="0"/>
              <a:buChar char="•"/>
            </a:pPr>
            <a:r>
              <a:rPr lang="tr-TR" sz="2000" dirty="0">
                <a:latin typeface="Candara" panose="020E0502030303020204" pitchFamily="34" charset="0"/>
              </a:rPr>
              <a:t>Bu kodlama sisteminde, bilgilerin kodlanmasında kullanılan mantık ASCII kodunun aynısıdır.</a:t>
            </a:r>
          </a:p>
        </p:txBody>
      </p:sp>
      <p:sp>
        <p:nvSpPr>
          <p:cNvPr id="3" name="Dikdörtgen 2">
            <a:extLst>
              <a:ext uri="{FF2B5EF4-FFF2-40B4-BE49-F238E27FC236}">
                <a16:creationId xmlns:a16="http://schemas.microsoft.com/office/drawing/2014/main" id="{012DD04F-FAB1-4B79-AE7D-B850DE499D0F}"/>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800" b="1" dirty="0">
                <a:latin typeface="Candara" panose="020E0502030303020204" pitchFamily="34" charset="0"/>
              </a:rPr>
              <a:t>2.2. EBCDIC Kodu</a:t>
            </a:r>
          </a:p>
        </p:txBody>
      </p:sp>
    </p:spTree>
    <p:extLst>
      <p:ext uri="{BB962C8B-B14F-4D97-AF65-F5344CB8AC3E}">
        <p14:creationId xmlns:p14="http://schemas.microsoft.com/office/powerpoint/2010/main" val="3449804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756" y="64912"/>
            <a:ext cx="4392488" cy="6728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a:extLst>
              <a:ext uri="{FF2B5EF4-FFF2-40B4-BE49-F238E27FC236}">
                <a16:creationId xmlns:a16="http://schemas.microsoft.com/office/drawing/2014/main" id="{4D106848-4273-4DDA-BB82-A5CE6DD8CCF0}"/>
              </a:ext>
            </a:extLst>
          </p:cNvPr>
          <p:cNvSpPr txBox="1"/>
          <p:nvPr/>
        </p:nvSpPr>
        <p:spPr>
          <a:xfrm>
            <a:off x="7020272" y="3059668"/>
            <a:ext cx="1170384" cy="369332"/>
          </a:xfrm>
          <a:prstGeom prst="rect">
            <a:avLst/>
          </a:prstGeom>
          <a:noFill/>
        </p:spPr>
        <p:txBody>
          <a:bodyPr wrap="square">
            <a:spAutoFit/>
          </a:bodyPr>
          <a:lstStyle/>
          <a:p>
            <a:r>
              <a:rPr lang="tr-TR" sz="1800" b="1" dirty="0">
                <a:latin typeface="Candara" panose="020E0502030303020204" pitchFamily="34" charset="0"/>
              </a:rPr>
              <a:t>Tablo 3.6</a:t>
            </a:r>
            <a:endParaRPr lang="tr-TR" b="1" dirty="0"/>
          </a:p>
        </p:txBody>
      </p:sp>
    </p:spTree>
    <p:extLst>
      <p:ext uri="{BB962C8B-B14F-4D97-AF65-F5344CB8AC3E}">
        <p14:creationId xmlns:p14="http://schemas.microsoft.com/office/powerpoint/2010/main" val="2349401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943708" y="2767281"/>
            <a:ext cx="5256584" cy="1323439"/>
          </a:xfrm>
          <a:prstGeom prst="rect">
            <a:avLst/>
          </a:prstGeom>
        </p:spPr>
        <p:txBody>
          <a:bodyPr wrap="square">
            <a:spAutoFit/>
          </a:bodyPr>
          <a:lstStyle/>
          <a:p>
            <a:pPr algn="ctr"/>
            <a:r>
              <a:rPr lang="tr-TR" sz="4000" dirty="0">
                <a:latin typeface="Candara" panose="020E0502030303020204" pitchFamily="34" charset="0"/>
              </a:rPr>
              <a:t>DİNLEDİĞİNİZ İÇİN TEŞEKKÜR EDERİZ</a:t>
            </a:r>
          </a:p>
        </p:txBody>
      </p:sp>
    </p:spTree>
    <p:extLst>
      <p:ext uri="{BB962C8B-B14F-4D97-AF65-F5344CB8AC3E}">
        <p14:creationId xmlns:p14="http://schemas.microsoft.com/office/powerpoint/2010/main" val="383889376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1856</Words>
  <Application>Microsoft Office PowerPoint</Application>
  <PresentationFormat>Ekran Gösterisi (4:3)</PresentationFormat>
  <Paragraphs>97</Paragraphs>
  <Slides>41</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41</vt:i4>
      </vt:variant>
    </vt:vector>
  </HeadingPairs>
  <TitlesOfParts>
    <vt:vector size="47" baseType="lpstr">
      <vt:lpstr>Arial</vt:lpstr>
      <vt:lpstr>Calibri</vt:lpstr>
      <vt:lpstr>Cambria Math</vt:lpstr>
      <vt:lpstr>Candara</vt:lpstr>
      <vt:lpstr>Courier New</vt:lpstr>
      <vt:lpstr>Ofis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Mantık Devreleri  DERS 4</dc:title>
  <dc:creator>bilgisayarim</dc:creator>
  <cp:lastModifiedBy>Ali BULDU</cp:lastModifiedBy>
  <cp:revision>68</cp:revision>
  <dcterms:created xsi:type="dcterms:W3CDTF">2019-10-01T11:39:33Z</dcterms:created>
  <dcterms:modified xsi:type="dcterms:W3CDTF">2024-11-05T07:11:00Z</dcterms:modified>
</cp:coreProperties>
</file>