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60" r:id="rId3"/>
    <p:sldId id="257"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8" r:id="rId21"/>
    <p:sldId id="279" r:id="rId22"/>
    <p:sldId id="280" r:id="rId23"/>
    <p:sldId id="281" r:id="rId24"/>
    <p:sldId id="282" r:id="rId25"/>
    <p:sldId id="283" r:id="rId26"/>
    <p:sldId id="284" r:id="rId27"/>
    <p:sldId id="285" r:id="rId28"/>
    <p:sldId id="286" r:id="rId29"/>
    <p:sldId id="287" r:id="rId30"/>
    <p:sldId id="258" r:id="rId3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55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C9A0A3-DD9A-4C75-92C6-6154FAD26123}" type="datetimeFigureOut">
              <a:rPr lang="tr-TR" smtClean="0"/>
              <a:t>7.11.2022</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294974-3D4B-41B5-A459-8D362D0430AE}" type="slidenum">
              <a:rPr lang="tr-TR" smtClean="0"/>
              <a:t>‹#›</a:t>
            </a:fld>
            <a:endParaRPr lang="tr-TR"/>
          </a:p>
        </p:txBody>
      </p:sp>
    </p:spTree>
    <p:extLst>
      <p:ext uri="{BB962C8B-B14F-4D97-AF65-F5344CB8AC3E}">
        <p14:creationId xmlns:p14="http://schemas.microsoft.com/office/powerpoint/2010/main" val="1522598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3F59AC6A-089A-499E-8C14-F9442D32F643}" type="datetimeFigureOut">
              <a:rPr lang="tr-TR" smtClean="0"/>
              <a:t>7.11.2022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276264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7.11.2022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1354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3F59AC6A-089A-499E-8C14-F9442D32F643}" type="datetimeFigureOut">
              <a:rPr lang="tr-TR" smtClean="0"/>
              <a:t>7.11.2022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117815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3F59AC6A-089A-499E-8C14-F9442D32F643}" type="datetimeFigureOut">
              <a:rPr lang="tr-TR" smtClean="0"/>
              <a:t>7.11.2022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568593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3F59AC6A-089A-499E-8C14-F9442D32F643}" type="datetimeFigureOut">
              <a:rPr lang="tr-TR" smtClean="0"/>
              <a:t>7.11.2022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11944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3F59AC6A-089A-499E-8C14-F9442D32F643}" type="datetimeFigureOut">
              <a:rPr lang="tr-TR" smtClean="0"/>
              <a:t>7.11.2022</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33267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3F59AC6A-089A-499E-8C14-F9442D32F643}" type="datetimeFigureOut">
              <a:rPr lang="tr-TR" smtClean="0"/>
              <a:t>7.11.2022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236613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3F59AC6A-089A-499E-8C14-F9442D32F643}" type="datetimeFigureOut">
              <a:rPr lang="tr-TR" smtClean="0"/>
              <a:t>7.11.2022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56373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3F59AC6A-089A-499E-8C14-F9442D32F643}" type="datetimeFigureOut">
              <a:rPr lang="tr-TR" smtClean="0"/>
              <a:t>7.11.2022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329107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7.11.2022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891995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3F59AC6A-089A-499E-8C14-F9442D32F643}" type="datetimeFigureOut">
              <a:rPr lang="tr-TR" smtClean="0"/>
              <a:t>7.11.2022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6758499-DD0B-4F9C-8CB0-F87EB1F29810}" type="slidenum">
              <a:rPr lang="tr-TR" smtClean="0"/>
              <a:t>‹#›</a:t>
            </a:fld>
            <a:endParaRPr lang="tr-TR"/>
          </a:p>
        </p:txBody>
      </p:sp>
    </p:spTree>
    <p:extLst>
      <p:ext uri="{BB962C8B-B14F-4D97-AF65-F5344CB8AC3E}">
        <p14:creationId xmlns:p14="http://schemas.microsoft.com/office/powerpoint/2010/main" val="1860569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59AC6A-089A-499E-8C14-F9442D32F643}" type="datetimeFigureOut">
              <a:rPr lang="tr-TR" smtClean="0"/>
              <a:t>7.11.2022</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758499-DD0B-4F9C-8CB0-F87EB1F29810}" type="slidenum">
              <a:rPr lang="tr-TR" smtClean="0"/>
              <a:t>‹#›</a:t>
            </a:fld>
            <a:endParaRPr lang="tr-TR"/>
          </a:p>
        </p:txBody>
      </p:sp>
    </p:spTree>
    <p:extLst>
      <p:ext uri="{BB962C8B-B14F-4D97-AF65-F5344CB8AC3E}">
        <p14:creationId xmlns:p14="http://schemas.microsoft.com/office/powerpoint/2010/main" val="2509584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a:spLocks noGrp="1"/>
          </p:cNvSpPr>
          <p:nvPr>
            <p:ph type="ctrTitle"/>
          </p:nvPr>
        </p:nvSpPr>
        <p:spPr>
          <a:xfrm>
            <a:off x="685800" y="2130425"/>
            <a:ext cx="7772400" cy="1470025"/>
          </a:xfrm>
        </p:spPr>
        <p:txBody>
          <a:bodyPr/>
          <a:lstStyle/>
          <a:p>
            <a:r>
              <a:rPr lang="tr-TR" dirty="0"/>
              <a:t>Mantık Devreleri </a:t>
            </a:r>
            <a:br>
              <a:rPr lang="tr-TR" dirty="0"/>
            </a:br>
            <a:r>
              <a:rPr lang="tr-TR"/>
              <a:t>DERS 5 </a:t>
            </a:r>
            <a:endParaRPr lang="en-GB" dirty="0"/>
          </a:p>
        </p:txBody>
      </p:sp>
    </p:spTree>
    <p:extLst>
      <p:ext uri="{BB962C8B-B14F-4D97-AF65-F5344CB8AC3E}">
        <p14:creationId xmlns:p14="http://schemas.microsoft.com/office/powerpoint/2010/main" val="1406218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1844824"/>
            <a:ext cx="7920880" cy="1323439"/>
          </a:xfrm>
          <a:prstGeom prst="rect">
            <a:avLst/>
          </a:prstGeom>
        </p:spPr>
        <p:txBody>
          <a:bodyPr wrap="square">
            <a:spAutoFit/>
          </a:bodyPr>
          <a:lstStyle/>
          <a:p>
            <a:r>
              <a:rPr lang="tr-TR" sz="4000" b="1" dirty="0"/>
              <a:t>Kodlama ve Kodlar</a:t>
            </a:r>
          </a:p>
          <a:p>
            <a:r>
              <a:rPr lang="tr-TR" sz="4000" b="1" dirty="0"/>
              <a:t>(</a:t>
            </a:r>
            <a:r>
              <a:rPr lang="tr-TR" sz="4000" b="1" dirty="0" err="1"/>
              <a:t>Coding</a:t>
            </a:r>
            <a:r>
              <a:rPr lang="tr-TR" sz="4000" b="1" dirty="0"/>
              <a:t> </a:t>
            </a:r>
            <a:r>
              <a:rPr lang="tr-TR" sz="4000" b="1" dirty="0" err="1"/>
              <a:t>and</a:t>
            </a:r>
            <a:r>
              <a:rPr lang="tr-TR" sz="4000" b="1" dirty="0"/>
              <a:t> </a:t>
            </a:r>
            <a:r>
              <a:rPr lang="tr-TR" sz="4000" b="1" dirty="0" err="1"/>
              <a:t>Codes</a:t>
            </a:r>
            <a:r>
              <a:rPr lang="tr-TR" sz="4000" b="1" dirty="0"/>
              <a:t>))</a:t>
            </a:r>
            <a:endParaRPr lang="tr-TR" sz="4000" dirty="0"/>
          </a:p>
        </p:txBody>
      </p:sp>
    </p:spTree>
    <p:extLst>
      <p:ext uri="{BB962C8B-B14F-4D97-AF65-F5344CB8AC3E}">
        <p14:creationId xmlns:p14="http://schemas.microsoft.com/office/powerpoint/2010/main" val="242007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58847"/>
            <a:ext cx="8712968" cy="6001643"/>
          </a:xfrm>
          <a:prstGeom prst="rect">
            <a:avLst/>
          </a:prstGeom>
        </p:spPr>
        <p:txBody>
          <a:bodyPr wrap="square">
            <a:spAutoFit/>
          </a:bodyPr>
          <a:lstStyle/>
          <a:p>
            <a:pPr algn="just"/>
            <a:r>
              <a:rPr lang="tr-TR" sz="2400" b="1" dirty="0"/>
              <a:t>Giriş</a:t>
            </a:r>
          </a:p>
          <a:p>
            <a:pPr algn="just"/>
            <a:r>
              <a:rPr lang="tr-TR" sz="2400" dirty="0"/>
              <a:t>Kodlama, iki küme elemanları arasında karşılığı kesin olarak belirtilen kurallar bütünüdür diye tanımlanabilir. Diğer bir deyişle, görünebilen, okunabilen yazı, sayı ve işaretlerin değiştirilmesi işlemine </a:t>
            </a:r>
            <a:r>
              <a:rPr lang="tr-TR" sz="2400" b="1" dirty="0"/>
              <a:t>‘kodlama’ </a:t>
            </a:r>
            <a:r>
              <a:rPr lang="tr-TR" sz="2400" dirty="0"/>
              <a:t>denir. Başka bir bakış acısı ile, sonlu elemana sahip bir </a:t>
            </a:r>
            <a:r>
              <a:rPr lang="nn-NO" sz="2400" dirty="0"/>
              <a:t>k</a:t>
            </a:r>
            <a:r>
              <a:rPr lang="tr-TR" sz="2400" dirty="0"/>
              <a:t>ü</a:t>
            </a:r>
            <a:r>
              <a:rPr lang="nn-NO" sz="2400" dirty="0"/>
              <a:t>menin her bir elemanına bir kod verilmesi, kodlama olarak tanımlanır.</a:t>
            </a:r>
            <a:endParaRPr lang="tr-TR" sz="2400" dirty="0"/>
          </a:p>
          <a:p>
            <a:pPr algn="just"/>
            <a:r>
              <a:rPr lang="tr-TR" sz="2400" dirty="0"/>
              <a:t>‘</a:t>
            </a:r>
            <a:r>
              <a:rPr lang="tr-TR" sz="2400" dirty="0" err="1"/>
              <a:t>Morse</a:t>
            </a:r>
            <a:r>
              <a:rPr lang="tr-TR" sz="2400" dirty="0"/>
              <a:t>’ alfabesi kodlamaya iyi bir örnektir. Kodlama işlemine diğer bir örnek, bilgisayarın çevresel birimleri ile merkezi işlem ünitesi arasındaki bilgi iletişimidir. Bilgisayarlarda, bir alfabetik-sayısal kaynak olan klavyeden gönderilen bilgi, 7 veya 8 bitlik ikili sayılar şeklinde kodlandıktan sonra ilgili birime gönderilir.</a:t>
            </a:r>
          </a:p>
          <a:p>
            <a:endParaRPr lang="tr-TR" sz="2400" dirty="0"/>
          </a:p>
          <a:p>
            <a:pPr algn="just"/>
            <a:r>
              <a:rPr lang="tr-TR" sz="2400" dirty="0"/>
              <a:t>Kodlama işlemi yalnızca onluk sistemdeki sayıları (0, 1, 2,....,9) içerebileceği gibi, alfabetik ve alfa sayısal bilgilerin kodlanmasını içerebilir. Farklı bilgileri kodlama ihtiyacı ve değişik alanlarda kodlama gereksinimi çeşitli kodlama yöntemlerini doğurmuştur.</a:t>
            </a:r>
          </a:p>
        </p:txBody>
      </p:sp>
    </p:spTree>
    <p:extLst>
      <p:ext uri="{BB962C8B-B14F-4D97-AF65-F5344CB8AC3E}">
        <p14:creationId xmlns:p14="http://schemas.microsoft.com/office/powerpoint/2010/main" val="4104171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39552" y="404664"/>
            <a:ext cx="8280920" cy="5262979"/>
          </a:xfrm>
          <a:prstGeom prst="rect">
            <a:avLst/>
          </a:prstGeom>
        </p:spPr>
        <p:txBody>
          <a:bodyPr wrap="square">
            <a:spAutoFit/>
          </a:bodyPr>
          <a:lstStyle/>
          <a:p>
            <a:r>
              <a:rPr lang="tr-TR" sz="2400" dirty="0"/>
              <a:t>Kodlama işlemi aşağıdaki avantajları sağlar:</a:t>
            </a:r>
          </a:p>
          <a:p>
            <a:r>
              <a:rPr lang="tr-TR" sz="2400" dirty="0"/>
              <a:t>1. Aritmetik işlemlerde kolaylık sağlar.</a:t>
            </a:r>
          </a:p>
          <a:p>
            <a:r>
              <a:rPr lang="tr-TR" sz="2400" dirty="0"/>
              <a:t>2. Hataların bulunmasını kolaylaştırır.</a:t>
            </a:r>
          </a:p>
          <a:p>
            <a:r>
              <a:rPr lang="tr-TR" sz="2400" dirty="0"/>
              <a:t>3. Hataların düzeltilmesi işlemlerini basitleştirir.</a:t>
            </a:r>
          </a:p>
          <a:p>
            <a:r>
              <a:rPr lang="sv-SE" sz="2400" dirty="0"/>
              <a:t>4. Bellek işlemlerinde verimliliği artırır.</a:t>
            </a:r>
          </a:p>
          <a:p>
            <a:r>
              <a:rPr lang="tr-TR" sz="2400" dirty="0"/>
              <a:t>5. Bilgilerin işlenmesi işleminin insanlarca kolayca anlaşılmasını sağlar.</a:t>
            </a:r>
          </a:p>
          <a:p>
            <a:r>
              <a:rPr lang="tr-TR" sz="2400" dirty="0"/>
              <a:t>Yalnızca sayısal karakterlerin kodlanmasıyla ortaya çıkan kodlara </a:t>
            </a:r>
            <a:r>
              <a:rPr lang="tr-TR" sz="2400" b="1" dirty="0"/>
              <a:t>‘sayısal kodlar’ </a:t>
            </a:r>
            <a:r>
              <a:rPr lang="tr-TR" sz="2400" dirty="0"/>
              <a:t>(</a:t>
            </a:r>
            <a:r>
              <a:rPr lang="tr-TR" sz="2400" dirty="0" err="1"/>
              <a:t>BCDkodları</a:t>
            </a:r>
            <a:r>
              <a:rPr lang="tr-TR" sz="2400" dirty="0"/>
              <a:t>) denilirken, alfabetik ve sayısal karakterlerin kodlanmasını içeren kodlama yöntemlerine </a:t>
            </a:r>
            <a:r>
              <a:rPr lang="tr-TR" sz="2400" b="1" dirty="0"/>
              <a:t>‘</a:t>
            </a:r>
            <a:r>
              <a:rPr lang="tr-TR" sz="2400" b="1" dirty="0" err="1"/>
              <a:t>alfasayısal</a:t>
            </a:r>
            <a:r>
              <a:rPr lang="tr-TR" sz="2400" b="1" dirty="0"/>
              <a:t> kodlar’ </a:t>
            </a:r>
            <a:r>
              <a:rPr lang="tr-TR" sz="2400" dirty="0"/>
              <a:t>denir. Bu durumda kodlar iki grup altında incelenebilir:</a:t>
            </a:r>
          </a:p>
          <a:p>
            <a:endParaRPr lang="tr-TR" sz="2400" dirty="0"/>
          </a:p>
          <a:p>
            <a:r>
              <a:rPr lang="tr-TR" sz="2400" dirty="0"/>
              <a:t>Sayısal ve Alfa Sayısal kodlar.</a:t>
            </a:r>
          </a:p>
        </p:txBody>
      </p:sp>
    </p:spTree>
    <p:extLst>
      <p:ext uri="{BB962C8B-B14F-4D97-AF65-F5344CB8AC3E}">
        <p14:creationId xmlns:p14="http://schemas.microsoft.com/office/powerpoint/2010/main" val="3512945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332656"/>
            <a:ext cx="8424936" cy="1292662"/>
          </a:xfrm>
          <a:prstGeom prst="rect">
            <a:avLst/>
          </a:prstGeom>
        </p:spPr>
        <p:txBody>
          <a:bodyPr wrap="square">
            <a:spAutoFit/>
          </a:bodyPr>
          <a:lstStyle/>
          <a:p>
            <a:r>
              <a:rPr lang="tr-TR" sz="2400" b="1" u="sng" dirty="0"/>
              <a:t>1. Sayısal Kodlar</a:t>
            </a:r>
          </a:p>
          <a:p>
            <a:r>
              <a:rPr lang="tr-TR" dirty="0"/>
              <a:t>Onlu bir sayının ikili sayı sistemindeki karşılığının yazılması ile oluşan kodlama sistemi,</a:t>
            </a:r>
          </a:p>
          <a:p>
            <a:r>
              <a:rPr lang="tr-TR" dirty="0"/>
              <a:t>‘</a:t>
            </a:r>
            <a:r>
              <a:rPr lang="tr-TR" b="1" dirty="0"/>
              <a:t>yalın ikili kodlama’ </a:t>
            </a:r>
            <a:r>
              <a:rPr lang="tr-TR" dirty="0"/>
              <a:t>(</a:t>
            </a:r>
            <a:r>
              <a:rPr lang="tr-TR" dirty="0" err="1"/>
              <a:t>pure</a:t>
            </a:r>
            <a:r>
              <a:rPr lang="tr-TR" dirty="0"/>
              <a:t> </a:t>
            </a:r>
            <a:r>
              <a:rPr lang="tr-TR" dirty="0" err="1"/>
              <a:t>binary</a:t>
            </a:r>
            <a:r>
              <a:rPr lang="tr-TR" dirty="0"/>
              <a:t> </a:t>
            </a:r>
            <a:r>
              <a:rPr lang="tr-TR" dirty="0" err="1"/>
              <a:t>coding</a:t>
            </a:r>
            <a:r>
              <a:rPr lang="tr-TR" dirty="0"/>
              <a:t>) olarak isimlendirilir. Sayısal sistemlerde</a:t>
            </a:r>
          </a:p>
          <a:p>
            <a:r>
              <a:rPr lang="tr-TR" dirty="0"/>
              <a:t>kullanılan kodlama sistemleri yalın ikili sayı sisteminde olmayabilir.</a:t>
            </a:r>
          </a:p>
        </p:txBody>
      </p:sp>
      <p:sp>
        <p:nvSpPr>
          <p:cNvPr id="3" name="Dikdörtgen 2"/>
          <p:cNvSpPr/>
          <p:nvPr/>
        </p:nvSpPr>
        <p:spPr>
          <a:xfrm>
            <a:off x="251520" y="1700808"/>
            <a:ext cx="8280920" cy="3416320"/>
          </a:xfrm>
          <a:prstGeom prst="rect">
            <a:avLst/>
          </a:prstGeom>
        </p:spPr>
        <p:txBody>
          <a:bodyPr wrap="square">
            <a:spAutoFit/>
          </a:bodyPr>
          <a:lstStyle/>
          <a:p>
            <a:r>
              <a:rPr lang="tr-TR" dirty="0"/>
              <a:t>Yalnızca sayısal karakterlerin kullanıldığı sayısal kodlama sistemlerinin çok geniş uygulama alanı olması nedeni ile, çok farklı sayısal kodlama yöntemleri kullanılmaktadır. Sayısal kodlama yöntemlerine örnek olarak;</a:t>
            </a:r>
          </a:p>
          <a:p>
            <a:r>
              <a:rPr lang="tr-TR" dirty="0"/>
              <a:t>i- BCD kodu,</a:t>
            </a:r>
          </a:p>
          <a:p>
            <a:r>
              <a:rPr lang="tr-TR" dirty="0"/>
              <a:t>ii- </a:t>
            </a:r>
            <a:r>
              <a:rPr lang="tr-TR" dirty="0" err="1"/>
              <a:t>Gray</a:t>
            </a:r>
            <a:r>
              <a:rPr lang="tr-TR" dirty="0"/>
              <a:t> kodu,</a:t>
            </a:r>
          </a:p>
          <a:p>
            <a:r>
              <a:rPr lang="tr-TR" dirty="0"/>
              <a:t>iii- +3 kodu,</a:t>
            </a:r>
          </a:p>
          <a:p>
            <a:r>
              <a:rPr lang="tr-TR" dirty="0"/>
              <a:t>iv- </a:t>
            </a:r>
            <a:r>
              <a:rPr lang="tr-TR" dirty="0" err="1"/>
              <a:t>Aiken</a:t>
            </a:r>
            <a:r>
              <a:rPr lang="tr-TR" dirty="0"/>
              <a:t> kodu,</a:t>
            </a:r>
          </a:p>
          <a:p>
            <a:r>
              <a:rPr lang="tr-TR" dirty="0"/>
              <a:t>v- 5’te 2 kodu,</a:t>
            </a:r>
          </a:p>
          <a:p>
            <a:r>
              <a:rPr lang="tr-TR" dirty="0"/>
              <a:t>vi- Bar kodu,</a:t>
            </a:r>
          </a:p>
          <a:p>
            <a:r>
              <a:rPr lang="tr-TR" dirty="0"/>
              <a:t>kodlama yöntemleri verilebilir.</a:t>
            </a:r>
          </a:p>
          <a:p>
            <a:r>
              <a:rPr lang="tr-TR" dirty="0"/>
              <a:t>Sayısal kodlama yöntemlerine örnek olarak verilen kodlama çeşitlerine genel özellikleri ile özetleyelim.</a:t>
            </a:r>
          </a:p>
        </p:txBody>
      </p:sp>
    </p:spTree>
    <p:extLst>
      <p:ext uri="{BB962C8B-B14F-4D97-AF65-F5344CB8AC3E}">
        <p14:creationId xmlns:p14="http://schemas.microsoft.com/office/powerpoint/2010/main" val="831470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260648"/>
            <a:ext cx="8424936" cy="2308324"/>
          </a:xfrm>
          <a:prstGeom prst="rect">
            <a:avLst/>
          </a:prstGeom>
        </p:spPr>
        <p:txBody>
          <a:bodyPr wrap="square">
            <a:spAutoFit/>
          </a:bodyPr>
          <a:lstStyle/>
          <a:p>
            <a:r>
              <a:rPr lang="tr-TR" b="1" dirty="0"/>
              <a:t>1.1. BCD Kodu (</a:t>
            </a:r>
            <a:r>
              <a:rPr lang="tr-TR" b="1" dirty="0" err="1"/>
              <a:t>Binary</a:t>
            </a:r>
            <a:r>
              <a:rPr lang="tr-TR" b="1" dirty="0"/>
              <a:t> </a:t>
            </a:r>
            <a:r>
              <a:rPr lang="tr-TR" b="1" dirty="0" err="1"/>
              <a:t>Coded</a:t>
            </a:r>
            <a:r>
              <a:rPr lang="tr-TR" b="1" dirty="0"/>
              <a:t> </a:t>
            </a:r>
            <a:r>
              <a:rPr lang="tr-TR" b="1" dirty="0" err="1"/>
              <a:t>Decimal</a:t>
            </a:r>
            <a:r>
              <a:rPr lang="tr-TR" b="1" dirty="0"/>
              <a:t> </a:t>
            </a:r>
            <a:r>
              <a:rPr lang="tr-TR" b="1" dirty="0" err="1"/>
              <a:t>Code</a:t>
            </a:r>
            <a:r>
              <a:rPr lang="tr-TR" b="1" dirty="0"/>
              <a:t>) - 8421 Kodu</a:t>
            </a:r>
          </a:p>
          <a:p>
            <a:r>
              <a:rPr lang="tr-TR" dirty="0"/>
              <a:t>Onluk sistemdeki bir sayının, her bir basamağının ikilik sayı sistemindeki karşılığının dört</a:t>
            </a:r>
          </a:p>
          <a:p>
            <a:r>
              <a:rPr lang="tr-TR" dirty="0"/>
              <a:t>bit şeklinde yazılması ile ortaya </a:t>
            </a:r>
            <a:r>
              <a:rPr lang="tr-TR" dirty="0" err="1"/>
              <a:t>cıkan</a:t>
            </a:r>
            <a:r>
              <a:rPr lang="tr-TR" dirty="0"/>
              <a:t> kodlama yöntemine, </a:t>
            </a:r>
            <a:r>
              <a:rPr lang="tr-TR" b="1" dirty="0"/>
              <a:t>‘İkili Kodlanmış Onlu Sayı</a:t>
            </a:r>
          </a:p>
          <a:p>
            <a:r>
              <a:rPr lang="tr-TR" b="1" dirty="0"/>
              <a:t>Kodu - BCD kodu’ </a:t>
            </a:r>
            <a:r>
              <a:rPr lang="tr-TR" dirty="0"/>
              <a:t>(</a:t>
            </a:r>
            <a:r>
              <a:rPr lang="tr-TR" b="1" dirty="0" err="1"/>
              <a:t>B</a:t>
            </a:r>
            <a:r>
              <a:rPr lang="tr-TR" dirty="0" err="1"/>
              <a:t>inary</a:t>
            </a:r>
            <a:r>
              <a:rPr lang="tr-TR" dirty="0"/>
              <a:t> </a:t>
            </a:r>
            <a:r>
              <a:rPr lang="tr-TR" b="1" dirty="0" err="1"/>
              <a:t>C</a:t>
            </a:r>
            <a:r>
              <a:rPr lang="tr-TR" dirty="0" err="1"/>
              <a:t>oded</a:t>
            </a:r>
            <a:r>
              <a:rPr lang="tr-TR" dirty="0"/>
              <a:t> </a:t>
            </a:r>
            <a:r>
              <a:rPr lang="tr-TR" b="1" dirty="0" err="1"/>
              <a:t>D</a:t>
            </a:r>
            <a:r>
              <a:rPr lang="tr-TR" dirty="0" err="1"/>
              <a:t>ecimal</a:t>
            </a:r>
            <a:r>
              <a:rPr lang="tr-TR" dirty="0"/>
              <a:t> </a:t>
            </a:r>
            <a:r>
              <a:rPr lang="tr-TR" dirty="0" err="1"/>
              <a:t>Code</a:t>
            </a:r>
            <a:r>
              <a:rPr lang="tr-TR" dirty="0"/>
              <a:t>) ismi verilir. Onluk sayı sistemi 0 ile 9</a:t>
            </a:r>
          </a:p>
          <a:p>
            <a:r>
              <a:rPr lang="tr-TR" dirty="0"/>
              <a:t>arasındaki sayıları içerdiğinden, her basamaktaki sayının ikili sistemde kodlanması için 4</a:t>
            </a:r>
          </a:p>
          <a:p>
            <a:r>
              <a:rPr lang="tr-TR" dirty="0"/>
              <a:t>bite ihtiyaç vardır. Onlu bir sayıyı BCD kodlu olarak yazmak için, onlu sayının her bir</a:t>
            </a:r>
          </a:p>
          <a:p>
            <a:r>
              <a:rPr lang="tr-TR" dirty="0"/>
              <a:t>basamağı 4 bitlik ikili sayı grupları şeklinde yazılır. Yazılan gruplar bir araya getirilince</a:t>
            </a:r>
          </a:p>
          <a:p>
            <a:r>
              <a:rPr lang="tr-TR" dirty="0"/>
              <a:t>BCD kodlu sayı elde edilir.</a:t>
            </a:r>
          </a:p>
        </p:txBody>
      </p:sp>
      <p:sp>
        <p:nvSpPr>
          <p:cNvPr id="3" name="Metin kutusu 2"/>
          <p:cNvSpPr txBox="1"/>
          <p:nvPr/>
        </p:nvSpPr>
        <p:spPr>
          <a:xfrm>
            <a:off x="4157649" y="2556463"/>
            <a:ext cx="1581843" cy="923330"/>
          </a:xfrm>
          <a:prstGeom prst="rect">
            <a:avLst/>
          </a:prstGeom>
          <a:noFill/>
        </p:spPr>
        <p:txBody>
          <a:bodyPr wrap="none" rtlCol="0">
            <a:spAutoFit/>
          </a:bodyPr>
          <a:lstStyle/>
          <a:p>
            <a:r>
              <a:rPr lang="tr-TR" dirty="0"/>
              <a:t>BCD TABLOLAR</a:t>
            </a:r>
          </a:p>
          <a:p>
            <a:endParaRPr lang="tr-TR" dirty="0"/>
          </a:p>
          <a:p>
            <a:endParaRPr lang="tr-T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012815"/>
            <a:ext cx="3600450"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3012815"/>
            <a:ext cx="3147021" cy="3584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9379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23" y="620688"/>
            <a:ext cx="8688869"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3051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99" y="404664"/>
            <a:ext cx="8660786" cy="4536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684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188640"/>
            <a:ext cx="8784976" cy="6555641"/>
          </a:xfrm>
          <a:prstGeom prst="rect">
            <a:avLst/>
          </a:prstGeom>
        </p:spPr>
        <p:txBody>
          <a:bodyPr wrap="square">
            <a:spAutoFit/>
          </a:bodyPr>
          <a:lstStyle/>
          <a:p>
            <a:r>
              <a:rPr lang="tr-TR" sz="2400" b="1" dirty="0"/>
              <a:t>1.2. </a:t>
            </a:r>
            <a:r>
              <a:rPr lang="tr-TR" sz="2400" b="1" dirty="0" err="1"/>
              <a:t>Gray</a:t>
            </a:r>
            <a:r>
              <a:rPr lang="tr-TR" sz="2400" b="1" dirty="0"/>
              <a:t> Kodu</a:t>
            </a:r>
          </a:p>
          <a:p>
            <a:r>
              <a:rPr lang="tr-TR" dirty="0" err="1"/>
              <a:t>Gray</a:t>
            </a:r>
            <a:r>
              <a:rPr lang="tr-TR" dirty="0"/>
              <a:t> kodlama yöntemi, basamak ağırlığı olmayan bir kodlama yöntemidir. Basamak</a:t>
            </a:r>
          </a:p>
          <a:p>
            <a:r>
              <a:rPr lang="tr-TR" dirty="0"/>
              <a:t>ağırlığının olmaması, her bir basamaktaki sayıların basamak ağırlıklarına göre karşılıklarının</a:t>
            </a:r>
          </a:p>
          <a:p>
            <a:r>
              <a:rPr lang="tr-TR" dirty="0"/>
              <a:t>olmamasıdır.</a:t>
            </a:r>
          </a:p>
          <a:p>
            <a:endParaRPr lang="tr-TR" dirty="0"/>
          </a:p>
          <a:p>
            <a:r>
              <a:rPr lang="tr-TR" dirty="0"/>
              <a:t>Sayısal elektronik ve bilgisayar giriş-çıkış işlemlerinde kullanılan </a:t>
            </a:r>
            <a:r>
              <a:rPr lang="tr-TR" dirty="0" err="1"/>
              <a:t>Gray</a:t>
            </a:r>
            <a:r>
              <a:rPr lang="tr-TR" dirty="0"/>
              <a:t> kodlama yöntemi,</a:t>
            </a:r>
          </a:p>
          <a:p>
            <a:r>
              <a:rPr lang="tr-TR" dirty="0"/>
              <a:t>minimum değişimli kodlar sınıfı içerisinde yer alır. Bunun nedeni bir sayıdan diğerine</a:t>
            </a:r>
          </a:p>
          <a:p>
            <a:r>
              <a:rPr lang="tr-TR" dirty="0"/>
              <a:t>geçerken yalnızca bir bitin konum değiştirmesidir. Örneğin; yalın ikili (</a:t>
            </a:r>
            <a:r>
              <a:rPr lang="tr-TR" dirty="0" err="1"/>
              <a:t>binary</a:t>
            </a:r>
            <a:r>
              <a:rPr lang="tr-TR" dirty="0"/>
              <a:t>) kodlamada</a:t>
            </a:r>
          </a:p>
          <a:p>
            <a:r>
              <a:rPr lang="tr-TR" dirty="0"/>
              <a:t>(3)10 = (0011)2 değerinden (4)10 = (0100)2 değerine geçerken üç bitin değeri değişirken, </a:t>
            </a:r>
            <a:r>
              <a:rPr lang="tr-TR" dirty="0" err="1"/>
              <a:t>gray</a:t>
            </a:r>
            <a:r>
              <a:rPr lang="tr-TR" dirty="0"/>
              <a:t> kodlamada yalnızca bir bitin değeri değişir. Yalnızca, 9’dan 0’a geçişte çok sayıda bit konum değiştirir.</a:t>
            </a:r>
          </a:p>
          <a:p>
            <a:endParaRPr lang="tr-TR" dirty="0"/>
          </a:p>
          <a:p>
            <a:r>
              <a:rPr lang="tr-TR" dirty="0" err="1"/>
              <a:t>Gray</a:t>
            </a:r>
            <a:r>
              <a:rPr lang="tr-TR" dirty="0"/>
              <a:t> kodlanmış sayılarda basamak değeri olmadığından, bu kodlama yönteminin aritmetik</a:t>
            </a:r>
          </a:p>
          <a:p>
            <a:r>
              <a:rPr lang="tr-TR" dirty="0"/>
              <a:t>işlemlerin olduğu yerlerde kullanılması mümkün değildir. Ancak sütun esasına göre çalışan</a:t>
            </a:r>
          </a:p>
          <a:p>
            <a:r>
              <a:rPr lang="tr-TR" dirty="0"/>
              <a:t>cihazlardaki hatayı azalttığından, giriş / çıkış birimlerinde ve analog - dijital çeviricilerde</a:t>
            </a:r>
          </a:p>
          <a:p>
            <a:r>
              <a:rPr lang="tr-TR" dirty="0"/>
              <a:t>tercih edilirler.</a:t>
            </a:r>
          </a:p>
          <a:p>
            <a:endParaRPr lang="tr-TR" dirty="0"/>
          </a:p>
          <a:p>
            <a:r>
              <a:rPr lang="tr-TR" dirty="0"/>
              <a:t>Onlu sayıların karşılığı olan ikili sayıları </a:t>
            </a:r>
            <a:r>
              <a:rPr lang="tr-TR" dirty="0" err="1"/>
              <a:t>Gray</a:t>
            </a:r>
            <a:r>
              <a:rPr lang="tr-TR" dirty="0"/>
              <a:t> kodlanmış olarak ifade etmek için, bir sayıdan</a:t>
            </a:r>
          </a:p>
          <a:p>
            <a:r>
              <a:rPr lang="tr-TR" dirty="0"/>
              <a:t>diğerine geçişte tek bir bitin değer değiştirmesi esas alınır. Tablo 3.1’de, 0-15 arasındaki</a:t>
            </a:r>
          </a:p>
          <a:p>
            <a:r>
              <a:rPr lang="tr-TR" dirty="0"/>
              <a:t>onlu sayıların karşılığı olan ikili ve </a:t>
            </a:r>
            <a:r>
              <a:rPr lang="tr-TR" dirty="0" err="1"/>
              <a:t>gray</a:t>
            </a:r>
            <a:r>
              <a:rPr lang="tr-TR" dirty="0"/>
              <a:t> kodlanmış sayılar görülmektedir. </a:t>
            </a:r>
            <a:r>
              <a:rPr lang="tr-TR" dirty="0" err="1"/>
              <a:t>Gray</a:t>
            </a:r>
            <a:r>
              <a:rPr lang="tr-TR" dirty="0"/>
              <a:t> kodlu</a:t>
            </a:r>
          </a:p>
          <a:p>
            <a:r>
              <a:rPr lang="tr-TR" dirty="0"/>
              <a:t>sayıların mahsuru; toplama, çıkarma ve diğer aritmetik işlemleri yapabilmek için ikili sayı</a:t>
            </a:r>
          </a:p>
          <a:p>
            <a:r>
              <a:rPr lang="tr-TR" dirty="0"/>
              <a:t>sistemine dönüştürülme zorunluluğudur. Bu durumda ikili sayıları </a:t>
            </a:r>
            <a:r>
              <a:rPr lang="tr-TR" dirty="0" err="1"/>
              <a:t>Gray</a:t>
            </a:r>
            <a:r>
              <a:rPr lang="tr-TR" dirty="0"/>
              <a:t> koda çevirmek veya</a:t>
            </a:r>
          </a:p>
          <a:p>
            <a:r>
              <a:rPr lang="tr-TR" dirty="0" err="1"/>
              <a:t>Gray</a:t>
            </a:r>
            <a:r>
              <a:rPr lang="tr-TR" dirty="0"/>
              <a:t> kodlu bir sayının ikili karşılığını bulmak için aşağıdaki yöntemler kullanılır.</a:t>
            </a:r>
          </a:p>
        </p:txBody>
      </p:sp>
    </p:spTree>
    <p:extLst>
      <p:ext uri="{BB962C8B-B14F-4D97-AF65-F5344CB8AC3E}">
        <p14:creationId xmlns:p14="http://schemas.microsoft.com/office/powerpoint/2010/main" val="2551451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188640"/>
            <a:ext cx="8640960" cy="1477328"/>
          </a:xfrm>
          <a:prstGeom prst="rect">
            <a:avLst/>
          </a:prstGeom>
        </p:spPr>
        <p:txBody>
          <a:bodyPr wrap="square">
            <a:spAutoFit/>
          </a:bodyPr>
          <a:lstStyle/>
          <a:p>
            <a:r>
              <a:rPr lang="tr-TR" b="1" dirty="0"/>
              <a:t>İkili Sayıların </a:t>
            </a:r>
            <a:r>
              <a:rPr lang="tr-TR" b="1" dirty="0" err="1"/>
              <a:t>Gray</a:t>
            </a:r>
            <a:r>
              <a:rPr lang="tr-TR" b="1" dirty="0"/>
              <a:t> Koduna Çevrilmesi:</a:t>
            </a:r>
          </a:p>
          <a:p>
            <a:r>
              <a:rPr lang="tr-TR" dirty="0"/>
              <a:t>İkili sistemdeki bir sayıyı </a:t>
            </a:r>
            <a:r>
              <a:rPr lang="tr-TR" dirty="0" err="1"/>
              <a:t>Gray</a:t>
            </a:r>
            <a:r>
              <a:rPr lang="tr-TR" dirty="0"/>
              <a:t> kodlu sayı şekline dönüştürmek için, en yüksek basamak</a:t>
            </a:r>
          </a:p>
          <a:p>
            <a:r>
              <a:rPr lang="tr-TR" dirty="0"/>
              <a:t>değerine sahip bitin solunda ‘0’ olduğu kabul edilip, her bit solundaki bit ile toplanarak</a:t>
            </a:r>
          </a:p>
          <a:p>
            <a:r>
              <a:rPr lang="tr-TR" dirty="0"/>
              <a:t>yazılır. Bu işleme en düşük basamak </a:t>
            </a:r>
            <a:r>
              <a:rPr lang="tr-TR" dirty="0" err="1"/>
              <a:t>değerlikli</a:t>
            </a:r>
            <a:r>
              <a:rPr lang="tr-TR" dirty="0"/>
              <a:t> bite kadar devam edilir. Elde edilen sayı </a:t>
            </a:r>
            <a:r>
              <a:rPr lang="tr-TR" dirty="0" err="1"/>
              <a:t>Gray</a:t>
            </a:r>
            <a:endParaRPr lang="tr-TR" dirty="0"/>
          </a:p>
          <a:p>
            <a:r>
              <a:rPr lang="tr-TR" dirty="0"/>
              <a:t>kodlu sayıdır.</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916832"/>
            <a:ext cx="7920880" cy="4680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2830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7544" y="188641"/>
            <a:ext cx="8424936" cy="1477328"/>
          </a:xfrm>
          <a:prstGeom prst="rect">
            <a:avLst/>
          </a:prstGeom>
        </p:spPr>
        <p:txBody>
          <a:bodyPr wrap="square">
            <a:spAutoFit/>
          </a:bodyPr>
          <a:lstStyle/>
          <a:p>
            <a:r>
              <a:rPr lang="tr-TR" b="1" dirty="0"/>
              <a:t>ii- </a:t>
            </a:r>
            <a:r>
              <a:rPr lang="tr-TR" b="1" dirty="0" err="1"/>
              <a:t>Gray</a:t>
            </a:r>
            <a:r>
              <a:rPr lang="tr-TR" b="1" dirty="0"/>
              <a:t> Kodlu Bir Sayının İkili Sayılara Çevrilmesi</a:t>
            </a:r>
            <a:r>
              <a:rPr lang="tr-TR" dirty="0"/>
              <a:t>:</a:t>
            </a:r>
          </a:p>
          <a:p>
            <a:r>
              <a:rPr lang="tr-TR" dirty="0" err="1"/>
              <a:t>Gray</a:t>
            </a:r>
            <a:r>
              <a:rPr lang="tr-TR" dirty="0"/>
              <a:t> kodlu bir sayıyı ikili sistemdeki sayı şekline dönüştürmek için, en soldaki bit olduğu</a:t>
            </a:r>
          </a:p>
          <a:p>
            <a:r>
              <a:rPr lang="tr-TR" dirty="0"/>
              <a:t>gibi aşağıya indirilir ve indirilen sayıyla bir sonraki basamakta bulunan sayı toplanarak</a:t>
            </a:r>
          </a:p>
          <a:p>
            <a:r>
              <a:rPr lang="tr-TR" dirty="0"/>
              <a:t>yazılır. Bulunan sayı ile bir sonraki basamaktaki sayı toplanır ve bu işleme en düşük</a:t>
            </a:r>
          </a:p>
          <a:p>
            <a:r>
              <a:rPr lang="tr-TR" dirty="0"/>
              <a:t>değerlikte bite kadar devam edilir.</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665969"/>
            <a:ext cx="7634576" cy="2221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149080"/>
            <a:ext cx="7210032"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9389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788" y="980728"/>
            <a:ext cx="8617777"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1955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88738"/>
            <a:ext cx="7178876" cy="60205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680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188640"/>
            <a:ext cx="8784976" cy="2400657"/>
          </a:xfrm>
          <a:prstGeom prst="rect">
            <a:avLst/>
          </a:prstGeom>
        </p:spPr>
        <p:txBody>
          <a:bodyPr wrap="square">
            <a:spAutoFit/>
          </a:bodyPr>
          <a:lstStyle/>
          <a:p>
            <a:r>
              <a:rPr lang="en-US" sz="2400" b="1" dirty="0"/>
              <a:t>1.3. </a:t>
            </a:r>
            <a:r>
              <a:rPr lang="en-US" sz="2400" b="1" dirty="0" err="1"/>
              <a:t>Artı</a:t>
            </a:r>
            <a:r>
              <a:rPr lang="en-US" sz="2400" b="1" dirty="0"/>
              <a:t> 3 (Excess 3) Kodu</a:t>
            </a:r>
          </a:p>
          <a:p>
            <a:r>
              <a:rPr lang="tr-TR" dirty="0"/>
              <a:t>Artı 3 kodu (+3 </a:t>
            </a:r>
            <a:r>
              <a:rPr lang="tr-TR" dirty="0" err="1"/>
              <a:t>Code</a:t>
            </a:r>
            <a:r>
              <a:rPr lang="tr-TR" dirty="0"/>
              <a:t>), BCD kodu ile ilgilidir ve belirli aritmetik işlemlerde işlem kolaylığı</a:t>
            </a:r>
          </a:p>
          <a:p>
            <a:r>
              <a:rPr lang="tr-TR" dirty="0"/>
              <a:t>nedeniyle BCD kodu yerine kullanılır. Bir onlu sayının Artı 3 kodundaki karşılığı, onlu</a:t>
            </a:r>
          </a:p>
          <a:p>
            <a:r>
              <a:rPr lang="tr-TR" dirty="0"/>
              <a:t>sayının karşılığı olan ikili sayıya 3 eklenmiş halidir. Bu nedenle bu kodlama yöntemi, ‘3</a:t>
            </a:r>
          </a:p>
          <a:p>
            <a:r>
              <a:rPr lang="tr-TR" dirty="0"/>
              <a:t>fazlalık kodu’ </a:t>
            </a:r>
            <a:r>
              <a:rPr lang="tr-TR" dirty="0" err="1"/>
              <a:t>olarakta</a:t>
            </a:r>
            <a:r>
              <a:rPr lang="tr-TR" dirty="0"/>
              <a:t> isimlendirilir. Artı 3 kodundaki sayılar, BCD kodunda olduğu gibi</a:t>
            </a:r>
          </a:p>
          <a:p>
            <a:r>
              <a:rPr lang="tr-TR" dirty="0"/>
              <a:t>dört bitlik ikili sayılar şeklinde ifade edilir.</a:t>
            </a:r>
          </a:p>
          <a:p>
            <a:r>
              <a:rPr lang="tr-TR" dirty="0"/>
              <a:t>Hesaplama yapmada ve hataları düzeltmelerde sağladığı kolaylıklara rağmen, </a:t>
            </a:r>
            <a:r>
              <a:rPr lang="tr-TR" dirty="0" err="1"/>
              <a:t>tümleyenini</a:t>
            </a:r>
            <a:endParaRPr lang="tr-TR" dirty="0"/>
          </a:p>
          <a:p>
            <a:r>
              <a:rPr lang="tr-TR" dirty="0"/>
              <a:t>almadaki güçlükler nedeniyle son zamanlarda nadiren kullanılmaktadır.</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852936"/>
            <a:ext cx="8136904" cy="3086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8404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4B31471C-68DD-41CE-B586-6AA0FE7EE3C8}"/>
              </a:ext>
            </a:extLst>
          </p:cNvPr>
          <p:cNvPicPr>
            <a:picLocks noChangeAspect="1"/>
          </p:cNvPicPr>
          <p:nvPr/>
        </p:nvPicPr>
        <p:blipFill>
          <a:blip r:embed="rId2"/>
          <a:stretch>
            <a:fillRect/>
          </a:stretch>
        </p:blipFill>
        <p:spPr>
          <a:xfrm>
            <a:off x="138112" y="692696"/>
            <a:ext cx="8867775" cy="5048250"/>
          </a:xfrm>
          <a:prstGeom prst="rect">
            <a:avLst/>
          </a:prstGeom>
        </p:spPr>
      </p:pic>
    </p:spTree>
    <p:extLst>
      <p:ext uri="{BB962C8B-B14F-4D97-AF65-F5344CB8AC3E}">
        <p14:creationId xmlns:p14="http://schemas.microsoft.com/office/powerpoint/2010/main" val="430872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116632"/>
            <a:ext cx="8640960" cy="1846659"/>
          </a:xfrm>
          <a:prstGeom prst="rect">
            <a:avLst/>
          </a:prstGeom>
        </p:spPr>
        <p:txBody>
          <a:bodyPr wrap="square">
            <a:spAutoFit/>
          </a:bodyPr>
          <a:lstStyle/>
          <a:p>
            <a:r>
              <a:rPr lang="tr-TR" sz="2400" b="1" dirty="0"/>
              <a:t>1.4. 5’de 2 Kodu</a:t>
            </a:r>
          </a:p>
          <a:p>
            <a:r>
              <a:rPr lang="tr-TR" dirty="0"/>
              <a:t>5’de 2 kodunda, her onlu sayı, içinde mutlaka iki tane '1' bulunan 5 bitlik ikili sayı ile temsil</a:t>
            </a:r>
          </a:p>
          <a:p>
            <a:r>
              <a:rPr lang="tr-TR" dirty="0"/>
              <a:t>edilir. Bütün sayılarda mutlaka iki tane '1' bulunduğundan hataların kolayca bulunmasını</a:t>
            </a:r>
          </a:p>
          <a:p>
            <a:r>
              <a:rPr lang="tr-TR" dirty="0"/>
              <a:t>sağlar. Sayılar ikili sistemde ifade edilirken basamak değerleri '7 4 2 1 0' şeklinde sıralanır.</a:t>
            </a:r>
          </a:p>
          <a:p>
            <a:r>
              <a:rPr lang="tr-TR" dirty="0"/>
              <a:t>(0)10 sayısını 5’te 2 kodunda ifade etmek için (11000) kombinasyonu kullanılır. 0-9</a:t>
            </a:r>
          </a:p>
          <a:p>
            <a:r>
              <a:rPr lang="tr-TR" dirty="0"/>
              <a:t>arasındaki sayıların 5’te 2 kodunda ifade edilmesi ile Tablo 3.2’deki değerler elde edilir.</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028825"/>
            <a:ext cx="5955357" cy="4034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7825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906" y="476672"/>
            <a:ext cx="8690659"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3420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7544" y="188640"/>
            <a:ext cx="8568952" cy="6832640"/>
          </a:xfrm>
          <a:prstGeom prst="rect">
            <a:avLst/>
          </a:prstGeom>
        </p:spPr>
        <p:txBody>
          <a:bodyPr wrap="square">
            <a:spAutoFit/>
          </a:bodyPr>
          <a:lstStyle/>
          <a:p>
            <a:r>
              <a:rPr lang="tr-TR" sz="2400" b="1" dirty="0"/>
              <a:t>1.5. Eşitlik (</a:t>
            </a:r>
            <a:r>
              <a:rPr lang="tr-TR" sz="2400" b="1" dirty="0" err="1"/>
              <a:t>Parity</a:t>
            </a:r>
            <a:r>
              <a:rPr lang="tr-TR" sz="2400" b="1" dirty="0"/>
              <a:t>) Kodu</a:t>
            </a:r>
          </a:p>
          <a:p>
            <a:pPr algn="just"/>
            <a:r>
              <a:rPr lang="tr-TR" sz="2200" dirty="0"/>
              <a:t>İkili sayı sisteminde ifade edilen bilginin bir yerden başka bir yere taşınması dijital sistemlerde sıkça karşılaşılan bir olaydır. Bilginin bir yerden başka bölgeye taşınması sırasında, değişik nedenlerden dolayı gürültü oluşması ve oluşan gürültünün iletilen bilgiyi bozması zaman zaman karşılaşılan hadiselerdir. Bilgi iletimi sırasında bu şekilde oluşan hataları tespit etmek ve mümkünse düzeltmek sayısal sistemlerin özelliklerindendir.</a:t>
            </a:r>
          </a:p>
          <a:p>
            <a:pPr algn="just"/>
            <a:r>
              <a:rPr lang="tr-TR" sz="2200" dirty="0"/>
              <a:t>Hataları tespit etmede kullanılan en yaygın ve en kolay yöntem eşitlik biti kodlama (</a:t>
            </a:r>
            <a:r>
              <a:rPr lang="tr-TR" sz="2200" dirty="0" err="1"/>
              <a:t>parity</a:t>
            </a:r>
            <a:r>
              <a:rPr lang="tr-TR" sz="2200" dirty="0"/>
              <a:t> </a:t>
            </a:r>
            <a:r>
              <a:rPr lang="tr-TR" sz="2200" dirty="0" err="1"/>
              <a:t>code</a:t>
            </a:r>
            <a:r>
              <a:rPr lang="tr-TR" sz="2200" dirty="0"/>
              <a:t>) yöntemidir. Bu yöntemde, hataların ortaya çıkarılmasını sağlamak amacıyla BCD kodlu sayının sağındaki veya solundaki basamağa </a:t>
            </a:r>
            <a:r>
              <a:rPr lang="tr-TR" sz="2200" b="1" dirty="0"/>
              <a:t>‘eşitlik biti’ </a:t>
            </a:r>
            <a:r>
              <a:rPr lang="tr-TR" sz="2200" dirty="0"/>
              <a:t>(</a:t>
            </a:r>
            <a:r>
              <a:rPr lang="tr-TR" sz="2200" dirty="0" err="1"/>
              <a:t>parity</a:t>
            </a:r>
            <a:r>
              <a:rPr lang="tr-TR" sz="2200" dirty="0"/>
              <a:t> bit) eklenir. Eşitlik biti, kodlanan veride 1 yada 0’ların tek mi, çift mi olduğunu belirtir. İki türlü eşitlik biti yöntemi bulunmaktadır: Çift eşitlik (</a:t>
            </a:r>
            <a:r>
              <a:rPr lang="tr-TR" sz="2200" dirty="0" err="1"/>
              <a:t>even</a:t>
            </a:r>
            <a:r>
              <a:rPr lang="tr-TR" sz="2200" dirty="0"/>
              <a:t> </a:t>
            </a:r>
            <a:r>
              <a:rPr lang="tr-TR" sz="2200" dirty="0" err="1"/>
              <a:t>parity</a:t>
            </a:r>
            <a:r>
              <a:rPr lang="tr-TR" sz="2200" dirty="0"/>
              <a:t>) ve tek eşitlik (</a:t>
            </a:r>
            <a:r>
              <a:rPr lang="tr-TR" sz="2200" dirty="0" err="1"/>
              <a:t>odd</a:t>
            </a:r>
            <a:r>
              <a:rPr lang="tr-TR" sz="2200" dirty="0"/>
              <a:t> </a:t>
            </a:r>
            <a:r>
              <a:rPr lang="tr-TR" sz="2200" dirty="0" err="1"/>
              <a:t>parity</a:t>
            </a:r>
            <a:r>
              <a:rPr lang="tr-TR" sz="2200" dirty="0"/>
              <a:t>).</a:t>
            </a:r>
          </a:p>
          <a:p>
            <a:pPr algn="just"/>
            <a:endParaRPr lang="tr-TR" dirty="0"/>
          </a:p>
          <a:p>
            <a:pPr algn="just"/>
            <a:r>
              <a:rPr lang="tr-TR" sz="2200" b="1" dirty="0"/>
              <a:t>Çift eşitlik yönteminde; </a:t>
            </a:r>
            <a:r>
              <a:rPr lang="tr-TR" sz="2200" dirty="0"/>
              <a:t>eşitlik bitinin değeri, kodlanacak bilgideki 1’lerin toplam sayısı (eşitlik biti dahil) çift olacak şekilde seçilir. Kodlanacak sayıdaki 1’lerin sayısı tek ise, eşitlik biti olarak ‘1’ eklenir. Kodlanacak bilgideki 1’lerin sayısı çift olması durumunda ise, </a:t>
            </a:r>
            <a:r>
              <a:rPr lang="nn-NO" sz="2200" dirty="0"/>
              <a:t>eşitlik biti olarak ‘0’ eklenir.</a:t>
            </a:r>
            <a:endParaRPr lang="tr-TR" sz="2200" dirty="0"/>
          </a:p>
        </p:txBody>
      </p:sp>
    </p:spTree>
    <p:extLst>
      <p:ext uri="{BB962C8B-B14F-4D97-AF65-F5344CB8AC3E}">
        <p14:creationId xmlns:p14="http://schemas.microsoft.com/office/powerpoint/2010/main" val="1747636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139" y="836712"/>
            <a:ext cx="8500294" cy="518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9676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332656"/>
            <a:ext cx="8496944" cy="1107996"/>
          </a:xfrm>
          <a:prstGeom prst="rect">
            <a:avLst/>
          </a:prstGeom>
        </p:spPr>
        <p:txBody>
          <a:bodyPr wrap="square">
            <a:spAutoFit/>
          </a:bodyPr>
          <a:lstStyle/>
          <a:p>
            <a:r>
              <a:rPr lang="tr-TR" sz="2200" b="1" dirty="0"/>
              <a:t>Tek eşitlik bit yöntemi; </a:t>
            </a:r>
            <a:r>
              <a:rPr lang="tr-TR" sz="2200" dirty="0"/>
              <a:t>aynı mantığa göre düzenlenir. Tek fark kodlanan bilgideki 1’lerin</a:t>
            </a:r>
          </a:p>
          <a:p>
            <a:r>
              <a:rPr lang="tr-TR" sz="2200" dirty="0"/>
              <a:t>sayısı tek olmalıdır.</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052736"/>
            <a:ext cx="7776864" cy="1494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536" y="2547312"/>
            <a:ext cx="8596944" cy="3662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2299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88641"/>
            <a:ext cx="8856984" cy="2369880"/>
          </a:xfrm>
          <a:prstGeom prst="rect">
            <a:avLst/>
          </a:prstGeom>
        </p:spPr>
        <p:txBody>
          <a:bodyPr wrap="square">
            <a:spAutoFit/>
          </a:bodyPr>
          <a:lstStyle/>
          <a:p>
            <a:r>
              <a:rPr lang="tr-TR" sz="2400" b="1" dirty="0"/>
              <a:t>1.6. </a:t>
            </a:r>
            <a:r>
              <a:rPr lang="tr-TR" sz="2400" b="1" dirty="0" err="1"/>
              <a:t>Aiken</a:t>
            </a:r>
            <a:r>
              <a:rPr lang="tr-TR" sz="2400" b="1" dirty="0"/>
              <a:t> Kodu</a:t>
            </a:r>
          </a:p>
          <a:p>
            <a:pPr algn="just"/>
            <a:r>
              <a:rPr lang="tr-TR" sz="2200" dirty="0" err="1"/>
              <a:t>Aiken</a:t>
            </a:r>
            <a:r>
              <a:rPr lang="tr-TR" sz="2200" dirty="0"/>
              <a:t> kodu; 4 basamaklı ve basamak değerlerinin ‘2421’ şeklinde ifade edildiği bir kodlama şeklidir. Onlu sistemde 5’e kadar olan sayıları kodlamak için sağ taraftaki basamaklar kullanılırken, 5’den büyük değerleri ifade etmek için sol taraftaki bitler tercih edilir.</a:t>
            </a:r>
          </a:p>
          <a:p>
            <a:r>
              <a:rPr lang="tr-TR" dirty="0"/>
              <a:t>Bu kodlama şekli simetrik kodlamaya bir örnektir. (0-4) arasındaki sayılar için normal ikili</a:t>
            </a:r>
          </a:p>
          <a:p>
            <a:r>
              <a:rPr lang="tr-TR" dirty="0"/>
              <a:t>sayılar kullanılırken, (5-9) arasındaki sayılar için başlangıçtaki sayıların simetriği kullanılır.</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588" y="2589298"/>
            <a:ext cx="5686287" cy="3503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0708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04664"/>
            <a:ext cx="7488832"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9" y="1756183"/>
            <a:ext cx="7992888" cy="1600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7148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49287" y="332656"/>
            <a:ext cx="8784976" cy="6001643"/>
          </a:xfrm>
          <a:prstGeom prst="rect">
            <a:avLst/>
          </a:prstGeom>
        </p:spPr>
        <p:txBody>
          <a:bodyPr wrap="square">
            <a:spAutoFit/>
          </a:bodyPr>
          <a:lstStyle/>
          <a:p>
            <a:r>
              <a:rPr lang="tr-TR" sz="2400" b="1" dirty="0"/>
              <a:t>1.7.Bar (Çubuk) Kodu (barkod)</a:t>
            </a:r>
          </a:p>
          <a:p>
            <a:r>
              <a:rPr lang="tr-TR" dirty="0"/>
              <a:t>Onlu sayıların, farklı şekilde düzenlenmiş çubuklarla ifade edildiği kodlama sistemi </a:t>
            </a:r>
            <a:r>
              <a:rPr lang="tr-TR" b="1" dirty="0"/>
              <a:t>'bar</a:t>
            </a:r>
          </a:p>
          <a:p>
            <a:r>
              <a:rPr lang="tr-TR" b="1" dirty="0"/>
              <a:t>kodu' </a:t>
            </a:r>
            <a:r>
              <a:rPr lang="tr-TR" dirty="0"/>
              <a:t>olarak isimlendirilir. Bar kodu; bir birim malın üretildiği veya ambalajlandığı</a:t>
            </a:r>
          </a:p>
          <a:p>
            <a:r>
              <a:rPr lang="tr-TR" dirty="0"/>
              <a:t>işletmeyi, malın cinsini ve özelliklerini tanımlamak amacıyla, önceden belirlenmiş kurallara</a:t>
            </a:r>
          </a:p>
          <a:p>
            <a:r>
              <a:rPr lang="tr-TR" dirty="0"/>
              <a:t>uygun çeşitli kalınlıklarda bir dizi dikey paralel çizgiler ve bu çizgiler arasında çeşitli</a:t>
            </a:r>
          </a:p>
          <a:p>
            <a:r>
              <a:rPr lang="tr-TR" dirty="0"/>
              <a:t>genişlikte boşluklardan meydana gelen bir kodlama yöntemidir. Diğer bir deyişle,</a:t>
            </a:r>
          </a:p>
          <a:p>
            <a:r>
              <a:rPr lang="tr-TR" dirty="0"/>
              <a:t>karakterlerin (rakam veya harf) farklı kalınlıktaki çizgiler ve boşluklar ile temsil edildiği</a:t>
            </a:r>
          </a:p>
          <a:p>
            <a:r>
              <a:rPr lang="tr-TR" dirty="0"/>
              <a:t>kodlama sistemi </a:t>
            </a:r>
            <a:r>
              <a:rPr lang="tr-TR" b="1" dirty="0"/>
              <a:t>‘barkod’ </a:t>
            </a:r>
            <a:r>
              <a:rPr lang="tr-TR" dirty="0"/>
              <a:t>olarak adlandırılır.</a:t>
            </a:r>
          </a:p>
          <a:p>
            <a:endParaRPr lang="tr-TR" dirty="0"/>
          </a:p>
          <a:p>
            <a:r>
              <a:rPr lang="tr-TR" dirty="0"/>
              <a:t>İlk olarak 1932’de </a:t>
            </a:r>
            <a:r>
              <a:rPr lang="tr-TR" dirty="0" err="1"/>
              <a:t>Harward</a:t>
            </a:r>
            <a:r>
              <a:rPr lang="tr-TR" dirty="0"/>
              <a:t> </a:t>
            </a:r>
            <a:r>
              <a:rPr lang="tr-TR" dirty="0" err="1"/>
              <a:t>Universitesi’nde</a:t>
            </a:r>
            <a:r>
              <a:rPr lang="tr-TR" dirty="0"/>
              <a:t> Wallace </a:t>
            </a:r>
            <a:r>
              <a:rPr lang="tr-TR" dirty="0" err="1"/>
              <a:t>Flint</a:t>
            </a:r>
            <a:r>
              <a:rPr lang="tr-TR" dirty="0"/>
              <a:t> tarafından yürütülen bir projede</a:t>
            </a:r>
          </a:p>
          <a:p>
            <a:r>
              <a:rPr lang="tr-TR" dirty="0"/>
              <a:t>kullanılan barkod sisteminin modern anlamda ilk uygulaması 1948 yılında yemek sırasında</a:t>
            </a:r>
          </a:p>
          <a:p>
            <a:r>
              <a:rPr lang="tr-TR" dirty="0"/>
              <a:t>kasadan geçen ürünlerin otomatik olarak okunması işlemi ile yapıldı. İlk uygulamalarda</a:t>
            </a:r>
          </a:p>
          <a:p>
            <a:r>
              <a:rPr lang="tr-TR" dirty="0"/>
              <a:t>kullanılan mürekkebin dengesiz olması ve sistemin pahalıya mal olması nedeni ile bugün</a:t>
            </a:r>
          </a:p>
          <a:p>
            <a:r>
              <a:rPr lang="tr-TR" dirty="0"/>
              <a:t>kullanılan sisteme benzeyen, siyah zemin üzerinde 4 beyaz çizgi içeren ve bu çizgilerin bir</a:t>
            </a:r>
          </a:p>
          <a:p>
            <a:r>
              <a:rPr lang="tr-TR" dirty="0"/>
              <a:t>veya bir kaçının olmaması esasına dayanan sistem geliştirildi. Bu sistemin geliştirilmesi ile</a:t>
            </a:r>
          </a:p>
          <a:p>
            <a:r>
              <a:rPr lang="tr-TR" dirty="0"/>
              <a:t>1973 yılında UPC (Universal Product </a:t>
            </a:r>
            <a:r>
              <a:rPr lang="tr-TR" dirty="0" err="1"/>
              <a:t>Coding</a:t>
            </a:r>
            <a:r>
              <a:rPr lang="tr-TR" dirty="0"/>
              <a:t>) sistemi geliştirildi ve 1974 yılında Ohio’da</a:t>
            </a:r>
          </a:p>
          <a:p>
            <a:r>
              <a:rPr lang="tr-TR" dirty="0"/>
              <a:t>bir markette kullanılmaya başlandı. İlk </a:t>
            </a:r>
            <a:r>
              <a:rPr lang="tr-TR" dirty="0" err="1"/>
              <a:t>barkodlu</a:t>
            </a:r>
            <a:r>
              <a:rPr lang="tr-TR" dirty="0"/>
              <a:t> ürün ise </a:t>
            </a:r>
            <a:r>
              <a:rPr lang="tr-TR" dirty="0" err="1"/>
              <a:t>Wrigley’s</a:t>
            </a:r>
            <a:r>
              <a:rPr lang="tr-TR" dirty="0"/>
              <a:t>  çikletleri idi.</a:t>
            </a:r>
          </a:p>
          <a:p>
            <a:endParaRPr lang="tr-TR" dirty="0"/>
          </a:p>
          <a:p>
            <a:r>
              <a:rPr lang="tr-TR" dirty="0"/>
              <a:t>Klavyeye alternatif olarak kullanılan bar kodu yöntemi; veri giriş / çıkışının kolay olması,</a:t>
            </a:r>
          </a:p>
          <a:p>
            <a:r>
              <a:rPr lang="tr-TR" dirty="0"/>
              <a:t>kullanıldığı sistemlerde verimliliği artırması, standardizasyon sağlaması, vb. nedenlerle</a:t>
            </a:r>
          </a:p>
          <a:p>
            <a:r>
              <a:rPr lang="tr-TR" dirty="0"/>
              <a:t>özellikle stoklama işlemlerinde ve marketlerde yaygın olarak kullanılmaktadır</a:t>
            </a:r>
          </a:p>
        </p:txBody>
      </p:sp>
    </p:spTree>
    <p:extLst>
      <p:ext uri="{BB962C8B-B14F-4D97-AF65-F5344CB8AC3E}">
        <p14:creationId xmlns:p14="http://schemas.microsoft.com/office/powerpoint/2010/main" val="4110162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260648"/>
            <a:ext cx="8892480" cy="2585323"/>
          </a:xfrm>
          <a:prstGeom prst="rect">
            <a:avLst/>
          </a:prstGeom>
        </p:spPr>
        <p:txBody>
          <a:bodyPr wrap="square">
            <a:spAutoFit/>
          </a:bodyPr>
          <a:lstStyle/>
          <a:p>
            <a:r>
              <a:rPr lang="tr-TR" dirty="0"/>
              <a:t>Sayısal ve </a:t>
            </a:r>
            <a:r>
              <a:rPr lang="tr-TR" dirty="0" err="1"/>
              <a:t>alfasayısal</a:t>
            </a:r>
            <a:r>
              <a:rPr lang="tr-TR" dirty="0"/>
              <a:t> bir dizinin çizgi veya boşluklardan oluşan bir kodlama yöntemi ile</a:t>
            </a:r>
          </a:p>
          <a:p>
            <a:r>
              <a:rPr lang="tr-TR" dirty="0"/>
              <a:t>ifade edilmesi olarak tanımlayabileceğimiz barkod sistemi okunduğunda yalnızca ilgili</a:t>
            </a:r>
          </a:p>
          <a:p>
            <a:r>
              <a:rPr lang="tr-TR" dirty="0"/>
              <a:t>karakter dizisi bilgisayara gönderilir. Karakterleri temsil etmek için kullanılan çizgilerin</a:t>
            </a:r>
          </a:p>
          <a:p>
            <a:r>
              <a:rPr lang="tr-TR" dirty="0"/>
              <a:t>uygun araçlarla okunup çözümlenmesi ve bilgisayara aktarılması için çeşitli barkod</a:t>
            </a:r>
          </a:p>
          <a:p>
            <a:r>
              <a:rPr lang="tr-TR" dirty="0"/>
              <a:t>yöntemleri ve barkodları okuyacak farklı teknolojiler bulunmaktadır. Barkod ile ilgili</a:t>
            </a:r>
          </a:p>
          <a:p>
            <a:r>
              <a:rPr lang="tr-TR" dirty="0"/>
              <a:t>teknolojileri / yöntemleri bir standart olarak ortaya koymak amacıyla on iki Avrupa ülkesinin</a:t>
            </a:r>
          </a:p>
          <a:p>
            <a:r>
              <a:rPr lang="tr-TR" dirty="0"/>
              <a:t>katılımı ile ‘Avrupa Mal Numaralandırma Birliği’ (</a:t>
            </a:r>
            <a:r>
              <a:rPr lang="tr-TR" dirty="0" err="1"/>
              <a:t>European</a:t>
            </a:r>
            <a:r>
              <a:rPr lang="tr-TR" dirty="0"/>
              <a:t> </a:t>
            </a:r>
            <a:r>
              <a:rPr lang="tr-TR" dirty="0" err="1"/>
              <a:t>Article</a:t>
            </a:r>
            <a:r>
              <a:rPr lang="tr-TR" dirty="0"/>
              <a:t> </a:t>
            </a:r>
            <a:r>
              <a:rPr lang="tr-TR" dirty="0" err="1"/>
              <a:t>Numbering</a:t>
            </a:r>
            <a:r>
              <a:rPr lang="tr-TR" dirty="0"/>
              <a:t> </a:t>
            </a:r>
            <a:r>
              <a:rPr lang="tr-TR" dirty="0" err="1"/>
              <a:t>Association</a:t>
            </a:r>
            <a:endParaRPr lang="tr-TR" dirty="0"/>
          </a:p>
          <a:p>
            <a:r>
              <a:rPr lang="tr-TR" dirty="0"/>
              <a:t>- EAN) kurulmuştur. Türkiye’nin de üye olduğu (kod numarası 869 olarak) birliğin</a:t>
            </a:r>
          </a:p>
          <a:p>
            <a:r>
              <a:rPr lang="tr-TR" dirty="0"/>
              <a:t>Türkiye’deki temsilcisi Türkiye Odalar ve Borsalar Birliği’dir.</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284984"/>
            <a:ext cx="7272808" cy="25031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209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260648"/>
            <a:ext cx="8136904" cy="2677656"/>
          </a:xfrm>
          <a:prstGeom prst="rect">
            <a:avLst/>
          </a:prstGeom>
        </p:spPr>
        <p:txBody>
          <a:bodyPr wrap="square">
            <a:spAutoFit/>
          </a:bodyPr>
          <a:lstStyle/>
          <a:p>
            <a:r>
              <a:rPr lang="tr-TR" sz="2400" b="1" u="sng" dirty="0">
                <a:solidFill>
                  <a:srgbClr val="FF0000"/>
                </a:solidFill>
              </a:rPr>
              <a:t>2. Alfa Sayısal Kodlar</a:t>
            </a:r>
          </a:p>
          <a:p>
            <a:r>
              <a:rPr lang="tr-TR" dirty="0"/>
              <a:t>Bilgisayarlarda sayılarla birlikte alfabedeki harfler, noktalama işaretleri ve diğer özel</a:t>
            </a:r>
          </a:p>
          <a:p>
            <a:r>
              <a:rPr lang="tr-TR" dirty="0"/>
              <a:t>karakterler kullanılmaktadır. Tüm bu bilgileri kodlamak için kullanılan yöntemler,</a:t>
            </a:r>
          </a:p>
          <a:p>
            <a:r>
              <a:rPr lang="tr-TR" b="1" dirty="0"/>
              <a:t>‘</a:t>
            </a:r>
            <a:r>
              <a:rPr lang="tr-TR" b="1" dirty="0" err="1"/>
              <a:t>Alfasayısal</a:t>
            </a:r>
            <a:r>
              <a:rPr lang="tr-TR" b="1" dirty="0"/>
              <a:t> kodlama yöntemleri’ </a:t>
            </a:r>
            <a:r>
              <a:rPr lang="tr-TR" dirty="0"/>
              <a:t>olarak isimlendirilir.</a:t>
            </a:r>
          </a:p>
          <a:p>
            <a:r>
              <a:rPr lang="tr-TR" dirty="0" err="1"/>
              <a:t>Alfasayısal</a:t>
            </a:r>
            <a:r>
              <a:rPr lang="tr-TR" dirty="0"/>
              <a:t> kodlar; tüm büyük ve küçük harfleri, 7 tane noktalama işaretini, 0’dan 9’a kadar 10 sayıyı ve +, /, #, %, *, vb. karakterleri içerir. Yaygın olarak kullanılan iki türlü </a:t>
            </a:r>
            <a:r>
              <a:rPr lang="tr-TR" dirty="0" err="1"/>
              <a:t>alfasayısal</a:t>
            </a:r>
            <a:r>
              <a:rPr lang="tr-TR" dirty="0"/>
              <a:t> kodlama yöntemi bulunmaktadır: ASCII (Amerikan Standart </a:t>
            </a:r>
            <a:r>
              <a:rPr lang="tr-TR" dirty="0" err="1"/>
              <a:t>Code</a:t>
            </a:r>
            <a:r>
              <a:rPr lang="tr-TR" dirty="0"/>
              <a:t> </a:t>
            </a:r>
            <a:r>
              <a:rPr lang="tr-TR" dirty="0" err="1"/>
              <a:t>For</a:t>
            </a:r>
            <a:r>
              <a:rPr lang="tr-TR" dirty="0"/>
              <a:t> Information </a:t>
            </a:r>
            <a:r>
              <a:rPr lang="tr-TR" dirty="0" err="1"/>
              <a:t>Interchance</a:t>
            </a:r>
            <a:r>
              <a:rPr lang="tr-TR" dirty="0"/>
              <a:t>) ve EBCDIC (</a:t>
            </a:r>
            <a:r>
              <a:rPr lang="tr-TR" dirty="0" err="1"/>
              <a:t>Extended</a:t>
            </a:r>
            <a:r>
              <a:rPr lang="tr-TR" dirty="0"/>
              <a:t> BCD </a:t>
            </a:r>
            <a:r>
              <a:rPr lang="tr-TR" dirty="0" err="1"/>
              <a:t>Interchance</a:t>
            </a:r>
            <a:r>
              <a:rPr lang="tr-TR" dirty="0"/>
              <a:t> </a:t>
            </a:r>
            <a:r>
              <a:rPr lang="tr-TR" dirty="0" err="1"/>
              <a:t>Code</a:t>
            </a:r>
            <a:r>
              <a:rPr lang="tr-TR" dirty="0"/>
              <a:t>) kodları. Bu kodlardan daha yaygın olarak kullanılan ASCII kodudur.</a:t>
            </a:r>
          </a:p>
        </p:txBody>
      </p:sp>
      <p:sp>
        <p:nvSpPr>
          <p:cNvPr id="3" name="Dikdörtgen 2"/>
          <p:cNvSpPr/>
          <p:nvPr/>
        </p:nvSpPr>
        <p:spPr>
          <a:xfrm>
            <a:off x="395536" y="2938304"/>
            <a:ext cx="8496944" cy="2308324"/>
          </a:xfrm>
          <a:prstGeom prst="rect">
            <a:avLst/>
          </a:prstGeom>
        </p:spPr>
        <p:txBody>
          <a:bodyPr wrap="square">
            <a:spAutoFit/>
          </a:bodyPr>
          <a:lstStyle/>
          <a:p>
            <a:r>
              <a:rPr lang="tr-TR" b="1" dirty="0"/>
              <a:t>2.1. ASCII kodu</a:t>
            </a:r>
          </a:p>
          <a:p>
            <a:r>
              <a:rPr lang="tr-TR" b="1" dirty="0"/>
              <a:t>ASCII kodu; </a:t>
            </a:r>
            <a:r>
              <a:rPr lang="tr-TR" dirty="0"/>
              <a:t>7 bitlik bir koddur (8. bit bazı karakterlerin </a:t>
            </a:r>
            <a:r>
              <a:rPr lang="tr-TR" dirty="0" err="1"/>
              <a:t>kontrolu</a:t>
            </a:r>
            <a:r>
              <a:rPr lang="tr-TR" dirty="0"/>
              <a:t> için kullanılır) ve</a:t>
            </a:r>
          </a:p>
          <a:p>
            <a:r>
              <a:rPr lang="tr-TR" dirty="0"/>
              <a:t>2⁷ = 128 bilgiyi kodlama kapasitesine sahiptir. Bu kapasite rakam ve harflerle birlikte</a:t>
            </a:r>
          </a:p>
          <a:p>
            <a:r>
              <a:rPr lang="tr-TR" dirty="0"/>
              <a:t>bilgisayarda kullanılan </a:t>
            </a:r>
            <a:r>
              <a:rPr lang="tr-TR" dirty="0" err="1"/>
              <a:t>Enter</a:t>
            </a:r>
            <a:r>
              <a:rPr lang="tr-TR" dirty="0"/>
              <a:t>, </a:t>
            </a:r>
            <a:r>
              <a:rPr lang="tr-TR" dirty="0" err="1"/>
              <a:t>Linefeed</a:t>
            </a:r>
            <a:r>
              <a:rPr lang="tr-TR" dirty="0"/>
              <a:t>, vb. işlemleri ifade etmek içinde yeterlidir. Tablo</a:t>
            </a:r>
          </a:p>
          <a:p>
            <a:r>
              <a:rPr lang="tr-TR" dirty="0"/>
              <a:t>3.5’de kullanılan bazı bilgilerin ASCII kodlama yönteminde ve </a:t>
            </a:r>
            <a:r>
              <a:rPr lang="tr-TR" dirty="0" err="1"/>
              <a:t>onaltılı</a:t>
            </a:r>
            <a:r>
              <a:rPr lang="tr-TR" dirty="0"/>
              <a:t> sistemde kodlanmış</a:t>
            </a:r>
          </a:p>
          <a:p>
            <a:r>
              <a:rPr lang="tr-TR" dirty="0"/>
              <a:t>karşılıkları görülmektedir. İkili sayı formundaki ASCII kodlu bir sayının anlamını bulmak</a:t>
            </a:r>
          </a:p>
          <a:p>
            <a:r>
              <a:rPr lang="tr-TR" dirty="0"/>
              <a:t>için, ikili sayının karşılığı olan </a:t>
            </a:r>
            <a:r>
              <a:rPr lang="tr-TR" dirty="0" err="1"/>
              <a:t>onaltılı</a:t>
            </a:r>
            <a:r>
              <a:rPr lang="tr-TR" dirty="0"/>
              <a:t> sayı bulunur. </a:t>
            </a:r>
            <a:r>
              <a:rPr lang="tr-TR" dirty="0" err="1"/>
              <a:t>Onaltılı</a:t>
            </a:r>
            <a:r>
              <a:rPr lang="tr-TR" dirty="0"/>
              <a:t> sayının ifade ettiği karakter</a:t>
            </a:r>
          </a:p>
          <a:p>
            <a:r>
              <a:rPr lang="tr-TR" dirty="0"/>
              <a:t>tespit edilirse kodlanmış sayı anlamlı hale gelir.</a:t>
            </a:r>
          </a:p>
        </p:txBody>
      </p:sp>
    </p:spTree>
    <p:extLst>
      <p:ext uri="{BB962C8B-B14F-4D97-AF65-F5344CB8AC3E}">
        <p14:creationId xmlns:p14="http://schemas.microsoft.com/office/powerpoint/2010/main" val="1879984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461963"/>
            <a:ext cx="6057900" cy="593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2011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51722"/>
            <a:ext cx="7776864" cy="6678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4400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7544" y="332656"/>
            <a:ext cx="8568952" cy="3231654"/>
          </a:xfrm>
          <a:prstGeom prst="rect">
            <a:avLst/>
          </a:prstGeom>
        </p:spPr>
        <p:txBody>
          <a:bodyPr wrap="square">
            <a:spAutoFit/>
          </a:bodyPr>
          <a:lstStyle/>
          <a:p>
            <a:r>
              <a:rPr lang="tr-TR" b="1" dirty="0"/>
              <a:t>2.2. EBCDIC Kodu</a:t>
            </a:r>
          </a:p>
          <a:p>
            <a:endParaRPr lang="tr-TR" b="1" dirty="0"/>
          </a:p>
          <a:p>
            <a:pPr algn="just"/>
            <a:r>
              <a:rPr lang="tr-TR" sz="2400" dirty="0"/>
              <a:t>IBM tarafından geliştirilen ancak diğer üreticiler tarafından benimsenmediği için yaygın olarak kullanılmayan EBCDIC kodu, 8 bitlik </a:t>
            </a:r>
            <a:r>
              <a:rPr lang="tr-TR" sz="2400" dirty="0" err="1"/>
              <a:t>alfasayısal</a:t>
            </a:r>
            <a:r>
              <a:rPr lang="tr-TR" sz="2400" dirty="0"/>
              <a:t> bir kodlama sistemidir. Her bir bilginin farklı şekilde </a:t>
            </a:r>
            <a:r>
              <a:rPr lang="tr-TR" sz="2400" dirty="0" err="1"/>
              <a:t>onaltılı</a:t>
            </a:r>
            <a:r>
              <a:rPr lang="tr-TR" sz="2400" dirty="0"/>
              <a:t> ve ikili sistemde temsil edildiği bu kodlama sisteminde, karakterlerin eşitlikleri Tablo 3.6’da toplu olarak görülmektedir. Bu kodlama sisteminde, bilgilerin kodlanmasında kullanılan mantık ASCII kodunun aynısıdır.</a:t>
            </a:r>
          </a:p>
        </p:txBody>
      </p:sp>
    </p:spTree>
    <p:extLst>
      <p:ext uri="{BB962C8B-B14F-4D97-AF65-F5344CB8AC3E}">
        <p14:creationId xmlns:p14="http://schemas.microsoft.com/office/powerpoint/2010/main" val="3449804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9725"/>
            <a:ext cx="4392488" cy="6728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9401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979712" y="2060848"/>
            <a:ext cx="5256584" cy="1323439"/>
          </a:xfrm>
          <a:prstGeom prst="rect">
            <a:avLst/>
          </a:prstGeom>
        </p:spPr>
        <p:txBody>
          <a:bodyPr wrap="square">
            <a:spAutoFit/>
          </a:bodyPr>
          <a:lstStyle/>
          <a:p>
            <a:r>
              <a:rPr lang="tr-TR" sz="4000" dirty="0"/>
              <a:t>DİNLEDİĞİNİZ İÇİN TEŞEKKÜR EDERİZ</a:t>
            </a:r>
          </a:p>
        </p:txBody>
      </p:sp>
    </p:spTree>
    <p:extLst>
      <p:ext uri="{BB962C8B-B14F-4D97-AF65-F5344CB8AC3E}">
        <p14:creationId xmlns:p14="http://schemas.microsoft.com/office/powerpoint/2010/main" val="383889376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TotalTime>
  <Words>1893</Words>
  <Application>Microsoft Office PowerPoint</Application>
  <PresentationFormat>Ekran Gösterisi (4:3)</PresentationFormat>
  <Paragraphs>142</Paragraphs>
  <Slides>30</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30</vt:i4>
      </vt:variant>
    </vt:vector>
  </HeadingPairs>
  <TitlesOfParts>
    <vt:vector size="33" baseType="lpstr">
      <vt:lpstr>Arial</vt:lpstr>
      <vt:lpstr>Calibri</vt:lpstr>
      <vt:lpstr>Ofis Teması</vt:lpstr>
      <vt:lpstr>Mantık Devreleri  DERS 5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Mantık Devreleri  DERS 4 </dc:title>
  <dc:creator>bilgisayarim</dc:creator>
  <cp:lastModifiedBy>Tiryaki</cp:lastModifiedBy>
  <cp:revision>41</cp:revision>
  <dcterms:created xsi:type="dcterms:W3CDTF">2019-10-01T11:39:33Z</dcterms:created>
  <dcterms:modified xsi:type="dcterms:W3CDTF">2022-11-07T12:57:06Z</dcterms:modified>
</cp:coreProperties>
</file>