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74" r:id="rId25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7152-B8C6-4427-9368-64974F3D5B85}" type="datetimeFigureOut">
              <a:rPr lang="tr-TR" smtClean="0"/>
              <a:t>08/10/2019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BC42F-CFFF-4607-BB18-38E1484F97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1509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7152-B8C6-4427-9368-64974F3D5B85}" type="datetimeFigureOut">
              <a:rPr lang="tr-TR" smtClean="0"/>
              <a:t>08/10/2019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BC42F-CFFF-4607-BB18-38E1484F97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8486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7152-B8C6-4427-9368-64974F3D5B85}" type="datetimeFigureOut">
              <a:rPr lang="tr-TR" smtClean="0"/>
              <a:t>08/10/2019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BC42F-CFFF-4607-BB18-38E1484F97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3973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7152-B8C6-4427-9368-64974F3D5B85}" type="datetimeFigureOut">
              <a:rPr lang="tr-TR" smtClean="0"/>
              <a:t>08/10/2019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BC42F-CFFF-4607-BB18-38E1484F97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2373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7152-B8C6-4427-9368-64974F3D5B85}" type="datetimeFigureOut">
              <a:rPr lang="tr-TR" smtClean="0"/>
              <a:t>08/10/2019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BC42F-CFFF-4607-BB18-38E1484F97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2627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7152-B8C6-4427-9368-64974F3D5B85}" type="datetimeFigureOut">
              <a:rPr lang="tr-TR" smtClean="0"/>
              <a:t>08/10/2019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BC42F-CFFF-4607-BB18-38E1484F97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5383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7152-B8C6-4427-9368-64974F3D5B85}" type="datetimeFigureOut">
              <a:rPr lang="tr-TR" smtClean="0"/>
              <a:t>08/10/2019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BC42F-CFFF-4607-BB18-38E1484F97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3015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7152-B8C6-4427-9368-64974F3D5B85}" type="datetimeFigureOut">
              <a:rPr lang="tr-TR" smtClean="0"/>
              <a:t>08/10/2019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BC42F-CFFF-4607-BB18-38E1484F97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3428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7152-B8C6-4427-9368-64974F3D5B85}" type="datetimeFigureOut">
              <a:rPr lang="tr-TR" smtClean="0"/>
              <a:t>08/10/2019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BC42F-CFFF-4607-BB18-38E1484F97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2754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7152-B8C6-4427-9368-64974F3D5B85}" type="datetimeFigureOut">
              <a:rPr lang="tr-TR" smtClean="0"/>
              <a:t>08/10/2019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BC42F-CFFF-4607-BB18-38E1484F97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8107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7152-B8C6-4427-9368-64974F3D5B85}" type="datetimeFigureOut">
              <a:rPr lang="tr-TR" smtClean="0"/>
              <a:t>08/10/2019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BC42F-CFFF-4607-BB18-38E1484F97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2818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A7152-B8C6-4427-9368-64974F3D5B85}" type="datetimeFigureOut">
              <a:rPr lang="tr-TR" smtClean="0"/>
              <a:t>08/10/2019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BC42F-CFFF-4607-BB18-38E1484F97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65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van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dirty="0" smtClean="0"/>
              <a:t>Mantık Devreleri </a:t>
            </a:r>
            <a:br>
              <a:rPr lang="tr-TR" dirty="0" smtClean="0"/>
            </a:br>
            <a:r>
              <a:rPr lang="tr-TR" dirty="0" smtClean="0"/>
              <a:t>DERS 3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3178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835697" y="1844824"/>
            <a:ext cx="518348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b="1" dirty="0"/>
              <a:t>Sayı Sistemlerinde </a:t>
            </a:r>
            <a:r>
              <a:rPr lang="tr-TR" sz="4000" b="1" dirty="0" smtClean="0"/>
              <a:t>Hesaplama İşlemleri 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105792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827584" y="908720"/>
            <a:ext cx="770485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dirty="0"/>
              <a:t>Tüm sayı sistemlerinde sayılarda işaret kullanılabilir. Yani pozitif ve negatif </a:t>
            </a:r>
            <a:r>
              <a:rPr lang="tr-TR" sz="2400" dirty="0" smtClean="0"/>
              <a:t>sayılarla hesaplama </a:t>
            </a:r>
            <a:r>
              <a:rPr lang="tr-TR" sz="2400" dirty="0"/>
              <a:t>yapılabilir. Bu gerçek göz önünde bulundurularak, onluk sayılarda </a:t>
            </a:r>
            <a:r>
              <a:rPr lang="tr-TR" sz="2400" dirty="0" smtClean="0"/>
              <a:t>hesaplama yaparken </a:t>
            </a:r>
            <a:r>
              <a:rPr lang="tr-TR" sz="2400" dirty="0"/>
              <a:t>aşağıdaki ilişkiler kullanılabilir. Bu ilişkiler bütün sayı sistemleri için geçerlidir</a:t>
            </a:r>
            <a:r>
              <a:rPr lang="tr-TR" sz="2400" dirty="0" smtClean="0"/>
              <a:t>.</a:t>
            </a:r>
          </a:p>
          <a:p>
            <a:endParaRPr lang="tr-TR" dirty="0"/>
          </a:p>
          <a:p>
            <a:r>
              <a:rPr lang="pt-BR" b="1" dirty="0"/>
              <a:t>a) </a:t>
            </a:r>
            <a:r>
              <a:rPr lang="pt-BR" dirty="0"/>
              <a:t>+a + (+b) = a + b </a:t>
            </a:r>
            <a:r>
              <a:rPr lang="tr-TR" dirty="0" smtClean="0"/>
              <a:t>		</a:t>
            </a:r>
            <a:r>
              <a:rPr lang="pt-BR" b="1" dirty="0" smtClean="0"/>
              <a:t>b</a:t>
            </a:r>
            <a:r>
              <a:rPr lang="pt-BR" b="1" dirty="0"/>
              <a:t>) </a:t>
            </a:r>
            <a:r>
              <a:rPr lang="pt-BR" dirty="0"/>
              <a:t>+a + (-b) = a - b</a:t>
            </a:r>
          </a:p>
          <a:p>
            <a:r>
              <a:rPr lang="tr-TR" b="1" dirty="0"/>
              <a:t>c</a:t>
            </a:r>
            <a:r>
              <a:rPr lang="pt-BR" b="1" dirty="0" smtClean="0"/>
              <a:t>) </a:t>
            </a:r>
            <a:r>
              <a:rPr lang="pt-BR" dirty="0"/>
              <a:t>+a - (+b) = a </a:t>
            </a:r>
            <a:r>
              <a:rPr lang="pt-BR" dirty="0" smtClean="0"/>
              <a:t>– b</a:t>
            </a:r>
            <a:r>
              <a:rPr lang="tr-TR" dirty="0" smtClean="0"/>
              <a:t>		</a:t>
            </a:r>
            <a:r>
              <a:rPr lang="pt-BR" dirty="0" smtClean="0"/>
              <a:t> </a:t>
            </a:r>
            <a:r>
              <a:rPr lang="pt-BR" b="1" dirty="0"/>
              <a:t>d) </a:t>
            </a:r>
            <a:r>
              <a:rPr lang="pt-BR" dirty="0"/>
              <a:t>+a - (-b) = a + </a:t>
            </a:r>
            <a:r>
              <a:rPr lang="pt-BR" dirty="0" smtClean="0"/>
              <a:t>b</a:t>
            </a:r>
            <a:endParaRPr lang="tr-TR" dirty="0" smtClean="0"/>
          </a:p>
          <a:p>
            <a:endParaRPr lang="pt-BR" dirty="0"/>
          </a:p>
          <a:p>
            <a:r>
              <a:rPr lang="tr-TR" sz="2400" dirty="0"/>
              <a:t>İkili, sekizli ve </a:t>
            </a:r>
            <a:r>
              <a:rPr lang="tr-TR" sz="2400" dirty="0" err="1"/>
              <a:t>onaltılı</a:t>
            </a:r>
            <a:r>
              <a:rPr lang="tr-TR" sz="2400" dirty="0"/>
              <a:t> sistemlerdeki hesaplamalarda da dört temel işlem (toplama, </a:t>
            </a:r>
            <a:r>
              <a:rPr lang="tr-TR" sz="2400" dirty="0" smtClean="0"/>
              <a:t>çıkarma, çarpma</a:t>
            </a:r>
            <a:r>
              <a:rPr lang="tr-TR" sz="2400" dirty="0"/>
              <a:t>, bölme) kullanılır. Ancak, dijital bilgisayarlarda kullanılan temel sayı sistemi </a:t>
            </a:r>
            <a:r>
              <a:rPr lang="tr-TR" sz="2400" dirty="0" smtClean="0"/>
              <a:t>ikili sayı </a:t>
            </a:r>
            <a:r>
              <a:rPr lang="tr-TR" sz="2400" dirty="0"/>
              <a:t>sistemi olduğundan, ikili sayı sistemindeki dört işlemi detaylı olarak inceleyelim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7374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827584" y="620688"/>
            <a:ext cx="748883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/>
              <a:t>İkili Sayı Sisteminde Toplama</a:t>
            </a:r>
          </a:p>
          <a:p>
            <a:r>
              <a:rPr lang="tr-TR" sz="2400" dirty="0"/>
              <a:t>İkili sayı sisteminde yapılan toplama işlemi, onlu sayı sisteminde olduğu gibi </a:t>
            </a:r>
            <a:r>
              <a:rPr lang="tr-TR" sz="2400" dirty="0" smtClean="0"/>
              <a:t>aynı basamaktaki </a:t>
            </a:r>
            <a:r>
              <a:rPr lang="tr-TR" sz="2400" dirty="0"/>
              <a:t>sayıların toplanması şeklinde yapılır. İkili sayı sistemindeki toplama </a:t>
            </a:r>
            <a:r>
              <a:rPr lang="tr-TR" sz="2400" dirty="0" smtClean="0"/>
              <a:t>kuralları aşağıdaki </a:t>
            </a:r>
            <a:r>
              <a:rPr lang="tr-TR" sz="2400" dirty="0"/>
              <a:t>şekilde sıralanabilir</a:t>
            </a:r>
            <a:r>
              <a:rPr lang="tr-TR" sz="2400" dirty="0" smtClean="0"/>
              <a:t>.</a:t>
            </a:r>
          </a:p>
          <a:p>
            <a:endParaRPr lang="tr-TR" sz="2400" dirty="0"/>
          </a:p>
          <a:p>
            <a:r>
              <a:rPr lang="nn-NO" sz="2400" dirty="0"/>
              <a:t>0 + 0 = 0, </a:t>
            </a:r>
            <a:r>
              <a:rPr lang="tr-TR" sz="2400" dirty="0" smtClean="0"/>
              <a:t>  </a:t>
            </a:r>
            <a:r>
              <a:rPr lang="nn-NO" sz="2400" dirty="0" smtClean="0"/>
              <a:t>1 </a:t>
            </a:r>
            <a:r>
              <a:rPr lang="nn-NO" sz="2400" dirty="0"/>
              <a:t>+0 = 1</a:t>
            </a:r>
            <a:r>
              <a:rPr lang="nn-NO" sz="2400" dirty="0" smtClean="0"/>
              <a:t>,</a:t>
            </a:r>
            <a:r>
              <a:rPr lang="tr-TR" sz="2400" dirty="0" smtClean="0"/>
              <a:t>    </a:t>
            </a:r>
            <a:r>
              <a:rPr lang="nn-NO" sz="2400" dirty="0" smtClean="0"/>
              <a:t> </a:t>
            </a:r>
            <a:r>
              <a:rPr lang="nn-NO" sz="2400" dirty="0"/>
              <a:t>0 + 1 = 1, </a:t>
            </a:r>
            <a:r>
              <a:rPr lang="tr-TR" sz="2400" dirty="0" smtClean="0"/>
              <a:t>    </a:t>
            </a:r>
            <a:r>
              <a:rPr lang="nn-NO" sz="2400" dirty="0" smtClean="0"/>
              <a:t>1 </a:t>
            </a:r>
            <a:r>
              <a:rPr lang="nn-NO" sz="2400" dirty="0"/>
              <a:t>+ 1 = 10 </a:t>
            </a:r>
            <a:r>
              <a:rPr lang="nn-NO" sz="2400" dirty="0" smtClean="0"/>
              <a:t>veya</a:t>
            </a:r>
            <a:endParaRPr lang="tr-TR" sz="2400" dirty="0" smtClean="0"/>
          </a:p>
          <a:p>
            <a:r>
              <a:rPr lang="tr-TR" sz="2400" dirty="0"/>
              <a:t>	</a:t>
            </a:r>
            <a:r>
              <a:rPr lang="tr-TR" sz="2400" dirty="0" smtClean="0"/>
              <a:t>			       </a:t>
            </a:r>
            <a:r>
              <a:rPr lang="nn-NO" sz="2400" dirty="0" smtClean="0"/>
              <a:t> </a:t>
            </a:r>
            <a:r>
              <a:rPr lang="nn-NO" sz="2400" dirty="0"/>
              <a:t>1 + 1 = 0 Elde 1 (C=1</a:t>
            </a:r>
            <a:r>
              <a:rPr lang="nn-NO" sz="2400" dirty="0" smtClean="0"/>
              <a:t>).</a:t>
            </a:r>
            <a:endParaRPr lang="tr-TR" sz="2400" dirty="0" smtClean="0"/>
          </a:p>
          <a:p>
            <a:endParaRPr lang="nn-NO" sz="2400" dirty="0"/>
          </a:p>
          <a:p>
            <a:r>
              <a:rPr lang="tr-TR" sz="2400" dirty="0"/>
              <a:t>‘1 + 1’ toplama işleminde sonuç olarak ‘0’ ve bir soldaki basamağa aktarılmak üzere ‘</a:t>
            </a:r>
            <a:r>
              <a:rPr lang="tr-TR" sz="2400" dirty="0" smtClean="0"/>
              <a:t>elde 1</a:t>
            </a:r>
            <a:r>
              <a:rPr lang="tr-TR" sz="2400" dirty="0"/>
              <a:t>’ ortaya çıkar. Bu onluk sayılarla yapılan toplama işlemindeki 9+1 </a:t>
            </a:r>
            <a:r>
              <a:rPr lang="tr-TR" sz="2400" dirty="0" smtClean="0"/>
              <a:t>rakamlarının toplamından </a:t>
            </a:r>
            <a:r>
              <a:rPr lang="tr-TR" sz="2400" dirty="0"/>
              <a:t>‘0’ ortaya çıkması ve eldeki 1’in bir soldaki basamağa aktarılmasına benzer.</a:t>
            </a:r>
          </a:p>
        </p:txBody>
      </p:sp>
    </p:spTree>
    <p:extLst>
      <p:ext uri="{BB962C8B-B14F-4D97-AF65-F5344CB8AC3E}">
        <p14:creationId xmlns:p14="http://schemas.microsoft.com/office/powerpoint/2010/main" val="267136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02567"/>
            <a:ext cx="851409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3745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467544" y="404664"/>
            <a:ext cx="784887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/>
              <a:t>İkili Sayı Sisteminde Çıkarma</a:t>
            </a:r>
          </a:p>
          <a:p>
            <a:r>
              <a:rPr lang="tr-TR" sz="2400" dirty="0"/>
              <a:t>İkili sayılarda çıkarma işleminde özetlenen kurallar uygulanır</a:t>
            </a:r>
            <a:r>
              <a:rPr lang="tr-TR" sz="2400" dirty="0" smtClean="0"/>
              <a:t>:</a:t>
            </a:r>
          </a:p>
          <a:p>
            <a:endParaRPr lang="tr-TR" sz="2400" dirty="0"/>
          </a:p>
          <a:p>
            <a:r>
              <a:rPr lang="tr-TR" sz="2400" dirty="0"/>
              <a:t>0 - 0 = 0, </a:t>
            </a:r>
            <a:r>
              <a:rPr lang="tr-TR" sz="2400" dirty="0" smtClean="0"/>
              <a:t>  1 </a:t>
            </a:r>
            <a:r>
              <a:rPr lang="tr-TR" sz="2400" dirty="0"/>
              <a:t>- 0 = 1, </a:t>
            </a:r>
            <a:r>
              <a:rPr lang="tr-TR" sz="2400" dirty="0" smtClean="0"/>
              <a:t>     1 </a:t>
            </a:r>
            <a:r>
              <a:rPr lang="tr-TR" sz="2400" dirty="0"/>
              <a:t>- 1 = 0</a:t>
            </a:r>
            <a:r>
              <a:rPr lang="tr-TR" sz="2400" dirty="0" smtClean="0"/>
              <a:t>,     </a:t>
            </a:r>
            <a:r>
              <a:rPr lang="tr-TR" sz="2400" dirty="0"/>
              <a:t>0 - 1 = 1 (borç 1), </a:t>
            </a:r>
            <a:r>
              <a:rPr lang="tr-TR" sz="2400" dirty="0" smtClean="0"/>
              <a:t>   10 </a:t>
            </a:r>
            <a:r>
              <a:rPr lang="tr-TR" sz="2400" dirty="0"/>
              <a:t>- 1 = </a:t>
            </a:r>
            <a:r>
              <a:rPr lang="tr-TR" sz="2400" dirty="0" smtClean="0"/>
              <a:t>1</a:t>
            </a:r>
          </a:p>
          <a:p>
            <a:endParaRPr lang="tr-TR" sz="2400" dirty="0"/>
          </a:p>
          <a:p>
            <a:r>
              <a:rPr lang="tr-TR" sz="2400" dirty="0"/>
              <a:t>Bu kuralların uygulandığı yöntem, </a:t>
            </a:r>
            <a:r>
              <a:rPr lang="tr-TR" sz="2400" b="1" dirty="0"/>
              <a:t>‘doğrudan çıkarma yöntemi’ </a:t>
            </a:r>
            <a:r>
              <a:rPr lang="tr-TR" sz="2400" dirty="0"/>
              <a:t>olarak </a:t>
            </a:r>
            <a:r>
              <a:rPr lang="tr-TR" sz="2400" dirty="0" smtClean="0"/>
              <a:t>adlandırılır</a:t>
            </a:r>
            <a:r>
              <a:rPr lang="tr-TR" sz="2400" dirty="0"/>
              <a:t>. </a:t>
            </a:r>
            <a:r>
              <a:rPr lang="tr-TR" sz="2400" dirty="0" smtClean="0"/>
              <a:t>Ana sayının </a:t>
            </a:r>
            <a:r>
              <a:rPr lang="tr-TR" sz="2400" dirty="0"/>
              <a:t>çıkarılan sayıdan büyük olması durumunda, yani sonucun ‘0’ veya 0’dan </a:t>
            </a:r>
            <a:r>
              <a:rPr lang="tr-TR" sz="2400" dirty="0" smtClean="0"/>
              <a:t>büyük olması </a:t>
            </a:r>
            <a:r>
              <a:rPr lang="tr-TR" sz="2400" dirty="0"/>
              <a:t>durumunda doğrudan çıkarma yöntemi kullanılabilir.</a:t>
            </a:r>
          </a:p>
        </p:txBody>
      </p:sp>
    </p:spTree>
    <p:extLst>
      <p:ext uri="{BB962C8B-B14F-4D97-AF65-F5344CB8AC3E}">
        <p14:creationId xmlns:p14="http://schemas.microsoft.com/office/powerpoint/2010/main" val="1165008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32" y="980728"/>
            <a:ext cx="8006024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5228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620688"/>
            <a:ext cx="84249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 err="1"/>
              <a:t>Tümleyen</a:t>
            </a:r>
            <a:r>
              <a:rPr lang="tr-TR" sz="2400" b="1" dirty="0"/>
              <a:t> Aritmetiği</a:t>
            </a:r>
          </a:p>
          <a:p>
            <a:r>
              <a:rPr lang="tr-TR" sz="2400" dirty="0" err="1"/>
              <a:t>Tümleyen</a:t>
            </a:r>
            <a:r>
              <a:rPr lang="tr-TR" sz="2400" dirty="0"/>
              <a:t> aritmetiği, sayısal bilgisayarlarda çıkarma işlemini gerçekleştirmek </a:t>
            </a:r>
            <a:r>
              <a:rPr lang="tr-TR" sz="2400" dirty="0" smtClean="0"/>
              <a:t>amacıyla kullanılan </a:t>
            </a:r>
            <a:r>
              <a:rPr lang="tr-TR" sz="2400" dirty="0"/>
              <a:t>matematiksel bir yöntemdir</a:t>
            </a:r>
            <a:r>
              <a:rPr lang="tr-TR" sz="2400" dirty="0" smtClean="0"/>
              <a:t>.</a:t>
            </a:r>
          </a:p>
          <a:p>
            <a:endParaRPr lang="tr-TR" sz="2400" dirty="0" smtClean="0"/>
          </a:p>
          <a:p>
            <a:pPr algn="just"/>
            <a:r>
              <a:rPr lang="tr-TR" sz="2400" dirty="0" smtClean="0"/>
              <a:t>Çıkarma </a:t>
            </a:r>
            <a:r>
              <a:rPr lang="tr-TR" sz="2400" dirty="0"/>
              <a:t>işlemi sonucunun 0’dan küçük olması durumunda doğrudan çıkarma </a:t>
            </a:r>
            <a:r>
              <a:rPr lang="tr-TR" sz="2400" dirty="0" smtClean="0"/>
              <a:t>yöntemi kullanılamaz</a:t>
            </a:r>
            <a:r>
              <a:rPr lang="tr-TR" sz="2400" dirty="0"/>
              <a:t>. Bu nedenle, sonucun 0’dan küçük çıktığı işlemleri gerçekleştirmek </a:t>
            </a:r>
            <a:r>
              <a:rPr lang="tr-TR" sz="2400" dirty="0" smtClean="0"/>
              <a:t>ve bilgisayarlarda </a:t>
            </a:r>
            <a:r>
              <a:rPr lang="tr-TR" sz="2400" dirty="0"/>
              <a:t>mantıksal uyumlaştırma işlemini kolaylaştırmak amacıyla, </a:t>
            </a:r>
            <a:r>
              <a:rPr lang="tr-TR" sz="2400" b="1" dirty="0"/>
              <a:t>‘</a:t>
            </a:r>
            <a:r>
              <a:rPr lang="tr-TR" sz="2400" b="1" dirty="0" err="1" smtClean="0"/>
              <a:t>tümleyen</a:t>
            </a:r>
            <a:r>
              <a:rPr lang="tr-TR" sz="2400" b="1" dirty="0" smtClean="0"/>
              <a:t> aritmetiğine </a:t>
            </a:r>
            <a:r>
              <a:rPr lang="tr-TR" sz="2400" b="1" dirty="0"/>
              <a:t>göre çıkarma’ </a:t>
            </a:r>
            <a:r>
              <a:rPr lang="tr-TR" sz="2400" dirty="0"/>
              <a:t>olarak adlandırılan çıkarma yöntemi kullanılır. </a:t>
            </a:r>
            <a:r>
              <a:rPr lang="tr-TR" sz="2400" dirty="0" err="1" smtClean="0"/>
              <a:t>Tümleyen</a:t>
            </a:r>
            <a:r>
              <a:rPr lang="tr-TR" sz="2400" dirty="0" smtClean="0"/>
              <a:t> aritmetiği </a:t>
            </a:r>
            <a:r>
              <a:rPr lang="tr-TR" sz="2400" dirty="0"/>
              <a:t>ile çıkarma yönteminde tüm çıkarma işlemleri yapılabilmekte ve bu </a:t>
            </a:r>
            <a:r>
              <a:rPr lang="tr-TR" sz="2400" dirty="0" smtClean="0"/>
              <a:t>nedenle bilgisayarlarda </a:t>
            </a:r>
            <a:r>
              <a:rPr lang="tr-TR" sz="2400" dirty="0"/>
              <a:t>bu yöntem kullanılmaktadır.</a:t>
            </a:r>
          </a:p>
        </p:txBody>
      </p:sp>
    </p:spTree>
    <p:extLst>
      <p:ext uri="{BB962C8B-B14F-4D97-AF65-F5344CB8AC3E}">
        <p14:creationId xmlns:p14="http://schemas.microsoft.com/office/powerpoint/2010/main" val="3425824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467544" y="612845"/>
            <a:ext cx="828092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err="1" smtClean="0"/>
              <a:t>Tümleyen</a:t>
            </a:r>
            <a:r>
              <a:rPr lang="tr-TR" dirty="0" smtClean="0"/>
              <a:t> </a:t>
            </a:r>
            <a:r>
              <a:rPr lang="tr-TR" dirty="0"/>
              <a:t>aritmetiğinin ikilik </a:t>
            </a:r>
            <a:r>
              <a:rPr lang="tr-TR" dirty="0" smtClean="0"/>
              <a:t>sayılarda uygulamasıyla </a:t>
            </a:r>
            <a:r>
              <a:rPr lang="tr-TR" dirty="0"/>
              <a:t>iki türlü </a:t>
            </a:r>
            <a:r>
              <a:rPr lang="tr-TR" dirty="0" err="1"/>
              <a:t>tümleyen</a:t>
            </a:r>
            <a:r>
              <a:rPr lang="tr-TR" dirty="0"/>
              <a:t> aritmetiği ortaya çıkar</a:t>
            </a:r>
            <a:r>
              <a:rPr lang="tr-TR" dirty="0" smtClean="0"/>
              <a:t>:</a:t>
            </a:r>
          </a:p>
          <a:p>
            <a:endParaRPr lang="tr-TR" dirty="0"/>
          </a:p>
          <a:p>
            <a:r>
              <a:rPr lang="es-ES" dirty="0"/>
              <a:t>‘1’ tümleyeni ve ‘2’ tümleyeni.</a:t>
            </a:r>
          </a:p>
          <a:p>
            <a:r>
              <a:rPr lang="tr-TR" dirty="0"/>
              <a:t>‘1’ </a:t>
            </a:r>
            <a:r>
              <a:rPr lang="tr-TR" dirty="0" err="1"/>
              <a:t>tümleyeni</a:t>
            </a:r>
            <a:r>
              <a:rPr lang="tr-TR" dirty="0"/>
              <a:t>; (2n-N-1) ve ‘2’ </a:t>
            </a:r>
            <a:r>
              <a:rPr lang="tr-TR" dirty="0" err="1"/>
              <a:t>tümleyeni</a:t>
            </a:r>
            <a:r>
              <a:rPr lang="tr-TR" dirty="0"/>
              <a:t>; (2n-N) formülleri ile ifade edilir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/>
              <a:t>Formüldeki 'n' değeri verilen ‘N’ sayısındaki basamak sayısıdır. Formüllerin</a:t>
            </a:r>
          </a:p>
          <a:p>
            <a:r>
              <a:rPr lang="tr-TR" dirty="0"/>
              <a:t>incelenmesinden; ‘2’ </a:t>
            </a:r>
            <a:r>
              <a:rPr lang="tr-TR" dirty="0" err="1"/>
              <a:t>tümleyeninin</a:t>
            </a:r>
            <a:r>
              <a:rPr lang="tr-TR" dirty="0"/>
              <a:t>, ‘1’ </a:t>
            </a:r>
            <a:r>
              <a:rPr lang="tr-TR" dirty="0" err="1"/>
              <a:t>tümleyenine</a:t>
            </a:r>
            <a:r>
              <a:rPr lang="tr-TR" dirty="0"/>
              <a:t> 1 eklenmesi ile oluştuğu görülür. ‘</a:t>
            </a:r>
            <a:r>
              <a:rPr lang="tr-TR" dirty="0" smtClean="0"/>
              <a:t>1’ ve </a:t>
            </a:r>
            <a:r>
              <a:rPr lang="tr-TR" dirty="0"/>
              <a:t>‘2’ </a:t>
            </a:r>
            <a:r>
              <a:rPr lang="tr-TR" dirty="0" err="1"/>
              <a:t>tümleyeni</a:t>
            </a:r>
            <a:r>
              <a:rPr lang="tr-TR" dirty="0"/>
              <a:t> mantıkları, onluk sistemde ‘9’ ve ‘10’ </a:t>
            </a:r>
            <a:r>
              <a:rPr lang="tr-TR" dirty="0" err="1"/>
              <a:t>tümleyenler</a:t>
            </a:r>
            <a:r>
              <a:rPr lang="tr-TR" dirty="0"/>
              <a:t> şeklinde temsil edilir.</a:t>
            </a:r>
          </a:p>
          <a:p>
            <a:r>
              <a:rPr lang="tr-TR" dirty="0" err="1"/>
              <a:t>Tümleyen</a:t>
            </a:r>
            <a:r>
              <a:rPr lang="tr-TR" dirty="0"/>
              <a:t> aritmetiği çeşitleri daha genel bir ifade ile, ‘r’ tabanlı bir sayı sisteminde </a:t>
            </a:r>
            <a:r>
              <a:rPr lang="tr-TR" b="1" dirty="0"/>
              <a:t>‘r</a:t>
            </a:r>
          </a:p>
          <a:p>
            <a:r>
              <a:rPr lang="tr-TR" b="1" dirty="0" err="1"/>
              <a:t>tümleyeni</a:t>
            </a:r>
            <a:r>
              <a:rPr lang="tr-TR" b="1" dirty="0"/>
              <a:t>’ </a:t>
            </a:r>
            <a:r>
              <a:rPr lang="tr-TR" dirty="0"/>
              <a:t>ve </a:t>
            </a:r>
            <a:r>
              <a:rPr lang="tr-TR" b="1" dirty="0"/>
              <a:t>‘r-1 </a:t>
            </a:r>
            <a:r>
              <a:rPr lang="tr-TR" b="1" dirty="0" err="1"/>
              <a:t>tümleyeni</a:t>
            </a:r>
            <a:r>
              <a:rPr lang="tr-TR" b="1" dirty="0"/>
              <a:t>’ </a:t>
            </a:r>
            <a:r>
              <a:rPr lang="tr-TR" dirty="0"/>
              <a:t>olarak ifade </a:t>
            </a:r>
            <a:r>
              <a:rPr lang="tr-TR" dirty="0" smtClean="0"/>
              <a:t>edilebilir. Bu </a:t>
            </a:r>
            <a:r>
              <a:rPr lang="tr-TR" dirty="0"/>
              <a:t>açıklamalar ışığında </a:t>
            </a:r>
            <a:r>
              <a:rPr lang="tr-TR" dirty="0" err="1"/>
              <a:t>tümleyen</a:t>
            </a:r>
            <a:r>
              <a:rPr lang="tr-TR" dirty="0"/>
              <a:t> aritmetiğini iki kısımda inceleyebiliriz: ‘r </a:t>
            </a:r>
            <a:r>
              <a:rPr lang="tr-TR" dirty="0" err="1"/>
              <a:t>tümleyeni</a:t>
            </a:r>
            <a:r>
              <a:rPr lang="tr-TR" dirty="0"/>
              <a:t>’ </a:t>
            </a:r>
            <a:r>
              <a:rPr lang="tr-TR" dirty="0" smtClean="0"/>
              <a:t>ve ‘r-1 </a:t>
            </a:r>
            <a:r>
              <a:rPr lang="tr-TR" dirty="0" err="1"/>
              <a:t>tümleyeni</a:t>
            </a:r>
            <a:r>
              <a:rPr lang="tr-TR" dirty="0"/>
              <a:t>’.</a:t>
            </a:r>
          </a:p>
        </p:txBody>
      </p:sp>
    </p:spTree>
    <p:extLst>
      <p:ext uri="{BB962C8B-B14F-4D97-AF65-F5344CB8AC3E}">
        <p14:creationId xmlns:p14="http://schemas.microsoft.com/office/powerpoint/2010/main" val="2752882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404664"/>
            <a:ext cx="86409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‘r’ </a:t>
            </a:r>
            <a:r>
              <a:rPr lang="tr-TR" b="1" dirty="0" err="1"/>
              <a:t>Tümleyen</a:t>
            </a:r>
            <a:r>
              <a:rPr lang="tr-TR" b="1" dirty="0"/>
              <a:t> Aritmetiği</a:t>
            </a:r>
          </a:p>
          <a:p>
            <a:r>
              <a:rPr lang="tr-TR" dirty="0"/>
              <a:t>r tabanlı bir sayı sisteminde, n basamaklı pozitif bir tamsayı N ile temsil edilirse, N sayısının</a:t>
            </a:r>
          </a:p>
          <a:p>
            <a:r>
              <a:rPr lang="tr-TR" dirty="0"/>
              <a:t>r </a:t>
            </a:r>
            <a:r>
              <a:rPr lang="tr-TR" dirty="0" err="1"/>
              <a:t>tümleyeni</a:t>
            </a:r>
            <a:r>
              <a:rPr lang="tr-TR" dirty="0"/>
              <a:t> </a:t>
            </a:r>
            <a:r>
              <a:rPr lang="tr-TR" dirty="0" err="1"/>
              <a:t>rn</a:t>
            </a:r>
            <a:r>
              <a:rPr lang="tr-TR" dirty="0"/>
              <a:t>-N (N¹0) olarak tanımlanabilir. Aşağıdaki örnekler, ‘r </a:t>
            </a:r>
            <a:r>
              <a:rPr lang="tr-TR" dirty="0" err="1"/>
              <a:t>tümleyeni</a:t>
            </a:r>
            <a:r>
              <a:rPr lang="tr-TR" dirty="0"/>
              <a:t>’ terimini</a:t>
            </a:r>
          </a:p>
          <a:p>
            <a:r>
              <a:rPr lang="tr-TR" dirty="0"/>
              <a:t>anlamaya yardım edecektir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b="1" dirty="0"/>
              <a:t>Örnek 32 : </a:t>
            </a:r>
            <a:r>
              <a:rPr lang="tr-TR" dirty="0"/>
              <a:t>(52520)10 sayısının r </a:t>
            </a:r>
            <a:r>
              <a:rPr lang="tr-TR" dirty="0" err="1"/>
              <a:t>tümleyenini</a:t>
            </a:r>
            <a:r>
              <a:rPr lang="tr-TR" dirty="0"/>
              <a:t> (onlu sayı olduğundan 10 </a:t>
            </a:r>
            <a:r>
              <a:rPr lang="tr-TR" dirty="0" err="1"/>
              <a:t>tümleyenini</a:t>
            </a:r>
            <a:r>
              <a:rPr lang="tr-TR" dirty="0"/>
              <a:t>)</a:t>
            </a:r>
          </a:p>
          <a:p>
            <a:r>
              <a:rPr lang="tr-TR" dirty="0"/>
              <a:t>bulalım</a:t>
            </a:r>
            <a:r>
              <a:rPr lang="tr-TR" dirty="0" smtClean="0"/>
              <a:t>.</a:t>
            </a:r>
            <a:endParaRPr lang="tr-T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74" y="2564903"/>
            <a:ext cx="8189450" cy="1618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ikdörtgen 2"/>
          <p:cNvSpPr/>
          <p:nvPr/>
        </p:nvSpPr>
        <p:spPr>
          <a:xfrm>
            <a:off x="323528" y="4183112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Örnek 33: </a:t>
            </a:r>
            <a:r>
              <a:rPr lang="tr-TR" dirty="0"/>
              <a:t>(0.3267)10 sayısının 10 </a:t>
            </a:r>
            <a:r>
              <a:rPr lang="tr-TR" dirty="0" err="1"/>
              <a:t>tümleyenini</a:t>
            </a:r>
            <a:r>
              <a:rPr lang="tr-TR" dirty="0"/>
              <a:t> (r </a:t>
            </a:r>
            <a:r>
              <a:rPr lang="tr-TR" dirty="0" err="1"/>
              <a:t>tümleyenini</a:t>
            </a:r>
            <a:r>
              <a:rPr lang="tr-TR" dirty="0"/>
              <a:t>) bulalım.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25144"/>
            <a:ext cx="8064896" cy="17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4374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764704"/>
            <a:ext cx="8610099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4321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899592" y="692696"/>
            <a:ext cx="58326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 err="1" smtClean="0"/>
              <a:t>Tümleyen</a:t>
            </a:r>
            <a:r>
              <a:rPr lang="tr-TR" sz="2400" b="1" dirty="0" smtClean="0"/>
              <a:t> </a:t>
            </a:r>
            <a:r>
              <a:rPr lang="tr-TR" sz="2400" b="1" dirty="0"/>
              <a:t>aritmetiği ile çıkarma</a:t>
            </a:r>
            <a:endParaRPr lang="tr-TR" sz="2400" dirty="0"/>
          </a:p>
        </p:txBody>
      </p:sp>
      <p:sp>
        <p:nvSpPr>
          <p:cNvPr id="3" name="Dikdörtgen 2"/>
          <p:cNvSpPr/>
          <p:nvPr/>
        </p:nvSpPr>
        <p:spPr>
          <a:xfrm>
            <a:off x="251520" y="1556792"/>
            <a:ext cx="8712968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dirty="0"/>
              <a:t>Onluk sayı sisteminde alışkın olduğumuz ve komşuya git borç </a:t>
            </a:r>
            <a:r>
              <a:rPr lang="tr-TR" sz="2000" dirty="0" smtClean="0"/>
              <a:t>al </a:t>
            </a:r>
            <a:r>
              <a:rPr lang="tr-TR" sz="2000" dirty="0" smtClean="0"/>
              <a:t>olarak isimlendirebileceğimiz </a:t>
            </a:r>
            <a:r>
              <a:rPr lang="tr-TR" sz="2000" dirty="0"/>
              <a:t>doğrudan çıkarma yöntemi bilgisayarlar için çok kullanışlı değildir.</a:t>
            </a:r>
          </a:p>
          <a:p>
            <a:r>
              <a:rPr lang="tr-TR" sz="2000" dirty="0"/>
              <a:t>Elektronik elemanlar ile çıkarma söz konusu olduğunda daha kullanışlı (etkin) olan </a:t>
            </a:r>
            <a:r>
              <a:rPr lang="tr-TR" sz="2000" dirty="0" smtClean="0"/>
              <a:t>yöntem, sayıların </a:t>
            </a:r>
            <a:r>
              <a:rPr lang="tr-TR" sz="2000" dirty="0" err="1"/>
              <a:t>tümleyenini</a:t>
            </a:r>
            <a:r>
              <a:rPr lang="tr-TR" sz="2000" dirty="0"/>
              <a:t> alarak toplama işlemi yapmaktır. Bu yöntemde, ‘r’ tabanındaki </a:t>
            </a:r>
            <a:r>
              <a:rPr lang="tr-TR" sz="2000" dirty="0" smtClean="0"/>
              <a:t>iki pozitif </a:t>
            </a:r>
            <a:r>
              <a:rPr lang="tr-TR" sz="2000" dirty="0"/>
              <a:t>sayının ‘M-N’ işlemi aşağıdaki gibi özetlenebilir</a:t>
            </a:r>
            <a:r>
              <a:rPr lang="tr-TR" sz="2000" dirty="0" smtClean="0"/>
              <a:t>:</a:t>
            </a:r>
          </a:p>
          <a:p>
            <a:endParaRPr lang="tr-TR" dirty="0"/>
          </a:p>
          <a:p>
            <a:pPr marL="342900" indent="-342900">
              <a:buAutoNum type="arabicPeriod"/>
            </a:pPr>
            <a:r>
              <a:rPr lang="tr-TR" dirty="0" smtClean="0"/>
              <a:t>İki </a:t>
            </a:r>
            <a:r>
              <a:rPr lang="tr-TR" dirty="0"/>
              <a:t>sayıyı çıkarma yerine M sayısının kendisi ile N sayısının ‘r’ </a:t>
            </a:r>
            <a:r>
              <a:rPr lang="tr-TR" dirty="0" err="1" smtClean="0"/>
              <a:t>tümleyeni</a:t>
            </a:r>
            <a:r>
              <a:rPr lang="tr-TR" dirty="0" smtClean="0"/>
              <a:t> toplanır.</a:t>
            </a:r>
          </a:p>
          <a:p>
            <a:pPr marL="342900" indent="-342900">
              <a:buAutoNum type="arabicPeriod"/>
            </a:pPr>
            <a:endParaRPr lang="tr-TR" dirty="0" smtClean="0"/>
          </a:p>
          <a:p>
            <a:r>
              <a:rPr lang="es-ES" dirty="0" smtClean="0"/>
              <a:t>2</a:t>
            </a:r>
            <a:r>
              <a:rPr lang="es-ES" dirty="0"/>
              <a:t>. Toplama sonucunda elde edilen değer incelenir</a:t>
            </a:r>
            <a:r>
              <a:rPr lang="es-ES" dirty="0" smtClean="0"/>
              <a:t>:</a:t>
            </a:r>
            <a:endParaRPr lang="tr-TR" dirty="0" smtClean="0"/>
          </a:p>
          <a:p>
            <a:endParaRPr lang="es-ES" dirty="0"/>
          </a:p>
          <a:p>
            <a:r>
              <a:rPr lang="tr-TR" dirty="0"/>
              <a:t>a) Eğer en soldaki basamakların toplanması sonucunda elde değeri oluşursa</a:t>
            </a:r>
          </a:p>
          <a:p>
            <a:r>
              <a:rPr lang="tr-TR" dirty="0"/>
              <a:t>bu değer atılır. Bulunan sonucun ‘(+) pozitif’ olduğu kabul edilir.</a:t>
            </a:r>
          </a:p>
          <a:p>
            <a:r>
              <a:rPr lang="tr-TR" dirty="0"/>
              <a:t>b) Eğer elde değeri oluşmazsa, toplama sonucunda elde edilen değerin ‘r’</a:t>
            </a:r>
          </a:p>
          <a:p>
            <a:r>
              <a:rPr lang="tr-TR" dirty="0" err="1"/>
              <a:t>tümleyeni</a:t>
            </a:r>
            <a:r>
              <a:rPr lang="tr-TR" dirty="0"/>
              <a:t> alınır ve bulunan değerin önüne ‘(-) eksi’ işareti konulur.</a:t>
            </a:r>
          </a:p>
        </p:txBody>
      </p:sp>
    </p:spTree>
    <p:extLst>
      <p:ext uri="{BB962C8B-B14F-4D97-AF65-F5344CB8AC3E}">
        <p14:creationId xmlns:p14="http://schemas.microsoft.com/office/powerpoint/2010/main" val="757023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42" y="764704"/>
            <a:ext cx="8004641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ikdörtgen 1"/>
          <p:cNvSpPr/>
          <p:nvPr/>
        </p:nvSpPr>
        <p:spPr>
          <a:xfrm>
            <a:off x="899592" y="566124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dirty="0"/>
              <a:t>Sonuç olarak</a:t>
            </a:r>
            <a:r>
              <a:rPr lang="tr-TR" dirty="0" smtClean="0"/>
              <a:t>;   (-</a:t>
            </a:r>
            <a:r>
              <a:rPr lang="tr-TR" dirty="0"/>
              <a:t>69282)</a:t>
            </a:r>
          </a:p>
        </p:txBody>
      </p:sp>
    </p:spTree>
    <p:extLst>
      <p:ext uri="{BB962C8B-B14F-4D97-AF65-F5344CB8AC3E}">
        <p14:creationId xmlns:p14="http://schemas.microsoft.com/office/powerpoint/2010/main" val="283935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191" y="260648"/>
            <a:ext cx="8052297" cy="6144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0817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692696"/>
            <a:ext cx="8555713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2996952"/>
            <a:ext cx="9144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5467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539552" y="404664"/>
            <a:ext cx="36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‘r-1’ </a:t>
            </a:r>
            <a:r>
              <a:rPr lang="tr-TR" b="1" dirty="0" err="1"/>
              <a:t>Tümleyen</a:t>
            </a:r>
            <a:r>
              <a:rPr lang="tr-TR" b="1" dirty="0"/>
              <a:t> Aritmetiği</a:t>
            </a:r>
            <a:endParaRPr lang="tr-T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980728"/>
            <a:ext cx="8549519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1217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681038"/>
            <a:ext cx="7886700" cy="549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0573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889844"/>
            <a:ext cx="8424936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/>
              <a:t>‘r – 1’ </a:t>
            </a:r>
            <a:r>
              <a:rPr lang="tr-TR" sz="2400" b="1" dirty="0" err="1"/>
              <a:t>Tümleyen</a:t>
            </a:r>
            <a:r>
              <a:rPr lang="tr-TR" sz="2400" b="1" dirty="0"/>
              <a:t> Yöntemi ile Çıkarma</a:t>
            </a:r>
          </a:p>
          <a:p>
            <a:r>
              <a:rPr lang="tr-TR" sz="2400" dirty="0"/>
              <a:t>‘r – 1’ </a:t>
            </a:r>
            <a:r>
              <a:rPr lang="tr-TR" sz="2400" dirty="0" err="1"/>
              <a:t>tümleyeni</a:t>
            </a:r>
            <a:r>
              <a:rPr lang="tr-TR" sz="2400" dirty="0"/>
              <a:t> ile çıkarma işlemi tamamen ‘r’ </a:t>
            </a:r>
            <a:r>
              <a:rPr lang="tr-TR" sz="2400" dirty="0" err="1"/>
              <a:t>tümleyeni</a:t>
            </a:r>
            <a:r>
              <a:rPr lang="tr-TR" sz="2400" dirty="0"/>
              <a:t> ile çıkarma işleminin aynısıdır.</a:t>
            </a:r>
          </a:p>
          <a:p>
            <a:r>
              <a:rPr lang="tr-TR" sz="2400" dirty="0"/>
              <a:t>Yalnızca sonucun pozitif olduğu durumlarda, düzeltme biti denilen 1 sayısının </a:t>
            </a:r>
            <a:r>
              <a:rPr lang="tr-TR" sz="2400" dirty="0" smtClean="0"/>
              <a:t>eklenmesi işlemi </a:t>
            </a:r>
            <a:r>
              <a:rPr lang="tr-TR" sz="2400" dirty="0"/>
              <a:t>yapılır. ‘r’ tabanında iki pozitif sayının M-N işlemi (r-1 </a:t>
            </a:r>
            <a:r>
              <a:rPr lang="tr-TR" sz="2400" dirty="0" err="1"/>
              <a:t>tümleyeni</a:t>
            </a:r>
            <a:r>
              <a:rPr lang="tr-TR" sz="2400" dirty="0"/>
              <a:t> yöntemi </a:t>
            </a:r>
            <a:r>
              <a:rPr lang="tr-TR" sz="2400" dirty="0" smtClean="0"/>
              <a:t>ile) aşağıdaki </a:t>
            </a:r>
            <a:r>
              <a:rPr lang="tr-TR" sz="2400" dirty="0"/>
              <a:t>şekilde özetlenebilir</a:t>
            </a:r>
            <a:r>
              <a:rPr lang="tr-TR" sz="2400" dirty="0" smtClean="0"/>
              <a:t>:</a:t>
            </a:r>
          </a:p>
          <a:p>
            <a:endParaRPr lang="tr-TR" sz="2400" dirty="0"/>
          </a:p>
          <a:p>
            <a:r>
              <a:rPr lang="tr-TR" b="1" dirty="0"/>
              <a:t>1</a:t>
            </a:r>
            <a:r>
              <a:rPr lang="tr-TR" dirty="0"/>
              <a:t>- M sayısının kendisi ile N sayısının ‘r-1’ </a:t>
            </a:r>
            <a:r>
              <a:rPr lang="tr-TR" dirty="0" err="1"/>
              <a:t>tümleyeni</a:t>
            </a:r>
            <a:r>
              <a:rPr lang="tr-TR" dirty="0"/>
              <a:t> toplanır.</a:t>
            </a:r>
          </a:p>
          <a:p>
            <a:r>
              <a:rPr lang="tr-TR" b="1" dirty="0"/>
              <a:t>2</a:t>
            </a:r>
            <a:r>
              <a:rPr lang="tr-TR" dirty="0"/>
              <a:t>- Toplama sonucunda bulunan değerin taşma (işaret) biti kontrol edilir:</a:t>
            </a:r>
          </a:p>
          <a:p>
            <a:r>
              <a:rPr lang="tr-TR" b="1" dirty="0"/>
              <a:t>a</a:t>
            </a:r>
            <a:r>
              <a:rPr lang="tr-TR" dirty="0"/>
              <a:t>- Eğer taşma biti oluşursa (işaret biti 1), bulunan değere 1 değeri eklenir.</a:t>
            </a:r>
          </a:p>
          <a:p>
            <a:r>
              <a:rPr lang="tr-TR" b="1" dirty="0"/>
              <a:t>b</a:t>
            </a:r>
            <a:r>
              <a:rPr lang="tr-TR" dirty="0"/>
              <a:t>- Eğer taşma biti oluşmazsa (işaret biti 0), toplama sonucunda elde edilen</a:t>
            </a:r>
          </a:p>
          <a:p>
            <a:r>
              <a:rPr lang="tr-TR" dirty="0"/>
              <a:t>sayının ‘r-1’ </a:t>
            </a:r>
            <a:r>
              <a:rPr lang="tr-TR" dirty="0" err="1"/>
              <a:t>tümleyeni</a:t>
            </a:r>
            <a:r>
              <a:rPr lang="tr-TR" dirty="0"/>
              <a:t> alınır ve önüne (-) işareti konur.</a:t>
            </a:r>
          </a:p>
        </p:txBody>
      </p:sp>
    </p:spTree>
    <p:extLst>
      <p:ext uri="{BB962C8B-B14F-4D97-AF65-F5344CB8AC3E}">
        <p14:creationId xmlns:p14="http://schemas.microsoft.com/office/powerpoint/2010/main" val="1659470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683568" y="764704"/>
            <a:ext cx="2130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Örnek 49: </a:t>
            </a:r>
            <a:r>
              <a:rPr lang="tr-TR" dirty="0"/>
              <a:t>M=72532,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99" y="1134036"/>
            <a:ext cx="8456115" cy="387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0723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767715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005301"/>
            <a:ext cx="49720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2573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2" y="1052736"/>
            <a:ext cx="8761240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0405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683568" y="116632"/>
            <a:ext cx="78488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/>
              <a:t>İkili Sayı Sisteminde Çarpma</a:t>
            </a:r>
          </a:p>
          <a:p>
            <a:r>
              <a:rPr lang="tr-TR" sz="2400" dirty="0"/>
              <a:t>İkili sayı sisteminde çarpma işleminde onluk sistemde kullanılan işlem sırası takip edilir </a:t>
            </a:r>
            <a:r>
              <a:rPr lang="tr-TR" sz="2400" dirty="0" smtClean="0"/>
              <a:t>ve ‘0</a:t>
            </a:r>
            <a:r>
              <a:rPr lang="tr-TR" sz="2400" dirty="0"/>
              <a:t>’ ve ‘1’ değerlerinin çarpılması söz konusu olduğundan aşağıdaki kurallar geçerlidir.</a:t>
            </a:r>
          </a:p>
          <a:p>
            <a:r>
              <a:rPr lang="tr-TR" sz="2400" dirty="0"/>
              <a:t>0 x 0 = 0 , 0 x 1 = 0 , 1 x 0 = 0 , 1 x 1 = 1.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2708920"/>
            <a:ext cx="796532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9535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404664"/>
            <a:ext cx="84969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/>
              <a:t>İkili Sayı Sisteminde Bölme</a:t>
            </a:r>
          </a:p>
          <a:p>
            <a:r>
              <a:rPr lang="tr-TR" sz="2400" dirty="0"/>
              <a:t>İkili sayılarda bölme işlemi, onluk sayı sisteminde olduğu gibi bölünenden </a:t>
            </a:r>
            <a:r>
              <a:rPr lang="tr-TR" sz="2400" dirty="0" smtClean="0"/>
              <a:t>bölenin çıkarılması </a:t>
            </a:r>
            <a:r>
              <a:rPr lang="tr-TR" sz="2400" dirty="0"/>
              <a:t>işlemine sonuç sıfır kalıncaya kadar devam edilmesiyle gerçekleştirilir.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2276872"/>
            <a:ext cx="4940787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1593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1979712" y="2060848"/>
            <a:ext cx="52565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 smtClean="0"/>
              <a:t>DİNLEDİĞİNİZ İÇİN TEŞEKKÜR EDERİZ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2723195465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859</Words>
  <Application>Microsoft Office PowerPoint</Application>
  <PresentationFormat>Ekran Gösterisi (4:3)</PresentationFormat>
  <Paragraphs>72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24</vt:i4>
      </vt:variant>
    </vt:vector>
  </HeadingPairs>
  <TitlesOfParts>
    <vt:vector size="25" baseType="lpstr">
      <vt:lpstr>Ofis Teması</vt:lpstr>
      <vt:lpstr>Mantık Devreleri  DERS 3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bilgisayarim</dc:creator>
  <cp:lastModifiedBy>bilgisayarim</cp:lastModifiedBy>
  <cp:revision>16</cp:revision>
  <dcterms:created xsi:type="dcterms:W3CDTF">2019-09-30T16:17:58Z</dcterms:created>
  <dcterms:modified xsi:type="dcterms:W3CDTF">2019-10-08T14:04:26Z</dcterms:modified>
</cp:coreProperties>
</file>