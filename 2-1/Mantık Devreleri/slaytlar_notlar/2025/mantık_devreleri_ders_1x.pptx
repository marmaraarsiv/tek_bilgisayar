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4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rts/chart5.xml" ContentType="application/vnd.openxmlformats-officedocument.drawingml.chart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rts/chart6.xml" ContentType="application/vnd.openxmlformats-officedocument.drawingml.chart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charts/chart7.xml" ContentType="application/vnd.openxmlformats-officedocument.drawingml.chart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7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6877" autoAdjust="0"/>
  </p:normalViewPr>
  <p:slideViewPr>
    <p:cSldViewPr snapToGrid="0">
      <p:cViewPr varScale="1">
        <p:scale>
          <a:sx n="45" d="100"/>
          <a:sy n="45" d="100"/>
        </p:scale>
        <p:origin x="124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al__ma_Sayfas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al__ma_Sayfas_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al__ma_Sayfas_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al__ma_Sayfas_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al__ma_Sayfas_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al__ma_Sayfas_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al__ma_Sayfas_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tr-TR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Örnek analog gerilim</c:v>
          </c:tx>
          <c:spPr>
            <a:ln w="28575">
              <a:solidFill>
                <a:srgbClr val="1875A5"/>
              </a:solidFill>
              <a:prstDash val="solid"/>
            </a:ln>
          </c:spPr>
          <c:marker>
            <c:symbol val="none"/>
          </c:marker>
          <c:cat>
            <c:numRef>
              <c:f>'Chart Data'!$A$2:$A$18</c:f>
              <c:numCache>
                <c:formatCode>General</c:formatCode>
                <c:ptCount val="17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</c:numCache>
            </c:numRef>
          </c:cat>
          <c:val>
            <c:numRef>
              <c:f>'Chart Data'!$B$2:$B$18</c:f>
              <c:numCache>
                <c:formatCode>General</c:formatCode>
                <c:ptCount val="17"/>
                <c:pt idx="0">
                  <c:v>2.5</c:v>
                </c:pt>
                <c:pt idx="1">
                  <c:v>3.07</c:v>
                </c:pt>
                <c:pt idx="2">
                  <c:v>3.56</c:v>
                </c:pt>
                <c:pt idx="3">
                  <c:v>3.89</c:v>
                </c:pt>
                <c:pt idx="4">
                  <c:v>4</c:v>
                </c:pt>
                <c:pt idx="5">
                  <c:v>3.89</c:v>
                </c:pt>
                <c:pt idx="6">
                  <c:v>3.56</c:v>
                </c:pt>
                <c:pt idx="7">
                  <c:v>3.07</c:v>
                </c:pt>
                <c:pt idx="8">
                  <c:v>2.5</c:v>
                </c:pt>
                <c:pt idx="9">
                  <c:v>1.93</c:v>
                </c:pt>
                <c:pt idx="10">
                  <c:v>1.44</c:v>
                </c:pt>
                <c:pt idx="11">
                  <c:v>1.1100000000000001</c:v>
                </c:pt>
                <c:pt idx="12">
                  <c:v>1</c:v>
                </c:pt>
                <c:pt idx="13">
                  <c:v>1.1100000000000001</c:v>
                </c:pt>
                <c:pt idx="14">
                  <c:v>1.44</c:v>
                </c:pt>
                <c:pt idx="15">
                  <c:v>1.93</c:v>
                </c:pt>
                <c:pt idx="16">
                  <c:v>2.5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39AE-41A4-AF37-C14B8EB1A6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GB">
                    <a:latin typeface="Arial"/>
                    <a:ea typeface="Arial"/>
                    <a:cs typeface="Arial"/>
                  </a:rPr>
                  <a:t>Örnek anı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endParaRPr lang="tr-T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lang="en-GB">
                    <a:latin typeface="Arial"/>
                    <a:ea typeface="Arial"/>
                    <a:cs typeface="Arial"/>
                  </a:rPr>
                  <a:t>Genlik (V)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endParaRPr lang="tr-TR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layout/>
      <c:overlay val="0"/>
      <c:txPr>
        <a:bodyPr anchorCtr="1"/>
        <a:lstStyle/>
        <a:p>
          <a:pPr>
            <a:defRPr sz="1275">
              <a:solidFill>
                <a:srgbClr val="162C3C"/>
              </a:solidFill>
              <a:latin typeface="Arial"/>
              <a:ea typeface="Arial"/>
              <a:cs typeface="Arial"/>
            </a:defRPr>
          </a:pPr>
          <a:endParaRPr lang="tr-TR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tr-TR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Örneklenen gerilim</c:v>
          </c:tx>
          <c:spPr>
            <a:ln w="28575">
              <a:solidFill>
                <a:srgbClr val="1875A5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1875A5"/>
              </a:solidFill>
            </c:spPr>
          </c:marker>
          <c:cat>
            <c:numRef>
              <c:f>'Chart Data'!$A$2:$A$14</c:f>
              <c:numCache>
                <c:formatCode>General</c:formatCode>
                <c:ptCount val="13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</c:numCache>
            </c:numRef>
          </c:cat>
          <c:val>
            <c:numRef>
              <c:f>'Chart Data'!$B$2:$B$14</c:f>
              <c:numCache>
                <c:formatCode>General</c:formatCode>
                <c:ptCount val="13"/>
                <c:pt idx="0">
                  <c:v>2.5</c:v>
                </c:pt>
                <c:pt idx="1">
                  <c:v>3.07</c:v>
                </c:pt>
                <c:pt idx="2">
                  <c:v>3.56</c:v>
                </c:pt>
                <c:pt idx="3">
                  <c:v>3.89</c:v>
                </c:pt>
                <c:pt idx="4">
                  <c:v>4</c:v>
                </c:pt>
                <c:pt idx="5">
                  <c:v>3.89</c:v>
                </c:pt>
                <c:pt idx="6">
                  <c:v>3.56</c:v>
                </c:pt>
                <c:pt idx="7">
                  <c:v>3.07</c:v>
                </c:pt>
                <c:pt idx="8">
                  <c:v>2.5</c:v>
                </c:pt>
                <c:pt idx="9">
                  <c:v>1.93</c:v>
                </c:pt>
                <c:pt idx="10">
                  <c:v>1.44</c:v>
                </c:pt>
                <c:pt idx="11">
                  <c:v>1.1100000000000001</c:v>
                </c:pt>
                <c:pt idx="12">
                  <c:v>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159E-4C9F-B4B5-66DB78E89D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GB">
                    <a:latin typeface="Arial"/>
                    <a:ea typeface="Arial"/>
                    <a:cs typeface="Arial"/>
                  </a:rPr>
                  <a:t>Örnek anı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endParaRPr lang="tr-T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lang="en-GB">
                    <a:latin typeface="Arial"/>
                    <a:ea typeface="Arial"/>
                    <a:cs typeface="Arial"/>
                  </a:rPr>
                  <a:t>Genlik (V)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endParaRPr lang="tr-TR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layout/>
      <c:overlay val="0"/>
      <c:txPr>
        <a:bodyPr anchorCtr="1"/>
        <a:lstStyle/>
        <a:p>
          <a:pPr>
            <a:defRPr sz="1275">
              <a:solidFill>
                <a:srgbClr val="162C3C"/>
              </a:solidFill>
              <a:latin typeface="Arial"/>
              <a:ea typeface="Arial"/>
              <a:cs typeface="Arial"/>
            </a:defRPr>
          </a:pPr>
          <a:endParaRPr lang="tr-TR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tr-TR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Giriş gerilimi</c:v>
          </c:tx>
          <c:spPr>
            <a:ln w="28575">
              <a:solidFill>
                <a:srgbClr val="1875A5"/>
              </a:solidFill>
              <a:prstDash val="solid"/>
            </a:ln>
          </c:spPr>
          <c:marker>
            <c:symbol val="none"/>
          </c:marker>
          <c:cat>
            <c:numRef>
              <c:f>'Chart Data'!$A$2:$A$33</c:f>
              <c:numCache>
                <c:formatCode>General</c:formatCode>
                <c:ptCount val="32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</c:numCache>
            </c:numRef>
          </c:cat>
          <c:val>
            <c:numRef>
              <c:f>'Chart Data'!$B$2:$B$33</c:f>
              <c:numCache>
                <c:formatCode>General</c:formatCode>
                <c:ptCount val="32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FAF-4289-88DE-E62AA6A7ECFE}"/>
            </c:ext>
          </c:extLst>
        </c:ser>
        <c:ser>
          <c:idx val="1"/>
          <c:order val="1"/>
          <c:tx>
            <c:v>Temsil değeri</c:v>
          </c:tx>
          <c:spPr>
            <a:ln w="28575">
              <a:solidFill>
                <a:srgbClr val="B3403B"/>
              </a:solidFill>
              <a:prstDash val="solid"/>
            </a:ln>
          </c:spPr>
          <c:marker>
            <c:symbol val="none"/>
          </c:marker>
          <c:cat>
            <c:numRef>
              <c:f>'Chart Data'!$C$2:$C$33</c:f>
              <c:numCache>
                <c:formatCode>General</c:formatCode>
                <c:ptCount val="32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</c:numCache>
            </c:numRef>
          </c:cat>
          <c:val>
            <c:numRef>
              <c:f>'Chart Data'!$D$2:$D$33</c:f>
              <c:numCache>
                <c:formatCode>General</c:formatCode>
                <c:ptCount val="3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3</c:v>
                </c:pt>
                <c:pt idx="13">
                  <c:v>3</c:v>
                </c:pt>
                <c:pt idx="14">
                  <c:v>3</c:v>
                </c:pt>
                <c:pt idx="15">
                  <c:v>3</c:v>
                </c:pt>
                <c:pt idx="16">
                  <c:v>4</c:v>
                </c:pt>
                <c:pt idx="17">
                  <c:v>4</c:v>
                </c:pt>
                <c:pt idx="18">
                  <c:v>4</c:v>
                </c:pt>
                <c:pt idx="19">
                  <c:v>4</c:v>
                </c:pt>
                <c:pt idx="20">
                  <c:v>5</c:v>
                </c:pt>
                <c:pt idx="21">
                  <c:v>5</c:v>
                </c:pt>
                <c:pt idx="22">
                  <c:v>5</c:v>
                </c:pt>
                <c:pt idx="23">
                  <c:v>5</c:v>
                </c:pt>
                <c:pt idx="24">
                  <c:v>6</c:v>
                </c:pt>
                <c:pt idx="25">
                  <c:v>6</c:v>
                </c:pt>
                <c:pt idx="26">
                  <c:v>6</c:v>
                </c:pt>
                <c:pt idx="27">
                  <c:v>6</c:v>
                </c:pt>
                <c:pt idx="28">
                  <c:v>7</c:v>
                </c:pt>
                <c:pt idx="29">
                  <c:v>7</c:v>
                </c:pt>
                <c:pt idx="30">
                  <c:v>7</c:v>
                </c:pt>
                <c:pt idx="31">
                  <c:v>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DFAF-4289-88DE-E62AA6A7EC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GB">
                    <a:latin typeface="Arial"/>
                    <a:ea typeface="Arial"/>
                    <a:cs typeface="Arial"/>
                  </a:rPr>
                  <a:t>Örnek anı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endParaRPr lang="tr-T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8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GB">
                    <a:latin typeface="Arial"/>
                    <a:ea typeface="Arial"/>
                    <a:cs typeface="Arial"/>
                  </a:rPr>
                  <a:t>Genlik (V)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endParaRPr lang="tr-TR"/>
          </a:p>
        </c:txPr>
        <c:crossAx val="48650112"/>
        <c:crosses val="autoZero"/>
        <c:crossBetween val="between"/>
        <c:majorUnit val="1"/>
      </c:valAx>
      <c:spPr>
        <a:solidFill>
          <a:srgbClr val="FFFFFF"/>
        </a:solidFill>
      </c:spPr>
    </c:plotArea>
    <c:legend>
      <c:legendPos val="b"/>
      <c:layout/>
      <c:overlay val="0"/>
      <c:txPr>
        <a:bodyPr anchorCtr="1"/>
        <a:lstStyle/>
        <a:p>
          <a:pPr>
            <a:defRPr sz="1275">
              <a:solidFill>
                <a:srgbClr val="162C3C"/>
              </a:solidFill>
              <a:latin typeface="Arial"/>
              <a:ea typeface="Arial"/>
              <a:cs typeface="Arial"/>
            </a:defRPr>
          </a:pPr>
          <a:endParaRPr lang="tr-TR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tr-TR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1,2 kHz sinüs örnekleri</c:v>
          </c:tx>
          <c:spPr>
            <a:ln w="28575">
              <a:solidFill>
                <a:srgbClr val="1875A5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1875A5"/>
              </a:solidFill>
            </c:spPr>
          </c:marker>
          <c:cat>
            <c:numRef>
              <c:f>'Chart Data'!$A$2:$A$11</c:f>
              <c:numCache>
                <c:formatCode>General</c:formatCode>
                <c:ptCount val="10"/>
                <c:pt idx="0">
                  <c:v>0</c:v>
                </c:pt>
                <c:pt idx="1">
                  <c:v>0.5</c:v>
                </c:pt>
                <c:pt idx="2">
                  <c:v>1</c:v>
                </c:pt>
                <c:pt idx="3">
                  <c:v>1.5</c:v>
                </c:pt>
                <c:pt idx="4">
                  <c:v>2</c:v>
                </c:pt>
                <c:pt idx="5">
                  <c:v>2.5</c:v>
                </c:pt>
                <c:pt idx="6">
                  <c:v>3</c:v>
                </c:pt>
                <c:pt idx="7">
                  <c:v>3.5</c:v>
                </c:pt>
                <c:pt idx="8">
                  <c:v>4</c:v>
                </c:pt>
                <c:pt idx="9">
                  <c:v>4.5</c:v>
                </c:pt>
              </c:numCache>
            </c:numRef>
          </c:cat>
          <c:val>
            <c:numRef>
              <c:f>'Chart Data'!$B$2:$B$11</c:f>
              <c:numCache>
                <c:formatCode>General</c:formatCode>
                <c:ptCount val="10"/>
                <c:pt idx="0">
                  <c:v>0</c:v>
                </c:pt>
                <c:pt idx="1">
                  <c:v>-0.58799999999999997</c:v>
                </c:pt>
                <c:pt idx="2">
                  <c:v>0.95099999999999996</c:v>
                </c:pt>
                <c:pt idx="3">
                  <c:v>-0.95099999999999996</c:v>
                </c:pt>
                <c:pt idx="4">
                  <c:v>0.58799999999999997</c:v>
                </c:pt>
                <c:pt idx="5">
                  <c:v>0</c:v>
                </c:pt>
                <c:pt idx="6">
                  <c:v>-0.58799999999999997</c:v>
                </c:pt>
                <c:pt idx="7">
                  <c:v>0.95099999999999996</c:v>
                </c:pt>
                <c:pt idx="8">
                  <c:v>-0.95099999999999996</c:v>
                </c:pt>
                <c:pt idx="9">
                  <c:v>0.58799999999999997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973-4B01-AA67-F7CEBCD5CAB1}"/>
            </c:ext>
          </c:extLst>
        </c:ser>
        <c:ser>
          <c:idx val="1"/>
          <c:order val="1"/>
          <c:tx>
            <c:v>0,8 kHz ters faz örnekleri</c:v>
          </c:tx>
          <c:spPr>
            <a:ln w="28575">
              <a:solidFill>
                <a:srgbClr val="B3403B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B3403B"/>
              </a:solidFill>
            </c:spPr>
          </c:marker>
          <c:cat>
            <c:numRef>
              <c:f>'Chart Data'!$C$2:$C$11</c:f>
              <c:numCache>
                <c:formatCode>General</c:formatCode>
                <c:ptCount val="10"/>
                <c:pt idx="0">
                  <c:v>0</c:v>
                </c:pt>
                <c:pt idx="1">
                  <c:v>0.5</c:v>
                </c:pt>
                <c:pt idx="2">
                  <c:v>1</c:v>
                </c:pt>
                <c:pt idx="3">
                  <c:v>1.5</c:v>
                </c:pt>
                <c:pt idx="4">
                  <c:v>2</c:v>
                </c:pt>
                <c:pt idx="5">
                  <c:v>2.5</c:v>
                </c:pt>
                <c:pt idx="6">
                  <c:v>3</c:v>
                </c:pt>
                <c:pt idx="7">
                  <c:v>3.5</c:v>
                </c:pt>
                <c:pt idx="8">
                  <c:v>4</c:v>
                </c:pt>
                <c:pt idx="9">
                  <c:v>4.5</c:v>
                </c:pt>
              </c:numCache>
            </c:numRef>
          </c:cat>
          <c:val>
            <c:numRef>
              <c:f>'Chart Data'!$D$2:$D$11</c:f>
              <c:numCache>
                <c:formatCode>General</c:formatCode>
                <c:ptCount val="10"/>
                <c:pt idx="0">
                  <c:v>0</c:v>
                </c:pt>
                <c:pt idx="1">
                  <c:v>-0.58799999999999997</c:v>
                </c:pt>
                <c:pt idx="2">
                  <c:v>0.95099999999999996</c:v>
                </c:pt>
                <c:pt idx="3">
                  <c:v>-0.95099999999999996</c:v>
                </c:pt>
                <c:pt idx="4">
                  <c:v>0.58799999999999997</c:v>
                </c:pt>
                <c:pt idx="5">
                  <c:v>0</c:v>
                </c:pt>
                <c:pt idx="6">
                  <c:v>-0.58799999999999997</c:v>
                </c:pt>
                <c:pt idx="7">
                  <c:v>0.95099999999999996</c:v>
                </c:pt>
                <c:pt idx="8">
                  <c:v>-0.95099999999999996</c:v>
                </c:pt>
                <c:pt idx="9">
                  <c:v>0.58799999999999997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F973-4B01-AA67-F7CEBCD5CA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GB">
                    <a:latin typeface="Arial"/>
                    <a:ea typeface="Arial"/>
                    <a:cs typeface="Arial"/>
                  </a:rPr>
                  <a:t>Örnek anı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endParaRPr lang="tr-T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-1"/>
        </c:scaling>
        <c:delete val="0"/>
        <c:axPos val="l"/>
        <c:title>
          <c:tx>
            <c:rich>
              <a:bodyPr/>
              <a:lstStyle/>
              <a:p>
                <a:r>
                  <a:rPr lang="en-GB">
                    <a:latin typeface="Arial"/>
                    <a:ea typeface="Arial"/>
                    <a:cs typeface="Arial"/>
                  </a:rPr>
                  <a:t>Genlik (V)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endParaRPr lang="tr-TR"/>
          </a:p>
        </c:txPr>
        <c:crossAx val="48650112"/>
        <c:crosses val="autoZero"/>
        <c:crossBetween val="between"/>
        <c:majorUnit val="0.5"/>
      </c:valAx>
      <c:spPr>
        <a:solidFill>
          <a:srgbClr val="FFFFFF"/>
        </a:solidFill>
      </c:spPr>
    </c:plotArea>
    <c:legend>
      <c:legendPos val="b"/>
      <c:layout/>
      <c:overlay val="0"/>
      <c:txPr>
        <a:bodyPr anchorCtr="1"/>
        <a:lstStyle/>
        <a:p>
          <a:pPr>
            <a:defRPr sz="1275">
              <a:solidFill>
                <a:srgbClr val="162C3C"/>
              </a:solidFill>
              <a:latin typeface="Arial"/>
              <a:ea typeface="Arial"/>
              <a:cs typeface="Arial"/>
            </a:defRPr>
          </a:pPr>
          <a:endParaRPr lang="tr-TR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tr-T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Tek kapı, iç dinamik güç</c:v>
          </c:tx>
          <c:spPr>
            <a:solidFill>
              <a:srgbClr val="1875A5"/>
            </a:solidFill>
          </c:spPr>
          <c:invertIfNegative val="1"/>
          <c:cat>
            <c:strRef>
              <c:f>'Chart Data'!$A$2:$A$5</c:f>
              <c:strCache>
                <c:ptCount val="4"/>
                <c:pt idx="0">
                  <c:v>0,1 MHz</c:v>
                </c:pt>
                <c:pt idx="1">
                  <c:v>1 MHz</c:v>
                </c:pt>
                <c:pt idx="2">
                  <c:v>5 MHz</c:v>
                </c:pt>
                <c:pt idx="3">
                  <c:v>10 MHz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0.05</c:v>
                </c:pt>
                <c:pt idx="1">
                  <c:v>0.5</c:v>
                </c:pt>
                <c:pt idx="2">
                  <c:v>2.5</c:v>
                </c:pt>
                <c:pt idx="3">
                  <c:v>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0BE-4248-A43E-941A50947D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endParaRPr lang="tr-T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GB">
                    <a:latin typeface="Arial"/>
                    <a:ea typeface="Arial"/>
                    <a:cs typeface="Arial"/>
                  </a:rPr>
                  <a:t>mW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endParaRPr lang="tr-TR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layout/>
      <c:overlay val="0"/>
      <c:txPr>
        <a:bodyPr anchorCtr="1"/>
        <a:lstStyle/>
        <a:p>
          <a:pPr>
            <a:defRPr sz="1275">
              <a:solidFill>
                <a:srgbClr val="162C3C"/>
              </a:solidFill>
              <a:latin typeface="Arial"/>
              <a:ea typeface="Arial"/>
              <a:cs typeface="Arial"/>
            </a:defRPr>
          </a:pPr>
          <a:endParaRPr lang="tr-TR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tr-T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VIH(min)</c:v>
          </c:tx>
          <c:spPr>
            <a:solidFill>
              <a:srgbClr val="1875A5"/>
            </a:solidFill>
          </c:spPr>
          <c:invertIfNegative val="1"/>
          <c:cat>
            <c:strRef>
              <c:f>'Chart Data'!$A$2:$A$4</c:f>
              <c:strCache>
                <c:ptCount val="3"/>
                <c:pt idx="0">
                  <c:v>VCC = 2 V</c:v>
                </c:pt>
                <c:pt idx="1">
                  <c:v>VCC = 4,5 V</c:v>
                </c:pt>
                <c:pt idx="2">
                  <c:v>VCC = 6 V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1.5</c:v>
                </c:pt>
                <c:pt idx="1">
                  <c:v>3.15</c:v>
                </c:pt>
                <c:pt idx="2">
                  <c:v>4.2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B28-45A7-8CE1-7305EF1F8C9D}"/>
            </c:ext>
          </c:extLst>
        </c:ser>
        <c:ser>
          <c:idx val="1"/>
          <c:order val="1"/>
          <c:tx>
            <c:v>VIL(max)</c:v>
          </c:tx>
          <c:spPr>
            <a:solidFill>
              <a:srgbClr val="087E82"/>
            </a:solidFill>
          </c:spPr>
          <c:invertIfNegative val="1"/>
          <c:cat>
            <c:strRef>
              <c:f>'Chart Data'!$C$2:$C$4</c:f>
              <c:strCache>
                <c:ptCount val="3"/>
                <c:pt idx="0">
                  <c:v>VCC = 2 V</c:v>
                </c:pt>
                <c:pt idx="1">
                  <c:v>VCC = 4,5 V</c:v>
                </c:pt>
                <c:pt idx="2">
                  <c:v>VCC = 6 V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0.5</c:v>
                </c:pt>
                <c:pt idx="1">
                  <c:v>1.35</c:v>
                </c:pt>
                <c:pt idx="2">
                  <c:v>1.8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CB28-45A7-8CE1-7305EF1F8C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endParaRPr lang="tr-T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5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GB">
                    <a:latin typeface="Arial"/>
                    <a:ea typeface="Arial"/>
                    <a:cs typeface="Arial"/>
                  </a:rPr>
                  <a:t>Giriş gerilimi (V)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endParaRPr lang="tr-TR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275">
              <a:solidFill>
                <a:srgbClr val="162C3C"/>
              </a:solidFill>
              <a:latin typeface="Arial"/>
              <a:ea typeface="Arial"/>
              <a:cs typeface="Arial"/>
            </a:defRPr>
          </a:pPr>
          <a:endParaRPr lang="tr-TR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tr-T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Tipik tpd, 25 °C</c:v>
          </c:tx>
          <c:spPr>
            <a:solidFill>
              <a:srgbClr val="1875A5"/>
            </a:solidFill>
          </c:spPr>
          <c:invertIfNegative val="1"/>
          <c:cat>
            <c:strRef>
              <c:f>'Chart Data'!$A$2:$A$4</c:f>
              <c:strCache>
                <c:ptCount val="3"/>
                <c:pt idx="0">
                  <c:v>2 V</c:v>
                </c:pt>
                <c:pt idx="1">
                  <c:v>4,5 V</c:v>
                </c:pt>
                <c:pt idx="2">
                  <c:v>6 V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45</c:v>
                </c:pt>
                <c:pt idx="1">
                  <c:v>9</c:v>
                </c:pt>
                <c:pt idx="2">
                  <c:v>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F1A-4520-808C-5013FE06DCBC}"/>
            </c:ext>
          </c:extLst>
        </c:ser>
        <c:ser>
          <c:idx val="1"/>
          <c:order val="1"/>
          <c:tx>
            <c:v>Maks. tpd, −40…85 °C</c:v>
          </c:tx>
          <c:spPr>
            <a:solidFill>
              <a:srgbClr val="087E82"/>
            </a:solidFill>
          </c:spPr>
          <c:invertIfNegative val="1"/>
          <c:cat>
            <c:strRef>
              <c:f>'Chart Data'!$C$2:$C$4</c:f>
              <c:strCache>
                <c:ptCount val="3"/>
                <c:pt idx="0">
                  <c:v>2 V</c:v>
                </c:pt>
                <c:pt idx="1">
                  <c:v>4,5 V</c:v>
                </c:pt>
                <c:pt idx="2">
                  <c:v>6 V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115</c:v>
                </c:pt>
                <c:pt idx="1">
                  <c:v>23</c:v>
                </c:pt>
                <c:pt idx="2">
                  <c:v>20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BF1A-4520-808C-5013FE06DC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endParaRPr lang="tr-T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2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GB">
                    <a:latin typeface="Arial"/>
                    <a:ea typeface="Arial"/>
                    <a:cs typeface="Arial"/>
                  </a:rPr>
                  <a:t>Gecikme (ns)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endParaRPr lang="tr-TR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275">
              <a:solidFill>
                <a:srgbClr val="162C3C"/>
              </a:solidFill>
              <a:latin typeface="Arial"/>
              <a:ea typeface="Arial"/>
              <a:cs typeface="Arial"/>
            </a:defRPr>
          </a:pPr>
          <a:endParaRPr lang="tr-TR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Kaynak sunumdaki kapsam korunmuştur: analog/sayısal işaretler, ADC/DAC, RTL/DTL/TTL/CMOS, gerilim eşikleri, gürültü payı ve pozitif/negatif lojik.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Ders açılışında kısa ön test yapılabilir: 1,4 V TTL girişinin mantık değeri nedir? Yanıt: garanti yoktur.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Son örnek yalnızca varsayımsal ölçeklendirmedir; sensöre ait evrensel bir dönüştürme oranı değildir.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Görseldeki</a:t>
            </a:r>
            <a:r>
              <a:rPr dirty="0"/>
              <a:t> </a:t>
            </a:r>
            <a:r>
              <a:rPr dirty="0" err="1"/>
              <a:t>saatler</a:t>
            </a:r>
            <a:r>
              <a:rPr dirty="0"/>
              <a:t> </a:t>
            </a:r>
            <a:r>
              <a:rPr dirty="0" err="1"/>
              <a:t>kavramsal</a:t>
            </a:r>
            <a:r>
              <a:rPr dirty="0"/>
              <a:t> </a:t>
            </a:r>
            <a:r>
              <a:rPr dirty="0" err="1"/>
              <a:t>benzetmedir</a:t>
            </a:r>
            <a:r>
              <a:rPr dirty="0"/>
              <a:t>. </a:t>
            </a:r>
            <a:r>
              <a:rPr dirty="0" err="1"/>
              <a:t>Dijital</a:t>
            </a:r>
            <a:r>
              <a:rPr dirty="0"/>
              <a:t> </a:t>
            </a:r>
            <a:r>
              <a:rPr dirty="0" err="1"/>
              <a:t>saatte</a:t>
            </a:r>
            <a:r>
              <a:rPr dirty="0"/>
              <a:t> de </a:t>
            </a:r>
            <a:r>
              <a:rPr dirty="0" err="1"/>
              <a:t>fiziksel</a:t>
            </a:r>
            <a:r>
              <a:rPr dirty="0"/>
              <a:t> </a:t>
            </a:r>
            <a:r>
              <a:rPr dirty="0" err="1"/>
              <a:t>osilatör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analog </a:t>
            </a:r>
            <a:r>
              <a:rPr dirty="0" err="1"/>
              <a:t>elektrik</a:t>
            </a:r>
            <a:r>
              <a:rPr dirty="0"/>
              <a:t> </a:t>
            </a:r>
            <a:r>
              <a:rPr dirty="0" err="1"/>
              <a:t>geçişleri</a:t>
            </a:r>
            <a:r>
              <a:rPr dirty="0"/>
              <a:t> </a:t>
            </a:r>
            <a:r>
              <a:rPr dirty="0" err="1"/>
              <a:t>vardır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Şekil öğretim amacıyla üretilen kuramsal sinüs örneğidir. “Analog” terimi yalnızca sinüs dalgası demek değildir.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Kaynak: Analog Devices, ADALM2000 Activity: Analog-to-Digital Conversion (2022), https://www.analog.com/en/resources/analog-dialogue/studentzone/studentzone-february-2022.html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Yeşil</a:t>
            </a:r>
            <a:r>
              <a:rPr dirty="0"/>
              <a:t> </a:t>
            </a:r>
            <a:r>
              <a:rPr dirty="0" err="1"/>
              <a:t>eğri</a:t>
            </a:r>
            <a:r>
              <a:rPr dirty="0"/>
              <a:t> ile </a:t>
            </a:r>
            <a:r>
              <a:rPr dirty="0" err="1"/>
              <a:t>mavi</a:t>
            </a:r>
            <a:r>
              <a:rPr dirty="0"/>
              <a:t> </a:t>
            </a:r>
            <a:r>
              <a:rPr dirty="0" err="1"/>
              <a:t>basamak</a:t>
            </a:r>
            <a:r>
              <a:rPr dirty="0"/>
              <a:t> </a:t>
            </a:r>
            <a:r>
              <a:rPr dirty="0" err="1"/>
              <a:t>farkını</a:t>
            </a:r>
            <a:r>
              <a:rPr dirty="0"/>
              <a:t> </a:t>
            </a:r>
            <a:r>
              <a:rPr dirty="0" err="1"/>
              <a:t>sor</a:t>
            </a:r>
            <a:r>
              <a:rPr dirty="0"/>
              <a:t>. </a:t>
            </a:r>
            <a:r>
              <a:rPr dirty="0" err="1"/>
              <a:t>Görsel</a:t>
            </a:r>
            <a:r>
              <a:rPr dirty="0"/>
              <a:t> </a:t>
            </a:r>
            <a:r>
              <a:rPr dirty="0" err="1"/>
              <a:t>şematiktir</a:t>
            </a:r>
            <a:r>
              <a:rPr dirty="0"/>
              <a:t>, </a:t>
            </a:r>
            <a:r>
              <a:rPr dirty="0" err="1"/>
              <a:t>gerçek</a:t>
            </a:r>
            <a:r>
              <a:rPr dirty="0"/>
              <a:t> ADC </a:t>
            </a:r>
            <a:r>
              <a:rPr dirty="0" err="1"/>
              <a:t>aktarımı</a:t>
            </a:r>
            <a:r>
              <a:rPr dirty="0"/>
              <a:t> </a:t>
            </a:r>
            <a:r>
              <a:rPr dirty="0" err="1"/>
              <a:t>değildir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Kaynak: Analog Devices, ADALM2000 Activity: Analog-to-Digital Conversion (2022), https://www.analog.com/en/resources/analog-dialogue/studentzone/studentzone-february-2022.html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Kaynak: Analog Devices, ADALM2000 Activity: Analog-to-Digital Conversion (2022), https://www.analog.com/en/resources/analog-dialogue/studentzone/studentzone-february-2022.html</a:t>
            </a:r>
          </a:p>
          <a:p>
            <a:r>
              <a:t>Öğretim modeli: 0–8 V aralığında 8 adet 1 V genişlikli kutu, alt kenara karşılık gelen kod. Gerçek ADC aktarım işlevi modele göre değişebilir.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Kaynak: Analog Devices, ADALM2000 Activity: Analog-to-Digital Conversion (2022), https://www.analog.com/en/resources/analog-dialogue/studentzone/studentzone-february-2022.html</a:t>
            </a:r>
          </a:p>
          <a:p>
            <a:r>
              <a:t>Grafik 0–8 V / 3 bit ve alt kenar temsil modeliyle tam sayı aralıkları gösterir.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Kaynak: Analog Devices, ADALM2000 Activity: Analog-to-Digital Conversion (2022), https://www.analog.com/en/resources/analog-dialogue/studentzone/studentzone-february-2022.html</a:t>
            </a:r>
          </a:p>
          <a:p>
            <a:r>
              <a:t>Kullanılan eşleme yuvarlama değil, her 1 V aralığın alt kenarını temsil eden truncation modelidir. İdeal orta nokta temsili kullanılırsa hata sınırı ±0,5 LSB olur.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Kaynak: Analog Devices, ADALM2000 Activity: Analog-to-Digital Conversion (2022), https://www.analog.com/en/resources/analog-dialogue/studentzone/studentzone-february-2022.html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Kaynak: Analog Devices, ADALM2000 Activity: Analog-to-Digital Conversion (2022), https://www.analog.com/en/resources/analog-dialogue/studentzone/studentzone-february-2022.html</a:t>
            </a:r>
          </a:p>
          <a:p>
            <a:r>
              <a:t>Öğrencilere sor: 2 kHz ile örneklenen 1,2 kHz bileşenin görünen frekansı nedir? |1,2−2| = 0,8 kHz. Band sınırlı ideal sinyaller için f_s &gt; 2 f_max; pratik filtre geçiş bandı payı bırakılır.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Kaynak: Analog Devices, ADALM2000 Activity: Analog-to-Digital Conversion (2022), https://www.analog.com/en/resources/analog-dialogue/studentzone/studentzone-february-2022.html</a:t>
            </a:r>
          </a:p>
          <a:p>
            <a:r>
              <a:t>Frekanslar ve faz bu öğretim örneğine özgüdür; Nyquist koşulu ve bant sınırlama tartışması için kullanın.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Kaynak: Analog Devices, ADALM2000 Activity: Analog-to-Digital Conversion (2022), https://www.analog.com/en/resources/analog-dialogue/studentzone/studentzone-february-2022.html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Görsel</a:t>
            </a:r>
            <a:r>
              <a:rPr dirty="0"/>
              <a:t> </a:t>
            </a:r>
            <a:r>
              <a:rPr dirty="0" err="1"/>
              <a:t>şematiktir</a:t>
            </a:r>
            <a:r>
              <a:rPr dirty="0"/>
              <a:t>. Kaynak: Analog Devices, ADALM2000 Activity: Analog-to-Digital Conversion (2022), https://www.analog.com/en/resources/analog-dialogue/studentzone/studentzone-february-2022.html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Kaynak: Analog Devices, ADALM2000 Activity: Analog-to-Digital Conversion (2022), https://www.analog.com/en/resources/analog-dialogue/studentzone/studentzone-february-2022.html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Yanıtlar: (1) analog gerilim; (2) zamanda ayrık, genlikte sürekli; (3) sayısal kod; (4) fiziksel gerilim sürekli geçiş içerir, mantık kararı iki değerlidir.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Kaynak: Texas Instruments, SN74LS04 Hex Inverters datasheet, https://www.ti.com/lit/ds/symlink/sn74ls04.pdf</a:t>
            </a:r>
          </a:p>
          <a:p>
            <a:r>
              <a:t>Kaynak: Texas Instruments, SN74HC00 datasheet, https://www.ti.com/lit/ds/symlink/sn74hc00.pdf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 tablo ailelerin yapısını yüksek düzeyde ayırır; tüm alt türlerin elektrik özellikleri veri sayfasından okunur.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Kaynak: Texas Instruments, SN7400/SN74LS00 Quadruple 2-Input NAND Gates, https://www.ti.com/lit/ds/symlink/sn7400.pdf</a:t>
            </a:r>
          </a:p>
          <a:p>
            <a:r>
              <a:t>MIN/TYP/MAX ve test koşulu birlikte okunmalıdır. Absolute Maximum Ratings bölümündeki sınırlar önerilen çalışma koşulu değildir.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Üzerindeki</a:t>
            </a:r>
            <a:r>
              <a:rPr dirty="0"/>
              <a:t> </a:t>
            </a:r>
            <a:r>
              <a:rPr dirty="0" err="1"/>
              <a:t>tipik</a:t>
            </a:r>
            <a:r>
              <a:rPr dirty="0"/>
              <a:t> </a:t>
            </a:r>
            <a:r>
              <a:rPr dirty="0" err="1"/>
              <a:t>gerilimleri</a:t>
            </a:r>
            <a:r>
              <a:rPr dirty="0"/>
              <a:t> yeni </a:t>
            </a:r>
            <a:r>
              <a:rPr dirty="0" err="1"/>
              <a:t>cihazlar</a:t>
            </a:r>
            <a:r>
              <a:rPr dirty="0"/>
              <a:t> </a:t>
            </a:r>
            <a:r>
              <a:rPr dirty="0" err="1"/>
              <a:t>için</a:t>
            </a:r>
            <a:r>
              <a:rPr dirty="0"/>
              <a:t> </a:t>
            </a:r>
            <a:r>
              <a:rPr dirty="0" err="1"/>
              <a:t>garanti</a:t>
            </a:r>
            <a:r>
              <a:rPr dirty="0"/>
              <a:t> </a:t>
            </a:r>
            <a:r>
              <a:rPr dirty="0" err="1"/>
              <a:t>değeri</a:t>
            </a:r>
            <a:r>
              <a:rPr dirty="0"/>
              <a:t> </a:t>
            </a:r>
            <a:r>
              <a:rPr dirty="0" err="1"/>
              <a:t>olarak</a:t>
            </a:r>
            <a:r>
              <a:rPr dirty="0"/>
              <a:t> </a:t>
            </a:r>
            <a:r>
              <a:rPr dirty="0" err="1"/>
              <a:t>kullanmayın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Kaynak: Texas Instruments, SN7400/SN74LS00 Quadruple 2-Input NAND Gates, https://www.ti.com/lit/ds/symlink/sn7400.pdf</a:t>
            </a:r>
          </a:p>
          <a:p>
            <a:r>
              <a:t>İki sürüm aynı NAND işlemini yapar; tabloda gerilim, akım ve ölçüm koşulları ayrı okunur. Düşük düzey çıkış akımı iki sütunda farklıdır.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Kaynak: Texas Instruments, SN74LS04 Hex Inverters datasheet, https://www.ti.com/lit/ds/symlink/sn74ls04.pdf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Kaynak: Texas Instruments, SN74HC00 datasheet, https://www.ti.com/lit/ds/symlink/sn74hc00.pdf</a:t>
            </a:r>
          </a:p>
          <a:p>
            <a:r>
              <a:t>Üçüncü ve dördüncü satır model açıklamasıdır. Bir sonraki slayttaki Cpd hesabı tipik ve yüksüz bir yaklaşım verir.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NAND </a:t>
            </a:r>
            <a:r>
              <a:rPr dirty="0" err="1"/>
              <a:t>doğruluk</a:t>
            </a:r>
            <a:r>
              <a:rPr dirty="0"/>
              <a:t> </a:t>
            </a:r>
            <a:r>
              <a:rPr dirty="0" err="1"/>
              <a:t>tablosu</a:t>
            </a:r>
            <a:r>
              <a:rPr dirty="0"/>
              <a:t> </a:t>
            </a:r>
            <a:r>
              <a:rPr dirty="0" err="1"/>
              <a:t>sonraki</a:t>
            </a:r>
            <a:r>
              <a:rPr dirty="0"/>
              <a:t> </a:t>
            </a:r>
            <a:r>
              <a:rPr dirty="0" err="1"/>
              <a:t>hafta</a:t>
            </a:r>
            <a:r>
              <a:rPr dirty="0"/>
              <a:t> </a:t>
            </a:r>
            <a:r>
              <a:rPr dirty="0" err="1"/>
              <a:t>ayrıntılandırılabilir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Kaynak: Texas Instruments, SN74HC00 datasheet, https://www.ti.com/lit/ds/symlink/sn74hc00.pdf</a:t>
            </a:r>
          </a:p>
          <a:p>
            <a:r>
              <a:t>Kaynak: Texas Instruments, CMOS Power Consumption and Cpd Calculation, https://www.ti.com/lit/an/scaa035b/scaa035b.pdf</a:t>
            </a:r>
          </a:p>
          <a:p>
            <a:r>
              <a:t>Tek NAND kapısının iç anahtarlama gücü için öğretim hesabı. Bu değerler garanti edilmiş toplam devre gücü değildir; CL ve statik güç ayrıca eklenir.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Kaynak: Texas Instruments, SN74HC00 datasheet, https://www.ti.com/lit/ds/symlink/sn74hc00.pdf</a:t>
            </a:r>
          </a:p>
          <a:p>
            <a:r>
              <a:t>Texas Instruments datasheet, Input Considerations ve Layout Guidelines: unused inputs VCC veya GND, unused outputs floating kalabilir.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Kaynak: Texas Instruments, SN74LS04 Hex Inverters datasheet, https://www.ti.com/lit/ds/symlink/sn74ls04.pdf</a:t>
            </a:r>
          </a:p>
          <a:p>
            <a:r>
              <a:t>Kaynak: Texas Instruments, SN74HC00 datasheet, https://www.ti.com/lit/ds/symlink/sn74hc00.pdf</a:t>
            </a:r>
          </a:p>
          <a:p>
            <a:r>
              <a:t>Kaynak: Texas Instruments, SN74HCT00 datasheet, https://www.ti.com/lit/ds/symlink/sn74hct00.pdf</a:t>
            </a:r>
          </a:p>
          <a:p>
            <a:r>
              <a:t>4000 serisi için tek bir VCC aralığı vermekten kaçınılmıştır; parça bazında veri sayfasına bakılmalıdır.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Kaynak: Texas Instruments, SN74HC00 datasheet, https://www.ti.com/lit/ds/symlink/sn74hc00.pdf</a:t>
            </a:r>
          </a:p>
          <a:p>
            <a:r>
              <a:t>SN74HC00 Recommended Operating Conditions: VCC 2/4.5/6 V, VIH(min) 1.5/3.15/4.2 V, VIL(max) 0.5/1.35/1.8 V. Ara noktalarda doğrusal garanti çıkarılmamalıdır.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Kaynak: Texas Instruments, SN74LS04 Hex Inverters datasheet, https://www.ti.com/lit/ds/symlink/sn74ls04.pdf</a:t>
            </a:r>
          </a:p>
          <a:p>
            <a:r>
              <a:t>SN74HC04 ayrı veri sayfasındadır; son cümle aile farkının öğretim özeti olarak kullanılır.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Kaynak görseller orijinal sunumun 24. slaydındandır. SN7400N TTL ve SN74HC00N CMOS fiziksel paketleridir. Paket görünüşü elektrik uyumluluğunu kanıtlamaz.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Kaynak: Texas Instruments, SN74HC00 datasheet, https://www.ti.com/lit/ds/symlink/sn74hc00.pdf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Kaynak: Texas Instruments, SN74LS04 Hex Inverters datasheet, https://www.ti.com/lit/ds/symlink/sn74ls04.pdf</a:t>
            </a:r>
          </a:p>
          <a:p>
            <a:r>
              <a:t>Kaynak: Texas Instruments, SN74HC00 datasheet, https://www.ti.com/lit/ds/symlink/sn74hc00.pdf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Kaynak: Texas Instruments, SN74HC00 datasheet, https://www.ti.com/lit/ds/symlink/sn74hc00.pdf</a:t>
            </a:r>
          </a:p>
          <a:p>
            <a:r>
              <a:t>Ticari 74xx, −40°C...85°C için değerler. VOH hafif yük IOH −20µA; yüksek yük IOH −4mA. VOL hafif IOL20µA; yüksek IOL4mA. NM hesapları aynı ailenin alıcısı ve belirtilen yük varsayımıyla yapılır.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Çizimdeki</a:t>
            </a:r>
            <a:r>
              <a:rPr dirty="0"/>
              <a:t> 5 V </a:t>
            </a:r>
            <a:r>
              <a:rPr dirty="0" err="1"/>
              <a:t>besleme</a:t>
            </a:r>
            <a:r>
              <a:rPr dirty="0"/>
              <a:t> </a:t>
            </a:r>
            <a:r>
              <a:rPr dirty="0" err="1"/>
              <a:t>bir</a:t>
            </a:r>
            <a:r>
              <a:rPr dirty="0"/>
              <a:t> </a:t>
            </a:r>
            <a:r>
              <a:rPr dirty="0" err="1"/>
              <a:t>örnektir</a:t>
            </a:r>
            <a:r>
              <a:rPr dirty="0"/>
              <a:t>; </a:t>
            </a:r>
            <a:r>
              <a:rPr dirty="0" err="1"/>
              <a:t>sayısal</a:t>
            </a:r>
            <a:r>
              <a:rPr dirty="0"/>
              <a:t> </a:t>
            </a:r>
            <a:r>
              <a:rPr dirty="0" err="1"/>
              <a:t>sınırları</a:t>
            </a:r>
            <a:r>
              <a:rPr dirty="0"/>
              <a:t> </a:t>
            </a:r>
            <a:r>
              <a:rPr dirty="0" err="1"/>
              <a:t>seçilen</a:t>
            </a:r>
            <a:r>
              <a:rPr dirty="0"/>
              <a:t> </a:t>
            </a:r>
            <a:r>
              <a:rPr dirty="0" err="1"/>
              <a:t>veri</a:t>
            </a:r>
            <a:r>
              <a:rPr dirty="0"/>
              <a:t> </a:t>
            </a:r>
            <a:r>
              <a:rPr dirty="0" err="1"/>
              <a:t>sayfası</a:t>
            </a:r>
            <a:r>
              <a:rPr dirty="0"/>
              <a:t> </a:t>
            </a:r>
            <a:r>
              <a:rPr dirty="0" err="1"/>
              <a:t>belirler</a:t>
            </a:r>
            <a:r>
              <a:rPr dirty="0"/>
              <a:t>. Kaynak: Texas Instruments, SN74LS04 Hex Inverters datasheet, https://www.ti.com/lit/ds/symlink/sn74ls04.pdf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Kaynak: Texas Instruments, SN74LS04 Hex Inverters datasheet, https://www.ti.com/lit/ds/symlink/sn74ls04.pdf</a:t>
            </a:r>
          </a:p>
          <a:p>
            <a:r>
              <a:t>Belirsiz bölge, ayrı bir üçüncü mantık değeri olarak tasarlanmamıştır.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Kaynak: Texas Instruments, SN74LS04 Hex Inverters datasheet, https://www.ti.com/lit/ds/symlink/sn74ls04.pdf</a:t>
            </a:r>
          </a:p>
          <a:p>
            <a:r>
              <a:t>Kaynak: Texas Instruments, SN74HC00 datasheet, https://www.ti.com/lit/ds/symlink/sn74hc00.pdf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Kaynak: Texas Instruments, SN74LS04 Hex Inverters datasheet, https://www.ti.com/lit/ds/symlink/sn74ls04.pdf</a:t>
            </a:r>
          </a:p>
          <a:p>
            <a:r>
              <a:t>SN74LS04 ticari sürüm için VOH minimum 2.7 V, IOH=-0.4 mA; VOL maksimum 0.4 V, IOL=4 mA. Bu iki yük durumu ayrı lojik durumları tanımlar.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Kaynak: Texas Instruments, SN74LS04 Hex Inverters datasheet, https://www.ti.com/lit/ds/symlink/sn74ls04.pdf</a:t>
            </a:r>
          </a:p>
          <a:p>
            <a:r>
              <a:t>Kaynak: Texas Instruments, SN74HC00 datasheet, https://www.ti.com/lit/ds/symlink/sn74hc00.pdf</a:t>
            </a:r>
          </a:p>
          <a:p>
            <a:r>
              <a:t>Örnek, her cihazın izin verilen besleme aralığında olduğu sınır koşullarını karşılaştırır. Negatif pay, her fiziksel bağlantının mutlaka hata vereceği anlamına gelmez.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Kaynak: Texas Instruments, SN74LS04 Hex Inverters datasheet, https://www.ti.com/lit/ds/symlink/sn74ls04.pdf</a:t>
            </a:r>
          </a:p>
          <a:p>
            <a:r>
              <a:t>Kaynak: Texas Instruments, SN74HCT00 datasheet, https://www.ti.com/lit/ds/symlink/sn74hct00.pdf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Kaynak: Texas Instruments, SN74HC00 datasheet, https://www.ti.com/lit/ds/symlink/sn74hc00.pdf</a:t>
            </a:r>
          </a:p>
          <a:p>
            <a:r>
              <a:rPr dirty="0"/>
              <a:t>TI SN74HC00, Switching Characteristics (Commercial). VCC 2/4.5/6 V </a:t>
            </a:r>
            <a:r>
              <a:rPr dirty="0" err="1"/>
              <a:t>için</a:t>
            </a:r>
            <a:r>
              <a:rPr dirty="0"/>
              <a:t> </a:t>
            </a:r>
            <a:r>
              <a:rPr dirty="0" err="1"/>
              <a:t>tipik</a:t>
            </a:r>
            <a:r>
              <a:rPr dirty="0"/>
              <a:t> 45/9/8 ns; </a:t>
            </a:r>
            <a:r>
              <a:rPr dirty="0" err="1"/>
              <a:t>ticari</a:t>
            </a:r>
            <a:r>
              <a:rPr dirty="0"/>
              <a:t> </a:t>
            </a:r>
            <a:r>
              <a:rPr dirty="0" err="1"/>
              <a:t>sıcaklık</a:t>
            </a:r>
            <a:r>
              <a:rPr dirty="0"/>
              <a:t> </a:t>
            </a:r>
            <a:r>
              <a:rPr dirty="0" err="1"/>
              <a:t>aralığında</a:t>
            </a:r>
            <a:r>
              <a:rPr dirty="0"/>
              <a:t> </a:t>
            </a:r>
            <a:r>
              <a:rPr dirty="0" err="1"/>
              <a:t>maksimum</a:t>
            </a:r>
            <a:r>
              <a:rPr dirty="0"/>
              <a:t> 115/23/20 ns. Test </a:t>
            </a:r>
            <a:r>
              <a:rPr dirty="0" err="1"/>
              <a:t>devresi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giriş</a:t>
            </a:r>
            <a:r>
              <a:rPr dirty="0"/>
              <a:t> </a:t>
            </a:r>
            <a:r>
              <a:rPr dirty="0" err="1"/>
              <a:t>geçiş</a:t>
            </a:r>
            <a:r>
              <a:rPr dirty="0"/>
              <a:t> </a:t>
            </a:r>
            <a:r>
              <a:rPr dirty="0" err="1"/>
              <a:t>süreleri</a:t>
            </a:r>
            <a:r>
              <a:rPr dirty="0"/>
              <a:t> </a:t>
            </a:r>
            <a:r>
              <a:rPr dirty="0" err="1"/>
              <a:t>için</a:t>
            </a:r>
            <a:r>
              <a:rPr dirty="0"/>
              <a:t> </a:t>
            </a:r>
            <a:r>
              <a:rPr dirty="0" err="1"/>
              <a:t>veri</a:t>
            </a:r>
            <a:r>
              <a:rPr dirty="0"/>
              <a:t> </a:t>
            </a:r>
            <a:r>
              <a:rPr dirty="0" err="1"/>
              <a:t>sayfası</a:t>
            </a:r>
            <a:r>
              <a:rPr dirty="0"/>
              <a:t> </a:t>
            </a:r>
            <a:r>
              <a:rPr dirty="0" err="1"/>
              <a:t>ölçüm</a:t>
            </a:r>
            <a:r>
              <a:rPr dirty="0"/>
              <a:t> </a:t>
            </a:r>
            <a:r>
              <a:rPr dirty="0" err="1"/>
              <a:t>bölümünü</a:t>
            </a:r>
            <a:r>
              <a:rPr dirty="0"/>
              <a:t> </a:t>
            </a:r>
            <a:r>
              <a:rPr dirty="0" err="1"/>
              <a:t>okuyun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Kaynak: Texas Instruments, SN74LS04 Hex Inverters datasheet, https://www.ti.com/lit/ds/symlink/sn74ls04.pdf</a:t>
            </a:r>
          </a:p>
          <a:p>
            <a:r>
              <a:t>Ders hesabı yalnızca DC akım sınırlarını kullanır. Kapasitif yük, iletim gecikmesi ve toplam parazitler ayrıca sınırlar. IOL=4mA ile VOL&lt;=0.4V seçilmiştir.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Kaynak sunumun pozitif/negatif lojik tanımı. LOW her zaman tam 0 V, HIGH her zaman tam VCC değildir; eşik aralıkları esas alınır.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Orijinal</a:t>
            </a:r>
            <a:r>
              <a:rPr dirty="0"/>
              <a:t> </a:t>
            </a:r>
            <a:r>
              <a:rPr dirty="0" err="1"/>
              <a:t>sunumun</a:t>
            </a:r>
            <a:r>
              <a:rPr dirty="0"/>
              <a:t> 25. </a:t>
            </a:r>
            <a:r>
              <a:rPr dirty="0" err="1"/>
              <a:t>slaydındaki</a:t>
            </a:r>
            <a:r>
              <a:rPr dirty="0"/>
              <a:t> </a:t>
            </a:r>
            <a:r>
              <a:rPr dirty="0" err="1"/>
              <a:t>şematik</a:t>
            </a:r>
            <a:r>
              <a:rPr dirty="0"/>
              <a:t> </a:t>
            </a:r>
            <a:r>
              <a:rPr dirty="0" err="1"/>
              <a:t>örnek</a:t>
            </a:r>
            <a:r>
              <a:rPr dirty="0"/>
              <a:t>. 0 V </a:t>
            </a:r>
            <a:r>
              <a:rPr dirty="0" err="1"/>
              <a:t>ve</a:t>
            </a:r>
            <a:r>
              <a:rPr dirty="0"/>
              <a:t> +5 V </a:t>
            </a:r>
            <a:r>
              <a:rPr dirty="0" err="1"/>
              <a:t>örnek</a:t>
            </a:r>
            <a:r>
              <a:rPr dirty="0"/>
              <a:t> </a:t>
            </a:r>
            <a:r>
              <a:rPr dirty="0" err="1"/>
              <a:t>seviyelerdir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 isimlendirme konvansiyonel örnektir; belirli entegredeki işlev için veri sayfası okunmalıdır.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Kaynak: Texas Instruments, SN7400/SN74LS00 Quadruple 2-Input NAND Gates, https://www.ti.com/lit/ds/symlink/sn7400.pdf</a:t>
            </a:r>
          </a:p>
          <a:p>
            <a:r>
              <a:rPr dirty="0"/>
              <a:t>Kaynak: Texas Instruments, SN74LS04 Hex Inverters datasheet, https://www.ti.com/lit/ds/symlink/sn74ls04.pdf</a:t>
            </a:r>
          </a:p>
          <a:p>
            <a:r>
              <a:rPr dirty="0"/>
              <a:t>Kaynak: Texas Instruments, SN74HC00 datasheet, https://www.ti.com/lit/ds/symlink/sn74hc00.pdf</a:t>
            </a:r>
          </a:p>
          <a:p>
            <a:r>
              <a:rPr dirty="0"/>
              <a:t>Kaynak: Texas Instruments, SN74HCT00 datasheet, https://www.ti.com/lit/ds/symlink/sn74hct00.pdf</a:t>
            </a:r>
          </a:p>
          <a:p>
            <a:r>
              <a:rPr dirty="0"/>
              <a:t>Kaynak: Texas Instruments, CMOS Power Consumption and </a:t>
            </a:r>
            <a:r>
              <a:rPr dirty="0" err="1"/>
              <a:t>Cpd</a:t>
            </a:r>
            <a:r>
              <a:rPr dirty="0"/>
              <a:t> Calculation, https://www.ti.com/lit/an/scaa035b/scaa035b.pdf</a:t>
            </a:r>
          </a:p>
          <a:p>
            <a:r>
              <a:rPr dirty="0"/>
              <a:t>Kaynak: Analog Devices, ADALM2000 Activity: Analog-to-Digital Conversion (2022), https://www.analog.com/en/resources/analog-dialogue/studentzone/studentzone-february-2022.html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i.com/lit/ds/symlink/sn7400.pdf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i.com/lit/ds/symlink/sn7400.pdf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i.com/lit/an/scaa035b/scaa035b.pdf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i.com/lit/ds/symlink/sn74hc00.pdf" TargetMode="Externa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i.com/lit/ds/symlink/sn74hc00.pdf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i.com/lit/ds/symlink/sn74hc00.pdf" TargetMode="Externa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">
            <a:extLst>
              <a:ext uri="{FF2B5EF4-FFF2-40B4-BE49-F238E27FC236}">
                <a16:creationId xmlns:a16="http://schemas.microsoft.com/office/drawing/2014/main" id="{9387609C-BB62-4A40-B9D6-19558AE58CE5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87630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4350" b="1">
                <a:solidFill>
                  <a:srgbClr val="08466E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8466E"/>
                </a:solidFill>
                <a:latin typeface="Arial"/>
                <a:ea typeface="Arial"/>
                <a:cs typeface="Arial"/>
              </a:rPr>
              <a:t>Mantık Devreleri</a:t>
            </a:r>
          </a:p>
        </p:txBody>
      </p:sp>
      <p:sp>
        <p:nvSpPr>
          <p:cNvPr id="2" name="metin">
            <a:extLst>
              <a:ext uri="{FF2B5EF4-FFF2-40B4-BE49-F238E27FC236}">
                <a16:creationId xmlns:a16="http://schemas.microsoft.com/office/drawing/2014/main" id="{A50873FD-D766-4F60-977D-C1E36DBC800B}"/>
              </a:ext>
            </a:extLst>
          </p:cNvPr>
          <p:cNvSpPr>
            <a:spLocks noGrp="1"/>
          </p:cNvSpPr>
          <p:nvPr/>
        </p:nvSpPr>
        <p:spPr>
          <a:xfrm>
            <a:off x="781050" y="3048000"/>
            <a:ext cx="100012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75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1. Hafta  |  İşaretler ve mantık ailelerine giriş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39350" y="427480"/>
            <a:ext cx="1381125" cy="1288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536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">
            <a:extLst>
              <a:ext uri="{FF2B5EF4-FFF2-40B4-BE49-F238E27FC236}">
                <a16:creationId xmlns:a16="http://schemas.microsoft.com/office/drawing/2014/main" id="{B9432F6C-B24F-4482-9577-5372FEE06BE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084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466E"/>
                </a:solidFill>
                <a:latin typeface="Arial"/>
                <a:ea typeface="Arial"/>
                <a:cs typeface="Arial"/>
              </a:rPr>
              <a:t>Bu hafta sonunda</a:t>
            </a:r>
          </a:p>
        </p:txBody>
      </p:sp>
      <p:sp>
        <p:nvSpPr>
          <p:cNvPr id="2" name="metin">
            <a:extLst>
              <a:ext uri="{FF2B5EF4-FFF2-40B4-BE49-F238E27FC236}">
                <a16:creationId xmlns:a16="http://schemas.microsoft.com/office/drawing/2014/main" id="{2BF664EE-710D-4399-878A-1A249E56A5F3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MANTIK DEVRELERİ  ·  DERS 1</a:t>
            </a:r>
          </a:p>
        </p:txBody>
      </p:sp>
      <p:sp>
        <p:nvSpPr>
          <p:cNvPr id="3" name="metin">
            <a:extLst>
              <a:ext uri="{FF2B5EF4-FFF2-40B4-BE49-F238E27FC236}">
                <a16:creationId xmlns:a16="http://schemas.microsoft.com/office/drawing/2014/main" id="{5F76AAAD-5E1A-431F-881D-4C994653477A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metin">
            <a:extLst>
              <a:ext uri="{FF2B5EF4-FFF2-40B4-BE49-F238E27FC236}">
                <a16:creationId xmlns:a16="http://schemas.microsoft.com/office/drawing/2014/main" id="{BD4E8697-889F-4FFD-8163-9BD75C5FC92D}"/>
              </a:ext>
            </a:extLst>
          </p:cNvPr>
          <p:cNvSpPr>
            <a:spLocks noGrp="1"/>
          </p:cNvSpPr>
          <p:nvPr/>
        </p:nvSpPr>
        <p:spPr>
          <a:xfrm>
            <a:off x="781050" y="1381125"/>
            <a:ext cx="104394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Bir işaretin zaman ve genlik eksenlerindeki sürekliliğini ayırt edebileceksiniz.</a:t>
            </a:r>
          </a:p>
        </p:txBody>
      </p:sp>
      <p:sp>
        <p:nvSpPr>
          <p:cNvPr id="5" name="metin">
            <a:extLst>
              <a:ext uri="{FF2B5EF4-FFF2-40B4-BE49-F238E27FC236}">
                <a16:creationId xmlns:a16="http://schemas.microsoft.com/office/drawing/2014/main" id="{EE1DE803-9475-417F-84D2-CAA59AB52220}"/>
              </a:ext>
            </a:extLst>
          </p:cNvPr>
          <p:cNvSpPr>
            <a:spLocks noGrp="1"/>
          </p:cNvSpPr>
          <p:nvPr/>
        </p:nvSpPr>
        <p:spPr>
          <a:xfrm>
            <a:off x="781050" y="2066925"/>
            <a:ext cx="104394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Örnekleme ile nicemlemeyi birbirinden ayırıp basit bir ADC kodu hesaplayabileceksiniz.</a:t>
            </a:r>
          </a:p>
        </p:txBody>
      </p:sp>
      <p:sp>
        <p:nvSpPr>
          <p:cNvPr id="6" name="metin">
            <a:extLst>
              <a:ext uri="{FF2B5EF4-FFF2-40B4-BE49-F238E27FC236}">
                <a16:creationId xmlns:a16="http://schemas.microsoft.com/office/drawing/2014/main" id="{67F1479F-194A-40F5-A155-7ED41A367AE1}"/>
              </a:ext>
            </a:extLst>
          </p:cNvPr>
          <p:cNvSpPr>
            <a:spLocks noGrp="1"/>
          </p:cNvSpPr>
          <p:nvPr/>
        </p:nvSpPr>
        <p:spPr>
          <a:xfrm>
            <a:off x="781050" y="2752725"/>
            <a:ext cx="104394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Bir veri sayfasından mantık eşikleri ve gürültü payını okuyabileceksiniz.</a:t>
            </a:r>
          </a:p>
        </p:txBody>
      </p:sp>
      <p:sp>
        <p:nvSpPr>
          <p:cNvPr id="7" name="metin">
            <a:extLst>
              <a:ext uri="{FF2B5EF4-FFF2-40B4-BE49-F238E27FC236}">
                <a16:creationId xmlns:a16="http://schemas.microsoft.com/office/drawing/2014/main" id="{73DB99F7-318A-41D4-99C6-702E10581AB8}"/>
              </a:ext>
            </a:extLst>
          </p:cNvPr>
          <p:cNvSpPr>
            <a:spLocks noGrp="1"/>
          </p:cNvSpPr>
          <p:nvPr/>
        </p:nvSpPr>
        <p:spPr>
          <a:xfrm>
            <a:off x="781050" y="3438525"/>
            <a:ext cx="104394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TTL ve CMOS bağlantısında uyumluluğu gerilim ve akım açısından sınayabileceksiniz.</a:t>
            </a:r>
          </a:p>
        </p:txBody>
      </p:sp>
    </p:spTree>
    <p:extLst>
      <p:ext uri="{BB962C8B-B14F-4D97-AF65-F5344CB8AC3E}">
        <p14:creationId xmlns:p14="http://schemas.microsoft.com/office/powerpoint/2010/main" val="1371238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">
            <a:extLst>
              <a:ext uri="{FF2B5EF4-FFF2-40B4-BE49-F238E27FC236}">
                <a16:creationId xmlns:a16="http://schemas.microsoft.com/office/drawing/2014/main" id="{AD8DF9A0-A88B-42CC-A529-E3CC04A8DCB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084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466E"/>
                </a:solidFill>
                <a:latin typeface="Arial"/>
                <a:ea typeface="Arial"/>
                <a:cs typeface="Arial"/>
              </a:rPr>
              <a:t>Fiziksel büyüklükten elektrik işaretine</a:t>
            </a:r>
          </a:p>
        </p:txBody>
      </p:sp>
      <p:sp>
        <p:nvSpPr>
          <p:cNvPr id="2" name="metin">
            <a:extLst>
              <a:ext uri="{FF2B5EF4-FFF2-40B4-BE49-F238E27FC236}">
                <a16:creationId xmlns:a16="http://schemas.microsoft.com/office/drawing/2014/main" id="{742023FB-0230-4A02-AAB7-3AD15AC8889A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MANTIK DEVRELERİ  ·  DERS 1</a:t>
            </a:r>
          </a:p>
        </p:txBody>
      </p:sp>
      <p:sp>
        <p:nvSpPr>
          <p:cNvPr id="3" name="metin">
            <a:extLst>
              <a:ext uri="{FF2B5EF4-FFF2-40B4-BE49-F238E27FC236}">
                <a16:creationId xmlns:a16="http://schemas.microsoft.com/office/drawing/2014/main" id="{00558A12-DC1E-4EE4-B4C6-981DFB942688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metin">
            <a:extLst>
              <a:ext uri="{FF2B5EF4-FFF2-40B4-BE49-F238E27FC236}">
                <a16:creationId xmlns:a16="http://schemas.microsoft.com/office/drawing/2014/main" id="{AE412AA0-3BC3-49EC-881D-FADB7D95A548}"/>
              </a:ext>
            </a:extLst>
          </p:cNvPr>
          <p:cNvSpPr>
            <a:spLocks noGrp="1"/>
          </p:cNvSpPr>
          <p:nvPr/>
        </p:nvSpPr>
        <p:spPr>
          <a:xfrm>
            <a:off x="781050" y="1381125"/>
            <a:ext cx="104394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Ölçülen büyüklük: sıcaklık, ses basıncı veya ışık şiddeti.</a:t>
            </a:r>
          </a:p>
        </p:txBody>
      </p:sp>
      <p:sp>
        <p:nvSpPr>
          <p:cNvPr id="5" name="metin">
            <a:extLst>
              <a:ext uri="{FF2B5EF4-FFF2-40B4-BE49-F238E27FC236}">
                <a16:creationId xmlns:a16="http://schemas.microsoft.com/office/drawing/2014/main" id="{A0F59DD2-4E71-47FF-9598-629BF0973597}"/>
              </a:ext>
            </a:extLst>
          </p:cNvPr>
          <p:cNvSpPr>
            <a:spLocks noGrp="1"/>
          </p:cNvSpPr>
          <p:nvPr/>
        </p:nvSpPr>
        <p:spPr>
          <a:xfrm>
            <a:off x="781050" y="2200275"/>
            <a:ext cx="104394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Algılayıcı çıkışı: bu büyüklüklerle ilişkili bir gerilim veya akım.</a:t>
            </a:r>
          </a:p>
        </p:txBody>
      </p:sp>
      <p:sp>
        <p:nvSpPr>
          <p:cNvPr id="6" name="metin">
            <a:extLst>
              <a:ext uri="{FF2B5EF4-FFF2-40B4-BE49-F238E27FC236}">
                <a16:creationId xmlns:a16="http://schemas.microsoft.com/office/drawing/2014/main" id="{796B41DB-5E8A-4B00-A53C-22985F68CBD0}"/>
              </a:ext>
            </a:extLst>
          </p:cNvPr>
          <p:cNvSpPr>
            <a:spLocks noGrp="1"/>
          </p:cNvSpPr>
          <p:nvPr/>
        </p:nvSpPr>
        <p:spPr>
          <a:xfrm>
            <a:off x="781050" y="3019425"/>
            <a:ext cx="104394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Devre içindeki bilgi: gerilimin değeri veya önceden tanımlı aralığı.</a:t>
            </a:r>
          </a:p>
        </p:txBody>
      </p:sp>
      <p:sp>
        <p:nvSpPr>
          <p:cNvPr id="7" name="metin">
            <a:extLst>
              <a:ext uri="{FF2B5EF4-FFF2-40B4-BE49-F238E27FC236}">
                <a16:creationId xmlns:a16="http://schemas.microsoft.com/office/drawing/2014/main" id="{69217E14-F94C-489F-87AA-C2F5E08E90A8}"/>
              </a:ext>
            </a:extLst>
          </p:cNvPr>
          <p:cNvSpPr>
            <a:spLocks noGrp="1"/>
          </p:cNvSpPr>
          <p:nvPr/>
        </p:nvSpPr>
        <p:spPr>
          <a:xfrm>
            <a:off x="781050" y="3838575"/>
            <a:ext cx="104394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Örnek: ısıtma sisteminde 0,60 V, 30 °C ölçümünü temsil edebilir.</a:t>
            </a:r>
          </a:p>
        </p:txBody>
      </p:sp>
    </p:spTree>
    <p:extLst>
      <p:ext uri="{BB962C8B-B14F-4D97-AF65-F5344CB8AC3E}">
        <p14:creationId xmlns:p14="http://schemas.microsoft.com/office/powerpoint/2010/main" val="805072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tin">
            <a:extLst>
              <a:ext uri="{FF2B5EF4-FFF2-40B4-BE49-F238E27FC236}">
                <a16:creationId xmlns:a16="http://schemas.microsoft.com/office/drawing/2014/main" id="{4632FE07-6C67-4328-912B-B6933124EB5D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084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466E"/>
                </a:solidFill>
                <a:latin typeface="Arial"/>
                <a:ea typeface="Arial"/>
                <a:cs typeface="Arial"/>
              </a:rPr>
              <a:t>Analog saat ve sayısal gösterge</a:t>
            </a:r>
          </a:p>
        </p:txBody>
      </p:sp>
      <p:sp>
        <p:nvSpPr>
          <p:cNvPr id="2" name="metin">
            <a:extLst>
              <a:ext uri="{FF2B5EF4-FFF2-40B4-BE49-F238E27FC236}">
                <a16:creationId xmlns:a16="http://schemas.microsoft.com/office/drawing/2014/main" id="{729A1338-31A6-4448-BAFD-9407D38526EC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MANTIK DEVRELERİ  ·  DERS 1</a:t>
            </a:r>
          </a:p>
        </p:txBody>
      </p:sp>
      <p:sp>
        <p:nvSpPr>
          <p:cNvPr id="3" name="metin">
            <a:extLst>
              <a:ext uri="{FF2B5EF4-FFF2-40B4-BE49-F238E27FC236}">
                <a16:creationId xmlns:a16="http://schemas.microsoft.com/office/drawing/2014/main" id="{4DD5DAF1-391F-4DBE-8C1B-D6ACF45D78B4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4850" y="1780421"/>
            <a:ext cx="5810250" cy="3325732"/>
          </a:xfrm>
          <a:prstGeom prst="rect">
            <a:avLst/>
          </a:prstGeom>
        </p:spPr>
      </p:pic>
      <p:sp>
        <p:nvSpPr>
          <p:cNvPr id="5" name="metin">
            <a:extLst>
              <a:ext uri="{FF2B5EF4-FFF2-40B4-BE49-F238E27FC236}">
                <a16:creationId xmlns:a16="http://schemas.microsoft.com/office/drawing/2014/main" id="{635D93C2-ACE4-4E50-B6DA-DF90B38907B0}"/>
              </a:ext>
            </a:extLst>
          </p:cNvPr>
          <p:cNvSpPr>
            <a:spLocks noGrp="1"/>
          </p:cNvSpPr>
          <p:nvPr/>
        </p:nvSpPr>
        <p:spPr>
          <a:xfrm>
            <a:off x="6858000" y="1666875"/>
            <a:ext cx="4476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1">
                <a:solidFill>
                  <a:srgbClr val="1875A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75A5"/>
                </a:solidFill>
                <a:latin typeface="Arial"/>
                <a:ea typeface="Arial"/>
                <a:cs typeface="Arial"/>
              </a:rPr>
              <a:t>İki gösterim</a:t>
            </a:r>
          </a:p>
        </p:txBody>
      </p:sp>
      <p:sp>
        <p:nvSpPr>
          <p:cNvPr id="6" name="metin">
            <a:extLst>
              <a:ext uri="{FF2B5EF4-FFF2-40B4-BE49-F238E27FC236}">
                <a16:creationId xmlns:a16="http://schemas.microsoft.com/office/drawing/2014/main" id="{00BD7E1E-AE41-458A-A1C0-BBE939310B72}"/>
              </a:ext>
            </a:extLst>
          </p:cNvPr>
          <p:cNvSpPr>
            <a:spLocks noGrp="1"/>
          </p:cNvSpPr>
          <p:nvPr/>
        </p:nvSpPr>
        <p:spPr>
          <a:xfrm>
            <a:off x="6858000" y="2533650"/>
            <a:ext cx="4572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Analog saatte ibrenin konumu sürekli değişir.</a:t>
            </a:r>
          </a:p>
        </p:txBody>
      </p:sp>
      <p:sp>
        <p:nvSpPr>
          <p:cNvPr id="7" name="metin">
            <a:extLst>
              <a:ext uri="{FF2B5EF4-FFF2-40B4-BE49-F238E27FC236}">
                <a16:creationId xmlns:a16="http://schemas.microsoft.com/office/drawing/2014/main" id="{C48D0091-E31A-4B54-9CD3-82D9AD58B6EA}"/>
              </a:ext>
            </a:extLst>
          </p:cNvPr>
          <p:cNvSpPr>
            <a:spLocks noGrp="1"/>
          </p:cNvSpPr>
          <p:nvPr/>
        </p:nvSpPr>
        <p:spPr>
          <a:xfrm>
            <a:off x="6858000" y="3543300"/>
            <a:ext cx="4572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Sayısal ekranda bilgi basamaklı sayılarla gösterilir.</a:t>
            </a:r>
          </a:p>
        </p:txBody>
      </p:sp>
      <p:sp>
        <p:nvSpPr>
          <p:cNvPr id="8" name="metin">
            <a:extLst>
              <a:ext uri="{FF2B5EF4-FFF2-40B4-BE49-F238E27FC236}">
                <a16:creationId xmlns:a16="http://schemas.microsoft.com/office/drawing/2014/main" id="{0E99CAD3-76E5-4ABA-B7FC-F334C4E714E9}"/>
              </a:ext>
            </a:extLst>
          </p:cNvPr>
          <p:cNvSpPr>
            <a:spLocks noGrp="1"/>
          </p:cNvSpPr>
          <p:nvPr/>
        </p:nvSpPr>
        <p:spPr>
          <a:xfrm>
            <a:off x="6858000" y="4552950"/>
            <a:ext cx="4572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Görüntüleme biçimi tek başına ölçüm doğruluğunu belirlemez.</a:t>
            </a:r>
          </a:p>
        </p:txBody>
      </p:sp>
    </p:spTree>
    <p:extLst>
      <p:ext uri="{BB962C8B-B14F-4D97-AF65-F5344CB8AC3E}">
        <p14:creationId xmlns:p14="http://schemas.microsoft.com/office/powerpoint/2010/main" val="1673900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">
            <a:extLst>
              <a:ext uri="{FF2B5EF4-FFF2-40B4-BE49-F238E27FC236}">
                <a16:creationId xmlns:a16="http://schemas.microsoft.com/office/drawing/2014/main" id="{788E095E-426E-40B4-9A4F-21586D5C713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084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466E"/>
                </a:solidFill>
                <a:latin typeface="Arial"/>
                <a:ea typeface="Arial"/>
                <a:cs typeface="Arial"/>
              </a:rPr>
              <a:t>Analog işaretin genliği zamanla değişir</a:t>
            </a:r>
          </a:p>
        </p:txBody>
      </p:sp>
      <p:sp>
        <p:nvSpPr>
          <p:cNvPr id="2" name="metin">
            <a:extLst>
              <a:ext uri="{FF2B5EF4-FFF2-40B4-BE49-F238E27FC236}">
                <a16:creationId xmlns:a16="http://schemas.microsoft.com/office/drawing/2014/main" id="{C544C806-06FE-480D-80B2-C74DB50EE023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MANTIK DEVRELERİ  ·  DERS 1</a:t>
            </a:r>
          </a:p>
        </p:txBody>
      </p:sp>
      <p:sp>
        <p:nvSpPr>
          <p:cNvPr id="3" name="metin">
            <a:extLst>
              <a:ext uri="{FF2B5EF4-FFF2-40B4-BE49-F238E27FC236}">
                <a16:creationId xmlns:a16="http://schemas.microsoft.com/office/drawing/2014/main" id="{9E36F84B-D39A-4681-B123-B8820917660E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="762000" y="1466850"/>
          <a:ext cx="1057275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metin">
            <a:extLst>
              <a:ext uri="{FF2B5EF4-FFF2-40B4-BE49-F238E27FC236}">
                <a16:creationId xmlns:a16="http://schemas.microsoft.com/office/drawing/2014/main" id="{93FB4969-F760-45E0-866E-51B36946FF63}"/>
              </a:ext>
            </a:extLst>
          </p:cNvPr>
          <p:cNvSpPr>
            <a:spLocks noGrp="1"/>
          </p:cNvSpPr>
          <p:nvPr/>
        </p:nvSpPr>
        <p:spPr>
          <a:xfrm>
            <a:off x="838200" y="5505450"/>
            <a:ext cx="103822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Eğri, sürekli değişen bir fiziksel büyüklüğün gerilimle temsilini gösterir.</a:t>
            </a:r>
          </a:p>
        </p:txBody>
      </p:sp>
    </p:spTree>
    <p:extLst>
      <p:ext uri="{BB962C8B-B14F-4D97-AF65-F5344CB8AC3E}">
        <p14:creationId xmlns:p14="http://schemas.microsoft.com/office/powerpoint/2010/main" val="1135396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">
            <a:extLst>
              <a:ext uri="{FF2B5EF4-FFF2-40B4-BE49-F238E27FC236}">
                <a16:creationId xmlns:a16="http://schemas.microsoft.com/office/drawing/2014/main" id="{91A16286-A3CB-40D5-97FB-38A88D1CE00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084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466E"/>
                </a:solidFill>
                <a:latin typeface="Arial"/>
                <a:ea typeface="Arial"/>
                <a:cs typeface="Arial"/>
              </a:rPr>
              <a:t>İki ayrı soru: zaman ve genlik</a:t>
            </a:r>
          </a:p>
        </p:txBody>
      </p:sp>
      <p:sp>
        <p:nvSpPr>
          <p:cNvPr id="2" name="metin">
            <a:extLst>
              <a:ext uri="{FF2B5EF4-FFF2-40B4-BE49-F238E27FC236}">
                <a16:creationId xmlns:a16="http://schemas.microsoft.com/office/drawing/2014/main" id="{E0D251E5-5997-49C8-9E8E-3FFCB171C089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MANTIK DEVRELERİ  ·  DERS 1</a:t>
            </a:r>
          </a:p>
        </p:txBody>
      </p:sp>
      <p:sp>
        <p:nvSpPr>
          <p:cNvPr id="3" name="metin">
            <a:extLst>
              <a:ext uri="{FF2B5EF4-FFF2-40B4-BE49-F238E27FC236}">
                <a16:creationId xmlns:a16="http://schemas.microsoft.com/office/drawing/2014/main" id="{EB783C23-5ECE-409D-96E3-0C9A1AF4B7A9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metin">
            <a:extLst>
              <a:ext uri="{FF2B5EF4-FFF2-40B4-BE49-F238E27FC236}">
                <a16:creationId xmlns:a16="http://schemas.microsoft.com/office/drawing/2014/main" id="{DC6C3C85-5CE2-4700-B516-7E7118A7E593}"/>
              </a:ext>
            </a:extLst>
          </p:cNvPr>
          <p:cNvSpPr>
            <a:spLocks noGrp="1"/>
          </p:cNvSpPr>
          <p:nvPr/>
        </p:nvSpPr>
        <p:spPr>
          <a:xfrm>
            <a:off x="781050" y="1381125"/>
            <a:ext cx="104394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Zaman ekseni: değer her anda mı, yalnızca seçilen anlarda mı tanımlı?</a:t>
            </a:r>
          </a:p>
        </p:txBody>
      </p:sp>
      <p:sp>
        <p:nvSpPr>
          <p:cNvPr id="5" name="metin">
            <a:extLst>
              <a:ext uri="{FF2B5EF4-FFF2-40B4-BE49-F238E27FC236}">
                <a16:creationId xmlns:a16="http://schemas.microsoft.com/office/drawing/2014/main" id="{BBDFDD83-2554-494F-8419-25F9C6DFA06F}"/>
              </a:ext>
            </a:extLst>
          </p:cNvPr>
          <p:cNvSpPr>
            <a:spLocks noGrp="1"/>
          </p:cNvSpPr>
          <p:nvPr/>
        </p:nvSpPr>
        <p:spPr>
          <a:xfrm>
            <a:off x="781050" y="2381250"/>
            <a:ext cx="104394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Genlik ekseni: olası değerler sürekli mi, sonlu sayıda kodla mı sınırlı?</a:t>
            </a:r>
          </a:p>
        </p:txBody>
      </p:sp>
      <p:sp>
        <p:nvSpPr>
          <p:cNvPr id="6" name="metin">
            <a:extLst>
              <a:ext uri="{FF2B5EF4-FFF2-40B4-BE49-F238E27FC236}">
                <a16:creationId xmlns:a16="http://schemas.microsoft.com/office/drawing/2014/main" id="{0C724C06-441B-4AAE-8884-17E069217C69}"/>
              </a:ext>
            </a:extLst>
          </p:cNvPr>
          <p:cNvSpPr>
            <a:spLocks noGrp="1"/>
          </p:cNvSpPr>
          <p:nvPr/>
        </p:nvSpPr>
        <p:spPr>
          <a:xfrm>
            <a:off x="781050" y="3381375"/>
            <a:ext cx="1043940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Örneklenmiş fakat nicemlenmemiş veri zaman bakımından ayrık, genlik bakımından süreklidir.</a:t>
            </a:r>
          </a:p>
        </p:txBody>
      </p:sp>
      <p:sp>
        <p:nvSpPr>
          <p:cNvPr id="7" name="metin">
            <a:extLst>
              <a:ext uri="{FF2B5EF4-FFF2-40B4-BE49-F238E27FC236}">
                <a16:creationId xmlns:a16="http://schemas.microsoft.com/office/drawing/2014/main" id="{EC7AC733-AE6E-470A-BF0F-9FBC15C34A54}"/>
              </a:ext>
            </a:extLst>
          </p:cNvPr>
          <p:cNvSpPr>
            <a:spLocks noGrp="1"/>
          </p:cNvSpPr>
          <p:nvPr/>
        </p:nvSpPr>
        <p:spPr>
          <a:xfrm>
            <a:off x="781050" y="4476750"/>
            <a:ext cx="104394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Dijital kod üretmek için örnekleme ve nicemleme birlikte gerekir.</a:t>
            </a:r>
          </a:p>
        </p:txBody>
      </p:sp>
    </p:spTree>
    <p:extLst>
      <p:ext uri="{BB962C8B-B14F-4D97-AF65-F5344CB8AC3E}">
        <p14:creationId xmlns:p14="http://schemas.microsoft.com/office/powerpoint/2010/main" val="755363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">
            <a:extLst>
              <a:ext uri="{FF2B5EF4-FFF2-40B4-BE49-F238E27FC236}">
                <a16:creationId xmlns:a16="http://schemas.microsoft.com/office/drawing/2014/main" id="{42ECFAEC-43A5-4BAF-B24A-61135A3EEDC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084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466E"/>
                </a:solidFill>
                <a:latin typeface="Arial"/>
                <a:ea typeface="Arial"/>
                <a:cs typeface="Arial"/>
              </a:rPr>
              <a:t>Örnekleme ve basamaklı gösterim</a:t>
            </a:r>
          </a:p>
        </p:txBody>
      </p:sp>
      <p:sp>
        <p:nvSpPr>
          <p:cNvPr id="2" name="metin">
            <a:extLst>
              <a:ext uri="{FF2B5EF4-FFF2-40B4-BE49-F238E27FC236}">
                <a16:creationId xmlns:a16="http://schemas.microsoft.com/office/drawing/2014/main" id="{9DD68DD3-CE1B-490C-AD9A-D5F2F08D21FB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MANTIK DEVRELERİ  ·  DERS 1</a:t>
            </a:r>
          </a:p>
        </p:txBody>
      </p:sp>
      <p:sp>
        <p:nvSpPr>
          <p:cNvPr id="3" name="metin">
            <a:extLst>
              <a:ext uri="{FF2B5EF4-FFF2-40B4-BE49-F238E27FC236}">
                <a16:creationId xmlns:a16="http://schemas.microsoft.com/office/drawing/2014/main" id="{18BE73E7-47E4-4978-B213-3F275BE10027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551601" y="1495425"/>
            <a:ext cx="6993548" cy="3952875"/>
          </a:xfrm>
          <a:prstGeom prst="rect">
            <a:avLst/>
          </a:prstGeom>
        </p:spPr>
      </p:pic>
      <p:sp>
        <p:nvSpPr>
          <p:cNvPr id="5" name="metin">
            <a:extLst>
              <a:ext uri="{FF2B5EF4-FFF2-40B4-BE49-F238E27FC236}">
                <a16:creationId xmlns:a16="http://schemas.microsoft.com/office/drawing/2014/main" id="{87D33398-5E54-4BA2-871F-BF780CC464AC}"/>
              </a:ext>
            </a:extLst>
          </p:cNvPr>
          <p:cNvSpPr>
            <a:spLocks noGrp="1"/>
          </p:cNvSpPr>
          <p:nvPr/>
        </p:nvSpPr>
        <p:spPr>
          <a:xfrm>
            <a:off x="819150" y="5619750"/>
            <a:ext cx="10572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Mavi basamaklar, seçilen anlara ve sonlu genlik düzeylerine karşılık gelir.</a:t>
            </a:r>
          </a:p>
        </p:txBody>
      </p:sp>
    </p:spTree>
    <p:extLst>
      <p:ext uri="{BB962C8B-B14F-4D97-AF65-F5344CB8AC3E}">
        <p14:creationId xmlns:p14="http://schemas.microsoft.com/office/powerpoint/2010/main" val="2008031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">
            <a:extLst>
              <a:ext uri="{FF2B5EF4-FFF2-40B4-BE49-F238E27FC236}">
                <a16:creationId xmlns:a16="http://schemas.microsoft.com/office/drawing/2014/main" id="{4534C945-B5BE-42EE-A202-84E348D167B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084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466E"/>
                </a:solidFill>
                <a:latin typeface="Arial"/>
                <a:ea typeface="Arial"/>
                <a:cs typeface="Arial"/>
              </a:rPr>
              <a:t>Örnekleme: yalnızca seçilen anlar</a:t>
            </a:r>
          </a:p>
        </p:txBody>
      </p:sp>
      <p:sp>
        <p:nvSpPr>
          <p:cNvPr id="2" name="metin">
            <a:extLst>
              <a:ext uri="{FF2B5EF4-FFF2-40B4-BE49-F238E27FC236}">
                <a16:creationId xmlns:a16="http://schemas.microsoft.com/office/drawing/2014/main" id="{D227F4F3-D694-4DFC-AE8C-7CBAABCCE08E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MANTIK DEVRELERİ  ·  DERS 1</a:t>
            </a:r>
          </a:p>
        </p:txBody>
      </p:sp>
      <p:sp>
        <p:nvSpPr>
          <p:cNvPr id="3" name="metin">
            <a:extLst>
              <a:ext uri="{FF2B5EF4-FFF2-40B4-BE49-F238E27FC236}">
                <a16:creationId xmlns:a16="http://schemas.microsoft.com/office/drawing/2014/main" id="{A90BE330-EF3D-4340-BBE5-BFE52AA85D45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="762000" y="1466850"/>
          <a:ext cx="1057275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metin">
            <a:extLst>
              <a:ext uri="{FF2B5EF4-FFF2-40B4-BE49-F238E27FC236}">
                <a16:creationId xmlns:a16="http://schemas.microsoft.com/office/drawing/2014/main" id="{2C8C266A-9F67-4C8B-BBB8-5E3B41A7E806}"/>
              </a:ext>
            </a:extLst>
          </p:cNvPr>
          <p:cNvSpPr>
            <a:spLocks noGrp="1"/>
          </p:cNvSpPr>
          <p:nvPr/>
        </p:nvSpPr>
        <p:spPr>
          <a:xfrm>
            <a:off x="838200" y="5505450"/>
            <a:ext cx="103822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Örnekleme zamanı belirler. Genliği henüz ikili koda dönüştürmez.</a:t>
            </a:r>
          </a:p>
        </p:txBody>
      </p:sp>
    </p:spTree>
    <p:extLst>
      <p:ext uri="{BB962C8B-B14F-4D97-AF65-F5344CB8AC3E}">
        <p14:creationId xmlns:p14="http://schemas.microsoft.com/office/powerpoint/2010/main" val="701975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tin">
            <a:extLst>
              <a:ext uri="{FF2B5EF4-FFF2-40B4-BE49-F238E27FC236}">
                <a16:creationId xmlns:a16="http://schemas.microsoft.com/office/drawing/2014/main" id="{6FB9395C-91D7-4323-857D-BCB6CDB9AE8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084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466E"/>
                </a:solidFill>
                <a:latin typeface="Arial"/>
                <a:ea typeface="Arial"/>
                <a:cs typeface="Arial"/>
              </a:rPr>
              <a:t>Dört örnekleme anı</a:t>
            </a:r>
          </a:p>
        </p:txBody>
      </p:sp>
      <p:sp>
        <p:nvSpPr>
          <p:cNvPr id="2" name="metin">
            <a:extLst>
              <a:ext uri="{FF2B5EF4-FFF2-40B4-BE49-F238E27FC236}">
                <a16:creationId xmlns:a16="http://schemas.microsoft.com/office/drawing/2014/main" id="{85C2D8D3-6BD7-47D7-8EDA-D765A561C58D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MANTIK DEVRELERİ  ·  DERS 1</a:t>
            </a:r>
          </a:p>
        </p:txBody>
      </p:sp>
      <p:sp>
        <p:nvSpPr>
          <p:cNvPr id="3" name="metin">
            <a:extLst>
              <a:ext uri="{FF2B5EF4-FFF2-40B4-BE49-F238E27FC236}">
                <a16:creationId xmlns:a16="http://schemas.microsoft.com/office/drawing/2014/main" id="{E856D7D0-CE68-4228-85F9-CAC691D57E24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94714" y="1409700"/>
            <a:ext cx="5630523" cy="4495800"/>
          </a:xfrm>
          <a:prstGeom prst="rect">
            <a:avLst/>
          </a:prstGeom>
        </p:spPr>
      </p:pic>
      <p:sp>
        <p:nvSpPr>
          <p:cNvPr id="5" name="metin">
            <a:extLst>
              <a:ext uri="{FF2B5EF4-FFF2-40B4-BE49-F238E27FC236}">
                <a16:creationId xmlns:a16="http://schemas.microsoft.com/office/drawing/2014/main" id="{E4F5F7EB-1731-4F31-97D7-C724CCA858DA}"/>
              </a:ext>
            </a:extLst>
          </p:cNvPr>
          <p:cNvSpPr>
            <a:spLocks noGrp="1"/>
          </p:cNvSpPr>
          <p:nvPr/>
        </p:nvSpPr>
        <p:spPr>
          <a:xfrm>
            <a:off x="6858000" y="1666875"/>
            <a:ext cx="4476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1">
                <a:solidFill>
                  <a:srgbClr val="1875A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75A5"/>
                </a:solidFill>
                <a:latin typeface="Arial"/>
                <a:ea typeface="Arial"/>
                <a:cs typeface="Arial"/>
              </a:rPr>
              <a:t>t₁, t₂, t₃, t₄</a:t>
            </a:r>
          </a:p>
        </p:txBody>
      </p:sp>
      <p:sp>
        <p:nvSpPr>
          <p:cNvPr id="6" name="metin">
            <a:extLst>
              <a:ext uri="{FF2B5EF4-FFF2-40B4-BE49-F238E27FC236}">
                <a16:creationId xmlns:a16="http://schemas.microsoft.com/office/drawing/2014/main" id="{733DC8FE-BEF6-48B0-B363-988423A5DB8E}"/>
              </a:ext>
            </a:extLst>
          </p:cNvPr>
          <p:cNvSpPr>
            <a:spLocks noGrp="1"/>
          </p:cNvSpPr>
          <p:nvPr/>
        </p:nvSpPr>
        <p:spPr>
          <a:xfrm>
            <a:off x="6858000" y="2533650"/>
            <a:ext cx="4572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Çizgi sürekli işareti gösterir.</a:t>
            </a:r>
          </a:p>
        </p:txBody>
      </p:sp>
      <p:sp>
        <p:nvSpPr>
          <p:cNvPr id="7" name="metin">
            <a:extLst>
              <a:ext uri="{FF2B5EF4-FFF2-40B4-BE49-F238E27FC236}">
                <a16:creationId xmlns:a16="http://schemas.microsoft.com/office/drawing/2014/main" id="{21B55703-A675-4DDF-97EC-59A67445E7C8}"/>
              </a:ext>
            </a:extLst>
          </p:cNvPr>
          <p:cNvSpPr>
            <a:spLocks noGrp="1"/>
          </p:cNvSpPr>
          <p:nvPr/>
        </p:nvSpPr>
        <p:spPr>
          <a:xfrm>
            <a:off x="6858000" y="3543300"/>
            <a:ext cx="4572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Düşey işaretler seçilen örnekleme anlarını gösterir.</a:t>
            </a:r>
          </a:p>
        </p:txBody>
      </p:sp>
      <p:sp>
        <p:nvSpPr>
          <p:cNvPr id="8" name="metin">
            <a:extLst>
              <a:ext uri="{FF2B5EF4-FFF2-40B4-BE49-F238E27FC236}">
                <a16:creationId xmlns:a16="http://schemas.microsoft.com/office/drawing/2014/main" id="{0B230C9B-B837-4A8A-B717-183F823DF8FC}"/>
              </a:ext>
            </a:extLst>
          </p:cNvPr>
          <p:cNvSpPr>
            <a:spLocks noGrp="1"/>
          </p:cNvSpPr>
          <p:nvPr/>
        </p:nvSpPr>
        <p:spPr>
          <a:xfrm>
            <a:off x="6858000" y="4552950"/>
            <a:ext cx="4572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Bu noktalarda gerilim ölçülür, sonra kod atanır.</a:t>
            </a:r>
          </a:p>
        </p:txBody>
      </p:sp>
    </p:spTree>
    <p:extLst>
      <p:ext uri="{BB962C8B-B14F-4D97-AF65-F5344CB8AC3E}">
        <p14:creationId xmlns:p14="http://schemas.microsoft.com/office/powerpoint/2010/main" val="1108607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">
            <a:extLst>
              <a:ext uri="{FF2B5EF4-FFF2-40B4-BE49-F238E27FC236}">
                <a16:creationId xmlns:a16="http://schemas.microsoft.com/office/drawing/2014/main" id="{43F06EFD-8652-4946-A7E6-40820E5397B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084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466E"/>
                </a:solidFill>
                <a:latin typeface="Arial"/>
                <a:ea typeface="Arial"/>
                <a:cs typeface="Arial"/>
              </a:rPr>
              <a:t>Nicemleme: değeri bir aralığa ata</a:t>
            </a:r>
          </a:p>
        </p:txBody>
      </p:sp>
      <p:sp>
        <p:nvSpPr>
          <p:cNvPr id="2" name="metin">
            <a:extLst>
              <a:ext uri="{FF2B5EF4-FFF2-40B4-BE49-F238E27FC236}">
                <a16:creationId xmlns:a16="http://schemas.microsoft.com/office/drawing/2014/main" id="{81B527E5-C396-46C0-B988-8A9E1CC9BC57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MANTIK DEVRELERİ  ·  DERS 1</a:t>
            </a:r>
          </a:p>
        </p:txBody>
      </p:sp>
      <p:sp>
        <p:nvSpPr>
          <p:cNvPr id="3" name="metin">
            <a:extLst>
              <a:ext uri="{FF2B5EF4-FFF2-40B4-BE49-F238E27FC236}">
                <a16:creationId xmlns:a16="http://schemas.microsoft.com/office/drawing/2014/main" id="{93CC6304-9557-4914-BC8F-83606828B478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8" name="Table 7"/>
          <p:cNvGraphicFramePr/>
          <p:nvPr/>
        </p:nvGraphicFramePr>
        <p:xfrm>
          <a:off x="666750" y="1409700"/>
          <a:ext cx="10858500" cy="3714750"/>
        </p:xfrm>
        <a:graphic>
          <a:graphicData uri="http://schemas.openxmlformats.org/drawingml/2006/table">
            <a:tbl>
              <a:tblPr/>
              <a:tblGrid>
                <a:gridCol w="409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Giriş aralığı</a:t>
                      </a:r>
                    </a:p>
                  </a:txBody>
                  <a:tcPr>
                    <a:solidFill>
                      <a:srgbClr val="084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3 bit kod</a:t>
                      </a:r>
                    </a:p>
                  </a:txBody>
                  <a:tcPr>
                    <a:solidFill>
                      <a:srgbClr val="084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Temsil edilen değer</a:t>
                      </a:r>
                    </a:p>
                  </a:txBody>
                  <a:tcPr>
                    <a:solidFill>
                      <a:srgbClr val="084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0,0–&lt;1,0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0 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1,0–&lt;2,0 V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001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1 V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2,0–&lt;3,0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2 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…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…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…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7,0–&lt;8,0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7 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74364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">
            <a:extLst>
              <a:ext uri="{FF2B5EF4-FFF2-40B4-BE49-F238E27FC236}">
                <a16:creationId xmlns:a16="http://schemas.microsoft.com/office/drawing/2014/main" id="{A734750C-0EA8-4C5F-9C1A-7DA3873FCFC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084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466E"/>
                </a:solidFill>
                <a:latin typeface="Arial"/>
                <a:ea typeface="Arial"/>
                <a:cs typeface="Arial"/>
              </a:rPr>
              <a:t>3 bit nicemlemenin basamakları</a:t>
            </a:r>
          </a:p>
        </p:txBody>
      </p:sp>
      <p:sp>
        <p:nvSpPr>
          <p:cNvPr id="2" name="metin">
            <a:extLst>
              <a:ext uri="{FF2B5EF4-FFF2-40B4-BE49-F238E27FC236}">
                <a16:creationId xmlns:a16="http://schemas.microsoft.com/office/drawing/2014/main" id="{D8C580B0-CF6D-4002-A738-257A01CB3B0C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MANTIK DEVRELERİ  ·  DERS 1</a:t>
            </a:r>
          </a:p>
        </p:txBody>
      </p:sp>
      <p:sp>
        <p:nvSpPr>
          <p:cNvPr id="3" name="metin">
            <a:extLst>
              <a:ext uri="{FF2B5EF4-FFF2-40B4-BE49-F238E27FC236}">
                <a16:creationId xmlns:a16="http://schemas.microsoft.com/office/drawing/2014/main" id="{CA592A51-C5E4-492B-8BA9-7BCF678F68BE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="762000" y="1466850"/>
          <a:ext cx="1057275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metin">
            <a:extLst>
              <a:ext uri="{FF2B5EF4-FFF2-40B4-BE49-F238E27FC236}">
                <a16:creationId xmlns:a16="http://schemas.microsoft.com/office/drawing/2014/main" id="{C59A00D9-924A-4346-9F10-6AFCC1482F58}"/>
              </a:ext>
            </a:extLst>
          </p:cNvPr>
          <p:cNvSpPr>
            <a:spLocks noGrp="1"/>
          </p:cNvSpPr>
          <p:nvPr/>
        </p:nvSpPr>
        <p:spPr>
          <a:xfrm>
            <a:off x="838200" y="5505450"/>
            <a:ext cx="103822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Her 1 V aralık aynı koda gider. Eğriler arasındaki fark bu modelde nicemleme hatasıdır.</a:t>
            </a:r>
          </a:p>
        </p:txBody>
      </p:sp>
    </p:spTree>
    <p:extLst>
      <p:ext uri="{BB962C8B-B14F-4D97-AF65-F5344CB8AC3E}">
        <p14:creationId xmlns:p14="http://schemas.microsoft.com/office/powerpoint/2010/main" val="801671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">
            <a:extLst>
              <a:ext uri="{FF2B5EF4-FFF2-40B4-BE49-F238E27FC236}">
                <a16:creationId xmlns:a16="http://schemas.microsoft.com/office/drawing/2014/main" id="{6A3F6C33-DD47-472E-A450-1A58FD9D8D9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084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466E"/>
                </a:solidFill>
                <a:latin typeface="Arial"/>
                <a:ea typeface="Arial"/>
                <a:cs typeface="Arial"/>
              </a:rPr>
              <a:t>Çözümlü örnek: 3 bit ADC</a:t>
            </a:r>
          </a:p>
        </p:txBody>
      </p:sp>
      <p:sp>
        <p:nvSpPr>
          <p:cNvPr id="2" name="metin">
            <a:extLst>
              <a:ext uri="{FF2B5EF4-FFF2-40B4-BE49-F238E27FC236}">
                <a16:creationId xmlns:a16="http://schemas.microsoft.com/office/drawing/2014/main" id="{F656D814-B4BE-4A7B-8D12-7EAAEA524116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MANTIK DEVRELERİ  ·  DERS 1</a:t>
            </a:r>
          </a:p>
        </p:txBody>
      </p:sp>
      <p:sp>
        <p:nvSpPr>
          <p:cNvPr id="3" name="metin">
            <a:extLst>
              <a:ext uri="{FF2B5EF4-FFF2-40B4-BE49-F238E27FC236}">
                <a16:creationId xmlns:a16="http://schemas.microsoft.com/office/drawing/2014/main" id="{DE19F3BE-4DAB-4159-A1C8-6536D930162F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metin">
            <a:extLst>
              <a:ext uri="{FF2B5EF4-FFF2-40B4-BE49-F238E27FC236}">
                <a16:creationId xmlns:a16="http://schemas.microsoft.com/office/drawing/2014/main" id="{9EE21455-326C-4946-9F9B-E6B9194EB48D}"/>
              </a:ext>
            </a:extLst>
          </p:cNvPr>
          <p:cNvSpPr>
            <a:spLocks noGrp="1"/>
          </p:cNvSpPr>
          <p:nvPr/>
        </p:nvSpPr>
        <p:spPr>
          <a:xfrm>
            <a:off x="781050" y="1381125"/>
            <a:ext cx="10439400" cy="866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Tam ölçek: 0–8 V. Kod sayısı: 2³ = 8. Aralık genişliği: Δ = 8/8 = 1 V.</a:t>
            </a:r>
          </a:p>
        </p:txBody>
      </p:sp>
      <p:sp>
        <p:nvSpPr>
          <p:cNvPr id="5" name="metin">
            <a:extLst>
              <a:ext uri="{FF2B5EF4-FFF2-40B4-BE49-F238E27FC236}">
                <a16:creationId xmlns:a16="http://schemas.microsoft.com/office/drawing/2014/main" id="{54A4E2BE-3618-4300-8A5C-4FF10A6BF841}"/>
              </a:ext>
            </a:extLst>
          </p:cNvPr>
          <p:cNvSpPr>
            <a:spLocks noGrp="1"/>
          </p:cNvSpPr>
          <p:nvPr/>
        </p:nvSpPr>
        <p:spPr>
          <a:xfrm>
            <a:off x="781050" y="2343150"/>
            <a:ext cx="10439400" cy="866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Ölçülen 5,3 V, [5,6) V aralığındadır. Kod = 5 = 101₂.</a:t>
            </a:r>
          </a:p>
        </p:txBody>
      </p:sp>
      <p:sp>
        <p:nvSpPr>
          <p:cNvPr id="6" name="metin">
            <a:extLst>
              <a:ext uri="{FF2B5EF4-FFF2-40B4-BE49-F238E27FC236}">
                <a16:creationId xmlns:a16="http://schemas.microsoft.com/office/drawing/2014/main" id="{1CD825D1-4C8F-4586-B9B6-B3F83F1257EC}"/>
              </a:ext>
            </a:extLst>
          </p:cNvPr>
          <p:cNvSpPr>
            <a:spLocks noGrp="1"/>
          </p:cNvSpPr>
          <p:nvPr/>
        </p:nvSpPr>
        <p:spPr>
          <a:xfrm>
            <a:off x="781050" y="3305175"/>
            <a:ext cx="10439400" cy="866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Bu basitleştirilmiş gösterimde kodun temsil değeri 5 V, hata 0,3 V olur.</a:t>
            </a:r>
          </a:p>
        </p:txBody>
      </p:sp>
      <p:sp>
        <p:nvSpPr>
          <p:cNvPr id="7" name="metin">
            <a:extLst>
              <a:ext uri="{FF2B5EF4-FFF2-40B4-BE49-F238E27FC236}">
                <a16:creationId xmlns:a16="http://schemas.microsoft.com/office/drawing/2014/main" id="{96102321-755E-450C-B76B-6ED46C11BCDC}"/>
              </a:ext>
            </a:extLst>
          </p:cNvPr>
          <p:cNvSpPr>
            <a:spLocks noGrp="1"/>
          </p:cNvSpPr>
          <p:nvPr/>
        </p:nvSpPr>
        <p:spPr>
          <a:xfrm>
            <a:off x="781050" y="4267200"/>
            <a:ext cx="10439400" cy="866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7,9 V en üst koda gider. Aralık dışındaki gerilim doyuma uğrar.</a:t>
            </a:r>
          </a:p>
        </p:txBody>
      </p:sp>
    </p:spTree>
    <p:extLst>
      <p:ext uri="{BB962C8B-B14F-4D97-AF65-F5344CB8AC3E}">
        <p14:creationId xmlns:p14="http://schemas.microsoft.com/office/powerpoint/2010/main" val="1287949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">
            <a:extLst>
              <a:ext uri="{FF2B5EF4-FFF2-40B4-BE49-F238E27FC236}">
                <a16:creationId xmlns:a16="http://schemas.microsoft.com/office/drawing/2014/main" id="{DEBC5AF7-2956-4C09-BA00-5BB9D8DFD24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084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466E"/>
                </a:solidFill>
                <a:latin typeface="Arial"/>
                <a:ea typeface="Arial"/>
                <a:cs typeface="Arial"/>
              </a:rPr>
              <a:t>Nicemleme hatası nasıl küçülür?</a:t>
            </a:r>
          </a:p>
        </p:txBody>
      </p:sp>
      <p:sp>
        <p:nvSpPr>
          <p:cNvPr id="2" name="metin">
            <a:extLst>
              <a:ext uri="{FF2B5EF4-FFF2-40B4-BE49-F238E27FC236}">
                <a16:creationId xmlns:a16="http://schemas.microsoft.com/office/drawing/2014/main" id="{0FC27AAC-70F9-48A8-AF03-B54485BD6834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MANTIK DEVRELERİ  ·  DERS 1</a:t>
            </a:r>
          </a:p>
        </p:txBody>
      </p:sp>
      <p:sp>
        <p:nvSpPr>
          <p:cNvPr id="3" name="metin">
            <a:extLst>
              <a:ext uri="{FF2B5EF4-FFF2-40B4-BE49-F238E27FC236}">
                <a16:creationId xmlns:a16="http://schemas.microsoft.com/office/drawing/2014/main" id="{5F0AE521-C439-4014-87D2-F2DE9220BDCF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metin">
            <a:extLst>
              <a:ext uri="{FF2B5EF4-FFF2-40B4-BE49-F238E27FC236}">
                <a16:creationId xmlns:a16="http://schemas.microsoft.com/office/drawing/2014/main" id="{F6CF5D2E-07E3-4CB8-A623-49F6DA5A0287}"/>
              </a:ext>
            </a:extLst>
          </p:cNvPr>
          <p:cNvSpPr>
            <a:spLocks noGrp="1"/>
          </p:cNvSpPr>
          <p:nvPr/>
        </p:nvSpPr>
        <p:spPr>
          <a:xfrm>
            <a:off x="781050" y="1381125"/>
            <a:ext cx="10439400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Aynı gerilim aralığında bit sayısı arttıkça kod aralığı küçülür.</a:t>
            </a:r>
          </a:p>
        </p:txBody>
      </p:sp>
      <p:sp>
        <p:nvSpPr>
          <p:cNvPr id="5" name="metin">
            <a:extLst>
              <a:ext uri="{FF2B5EF4-FFF2-40B4-BE49-F238E27FC236}">
                <a16:creationId xmlns:a16="http://schemas.microsoft.com/office/drawing/2014/main" id="{CD4239B0-EF24-4C02-B03A-F9C01FCE02C8}"/>
              </a:ext>
            </a:extLst>
          </p:cNvPr>
          <p:cNvSpPr>
            <a:spLocks noGrp="1"/>
          </p:cNvSpPr>
          <p:nvPr/>
        </p:nvSpPr>
        <p:spPr>
          <a:xfrm>
            <a:off x="781050" y="2295525"/>
            <a:ext cx="10439400" cy="933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0–8 V için 3 bit: Δ = 1 V. 8 bit: Δ = 8/256 = 0,03125 V.</a:t>
            </a:r>
          </a:p>
        </p:txBody>
      </p:sp>
      <p:sp>
        <p:nvSpPr>
          <p:cNvPr id="6" name="metin">
            <a:extLst>
              <a:ext uri="{FF2B5EF4-FFF2-40B4-BE49-F238E27FC236}">
                <a16:creationId xmlns:a16="http://schemas.microsoft.com/office/drawing/2014/main" id="{3D0FBDDD-CE80-4A9B-85AA-FE168186C492}"/>
              </a:ext>
            </a:extLst>
          </p:cNvPr>
          <p:cNvSpPr>
            <a:spLocks noGrp="1"/>
          </p:cNvSpPr>
          <p:nvPr/>
        </p:nvSpPr>
        <p:spPr>
          <a:xfrm>
            <a:off x="781050" y="3324225"/>
            <a:ext cx="10439400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Bit sayısı artsa bile algılayıcı gürültüsü ve devre hataları kalır.</a:t>
            </a:r>
          </a:p>
        </p:txBody>
      </p:sp>
      <p:sp>
        <p:nvSpPr>
          <p:cNvPr id="7" name="metin">
            <a:extLst>
              <a:ext uri="{FF2B5EF4-FFF2-40B4-BE49-F238E27FC236}">
                <a16:creationId xmlns:a16="http://schemas.microsoft.com/office/drawing/2014/main" id="{BC2E08B2-1E2F-49C7-900D-0D5CF4352B65}"/>
              </a:ext>
            </a:extLst>
          </p:cNvPr>
          <p:cNvSpPr>
            <a:spLocks noGrp="1"/>
          </p:cNvSpPr>
          <p:nvPr/>
        </p:nvSpPr>
        <p:spPr>
          <a:xfrm>
            <a:off x="781050" y="4238625"/>
            <a:ext cx="10439400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İdeal ADC hesabı, gerçek ölçüm belirsizliğinin tamamını açıklamaz.</a:t>
            </a:r>
          </a:p>
        </p:txBody>
      </p:sp>
    </p:spTree>
    <p:extLst>
      <p:ext uri="{BB962C8B-B14F-4D97-AF65-F5344CB8AC3E}">
        <p14:creationId xmlns:p14="http://schemas.microsoft.com/office/powerpoint/2010/main" val="8893067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">
            <a:extLst>
              <a:ext uri="{FF2B5EF4-FFF2-40B4-BE49-F238E27FC236}">
                <a16:creationId xmlns:a16="http://schemas.microsoft.com/office/drawing/2014/main" id="{95CC10A0-F8EC-40AF-94C6-C36D67BD14E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084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466E"/>
                </a:solidFill>
                <a:latin typeface="Arial"/>
                <a:ea typeface="Arial"/>
                <a:cs typeface="Arial"/>
              </a:rPr>
              <a:t>2 kHz örneklemede 1,2 kHz sinüs</a:t>
            </a:r>
          </a:p>
        </p:txBody>
      </p:sp>
      <p:sp>
        <p:nvSpPr>
          <p:cNvPr id="2" name="metin">
            <a:extLst>
              <a:ext uri="{FF2B5EF4-FFF2-40B4-BE49-F238E27FC236}">
                <a16:creationId xmlns:a16="http://schemas.microsoft.com/office/drawing/2014/main" id="{56CCFA31-8243-4BCB-B71C-DDD5B13A00B4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MANTIK DEVRELERİ  ·  DERS 1</a:t>
            </a:r>
          </a:p>
        </p:txBody>
      </p:sp>
      <p:sp>
        <p:nvSpPr>
          <p:cNvPr id="3" name="metin">
            <a:extLst>
              <a:ext uri="{FF2B5EF4-FFF2-40B4-BE49-F238E27FC236}">
                <a16:creationId xmlns:a16="http://schemas.microsoft.com/office/drawing/2014/main" id="{F4151F98-CAF1-479D-86F5-DED3E35958F1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metin">
            <a:extLst>
              <a:ext uri="{FF2B5EF4-FFF2-40B4-BE49-F238E27FC236}">
                <a16:creationId xmlns:a16="http://schemas.microsoft.com/office/drawing/2014/main" id="{9428DB8B-D8A0-495E-B5BF-E2B148ECFD60}"/>
              </a:ext>
            </a:extLst>
          </p:cNvPr>
          <p:cNvSpPr>
            <a:spLocks noGrp="1"/>
          </p:cNvSpPr>
          <p:nvPr/>
        </p:nvSpPr>
        <p:spPr>
          <a:xfrm>
            <a:off x="781050" y="1381125"/>
            <a:ext cx="104394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fₛ = 2 kHz ise 1,2 kHz sinüs, örneklerde 0,8 kHz gibi görünebilir.</a:t>
            </a:r>
          </a:p>
        </p:txBody>
      </p:sp>
      <p:sp>
        <p:nvSpPr>
          <p:cNvPr id="5" name="metin">
            <a:extLst>
              <a:ext uri="{FF2B5EF4-FFF2-40B4-BE49-F238E27FC236}">
                <a16:creationId xmlns:a16="http://schemas.microsoft.com/office/drawing/2014/main" id="{5BE62284-12AC-44AE-B225-3D0A29CCCA09}"/>
              </a:ext>
            </a:extLst>
          </p:cNvPr>
          <p:cNvSpPr>
            <a:spLocks noGrp="1"/>
          </p:cNvSpPr>
          <p:nvPr/>
        </p:nvSpPr>
        <p:spPr>
          <a:xfrm>
            <a:off x="781050" y="2466975"/>
            <a:ext cx="104394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Katlanma (aliasing), kaydedildikten sonra yalnızca yazılımla geri alınamaz.</a:t>
            </a:r>
          </a:p>
        </p:txBody>
      </p:sp>
      <p:sp>
        <p:nvSpPr>
          <p:cNvPr id="6" name="metin">
            <a:extLst>
              <a:ext uri="{FF2B5EF4-FFF2-40B4-BE49-F238E27FC236}">
                <a16:creationId xmlns:a16="http://schemas.microsoft.com/office/drawing/2014/main" id="{B8EAC6ED-C409-4512-AB48-3E55B20B7767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10439400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Girişte uygun analog bant sınırlama filtresi gerekir.</a:t>
            </a:r>
          </a:p>
        </p:txBody>
      </p:sp>
      <p:sp>
        <p:nvSpPr>
          <p:cNvPr id="7" name="metin">
            <a:extLst>
              <a:ext uri="{FF2B5EF4-FFF2-40B4-BE49-F238E27FC236}">
                <a16:creationId xmlns:a16="http://schemas.microsoft.com/office/drawing/2014/main" id="{A8A781B8-F08E-4DBB-AB86-647940A67F33}"/>
              </a:ext>
            </a:extLst>
          </p:cNvPr>
          <p:cNvSpPr>
            <a:spLocks noGrp="1"/>
          </p:cNvSpPr>
          <p:nvPr/>
        </p:nvSpPr>
        <p:spPr>
          <a:xfrm>
            <a:off x="781050" y="4419600"/>
            <a:ext cx="10439400" cy="923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Bu örnek ADC’ye girişin neden hâlâ analog tasarım gerektirdiğini gösterir.</a:t>
            </a:r>
          </a:p>
        </p:txBody>
      </p:sp>
    </p:spTree>
    <p:extLst>
      <p:ext uri="{BB962C8B-B14F-4D97-AF65-F5344CB8AC3E}">
        <p14:creationId xmlns:p14="http://schemas.microsoft.com/office/powerpoint/2010/main" val="1771486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">
            <a:extLst>
              <a:ext uri="{FF2B5EF4-FFF2-40B4-BE49-F238E27FC236}">
                <a16:creationId xmlns:a16="http://schemas.microsoft.com/office/drawing/2014/main" id="{9E031257-AC41-4AE1-919D-6DB644D330B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084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466E"/>
                </a:solidFill>
                <a:latin typeface="Arial"/>
                <a:ea typeface="Arial"/>
                <a:cs typeface="Arial"/>
              </a:rPr>
              <a:t>Aynı örnekler, iki farklı sinüs</a:t>
            </a:r>
          </a:p>
        </p:txBody>
      </p:sp>
      <p:sp>
        <p:nvSpPr>
          <p:cNvPr id="2" name="metin">
            <a:extLst>
              <a:ext uri="{FF2B5EF4-FFF2-40B4-BE49-F238E27FC236}">
                <a16:creationId xmlns:a16="http://schemas.microsoft.com/office/drawing/2014/main" id="{02AC81D0-985E-4D7B-A1BC-8EEFA83D19FE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MANTIK DEVRELERİ  ·  DERS 1</a:t>
            </a:r>
          </a:p>
        </p:txBody>
      </p:sp>
      <p:sp>
        <p:nvSpPr>
          <p:cNvPr id="3" name="metin">
            <a:extLst>
              <a:ext uri="{FF2B5EF4-FFF2-40B4-BE49-F238E27FC236}">
                <a16:creationId xmlns:a16="http://schemas.microsoft.com/office/drawing/2014/main" id="{6A445FBD-3760-4268-AD4E-387A5A74467D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="762000" y="1466850"/>
          <a:ext cx="1057275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metin">
            <a:extLst>
              <a:ext uri="{FF2B5EF4-FFF2-40B4-BE49-F238E27FC236}">
                <a16:creationId xmlns:a16="http://schemas.microsoft.com/office/drawing/2014/main" id="{7C5BC279-E419-434E-9596-B2AB46EBFDD1}"/>
              </a:ext>
            </a:extLst>
          </p:cNvPr>
          <p:cNvSpPr>
            <a:spLocks noGrp="1"/>
          </p:cNvSpPr>
          <p:nvPr/>
        </p:nvSpPr>
        <p:spPr>
          <a:xfrm>
            <a:off x="838200" y="5505450"/>
            <a:ext cx="103822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fₛ = 2 kHz. İki seri aynı noktalara düştüğü için örneklerden özgün frekans seçilemez.</a:t>
            </a:r>
          </a:p>
        </p:txBody>
      </p:sp>
    </p:spTree>
    <p:extLst>
      <p:ext uri="{BB962C8B-B14F-4D97-AF65-F5344CB8AC3E}">
        <p14:creationId xmlns:p14="http://schemas.microsoft.com/office/powerpoint/2010/main" val="1471870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">
            <a:extLst>
              <a:ext uri="{FF2B5EF4-FFF2-40B4-BE49-F238E27FC236}">
                <a16:creationId xmlns:a16="http://schemas.microsoft.com/office/drawing/2014/main" id="{860C0DF2-1D0F-4171-9203-DD99B72297F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084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466E"/>
                </a:solidFill>
                <a:latin typeface="Arial"/>
                <a:ea typeface="Arial"/>
                <a:cs typeface="Arial"/>
              </a:rPr>
              <a:t>ADC ve DAC: mikrofon örneği</a:t>
            </a:r>
          </a:p>
        </p:txBody>
      </p:sp>
      <p:sp>
        <p:nvSpPr>
          <p:cNvPr id="2" name="metin">
            <a:extLst>
              <a:ext uri="{FF2B5EF4-FFF2-40B4-BE49-F238E27FC236}">
                <a16:creationId xmlns:a16="http://schemas.microsoft.com/office/drawing/2014/main" id="{CE9EAC6E-92D5-4F00-AA97-14EF6113CB87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MANTIK DEVRELERİ  ·  DERS 1</a:t>
            </a:r>
          </a:p>
        </p:txBody>
      </p:sp>
      <p:sp>
        <p:nvSpPr>
          <p:cNvPr id="3" name="metin">
            <a:extLst>
              <a:ext uri="{FF2B5EF4-FFF2-40B4-BE49-F238E27FC236}">
                <a16:creationId xmlns:a16="http://schemas.microsoft.com/office/drawing/2014/main" id="{0B4BAC5F-E15D-46A7-BD02-9C4315E6C722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metin">
            <a:extLst>
              <a:ext uri="{FF2B5EF4-FFF2-40B4-BE49-F238E27FC236}">
                <a16:creationId xmlns:a16="http://schemas.microsoft.com/office/drawing/2014/main" id="{6C4A1624-3C50-49B6-B035-22A5BACE811D}"/>
              </a:ext>
            </a:extLst>
          </p:cNvPr>
          <p:cNvSpPr>
            <a:spLocks noGrp="1"/>
          </p:cNvSpPr>
          <p:nvPr/>
        </p:nvSpPr>
        <p:spPr>
          <a:xfrm>
            <a:off x="781050" y="1381125"/>
            <a:ext cx="104394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Mikrofon, ses basıncını değişen analog gerilime dönüştürür.</a:t>
            </a:r>
          </a:p>
        </p:txBody>
      </p:sp>
      <p:sp>
        <p:nvSpPr>
          <p:cNvPr id="5" name="metin">
            <a:extLst>
              <a:ext uri="{FF2B5EF4-FFF2-40B4-BE49-F238E27FC236}">
                <a16:creationId xmlns:a16="http://schemas.microsoft.com/office/drawing/2014/main" id="{F63E1288-0C51-4CEE-9A9C-46781ED5E7AB}"/>
              </a:ext>
            </a:extLst>
          </p:cNvPr>
          <p:cNvSpPr>
            <a:spLocks noGrp="1"/>
          </p:cNvSpPr>
          <p:nvPr/>
        </p:nvSpPr>
        <p:spPr>
          <a:xfrm>
            <a:off x="781050" y="2286000"/>
            <a:ext cx="104394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ADC, düzenli örnekleri sonlu bitli sayılara çevirir.</a:t>
            </a:r>
          </a:p>
        </p:txBody>
      </p:sp>
      <p:sp>
        <p:nvSpPr>
          <p:cNvPr id="6" name="metin">
            <a:extLst>
              <a:ext uri="{FF2B5EF4-FFF2-40B4-BE49-F238E27FC236}">
                <a16:creationId xmlns:a16="http://schemas.microsoft.com/office/drawing/2014/main" id="{438BDA2F-0BBF-4F28-A8CB-8D8C4FA1AAB9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104394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Sayısal işlemci kodlar üzerinde filtreleme veya saklama yapar.</a:t>
            </a:r>
          </a:p>
        </p:txBody>
      </p:sp>
      <p:sp>
        <p:nvSpPr>
          <p:cNvPr id="7" name="metin">
            <a:extLst>
              <a:ext uri="{FF2B5EF4-FFF2-40B4-BE49-F238E27FC236}">
                <a16:creationId xmlns:a16="http://schemas.microsoft.com/office/drawing/2014/main" id="{319F38F7-9E2D-41A9-A11F-52EE9CEE7880}"/>
              </a:ext>
            </a:extLst>
          </p:cNvPr>
          <p:cNvSpPr>
            <a:spLocks noGrp="1"/>
          </p:cNvSpPr>
          <p:nvPr/>
        </p:nvSpPr>
        <p:spPr>
          <a:xfrm>
            <a:off x="781050" y="4095750"/>
            <a:ext cx="10439400" cy="923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DAC ve çıkış filtresi, hoparlörü sürebilecek analog dalga biçimini hazırlar.</a:t>
            </a:r>
          </a:p>
        </p:txBody>
      </p:sp>
    </p:spTree>
    <p:extLst>
      <p:ext uri="{BB962C8B-B14F-4D97-AF65-F5344CB8AC3E}">
        <p14:creationId xmlns:p14="http://schemas.microsoft.com/office/powerpoint/2010/main" val="12506270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">
            <a:extLst>
              <a:ext uri="{FF2B5EF4-FFF2-40B4-BE49-F238E27FC236}">
                <a16:creationId xmlns:a16="http://schemas.microsoft.com/office/drawing/2014/main" id="{DD25E325-4309-4321-A0A6-DBA67D4371C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084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466E"/>
                </a:solidFill>
                <a:latin typeface="Arial"/>
                <a:ea typeface="Arial"/>
                <a:cs typeface="Arial"/>
              </a:rPr>
              <a:t>Ses zincirinde ADC ve DAC</a:t>
            </a:r>
          </a:p>
        </p:txBody>
      </p:sp>
      <p:sp>
        <p:nvSpPr>
          <p:cNvPr id="2" name="metin">
            <a:extLst>
              <a:ext uri="{FF2B5EF4-FFF2-40B4-BE49-F238E27FC236}">
                <a16:creationId xmlns:a16="http://schemas.microsoft.com/office/drawing/2014/main" id="{E11A970F-5056-469B-AA20-990F057C0D0E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MANTIK DEVRELERİ  ·  DERS 1</a:t>
            </a:r>
          </a:p>
        </p:txBody>
      </p:sp>
      <p:sp>
        <p:nvSpPr>
          <p:cNvPr id="3" name="metin">
            <a:extLst>
              <a:ext uri="{FF2B5EF4-FFF2-40B4-BE49-F238E27FC236}">
                <a16:creationId xmlns:a16="http://schemas.microsoft.com/office/drawing/2014/main" id="{7B3D122A-2ECA-4FF2-8DD8-1297C23C710E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62051" y="1905000"/>
            <a:ext cx="9258372" cy="3190875"/>
          </a:xfrm>
          <a:prstGeom prst="rect">
            <a:avLst/>
          </a:prstGeom>
        </p:spPr>
      </p:pic>
      <p:sp>
        <p:nvSpPr>
          <p:cNvPr id="5" name="metin">
            <a:extLst>
              <a:ext uri="{FF2B5EF4-FFF2-40B4-BE49-F238E27FC236}">
                <a16:creationId xmlns:a16="http://schemas.microsoft.com/office/drawing/2014/main" id="{2815687B-183A-47F7-B6FE-BB6E1D69ACA6}"/>
              </a:ext>
            </a:extLst>
          </p:cNvPr>
          <p:cNvSpPr>
            <a:spLocks noGrp="1"/>
          </p:cNvSpPr>
          <p:nvPr/>
        </p:nvSpPr>
        <p:spPr>
          <a:xfrm>
            <a:off x="819150" y="5619750"/>
            <a:ext cx="10572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İki dönüşüm sınırında analog gerilim, işlemci bölümünde sonlu bitli kod vardır.</a:t>
            </a:r>
          </a:p>
        </p:txBody>
      </p:sp>
    </p:spTree>
    <p:extLst>
      <p:ext uri="{BB962C8B-B14F-4D97-AF65-F5344CB8AC3E}">
        <p14:creationId xmlns:p14="http://schemas.microsoft.com/office/powerpoint/2010/main" val="16051640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etin">
            <a:extLst>
              <a:ext uri="{FF2B5EF4-FFF2-40B4-BE49-F238E27FC236}">
                <a16:creationId xmlns:a16="http://schemas.microsoft.com/office/drawing/2014/main" id="{E09C369F-7D62-429B-8A70-CE0DF53DDAA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084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466E"/>
                </a:solidFill>
                <a:latin typeface="Arial"/>
                <a:ea typeface="Arial"/>
                <a:cs typeface="Arial"/>
              </a:rPr>
              <a:t>Analog ve sayısal temsil</a:t>
            </a:r>
          </a:p>
        </p:txBody>
      </p:sp>
      <p:sp>
        <p:nvSpPr>
          <p:cNvPr id="2" name="metin">
            <a:extLst>
              <a:ext uri="{FF2B5EF4-FFF2-40B4-BE49-F238E27FC236}">
                <a16:creationId xmlns:a16="http://schemas.microsoft.com/office/drawing/2014/main" id="{BCC3B08B-7337-4057-8958-FB055F3C5215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MANTIK DEVRELERİ  ·  DERS 1</a:t>
            </a:r>
          </a:p>
        </p:txBody>
      </p:sp>
      <p:sp>
        <p:nvSpPr>
          <p:cNvPr id="3" name="metin">
            <a:extLst>
              <a:ext uri="{FF2B5EF4-FFF2-40B4-BE49-F238E27FC236}">
                <a16:creationId xmlns:a16="http://schemas.microsoft.com/office/drawing/2014/main" id="{86AC55C8-3021-491A-94BE-18E39692D7DA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metin">
            <a:extLst>
              <a:ext uri="{FF2B5EF4-FFF2-40B4-BE49-F238E27FC236}">
                <a16:creationId xmlns:a16="http://schemas.microsoft.com/office/drawing/2014/main" id="{EDDEAA1A-77A9-405A-9469-A46665109F45}"/>
              </a:ext>
            </a:extLst>
          </p:cNvPr>
          <p:cNvSpPr>
            <a:spLocks noGrp="1"/>
          </p:cNvSpPr>
          <p:nvPr/>
        </p:nvSpPr>
        <p:spPr>
          <a:xfrm>
            <a:off x="723900" y="1409700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1">
                <a:solidFill>
                  <a:srgbClr val="1875A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75A5"/>
                </a:solidFill>
                <a:latin typeface="Arial"/>
                <a:ea typeface="Arial"/>
                <a:cs typeface="Arial"/>
              </a:rPr>
              <a:t>Analog temsilde</a:t>
            </a:r>
          </a:p>
        </p:txBody>
      </p:sp>
      <p:sp>
        <p:nvSpPr>
          <p:cNvPr id="5" name="metin">
            <a:extLst>
              <a:ext uri="{FF2B5EF4-FFF2-40B4-BE49-F238E27FC236}">
                <a16:creationId xmlns:a16="http://schemas.microsoft.com/office/drawing/2014/main" id="{D83ED675-A2F7-43C9-BAB0-04983DA88458}"/>
              </a:ext>
            </a:extLst>
          </p:cNvPr>
          <p:cNvSpPr>
            <a:spLocks noGrp="1"/>
          </p:cNvSpPr>
          <p:nvPr/>
        </p:nvSpPr>
        <p:spPr>
          <a:xfrm>
            <a:off x="6391275" y="1409700"/>
            <a:ext cx="51244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1">
                <a:solidFill>
                  <a:srgbClr val="087E8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E82"/>
                </a:solidFill>
                <a:latin typeface="Arial"/>
                <a:ea typeface="Arial"/>
                <a:cs typeface="Arial"/>
              </a:rPr>
              <a:t>Sayısal temsilde</a:t>
            </a:r>
          </a:p>
        </p:txBody>
      </p:sp>
      <p:sp>
        <p:nvSpPr>
          <p:cNvPr id="6" name="metin">
            <a:extLst>
              <a:ext uri="{FF2B5EF4-FFF2-40B4-BE49-F238E27FC236}">
                <a16:creationId xmlns:a16="http://schemas.microsoft.com/office/drawing/2014/main" id="{402CC661-8C2F-40D8-A07B-D18A5B37D1B3}"/>
              </a:ext>
            </a:extLst>
          </p:cNvPr>
          <p:cNvSpPr>
            <a:spLocks noGrp="1"/>
          </p:cNvSpPr>
          <p:nvPr/>
        </p:nvSpPr>
        <p:spPr>
          <a:xfrm>
            <a:off x="762000" y="2105025"/>
            <a:ext cx="5143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Zamandaki değişim ve gerilim değeri doğrudan bilgidir.</a:t>
            </a:r>
          </a:p>
        </p:txBody>
      </p:sp>
      <p:sp>
        <p:nvSpPr>
          <p:cNvPr id="7" name="metin">
            <a:extLst>
              <a:ext uri="{FF2B5EF4-FFF2-40B4-BE49-F238E27FC236}">
                <a16:creationId xmlns:a16="http://schemas.microsoft.com/office/drawing/2014/main" id="{9C3BBD75-85C8-48A3-9F00-1BA98F0A4E68}"/>
              </a:ext>
            </a:extLst>
          </p:cNvPr>
          <p:cNvSpPr>
            <a:spLocks noGrp="1"/>
          </p:cNvSpPr>
          <p:nvPr/>
        </p:nvSpPr>
        <p:spPr>
          <a:xfrm>
            <a:off x="762000" y="3086100"/>
            <a:ext cx="5143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Gürültü doğrudan değere eklenebilir.</a:t>
            </a:r>
          </a:p>
        </p:txBody>
      </p:sp>
      <p:sp>
        <p:nvSpPr>
          <p:cNvPr id="8" name="metin">
            <a:extLst>
              <a:ext uri="{FF2B5EF4-FFF2-40B4-BE49-F238E27FC236}">
                <a16:creationId xmlns:a16="http://schemas.microsoft.com/office/drawing/2014/main" id="{F4BEE0D9-E1FB-4F0F-9F79-83560FF4AF2A}"/>
              </a:ext>
            </a:extLst>
          </p:cNvPr>
          <p:cNvSpPr>
            <a:spLocks noGrp="1"/>
          </p:cNvSpPr>
          <p:nvPr/>
        </p:nvSpPr>
        <p:spPr>
          <a:xfrm>
            <a:off x="762000" y="4067175"/>
            <a:ext cx="5143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Ölçüm ön ucu çoğu zaman analogdur.</a:t>
            </a:r>
          </a:p>
        </p:txBody>
      </p:sp>
      <p:sp>
        <p:nvSpPr>
          <p:cNvPr id="9" name="metin">
            <a:extLst>
              <a:ext uri="{FF2B5EF4-FFF2-40B4-BE49-F238E27FC236}">
                <a16:creationId xmlns:a16="http://schemas.microsoft.com/office/drawing/2014/main" id="{6C30DB85-0236-411F-B007-E4954A2469DF}"/>
              </a:ext>
            </a:extLst>
          </p:cNvPr>
          <p:cNvSpPr>
            <a:spLocks noGrp="1"/>
          </p:cNvSpPr>
          <p:nvPr/>
        </p:nvSpPr>
        <p:spPr>
          <a:xfrm>
            <a:off x="6429375" y="2105025"/>
            <a:ext cx="5048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Bilgi, sınırları belirlenmiş kodlarla taşınır.</a:t>
            </a:r>
          </a:p>
        </p:txBody>
      </p:sp>
      <p:sp>
        <p:nvSpPr>
          <p:cNvPr id="10" name="metin">
            <a:extLst>
              <a:ext uri="{FF2B5EF4-FFF2-40B4-BE49-F238E27FC236}">
                <a16:creationId xmlns:a16="http://schemas.microsoft.com/office/drawing/2014/main" id="{C2A722E9-D13E-42D8-A35F-B6F343E26805}"/>
              </a:ext>
            </a:extLst>
          </p:cNvPr>
          <p:cNvSpPr>
            <a:spLocks noGrp="1"/>
          </p:cNvSpPr>
          <p:nvPr/>
        </p:nvSpPr>
        <p:spPr>
          <a:xfrm>
            <a:off x="6429375" y="3086100"/>
            <a:ext cx="5048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Eşiklerden uzak gürültü, karar sonucunu değiştirmeyebilir.</a:t>
            </a:r>
          </a:p>
        </p:txBody>
      </p:sp>
      <p:sp>
        <p:nvSpPr>
          <p:cNvPr id="11" name="metin">
            <a:extLst>
              <a:ext uri="{FF2B5EF4-FFF2-40B4-BE49-F238E27FC236}">
                <a16:creationId xmlns:a16="http://schemas.microsoft.com/office/drawing/2014/main" id="{3EE077B4-B842-4AA3-B114-FB8A90C1D856}"/>
              </a:ext>
            </a:extLst>
          </p:cNvPr>
          <p:cNvSpPr>
            <a:spLocks noGrp="1"/>
          </p:cNvSpPr>
          <p:nvPr/>
        </p:nvSpPr>
        <p:spPr>
          <a:xfrm>
            <a:off x="6429375" y="4067175"/>
            <a:ext cx="5048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Örnekleme ve nicemleme çözünürlüğü sınırlar.</a:t>
            </a:r>
          </a:p>
        </p:txBody>
      </p:sp>
    </p:spTree>
    <p:extLst>
      <p:ext uri="{BB962C8B-B14F-4D97-AF65-F5344CB8AC3E}">
        <p14:creationId xmlns:p14="http://schemas.microsoft.com/office/powerpoint/2010/main" val="15671474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">
            <a:extLst>
              <a:ext uri="{FF2B5EF4-FFF2-40B4-BE49-F238E27FC236}">
                <a16:creationId xmlns:a16="http://schemas.microsoft.com/office/drawing/2014/main" id="{6316717B-D71F-4F0C-B1AE-66F19E8C3C6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084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466E"/>
                </a:solidFill>
                <a:latin typeface="Arial"/>
                <a:ea typeface="Arial"/>
                <a:cs typeface="Arial"/>
              </a:rPr>
              <a:t>Hızlı kontrol: dört sınıflandırma</a:t>
            </a:r>
          </a:p>
        </p:txBody>
      </p:sp>
      <p:sp>
        <p:nvSpPr>
          <p:cNvPr id="2" name="metin">
            <a:extLst>
              <a:ext uri="{FF2B5EF4-FFF2-40B4-BE49-F238E27FC236}">
                <a16:creationId xmlns:a16="http://schemas.microsoft.com/office/drawing/2014/main" id="{DB957804-D1E8-4A9F-AEBA-391201C4990A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MANTIK DEVRELERİ  ·  DERS 1</a:t>
            </a:r>
          </a:p>
        </p:txBody>
      </p:sp>
      <p:sp>
        <p:nvSpPr>
          <p:cNvPr id="3" name="metin">
            <a:extLst>
              <a:ext uri="{FF2B5EF4-FFF2-40B4-BE49-F238E27FC236}">
                <a16:creationId xmlns:a16="http://schemas.microsoft.com/office/drawing/2014/main" id="{57938EA9-173E-4F91-9AB4-C96AEF18696E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metin">
            <a:extLst>
              <a:ext uri="{FF2B5EF4-FFF2-40B4-BE49-F238E27FC236}">
                <a16:creationId xmlns:a16="http://schemas.microsoft.com/office/drawing/2014/main" id="{1BD8A1E9-8782-46E0-8794-AA4A39C0F308}"/>
              </a:ext>
            </a:extLst>
          </p:cNvPr>
          <p:cNvSpPr>
            <a:spLocks noGrp="1"/>
          </p:cNvSpPr>
          <p:nvPr/>
        </p:nvSpPr>
        <p:spPr>
          <a:xfrm>
            <a:off x="781050" y="1381125"/>
            <a:ext cx="104394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1. Termokupl gerilimi.</a:t>
            </a:r>
          </a:p>
        </p:txBody>
      </p:sp>
      <p:sp>
        <p:nvSpPr>
          <p:cNvPr id="5" name="metin">
            <a:extLst>
              <a:ext uri="{FF2B5EF4-FFF2-40B4-BE49-F238E27FC236}">
                <a16:creationId xmlns:a16="http://schemas.microsoft.com/office/drawing/2014/main" id="{373AD026-3F9D-4410-988E-9F0C87BFE31B}"/>
              </a:ext>
            </a:extLst>
          </p:cNvPr>
          <p:cNvSpPr>
            <a:spLocks noGrp="1"/>
          </p:cNvSpPr>
          <p:nvPr/>
        </p:nvSpPr>
        <p:spPr>
          <a:xfrm>
            <a:off x="781050" y="2238375"/>
            <a:ext cx="104394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2. Her 1 ms’de okunan, nicemlenmemiş gerilim değerleri.</a:t>
            </a:r>
          </a:p>
        </p:txBody>
      </p:sp>
      <p:sp>
        <p:nvSpPr>
          <p:cNvPr id="6" name="metin">
            <a:extLst>
              <a:ext uri="{FF2B5EF4-FFF2-40B4-BE49-F238E27FC236}">
                <a16:creationId xmlns:a16="http://schemas.microsoft.com/office/drawing/2014/main" id="{864D3364-860E-41CB-ADA8-54839E82E4FC}"/>
              </a:ext>
            </a:extLst>
          </p:cNvPr>
          <p:cNvSpPr>
            <a:spLocks noGrp="1"/>
          </p:cNvSpPr>
          <p:nvPr/>
        </p:nvSpPr>
        <p:spPr>
          <a:xfrm>
            <a:off x="781050" y="3095625"/>
            <a:ext cx="104394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3. 3 bit ADC kodu 101₂.</a:t>
            </a:r>
          </a:p>
        </p:txBody>
      </p:sp>
      <p:sp>
        <p:nvSpPr>
          <p:cNvPr id="7" name="metin">
            <a:extLst>
              <a:ext uri="{FF2B5EF4-FFF2-40B4-BE49-F238E27FC236}">
                <a16:creationId xmlns:a16="http://schemas.microsoft.com/office/drawing/2014/main" id="{CF92906A-18D5-4CB2-A25E-60778C5E3043}"/>
              </a:ext>
            </a:extLst>
          </p:cNvPr>
          <p:cNvSpPr>
            <a:spLocks noGrp="1"/>
          </p:cNvSpPr>
          <p:nvPr/>
        </p:nvSpPr>
        <p:spPr>
          <a:xfrm>
            <a:off x="781050" y="3952875"/>
            <a:ext cx="104394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4. Lojik kapının 0–5 V arasında geçiş yapan fiziksel çıkışı.</a:t>
            </a:r>
          </a:p>
        </p:txBody>
      </p:sp>
    </p:spTree>
    <p:extLst>
      <p:ext uri="{BB962C8B-B14F-4D97-AF65-F5344CB8AC3E}">
        <p14:creationId xmlns:p14="http://schemas.microsoft.com/office/powerpoint/2010/main" val="7763794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">
            <a:extLst>
              <a:ext uri="{FF2B5EF4-FFF2-40B4-BE49-F238E27FC236}">
                <a16:creationId xmlns:a16="http://schemas.microsoft.com/office/drawing/2014/main" id="{777FEE63-6CE5-4E40-AF1F-1E4864A9ACC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084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466E"/>
                </a:solidFill>
                <a:latin typeface="Arial"/>
                <a:ea typeface="Arial"/>
                <a:cs typeface="Arial"/>
              </a:rPr>
              <a:t>Mantık ailesi neyi belirler?</a:t>
            </a:r>
          </a:p>
        </p:txBody>
      </p:sp>
      <p:sp>
        <p:nvSpPr>
          <p:cNvPr id="2" name="metin">
            <a:extLst>
              <a:ext uri="{FF2B5EF4-FFF2-40B4-BE49-F238E27FC236}">
                <a16:creationId xmlns:a16="http://schemas.microsoft.com/office/drawing/2014/main" id="{C5B254EA-5E8B-4637-B4E6-264165205150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MANTIK DEVRELERİ  ·  DERS 1</a:t>
            </a:r>
          </a:p>
        </p:txBody>
      </p:sp>
      <p:sp>
        <p:nvSpPr>
          <p:cNvPr id="3" name="metin">
            <a:extLst>
              <a:ext uri="{FF2B5EF4-FFF2-40B4-BE49-F238E27FC236}">
                <a16:creationId xmlns:a16="http://schemas.microsoft.com/office/drawing/2014/main" id="{D78037F4-7DD8-4923-BCD3-99587CC4D6AD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4" name="metin">
            <a:extLst>
              <a:ext uri="{FF2B5EF4-FFF2-40B4-BE49-F238E27FC236}">
                <a16:creationId xmlns:a16="http://schemas.microsoft.com/office/drawing/2014/main" id="{94525ADB-2025-4874-9A3B-EDD3065E7069}"/>
              </a:ext>
            </a:extLst>
          </p:cNvPr>
          <p:cNvSpPr>
            <a:spLocks noGrp="1"/>
          </p:cNvSpPr>
          <p:nvPr/>
        </p:nvSpPr>
        <p:spPr>
          <a:xfrm>
            <a:off x="781050" y="1381125"/>
            <a:ext cx="1043940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Aynı lojik işlev, farklı transistor teknolojileriyle gerçeklenebilir.</a:t>
            </a:r>
          </a:p>
        </p:txBody>
      </p:sp>
      <p:sp>
        <p:nvSpPr>
          <p:cNvPr id="5" name="metin">
            <a:extLst>
              <a:ext uri="{FF2B5EF4-FFF2-40B4-BE49-F238E27FC236}">
                <a16:creationId xmlns:a16="http://schemas.microsoft.com/office/drawing/2014/main" id="{F557520C-613C-41E1-B42F-B6C0D127B98E}"/>
              </a:ext>
            </a:extLst>
          </p:cNvPr>
          <p:cNvSpPr>
            <a:spLocks noGrp="1"/>
          </p:cNvSpPr>
          <p:nvPr/>
        </p:nvSpPr>
        <p:spPr>
          <a:xfrm>
            <a:off x="781050" y="2314575"/>
            <a:ext cx="10439400" cy="866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Aile; giriş/çıkış gerilimleri, akım, hız, güç ve beslemeyi belirler.</a:t>
            </a:r>
          </a:p>
        </p:txBody>
      </p:sp>
      <p:sp>
        <p:nvSpPr>
          <p:cNvPr id="6" name="metin">
            <a:extLst>
              <a:ext uri="{FF2B5EF4-FFF2-40B4-BE49-F238E27FC236}">
                <a16:creationId xmlns:a16="http://schemas.microsoft.com/office/drawing/2014/main" id="{2085A2CC-9718-469D-8EA9-5208EDADB490}"/>
              </a:ext>
            </a:extLst>
          </p:cNvPr>
          <p:cNvSpPr>
            <a:spLocks noGrp="1"/>
          </p:cNvSpPr>
          <p:nvPr/>
        </p:nvSpPr>
        <p:spPr>
          <a:xfrm>
            <a:off x="781050" y="3276600"/>
            <a:ext cx="1043940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RTL ve DTL tarihsel yaklaşımlar, TTL ve CMOS yaygın karşılaştırma örnekleridir.</a:t>
            </a:r>
          </a:p>
        </p:txBody>
      </p:sp>
      <p:sp>
        <p:nvSpPr>
          <p:cNvPr id="7" name="metin">
            <a:extLst>
              <a:ext uri="{FF2B5EF4-FFF2-40B4-BE49-F238E27FC236}">
                <a16:creationId xmlns:a16="http://schemas.microsoft.com/office/drawing/2014/main" id="{7FDD0FAB-C779-4D0B-9F87-44FDDB339A81}"/>
              </a:ext>
            </a:extLst>
          </p:cNvPr>
          <p:cNvSpPr>
            <a:spLocks noGrp="1"/>
          </p:cNvSpPr>
          <p:nvPr/>
        </p:nvSpPr>
        <p:spPr>
          <a:xfrm>
            <a:off x="781050" y="4371975"/>
            <a:ext cx="10439400" cy="828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Bir “NAND” sözcüğü bağlantı uyumluluğu için tek başına yeterli değildir.</a:t>
            </a:r>
          </a:p>
        </p:txBody>
      </p:sp>
    </p:spTree>
    <p:extLst>
      <p:ext uri="{BB962C8B-B14F-4D97-AF65-F5344CB8AC3E}">
        <p14:creationId xmlns:p14="http://schemas.microsoft.com/office/powerpoint/2010/main" val="2026775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">
            <a:extLst>
              <a:ext uri="{FF2B5EF4-FFF2-40B4-BE49-F238E27FC236}">
                <a16:creationId xmlns:a16="http://schemas.microsoft.com/office/drawing/2014/main" id="{88FBD4F5-CF59-4E94-B3B9-EA2120AC6B8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084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466E"/>
                </a:solidFill>
                <a:latin typeface="Arial"/>
                <a:ea typeface="Arial"/>
                <a:cs typeface="Arial"/>
              </a:rPr>
              <a:t>Mantık devresi aileleri</a:t>
            </a:r>
          </a:p>
        </p:txBody>
      </p:sp>
      <p:sp>
        <p:nvSpPr>
          <p:cNvPr id="2" name="metin">
            <a:extLst>
              <a:ext uri="{FF2B5EF4-FFF2-40B4-BE49-F238E27FC236}">
                <a16:creationId xmlns:a16="http://schemas.microsoft.com/office/drawing/2014/main" id="{6E286ECA-3AEC-4D0B-8031-FC53741FED8F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MANTIK DEVRELERİ  ·  DERS 1</a:t>
            </a:r>
          </a:p>
        </p:txBody>
      </p:sp>
      <p:sp>
        <p:nvSpPr>
          <p:cNvPr id="3" name="metin">
            <a:extLst>
              <a:ext uri="{FF2B5EF4-FFF2-40B4-BE49-F238E27FC236}">
                <a16:creationId xmlns:a16="http://schemas.microsoft.com/office/drawing/2014/main" id="{DBAA173E-00B6-45BC-BD91-17EA01792846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graphicFrame>
        <p:nvGraphicFramePr>
          <p:cNvPr id="8" name="Table 7"/>
          <p:cNvGraphicFramePr/>
          <p:nvPr/>
        </p:nvGraphicFramePr>
        <p:xfrm>
          <a:off x="666750" y="1409700"/>
          <a:ext cx="10858500" cy="3095625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Aile</a:t>
                      </a:r>
                    </a:p>
                  </a:txBody>
                  <a:tcPr>
                    <a:solidFill>
                      <a:srgbClr val="084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Açılım</a:t>
                      </a:r>
                    </a:p>
                  </a:txBody>
                  <a:tcPr>
                    <a:solidFill>
                      <a:srgbClr val="084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Temel teknoloji</a:t>
                      </a:r>
                    </a:p>
                  </a:txBody>
                  <a:tcPr>
                    <a:solidFill>
                      <a:srgbClr val="084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RTL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Direnç–transistör lojik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Direnç ağı + bipolar transistor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DTL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Diyot–transistör lojik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Diyot ağı + bipolar transistor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TTL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Transistör–transistör lojik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Bipolar transistor ağı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CMOS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Tamamlayıcı MOS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PMOS + NMOS transistor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0976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">
            <a:extLst>
              <a:ext uri="{FF2B5EF4-FFF2-40B4-BE49-F238E27FC236}">
                <a16:creationId xmlns:a16="http://schemas.microsoft.com/office/drawing/2014/main" id="{98DECEDD-0F41-4889-9613-3CBE087D0C3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084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466E"/>
                </a:solidFill>
                <a:latin typeface="Arial"/>
                <a:ea typeface="Arial"/>
                <a:cs typeface="Arial"/>
              </a:rPr>
              <a:t>SN7400 veri sayfasında dört satır</a:t>
            </a:r>
          </a:p>
        </p:txBody>
      </p:sp>
      <p:sp>
        <p:nvSpPr>
          <p:cNvPr id="2" name="metin">
            <a:extLst>
              <a:ext uri="{FF2B5EF4-FFF2-40B4-BE49-F238E27FC236}">
                <a16:creationId xmlns:a16="http://schemas.microsoft.com/office/drawing/2014/main" id="{C9A6A231-7039-448B-9A39-D33B4D06AA89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MANTIK DEVRELERİ  ·  DERS 1</a:t>
            </a:r>
          </a:p>
        </p:txBody>
      </p:sp>
      <p:sp>
        <p:nvSpPr>
          <p:cNvPr id="3" name="metin">
            <a:extLst>
              <a:ext uri="{FF2B5EF4-FFF2-40B4-BE49-F238E27FC236}">
                <a16:creationId xmlns:a16="http://schemas.microsoft.com/office/drawing/2014/main" id="{D50A6B05-C9B3-41F1-B26E-7D4B2C38A650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graphicFrame>
        <p:nvGraphicFramePr>
          <p:cNvPr id="9" name="Table 8"/>
          <p:cNvGraphicFramePr/>
          <p:nvPr/>
        </p:nvGraphicFramePr>
        <p:xfrm>
          <a:off x="666750" y="1409700"/>
          <a:ext cx="10858500" cy="3095625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Parametre</a:t>
                      </a:r>
                    </a:p>
                  </a:txBody>
                  <a:tcPr>
                    <a:solidFill>
                      <a:srgbClr val="084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Koşul</a:t>
                      </a:r>
                    </a:p>
                  </a:txBody>
                  <a:tcPr>
                    <a:solidFill>
                      <a:srgbClr val="084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Değer</a:t>
                      </a:r>
                    </a:p>
                  </a:txBody>
                  <a:tcPr>
                    <a:solidFill>
                      <a:srgbClr val="084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Tasarım yorumu</a:t>
                      </a:r>
                    </a:p>
                  </a:txBody>
                  <a:tcPr>
                    <a:solidFill>
                      <a:srgbClr val="084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VCC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Önerilen çalışma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4,75–5,25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Mutlak maksimum ile karıştırma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VOH(min)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IOH = −0,4 mA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2,4 V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HIGH çıkışı 5 V varsayma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VOL(max)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IOL = 16 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0,4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Yük akımını denetle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tPLH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RL = 400 Ω; CL = 15 pF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11 ns tip; 22 ns maks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Gecikmenin test yükünü oku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metin">
            <a:extLst>
              <a:ext uri="{FF2B5EF4-FFF2-40B4-BE49-F238E27FC236}">
                <a16:creationId xmlns:a16="http://schemas.microsoft.com/office/drawing/2014/main" id="{14018253-43CB-4E45-ABE8-B45D447FFD95}"/>
              </a:ext>
            </a:extLst>
          </p:cNvPr>
          <p:cNvSpPr>
            <a:spLocks noGrp="1"/>
          </p:cNvSpPr>
          <p:nvPr/>
        </p:nvSpPr>
        <p:spPr>
          <a:xfrm>
            <a:off x="771525" y="6010275"/>
            <a:ext cx="1038225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0">
                <a:solidFill>
                  <a:srgbClr val="1875A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75A5"/>
                </a:solidFill>
                <a:latin typeface="Arial"/>
                <a:ea typeface="Arial"/>
                <a:cs typeface="Arial"/>
                <a:hlinkClick r:id="rId3"/>
              </a:rPr>
              <a:t>TI: SN7400 veri sayfasını aç</a:t>
            </a:r>
          </a:p>
        </p:txBody>
      </p:sp>
    </p:spTree>
    <p:extLst>
      <p:ext uri="{BB962C8B-B14F-4D97-AF65-F5344CB8AC3E}">
        <p14:creationId xmlns:p14="http://schemas.microsoft.com/office/powerpoint/2010/main" val="12595252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">
            <a:extLst>
              <a:ext uri="{FF2B5EF4-FFF2-40B4-BE49-F238E27FC236}">
                <a16:creationId xmlns:a16="http://schemas.microsoft.com/office/drawing/2014/main" id="{2E42BD49-8BFA-41B7-B774-4E68C61A3692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084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466E"/>
                </a:solidFill>
                <a:latin typeface="Arial"/>
                <a:ea typeface="Arial"/>
                <a:cs typeface="Arial"/>
              </a:rPr>
              <a:t>7400 NAND kapısının iç yapısı</a:t>
            </a:r>
          </a:p>
        </p:txBody>
      </p:sp>
      <p:sp>
        <p:nvSpPr>
          <p:cNvPr id="2" name="metin">
            <a:extLst>
              <a:ext uri="{FF2B5EF4-FFF2-40B4-BE49-F238E27FC236}">
                <a16:creationId xmlns:a16="http://schemas.microsoft.com/office/drawing/2014/main" id="{97E036B1-87E4-4CB0-8338-5CFA055B80F0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MANTIK DEVRELERİ  ·  DERS 1</a:t>
            </a:r>
          </a:p>
        </p:txBody>
      </p:sp>
      <p:sp>
        <p:nvSpPr>
          <p:cNvPr id="3" name="metin">
            <a:extLst>
              <a:ext uri="{FF2B5EF4-FFF2-40B4-BE49-F238E27FC236}">
                <a16:creationId xmlns:a16="http://schemas.microsoft.com/office/drawing/2014/main" id="{F34DA91E-8314-4B38-A26C-6EF275A9E909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429000" y="1304925"/>
            <a:ext cx="5334000" cy="4000500"/>
          </a:xfrm>
          <a:prstGeom prst="rect">
            <a:avLst/>
          </a:prstGeom>
        </p:spPr>
      </p:pic>
      <p:sp>
        <p:nvSpPr>
          <p:cNvPr id="5" name="metin">
            <a:extLst>
              <a:ext uri="{FF2B5EF4-FFF2-40B4-BE49-F238E27FC236}">
                <a16:creationId xmlns:a16="http://schemas.microsoft.com/office/drawing/2014/main" id="{B1E6F110-54B8-47C1-951E-361759A3BD44}"/>
              </a:ext>
            </a:extLst>
          </p:cNvPr>
          <p:cNvSpPr>
            <a:spLocks noGrp="1"/>
          </p:cNvSpPr>
          <p:nvPr/>
        </p:nvSpPr>
        <p:spPr>
          <a:xfrm>
            <a:off x="819150" y="5619750"/>
            <a:ext cx="10572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Giriş, kontrol ve çıkış katlarını izleyin. Bu görsel 7400 ailesinin öğretim amaçlı tarihsel örneğidir.</a:t>
            </a:r>
          </a:p>
        </p:txBody>
      </p:sp>
    </p:spTree>
    <p:extLst>
      <p:ext uri="{BB962C8B-B14F-4D97-AF65-F5344CB8AC3E}">
        <p14:creationId xmlns:p14="http://schemas.microsoft.com/office/powerpoint/2010/main" val="15654359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">
            <a:extLst>
              <a:ext uri="{FF2B5EF4-FFF2-40B4-BE49-F238E27FC236}">
                <a16:creationId xmlns:a16="http://schemas.microsoft.com/office/drawing/2014/main" id="{30056EB3-2AB7-4818-A3E2-4538D0A34D2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084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466E"/>
                </a:solidFill>
                <a:latin typeface="Arial"/>
                <a:ea typeface="Arial"/>
                <a:cs typeface="Arial"/>
              </a:rPr>
              <a:t>SN7400 ve SN74LS00: aynı işlev, farklı akım</a:t>
            </a:r>
          </a:p>
        </p:txBody>
      </p:sp>
      <p:sp>
        <p:nvSpPr>
          <p:cNvPr id="2" name="metin">
            <a:extLst>
              <a:ext uri="{FF2B5EF4-FFF2-40B4-BE49-F238E27FC236}">
                <a16:creationId xmlns:a16="http://schemas.microsoft.com/office/drawing/2014/main" id="{980F0D48-26D6-4D82-8713-633EBFD8C37F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MANTIK DEVRELERİ  ·  DERS 1</a:t>
            </a:r>
          </a:p>
        </p:txBody>
      </p:sp>
      <p:sp>
        <p:nvSpPr>
          <p:cNvPr id="3" name="metin">
            <a:extLst>
              <a:ext uri="{FF2B5EF4-FFF2-40B4-BE49-F238E27FC236}">
                <a16:creationId xmlns:a16="http://schemas.microsoft.com/office/drawing/2014/main" id="{163D90AD-6A71-444D-A945-C3DEFB8A6910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graphicFrame>
        <p:nvGraphicFramePr>
          <p:cNvPr id="9" name="Table 8"/>
          <p:cNvGraphicFramePr/>
          <p:nvPr/>
        </p:nvGraphicFramePr>
        <p:xfrm>
          <a:off x="666750" y="1409700"/>
          <a:ext cx="10858500" cy="4286247"/>
        </p:xfrm>
        <a:graphic>
          <a:graphicData uri="http://schemas.openxmlformats.org/drawingml/2006/table">
            <a:tbl>
              <a:tblPr/>
              <a:tblGrid>
                <a:gridCol w="233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8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8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57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2321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Parametre</a:t>
                      </a:r>
                    </a:p>
                  </a:txBody>
                  <a:tcPr>
                    <a:solidFill>
                      <a:srgbClr val="084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SN7400</a:t>
                      </a:r>
                    </a:p>
                  </a:txBody>
                  <a:tcPr>
                    <a:solidFill>
                      <a:srgbClr val="084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SN74LS00</a:t>
                      </a:r>
                    </a:p>
                  </a:txBody>
                  <a:tcPr>
                    <a:solidFill>
                      <a:srgbClr val="084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 koşulu</a:t>
                      </a:r>
                    </a:p>
                  </a:txBody>
                  <a:tcPr>
                    <a:solidFill>
                      <a:srgbClr val="084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VIH(min), VIL(max)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2,0 V; 0,8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2,0 V; 0,8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TTL girişleri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VOH(min)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2,4 V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2,5 V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IOH = −0,4 mA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VOL(max)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0,4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0,5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IOL = 16 mA / 8 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IIH(max)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40 µA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20 µA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Giriş HIGH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|IIL(max)|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1,6 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0,4 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Giriş 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ICCL(max)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22 mA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4,4 mA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VCC = MAX; VI = 4,5 V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metin">
            <a:extLst>
              <a:ext uri="{FF2B5EF4-FFF2-40B4-BE49-F238E27FC236}">
                <a16:creationId xmlns:a16="http://schemas.microsoft.com/office/drawing/2014/main" id="{DABF89EE-BB99-42CB-A154-2053A6D28E0B}"/>
              </a:ext>
            </a:extLst>
          </p:cNvPr>
          <p:cNvSpPr>
            <a:spLocks noGrp="1"/>
          </p:cNvSpPr>
          <p:nvPr/>
        </p:nvSpPr>
        <p:spPr>
          <a:xfrm>
            <a:off x="771525" y="6010275"/>
            <a:ext cx="1038225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0">
                <a:solidFill>
                  <a:srgbClr val="1875A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75A5"/>
                </a:solidFill>
                <a:latin typeface="Arial"/>
                <a:ea typeface="Arial"/>
                <a:cs typeface="Arial"/>
                <a:hlinkClick r:id="rId3"/>
              </a:rPr>
              <a:t>TI: SN7400 / SN74LS00 veri sayfasını aç</a:t>
            </a:r>
          </a:p>
        </p:txBody>
      </p:sp>
    </p:spTree>
    <p:extLst>
      <p:ext uri="{BB962C8B-B14F-4D97-AF65-F5344CB8AC3E}">
        <p14:creationId xmlns:p14="http://schemas.microsoft.com/office/powerpoint/2010/main" val="3001597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">
            <a:extLst>
              <a:ext uri="{FF2B5EF4-FFF2-40B4-BE49-F238E27FC236}">
                <a16:creationId xmlns:a16="http://schemas.microsoft.com/office/drawing/2014/main" id="{070D29C9-A063-4E32-9552-759BCAC0080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084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466E"/>
                </a:solidFill>
                <a:latin typeface="Arial"/>
                <a:ea typeface="Arial"/>
                <a:cs typeface="Arial"/>
              </a:rPr>
              <a:t>SN74LS04 giriş ve çıkış akımları</a:t>
            </a:r>
          </a:p>
        </p:txBody>
      </p:sp>
      <p:sp>
        <p:nvSpPr>
          <p:cNvPr id="2" name="metin">
            <a:extLst>
              <a:ext uri="{FF2B5EF4-FFF2-40B4-BE49-F238E27FC236}">
                <a16:creationId xmlns:a16="http://schemas.microsoft.com/office/drawing/2014/main" id="{050C6370-134A-4E76-8F80-C3256BF551B2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MANTIK DEVRELERİ  ·  DERS 1</a:t>
            </a:r>
          </a:p>
        </p:txBody>
      </p:sp>
      <p:sp>
        <p:nvSpPr>
          <p:cNvPr id="3" name="metin">
            <a:extLst>
              <a:ext uri="{FF2B5EF4-FFF2-40B4-BE49-F238E27FC236}">
                <a16:creationId xmlns:a16="http://schemas.microsoft.com/office/drawing/2014/main" id="{858AD88B-0BF3-412D-9A57-D72A63527E34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4" name="metin">
            <a:extLst>
              <a:ext uri="{FF2B5EF4-FFF2-40B4-BE49-F238E27FC236}">
                <a16:creationId xmlns:a16="http://schemas.microsoft.com/office/drawing/2014/main" id="{0E3DF1E2-60CE-4F1F-A8AB-12D150561DED}"/>
              </a:ext>
            </a:extLst>
          </p:cNvPr>
          <p:cNvSpPr>
            <a:spLocks noGrp="1"/>
          </p:cNvSpPr>
          <p:nvPr/>
        </p:nvSpPr>
        <p:spPr>
          <a:xfrm>
            <a:off x="781050" y="1381125"/>
            <a:ext cx="10439400" cy="828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Örnek: SN74LS04, altı evirici içeren bipolar TTL entegresidir.</a:t>
            </a:r>
          </a:p>
        </p:txBody>
      </p:sp>
      <p:sp>
        <p:nvSpPr>
          <p:cNvPr id="5" name="metin">
            <a:extLst>
              <a:ext uri="{FF2B5EF4-FFF2-40B4-BE49-F238E27FC236}">
                <a16:creationId xmlns:a16="http://schemas.microsoft.com/office/drawing/2014/main" id="{A4D2559C-86E9-4BB0-A4CE-749F1B8699C2}"/>
              </a:ext>
            </a:extLst>
          </p:cNvPr>
          <p:cNvSpPr>
            <a:spLocks noGrp="1"/>
          </p:cNvSpPr>
          <p:nvPr/>
        </p:nvSpPr>
        <p:spPr>
          <a:xfrm>
            <a:off x="781050" y="2305050"/>
            <a:ext cx="104394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SN74LS04 beslemesi: 4,75–5,25 V. Giriş HIGH ≥ 2,0 V; LOW ≤ 0,8 V.</a:t>
            </a:r>
          </a:p>
        </p:txBody>
      </p:sp>
      <p:sp>
        <p:nvSpPr>
          <p:cNvPr id="6" name="metin">
            <a:extLst>
              <a:ext uri="{FF2B5EF4-FFF2-40B4-BE49-F238E27FC236}">
                <a16:creationId xmlns:a16="http://schemas.microsoft.com/office/drawing/2014/main" id="{0BEA9643-33F6-4131-8D9A-B1DDA1ABE3C3}"/>
              </a:ext>
            </a:extLst>
          </p:cNvPr>
          <p:cNvSpPr>
            <a:spLocks noGrp="1"/>
          </p:cNvSpPr>
          <p:nvPr/>
        </p:nvSpPr>
        <p:spPr>
          <a:xfrm>
            <a:off x="781050" y="3390900"/>
            <a:ext cx="104394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Çıkışın yük altındaki HIGH/LOW sınırları, besleme geriliminden farklıdır.</a:t>
            </a:r>
          </a:p>
        </p:txBody>
      </p:sp>
      <p:sp>
        <p:nvSpPr>
          <p:cNvPr id="7" name="metin">
            <a:extLst>
              <a:ext uri="{FF2B5EF4-FFF2-40B4-BE49-F238E27FC236}">
                <a16:creationId xmlns:a16="http://schemas.microsoft.com/office/drawing/2014/main" id="{0476B2E4-49D2-40A5-AE06-9F25D3DFA4AF}"/>
              </a:ext>
            </a:extLst>
          </p:cNvPr>
          <p:cNvSpPr>
            <a:spLocks noGrp="1"/>
          </p:cNvSpPr>
          <p:nvPr/>
        </p:nvSpPr>
        <p:spPr>
          <a:xfrm>
            <a:off x="781050" y="4391025"/>
            <a:ext cx="104394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Bu yüzden “5 V entegre = çıkış 5 V” çıkarımı güvenilir değildir.</a:t>
            </a:r>
          </a:p>
        </p:txBody>
      </p:sp>
    </p:spTree>
    <p:extLst>
      <p:ext uri="{BB962C8B-B14F-4D97-AF65-F5344CB8AC3E}">
        <p14:creationId xmlns:p14="http://schemas.microsoft.com/office/powerpoint/2010/main" val="18513037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">
            <a:extLst>
              <a:ext uri="{FF2B5EF4-FFF2-40B4-BE49-F238E27FC236}">
                <a16:creationId xmlns:a16="http://schemas.microsoft.com/office/drawing/2014/main" id="{36E132E3-7134-496E-9F85-5F0B31515E7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084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466E"/>
                </a:solidFill>
                <a:latin typeface="Arial"/>
                <a:ea typeface="Arial"/>
                <a:cs typeface="Arial"/>
              </a:rPr>
              <a:t>CMOS: tamamlayıcı anahtarlama</a:t>
            </a:r>
          </a:p>
        </p:txBody>
      </p:sp>
      <p:sp>
        <p:nvSpPr>
          <p:cNvPr id="2" name="metin">
            <a:extLst>
              <a:ext uri="{FF2B5EF4-FFF2-40B4-BE49-F238E27FC236}">
                <a16:creationId xmlns:a16="http://schemas.microsoft.com/office/drawing/2014/main" id="{16B61ABF-D49C-469C-9597-DB1BA83B7C59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MANTIK DEVRELERİ  ·  DERS 1</a:t>
            </a:r>
          </a:p>
        </p:txBody>
      </p:sp>
      <p:sp>
        <p:nvSpPr>
          <p:cNvPr id="3" name="metin">
            <a:extLst>
              <a:ext uri="{FF2B5EF4-FFF2-40B4-BE49-F238E27FC236}">
                <a16:creationId xmlns:a16="http://schemas.microsoft.com/office/drawing/2014/main" id="{5077437E-1B25-4F7A-A536-42C330A780EF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4" name="metin">
            <a:extLst>
              <a:ext uri="{FF2B5EF4-FFF2-40B4-BE49-F238E27FC236}">
                <a16:creationId xmlns:a16="http://schemas.microsoft.com/office/drawing/2014/main" id="{8D3E1077-AF32-4C15-ABCA-30F4AF12E76B}"/>
              </a:ext>
            </a:extLst>
          </p:cNvPr>
          <p:cNvSpPr>
            <a:spLocks noGrp="1"/>
          </p:cNvSpPr>
          <p:nvPr/>
        </p:nvSpPr>
        <p:spPr>
          <a:xfrm>
            <a:off x="781050" y="1381125"/>
            <a:ext cx="104394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PMOS ve NMOS transistorlar zıt lojik durumlarda iletime geçer.</a:t>
            </a:r>
          </a:p>
        </p:txBody>
      </p:sp>
      <p:sp>
        <p:nvSpPr>
          <p:cNvPr id="5" name="metin">
            <a:extLst>
              <a:ext uri="{FF2B5EF4-FFF2-40B4-BE49-F238E27FC236}">
                <a16:creationId xmlns:a16="http://schemas.microsoft.com/office/drawing/2014/main" id="{EC6E6B07-5F63-4555-90A5-F439ECF435DA}"/>
              </a:ext>
            </a:extLst>
          </p:cNvPr>
          <p:cNvSpPr>
            <a:spLocks noGrp="1"/>
          </p:cNvSpPr>
          <p:nvPr/>
        </p:nvSpPr>
        <p:spPr>
          <a:xfrm>
            <a:off x="781050" y="2381250"/>
            <a:ext cx="104394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İdeal durağan durumda doğrudan beslemeden toprağa yol bulunmaz.</a:t>
            </a:r>
          </a:p>
        </p:txBody>
      </p:sp>
      <p:sp>
        <p:nvSpPr>
          <p:cNvPr id="6" name="metin">
            <a:extLst>
              <a:ext uri="{FF2B5EF4-FFF2-40B4-BE49-F238E27FC236}">
                <a16:creationId xmlns:a16="http://schemas.microsoft.com/office/drawing/2014/main" id="{01024338-1888-485E-85B7-94F8540B90C0}"/>
              </a:ext>
            </a:extLst>
          </p:cNvPr>
          <p:cNvSpPr>
            <a:spLocks noGrp="1"/>
          </p:cNvSpPr>
          <p:nvPr/>
        </p:nvSpPr>
        <p:spPr>
          <a:xfrm>
            <a:off x="781050" y="3381375"/>
            <a:ext cx="104394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Geçişlerde yük kapasiteleri dolar ve boşalır, dinamik güç harcanır.</a:t>
            </a:r>
          </a:p>
        </p:txBody>
      </p:sp>
      <p:sp>
        <p:nvSpPr>
          <p:cNvPr id="7" name="metin">
            <a:extLst>
              <a:ext uri="{FF2B5EF4-FFF2-40B4-BE49-F238E27FC236}">
                <a16:creationId xmlns:a16="http://schemas.microsoft.com/office/drawing/2014/main" id="{C07013B2-B89E-4F13-899A-C9A1FA0E6199}"/>
              </a:ext>
            </a:extLst>
          </p:cNvPr>
          <p:cNvSpPr>
            <a:spLocks noGrp="1"/>
          </p:cNvSpPr>
          <p:nvPr/>
        </p:nvSpPr>
        <p:spPr>
          <a:xfrm>
            <a:off x="781050" y="4381500"/>
            <a:ext cx="104394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Sızıntı ve kısa süreli geçiş akımları gerçek devrelerde ayrıca vardır.</a:t>
            </a:r>
          </a:p>
        </p:txBody>
      </p:sp>
    </p:spTree>
    <p:extLst>
      <p:ext uri="{BB962C8B-B14F-4D97-AF65-F5344CB8AC3E}">
        <p14:creationId xmlns:p14="http://schemas.microsoft.com/office/powerpoint/2010/main" val="17444623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tin">
            <a:extLst>
              <a:ext uri="{FF2B5EF4-FFF2-40B4-BE49-F238E27FC236}">
                <a16:creationId xmlns:a16="http://schemas.microsoft.com/office/drawing/2014/main" id="{26F95787-114C-47DD-AA64-466575C2538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084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466E"/>
                </a:solidFill>
                <a:latin typeface="Arial"/>
                <a:ea typeface="Arial"/>
                <a:cs typeface="Arial"/>
              </a:rPr>
              <a:t>CMOS NAND transistör ağı</a:t>
            </a:r>
          </a:p>
        </p:txBody>
      </p:sp>
      <p:sp>
        <p:nvSpPr>
          <p:cNvPr id="2" name="metin">
            <a:extLst>
              <a:ext uri="{FF2B5EF4-FFF2-40B4-BE49-F238E27FC236}">
                <a16:creationId xmlns:a16="http://schemas.microsoft.com/office/drawing/2014/main" id="{3F092DA0-7907-4F12-860F-530BAD612ADB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MANTIK DEVRELERİ  ·  DERS 1</a:t>
            </a:r>
          </a:p>
        </p:txBody>
      </p:sp>
      <p:sp>
        <p:nvSpPr>
          <p:cNvPr id="3" name="metin">
            <a:extLst>
              <a:ext uri="{FF2B5EF4-FFF2-40B4-BE49-F238E27FC236}">
                <a16:creationId xmlns:a16="http://schemas.microsoft.com/office/drawing/2014/main" id="{0C11C77F-F59C-4FBC-821A-EF1BAEECAF13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59335" y="1371600"/>
            <a:ext cx="4977431" cy="4914900"/>
          </a:xfrm>
          <a:prstGeom prst="rect">
            <a:avLst/>
          </a:prstGeom>
        </p:spPr>
      </p:pic>
      <p:sp>
        <p:nvSpPr>
          <p:cNvPr id="5" name="metin">
            <a:extLst>
              <a:ext uri="{FF2B5EF4-FFF2-40B4-BE49-F238E27FC236}">
                <a16:creationId xmlns:a16="http://schemas.microsoft.com/office/drawing/2014/main" id="{F90B284E-94DE-437F-826E-59A4D0CB8B52}"/>
              </a:ext>
            </a:extLst>
          </p:cNvPr>
          <p:cNvSpPr>
            <a:spLocks noGrp="1"/>
          </p:cNvSpPr>
          <p:nvPr/>
        </p:nvSpPr>
        <p:spPr>
          <a:xfrm>
            <a:off x="6858000" y="1666875"/>
            <a:ext cx="4476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1">
                <a:solidFill>
                  <a:srgbClr val="1875A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75A5"/>
                </a:solidFill>
                <a:latin typeface="Arial"/>
                <a:ea typeface="Arial"/>
                <a:cs typeface="Arial"/>
              </a:rPr>
              <a:t>Tamamlayıcı ağ</a:t>
            </a:r>
          </a:p>
        </p:txBody>
      </p:sp>
      <p:sp>
        <p:nvSpPr>
          <p:cNvPr id="6" name="metin">
            <a:extLst>
              <a:ext uri="{FF2B5EF4-FFF2-40B4-BE49-F238E27FC236}">
                <a16:creationId xmlns:a16="http://schemas.microsoft.com/office/drawing/2014/main" id="{D07A990B-3CC3-497D-8545-331BB141CBE3}"/>
              </a:ext>
            </a:extLst>
          </p:cNvPr>
          <p:cNvSpPr>
            <a:spLocks noGrp="1"/>
          </p:cNvSpPr>
          <p:nvPr/>
        </p:nvSpPr>
        <p:spPr>
          <a:xfrm>
            <a:off x="6858000" y="2533650"/>
            <a:ext cx="4572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Üstte PMOS, altta NMOS ağı bulunur.</a:t>
            </a:r>
          </a:p>
        </p:txBody>
      </p:sp>
      <p:sp>
        <p:nvSpPr>
          <p:cNvPr id="7" name="metin">
            <a:extLst>
              <a:ext uri="{FF2B5EF4-FFF2-40B4-BE49-F238E27FC236}">
                <a16:creationId xmlns:a16="http://schemas.microsoft.com/office/drawing/2014/main" id="{1BCF76AC-E257-478B-B21B-1ABE3528147C}"/>
              </a:ext>
            </a:extLst>
          </p:cNvPr>
          <p:cNvSpPr>
            <a:spLocks noGrp="1"/>
          </p:cNvSpPr>
          <p:nvPr/>
        </p:nvSpPr>
        <p:spPr>
          <a:xfrm>
            <a:off x="6858000" y="3543300"/>
            <a:ext cx="4572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Giriş durumuna göre çıkış beslemeye ya da toprağa bağlanır.</a:t>
            </a:r>
          </a:p>
        </p:txBody>
      </p:sp>
      <p:sp>
        <p:nvSpPr>
          <p:cNvPr id="8" name="metin">
            <a:extLst>
              <a:ext uri="{FF2B5EF4-FFF2-40B4-BE49-F238E27FC236}">
                <a16:creationId xmlns:a16="http://schemas.microsoft.com/office/drawing/2014/main" id="{BF959F24-5BAC-4F97-999F-2BB4D03A6678}"/>
              </a:ext>
            </a:extLst>
          </p:cNvPr>
          <p:cNvSpPr>
            <a:spLocks noGrp="1"/>
          </p:cNvSpPr>
          <p:nvPr/>
        </p:nvSpPr>
        <p:spPr>
          <a:xfrm>
            <a:off x="6858000" y="4552950"/>
            <a:ext cx="4572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Akım yolu ve geçiş anı güç tüketimini etkiler.</a:t>
            </a:r>
          </a:p>
        </p:txBody>
      </p:sp>
    </p:spTree>
    <p:extLst>
      <p:ext uri="{BB962C8B-B14F-4D97-AF65-F5344CB8AC3E}">
        <p14:creationId xmlns:p14="http://schemas.microsoft.com/office/powerpoint/2010/main" val="4749847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tin">
            <a:extLst>
              <a:ext uri="{FF2B5EF4-FFF2-40B4-BE49-F238E27FC236}">
                <a16:creationId xmlns:a16="http://schemas.microsoft.com/office/drawing/2014/main" id="{4762FDE4-2C27-4E52-8CF6-11E71A8DB77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084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466E"/>
                </a:solidFill>
                <a:latin typeface="Arial"/>
                <a:ea typeface="Arial"/>
                <a:cs typeface="Arial"/>
              </a:rPr>
              <a:t>SN74HC00: frekans ve dinamik güç</a:t>
            </a:r>
          </a:p>
        </p:txBody>
      </p:sp>
      <p:sp>
        <p:nvSpPr>
          <p:cNvPr id="2" name="metin">
            <a:extLst>
              <a:ext uri="{FF2B5EF4-FFF2-40B4-BE49-F238E27FC236}">
                <a16:creationId xmlns:a16="http://schemas.microsoft.com/office/drawing/2014/main" id="{4BB78F6E-41DE-40C3-AD21-61FD8560D152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MANTIK DEVRELERİ  ·  DERS 1</a:t>
            </a:r>
          </a:p>
        </p:txBody>
      </p:sp>
      <p:sp>
        <p:nvSpPr>
          <p:cNvPr id="3" name="metin">
            <a:extLst>
              <a:ext uri="{FF2B5EF4-FFF2-40B4-BE49-F238E27FC236}">
                <a16:creationId xmlns:a16="http://schemas.microsoft.com/office/drawing/2014/main" id="{BECE9BF4-10FF-4CFE-A8A1-5C1463757C45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="895350" y="1524000"/>
          <a:ext cx="1028700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metin">
            <a:extLst>
              <a:ext uri="{FF2B5EF4-FFF2-40B4-BE49-F238E27FC236}">
                <a16:creationId xmlns:a16="http://schemas.microsoft.com/office/drawing/2014/main" id="{8F90C7C3-8934-4351-B936-A0EBFD9EA40E}"/>
              </a:ext>
            </a:extLst>
          </p:cNvPr>
          <p:cNvSpPr>
            <a:spLocks noGrp="1"/>
          </p:cNvSpPr>
          <p:nvPr/>
        </p:nvSpPr>
        <p:spPr>
          <a:xfrm>
            <a:off x="876300" y="5429250"/>
            <a:ext cx="10382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5 V ve Cpd = 20 pF (tipik) için P ≈ Cpd·VCC²·f. Çıkış yükü bu grafikte yoktur.</a:t>
            </a:r>
          </a:p>
        </p:txBody>
      </p:sp>
      <p:sp>
        <p:nvSpPr>
          <p:cNvPr id="6" name="metin">
            <a:extLst>
              <a:ext uri="{FF2B5EF4-FFF2-40B4-BE49-F238E27FC236}">
                <a16:creationId xmlns:a16="http://schemas.microsoft.com/office/drawing/2014/main" id="{DCA8FB48-5E47-4EAE-9BBD-8597A7C1B3B5}"/>
              </a:ext>
            </a:extLst>
          </p:cNvPr>
          <p:cNvSpPr>
            <a:spLocks noGrp="1"/>
          </p:cNvSpPr>
          <p:nvPr/>
        </p:nvSpPr>
        <p:spPr>
          <a:xfrm>
            <a:off x="771525" y="6010275"/>
            <a:ext cx="1038225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0">
                <a:solidFill>
                  <a:srgbClr val="1875A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75A5"/>
                </a:solidFill>
                <a:latin typeface="Arial"/>
                <a:ea typeface="Arial"/>
                <a:cs typeface="Arial"/>
                <a:hlinkClick r:id="rId4"/>
              </a:rPr>
              <a:t>TI: CMOS güç hesabının koşullarını aç</a:t>
            </a:r>
          </a:p>
        </p:txBody>
      </p:sp>
    </p:spTree>
    <p:extLst>
      <p:ext uri="{BB962C8B-B14F-4D97-AF65-F5344CB8AC3E}">
        <p14:creationId xmlns:p14="http://schemas.microsoft.com/office/powerpoint/2010/main" val="12219802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">
            <a:extLst>
              <a:ext uri="{FF2B5EF4-FFF2-40B4-BE49-F238E27FC236}">
                <a16:creationId xmlns:a16="http://schemas.microsoft.com/office/drawing/2014/main" id="{A826E0E5-FF29-452A-A86F-51988C1F0EC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084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466E"/>
                </a:solidFill>
                <a:latin typeface="Arial"/>
                <a:ea typeface="Arial"/>
                <a:cs typeface="Arial"/>
              </a:rPr>
              <a:t>Boşta kalan CMOS girişi</a:t>
            </a:r>
          </a:p>
        </p:txBody>
      </p:sp>
      <p:sp>
        <p:nvSpPr>
          <p:cNvPr id="2" name="metin">
            <a:extLst>
              <a:ext uri="{FF2B5EF4-FFF2-40B4-BE49-F238E27FC236}">
                <a16:creationId xmlns:a16="http://schemas.microsoft.com/office/drawing/2014/main" id="{82FD5F23-36F6-4EA0-AF45-1081AE0FFE35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MANTIK DEVRELERİ  ·  DERS 1</a:t>
            </a:r>
          </a:p>
        </p:txBody>
      </p:sp>
      <p:sp>
        <p:nvSpPr>
          <p:cNvPr id="3" name="metin">
            <a:extLst>
              <a:ext uri="{FF2B5EF4-FFF2-40B4-BE49-F238E27FC236}">
                <a16:creationId xmlns:a16="http://schemas.microsoft.com/office/drawing/2014/main" id="{24D1993C-7114-44C4-AC2C-BFAA58B8015E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4" name="metin">
            <a:extLst>
              <a:ext uri="{FF2B5EF4-FFF2-40B4-BE49-F238E27FC236}">
                <a16:creationId xmlns:a16="http://schemas.microsoft.com/office/drawing/2014/main" id="{20BCC2E6-E728-45D3-B04D-3DB4563F227C}"/>
              </a:ext>
            </a:extLst>
          </p:cNvPr>
          <p:cNvSpPr>
            <a:spLocks noGrp="1"/>
          </p:cNvSpPr>
          <p:nvPr/>
        </p:nvSpPr>
        <p:spPr>
          <a:xfrm>
            <a:off x="781050" y="1381125"/>
            <a:ext cx="104394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Bağlanmamış girişin gerilimi belirsiz olabilir.</a:t>
            </a:r>
          </a:p>
        </p:txBody>
      </p:sp>
      <p:sp>
        <p:nvSpPr>
          <p:cNvPr id="5" name="metin">
            <a:extLst>
              <a:ext uri="{FF2B5EF4-FFF2-40B4-BE49-F238E27FC236}">
                <a16:creationId xmlns:a16="http://schemas.microsoft.com/office/drawing/2014/main" id="{BC2A3A68-6CB4-418C-892C-6AC2B51C1648}"/>
              </a:ext>
            </a:extLst>
          </p:cNvPr>
          <p:cNvSpPr>
            <a:spLocks noGrp="1"/>
          </p:cNvSpPr>
          <p:nvPr/>
        </p:nvSpPr>
        <p:spPr>
          <a:xfrm>
            <a:off x="781050" y="2381250"/>
            <a:ext cx="1043940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Eşik bölgesinde kalmak hatalı anahtarlama ve ek güç tüketimi yaratabilir.</a:t>
            </a:r>
          </a:p>
        </p:txBody>
      </p:sp>
      <p:sp>
        <p:nvSpPr>
          <p:cNvPr id="6" name="metin">
            <a:extLst>
              <a:ext uri="{FF2B5EF4-FFF2-40B4-BE49-F238E27FC236}">
                <a16:creationId xmlns:a16="http://schemas.microsoft.com/office/drawing/2014/main" id="{65EEFF0D-0057-4D60-A29C-E7A99836597F}"/>
              </a:ext>
            </a:extLst>
          </p:cNvPr>
          <p:cNvSpPr>
            <a:spLocks noGrp="1"/>
          </p:cNvSpPr>
          <p:nvPr/>
        </p:nvSpPr>
        <p:spPr>
          <a:xfrm>
            <a:off x="781050" y="3476625"/>
            <a:ext cx="104394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Kullanılmayan CMOS girişlerini veri sayfasının tarif ettiği seviyeye bağlayın.</a:t>
            </a:r>
          </a:p>
        </p:txBody>
      </p:sp>
      <p:sp>
        <p:nvSpPr>
          <p:cNvPr id="7" name="metin">
            <a:extLst>
              <a:ext uri="{FF2B5EF4-FFF2-40B4-BE49-F238E27FC236}">
                <a16:creationId xmlns:a16="http://schemas.microsoft.com/office/drawing/2014/main" id="{D8DFE3FF-8C71-4D53-8F2E-D2EDF2C6436D}"/>
              </a:ext>
            </a:extLst>
          </p:cNvPr>
          <p:cNvSpPr>
            <a:spLocks noGrp="1"/>
          </p:cNvSpPr>
          <p:nvPr/>
        </p:nvSpPr>
        <p:spPr>
          <a:xfrm>
            <a:off x="781050" y="4562475"/>
            <a:ext cx="1043940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Kullanılmayan çıkışlar için aynı kural geçerli değildir.</a:t>
            </a:r>
          </a:p>
        </p:txBody>
      </p:sp>
    </p:spTree>
    <p:extLst>
      <p:ext uri="{BB962C8B-B14F-4D97-AF65-F5344CB8AC3E}">
        <p14:creationId xmlns:p14="http://schemas.microsoft.com/office/powerpoint/2010/main" val="598424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">
            <a:extLst>
              <a:ext uri="{FF2B5EF4-FFF2-40B4-BE49-F238E27FC236}">
                <a16:creationId xmlns:a16="http://schemas.microsoft.com/office/drawing/2014/main" id="{049576D9-26A8-4557-A64E-2486458A103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084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466E"/>
                </a:solidFill>
                <a:latin typeface="Arial"/>
                <a:ea typeface="Arial"/>
                <a:cs typeface="Arial"/>
              </a:rPr>
              <a:t>Aile adındaki ekler gerilimleri değiştirir</a:t>
            </a:r>
          </a:p>
        </p:txBody>
      </p:sp>
      <p:sp>
        <p:nvSpPr>
          <p:cNvPr id="2" name="metin">
            <a:extLst>
              <a:ext uri="{FF2B5EF4-FFF2-40B4-BE49-F238E27FC236}">
                <a16:creationId xmlns:a16="http://schemas.microsoft.com/office/drawing/2014/main" id="{380BABFC-5BFF-4944-B401-CA4E8E0EC37A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MANTIK DEVRELERİ  ·  DERS 1</a:t>
            </a:r>
          </a:p>
        </p:txBody>
      </p:sp>
      <p:sp>
        <p:nvSpPr>
          <p:cNvPr id="3" name="metin">
            <a:extLst>
              <a:ext uri="{FF2B5EF4-FFF2-40B4-BE49-F238E27FC236}">
                <a16:creationId xmlns:a16="http://schemas.microsoft.com/office/drawing/2014/main" id="{FCC6A649-2460-451D-9DCF-E259181338B7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graphicFrame>
        <p:nvGraphicFramePr>
          <p:cNvPr id="8" name="Table 7"/>
          <p:cNvGraphicFramePr/>
          <p:nvPr/>
        </p:nvGraphicFramePr>
        <p:xfrm>
          <a:off x="666750" y="1409700"/>
          <a:ext cx="10858500" cy="3095625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2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Kod</a:t>
                      </a:r>
                    </a:p>
                  </a:txBody>
                  <a:tcPr>
                    <a:solidFill>
                      <a:srgbClr val="084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Aile</a:t>
                      </a:r>
                    </a:p>
                  </a:txBody>
                  <a:tcPr>
                    <a:solidFill>
                      <a:srgbClr val="084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Ders için okuma</a:t>
                      </a:r>
                    </a:p>
                  </a:txBody>
                  <a:tcPr>
                    <a:solidFill>
                      <a:srgbClr val="084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74 / 74LS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Bipolar TTL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TTL giriş seviyeleri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74HC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Yüksek hızlı CMOS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CMOS giriş eşikleri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74HCT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Yüksek hızlı CMOS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TTL uyumlu giriş eşikleri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4000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CMOS ailesi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Parçaya özgü besleme/eşik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82702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tin">
            <a:extLst>
              <a:ext uri="{FF2B5EF4-FFF2-40B4-BE49-F238E27FC236}">
                <a16:creationId xmlns:a16="http://schemas.microsoft.com/office/drawing/2014/main" id="{4E1DC04F-7371-479F-97CE-B8FDCB6E112D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084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466E"/>
                </a:solidFill>
                <a:latin typeface="Arial"/>
                <a:ea typeface="Arial"/>
                <a:cs typeface="Arial"/>
              </a:rPr>
              <a:t>SN74HC00 giriş eşikleri beslemeye bağlıdır</a:t>
            </a:r>
          </a:p>
        </p:txBody>
      </p:sp>
      <p:sp>
        <p:nvSpPr>
          <p:cNvPr id="2" name="metin">
            <a:extLst>
              <a:ext uri="{FF2B5EF4-FFF2-40B4-BE49-F238E27FC236}">
                <a16:creationId xmlns:a16="http://schemas.microsoft.com/office/drawing/2014/main" id="{D0C6134B-C19B-4539-8049-50AD27DE8506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MANTIK DEVRELERİ  ·  DERS 1</a:t>
            </a:r>
          </a:p>
        </p:txBody>
      </p:sp>
      <p:sp>
        <p:nvSpPr>
          <p:cNvPr id="3" name="metin">
            <a:extLst>
              <a:ext uri="{FF2B5EF4-FFF2-40B4-BE49-F238E27FC236}">
                <a16:creationId xmlns:a16="http://schemas.microsoft.com/office/drawing/2014/main" id="{A98BCF27-3956-40D3-A49D-543A53E2CF4F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="895350" y="1524000"/>
          <a:ext cx="1028700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metin">
            <a:extLst>
              <a:ext uri="{FF2B5EF4-FFF2-40B4-BE49-F238E27FC236}">
                <a16:creationId xmlns:a16="http://schemas.microsoft.com/office/drawing/2014/main" id="{8D807080-42A9-49D7-A29D-B0C74BDB0DD5}"/>
              </a:ext>
            </a:extLst>
          </p:cNvPr>
          <p:cNvSpPr>
            <a:spLocks noGrp="1"/>
          </p:cNvSpPr>
          <p:nvPr/>
        </p:nvSpPr>
        <p:spPr>
          <a:xfrm>
            <a:off x="876300" y="5429250"/>
            <a:ext cx="10382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Sütunlar yalnızca veri sayfasında verilen üç besleme noktasını gösterir.</a:t>
            </a:r>
          </a:p>
        </p:txBody>
      </p:sp>
      <p:sp>
        <p:nvSpPr>
          <p:cNvPr id="6" name="metin">
            <a:extLst>
              <a:ext uri="{FF2B5EF4-FFF2-40B4-BE49-F238E27FC236}">
                <a16:creationId xmlns:a16="http://schemas.microsoft.com/office/drawing/2014/main" id="{53F75664-6EC6-4A05-B779-F9B4A8238030}"/>
              </a:ext>
            </a:extLst>
          </p:cNvPr>
          <p:cNvSpPr>
            <a:spLocks noGrp="1"/>
          </p:cNvSpPr>
          <p:nvPr/>
        </p:nvSpPr>
        <p:spPr>
          <a:xfrm>
            <a:off x="771525" y="6010275"/>
            <a:ext cx="1038225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0">
                <a:solidFill>
                  <a:srgbClr val="1875A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75A5"/>
                </a:solidFill>
                <a:latin typeface="Arial"/>
                <a:ea typeface="Arial"/>
                <a:cs typeface="Arial"/>
                <a:hlinkClick r:id="rId4"/>
              </a:rPr>
              <a:t>TI: SN74HC00 giriş koşullarını aç</a:t>
            </a:r>
          </a:p>
        </p:txBody>
      </p:sp>
    </p:spTree>
    <p:extLst>
      <p:ext uri="{BB962C8B-B14F-4D97-AF65-F5344CB8AC3E}">
        <p14:creationId xmlns:p14="http://schemas.microsoft.com/office/powerpoint/2010/main" val="13656850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">
            <a:extLst>
              <a:ext uri="{FF2B5EF4-FFF2-40B4-BE49-F238E27FC236}">
                <a16:creationId xmlns:a16="http://schemas.microsoft.com/office/drawing/2014/main" id="{30E4B667-496B-4125-9F70-4D6E3E4FD9F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084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466E"/>
                </a:solidFill>
                <a:latin typeface="Arial"/>
                <a:ea typeface="Arial"/>
                <a:cs typeface="Arial"/>
              </a:rPr>
              <a:t>Parça numarası: SN74LS04</a:t>
            </a:r>
          </a:p>
        </p:txBody>
      </p:sp>
      <p:sp>
        <p:nvSpPr>
          <p:cNvPr id="2" name="metin">
            <a:extLst>
              <a:ext uri="{FF2B5EF4-FFF2-40B4-BE49-F238E27FC236}">
                <a16:creationId xmlns:a16="http://schemas.microsoft.com/office/drawing/2014/main" id="{B38F388B-8AAD-449E-865D-407039F38055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MANTIK DEVRELERİ  ·  DERS 1</a:t>
            </a:r>
          </a:p>
        </p:txBody>
      </p:sp>
      <p:sp>
        <p:nvSpPr>
          <p:cNvPr id="3" name="metin">
            <a:extLst>
              <a:ext uri="{FF2B5EF4-FFF2-40B4-BE49-F238E27FC236}">
                <a16:creationId xmlns:a16="http://schemas.microsoft.com/office/drawing/2014/main" id="{8C77EDB5-AB99-4C2A-97C0-5DE9B6941E0E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4" name="metin">
            <a:extLst>
              <a:ext uri="{FF2B5EF4-FFF2-40B4-BE49-F238E27FC236}">
                <a16:creationId xmlns:a16="http://schemas.microsoft.com/office/drawing/2014/main" id="{FC1BFC77-1C98-4854-BB79-FC4F70336F30}"/>
              </a:ext>
            </a:extLst>
          </p:cNvPr>
          <p:cNvSpPr>
            <a:spLocks noGrp="1"/>
          </p:cNvSpPr>
          <p:nvPr/>
        </p:nvSpPr>
        <p:spPr>
          <a:xfrm>
            <a:off x="781050" y="1381125"/>
            <a:ext cx="104394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74: standart ticari lojik seri.</a:t>
            </a:r>
          </a:p>
        </p:txBody>
      </p:sp>
      <p:sp>
        <p:nvSpPr>
          <p:cNvPr id="5" name="metin">
            <a:extLst>
              <a:ext uri="{FF2B5EF4-FFF2-40B4-BE49-F238E27FC236}">
                <a16:creationId xmlns:a16="http://schemas.microsoft.com/office/drawing/2014/main" id="{0510981A-3D94-4709-8A0E-955B214CD138}"/>
              </a:ext>
            </a:extLst>
          </p:cNvPr>
          <p:cNvSpPr>
            <a:spLocks noGrp="1"/>
          </p:cNvSpPr>
          <p:nvPr/>
        </p:nvSpPr>
        <p:spPr>
          <a:xfrm>
            <a:off x="781050" y="2238375"/>
            <a:ext cx="104394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LS: düşük güçlü Schottky TTL alt ailesi.</a:t>
            </a:r>
          </a:p>
        </p:txBody>
      </p:sp>
      <p:sp>
        <p:nvSpPr>
          <p:cNvPr id="6" name="metin">
            <a:extLst>
              <a:ext uri="{FF2B5EF4-FFF2-40B4-BE49-F238E27FC236}">
                <a16:creationId xmlns:a16="http://schemas.microsoft.com/office/drawing/2014/main" id="{7243EE0D-4EC5-49C8-B5A2-5DBC03FF60FD}"/>
              </a:ext>
            </a:extLst>
          </p:cNvPr>
          <p:cNvSpPr>
            <a:spLocks noGrp="1"/>
          </p:cNvSpPr>
          <p:nvPr/>
        </p:nvSpPr>
        <p:spPr>
          <a:xfrm>
            <a:off x="781050" y="3095625"/>
            <a:ext cx="104394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04: altı evirici işlevi. “04” tek başına elektrik özelliklerini vermez.</a:t>
            </a:r>
          </a:p>
        </p:txBody>
      </p:sp>
      <p:sp>
        <p:nvSpPr>
          <p:cNvPr id="7" name="metin">
            <a:extLst>
              <a:ext uri="{FF2B5EF4-FFF2-40B4-BE49-F238E27FC236}">
                <a16:creationId xmlns:a16="http://schemas.microsoft.com/office/drawing/2014/main" id="{E07EAF94-E230-4AC4-B818-DFCB038AE0B6}"/>
              </a:ext>
            </a:extLst>
          </p:cNvPr>
          <p:cNvSpPr>
            <a:spLocks noGrp="1"/>
          </p:cNvSpPr>
          <p:nvPr/>
        </p:nvSpPr>
        <p:spPr>
          <a:xfrm>
            <a:off x="781050" y="4095750"/>
            <a:ext cx="104394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74HC04 ile 74LS04 aynı mantık işlevini taşır, eşikleri farklıdır.</a:t>
            </a:r>
          </a:p>
        </p:txBody>
      </p:sp>
    </p:spTree>
    <p:extLst>
      <p:ext uri="{BB962C8B-B14F-4D97-AF65-F5344CB8AC3E}">
        <p14:creationId xmlns:p14="http://schemas.microsoft.com/office/powerpoint/2010/main" val="6772977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">
            <a:extLst>
              <a:ext uri="{FF2B5EF4-FFF2-40B4-BE49-F238E27FC236}">
                <a16:creationId xmlns:a16="http://schemas.microsoft.com/office/drawing/2014/main" id="{A7EB0885-EA57-4ED9-9153-047C75A263B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084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466E"/>
                </a:solidFill>
                <a:latin typeface="Arial"/>
                <a:ea typeface="Arial"/>
                <a:cs typeface="Arial"/>
              </a:rPr>
              <a:t>TTL ve CMOS DIP paketleri</a:t>
            </a:r>
          </a:p>
        </p:txBody>
      </p:sp>
      <p:sp>
        <p:nvSpPr>
          <p:cNvPr id="2" name="metin">
            <a:extLst>
              <a:ext uri="{FF2B5EF4-FFF2-40B4-BE49-F238E27FC236}">
                <a16:creationId xmlns:a16="http://schemas.microsoft.com/office/drawing/2014/main" id="{0150E0CE-06A3-408A-8EB4-CDC41DA687F1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MANTIK DEVRELERİ  ·  DERS 1</a:t>
            </a:r>
          </a:p>
        </p:txBody>
      </p:sp>
      <p:sp>
        <p:nvSpPr>
          <p:cNvPr id="3" name="metin">
            <a:extLst>
              <a:ext uri="{FF2B5EF4-FFF2-40B4-BE49-F238E27FC236}">
                <a16:creationId xmlns:a16="http://schemas.microsoft.com/office/drawing/2014/main" id="{209C384F-3C3B-4F09-A62D-5FA1A0D26420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2950" y="1871916"/>
            <a:ext cx="5086350" cy="282841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205663" y="1581150"/>
            <a:ext cx="3409950" cy="3409950"/>
          </a:xfrm>
          <a:prstGeom prst="rect">
            <a:avLst/>
          </a:prstGeom>
        </p:spPr>
      </p:pic>
      <p:sp>
        <p:nvSpPr>
          <p:cNvPr id="6" name="metin">
            <a:extLst>
              <a:ext uri="{FF2B5EF4-FFF2-40B4-BE49-F238E27FC236}">
                <a16:creationId xmlns:a16="http://schemas.microsoft.com/office/drawing/2014/main" id="{74B7CF2B-5AF3-429B-8006-768542A8F69E}"/>
              </a:ext>
            </a:extLst>
          </p:cNvPr>
          <p:cNvSpPr>
            <a:spLocks noGrp="1"/>
          </p:cNvSpPr>
          <p:nvPr/>
        </p:nvSpPr>
        <p:spPr>
          <a:xfrm>
            <a:off x="1200150" y="5286375"/>
            <a:ext cx="4143375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1">
                <a:solidFill>
                  <a:srgbClr val="1875A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75A5"/>
                </a:solidFill>
                <a:latin typeface="Arial"/>
                <a:ea typeface="Arial"/>
                <a:cs typeface="Arial"/>
              </a:rPr>
              <a:t>SN7400N  ·  TTL</a:t>
            </a:r>
          </a:p>
        </p:txBody>
      </p:sp>
      <p:sp>
        <p:nvSpPr>
          <p:cNvPr id="7" name="metin">
            <a:extLst>
              <a:ext uri="{FF2B5EF4-FFF2-40B4-BE49-F238E27FC236}">
                <a16:creationId xmlns:a16="http://schemas.microsoft.com/office/drawing/2014/main" id="{576A1C23-E617-44A6-9718-B59FA27661B2}"/>
              </a:ext>
            </a:extLst>
          </p:cNvPr>
          <p:cNvSpPr>
            <a:spLocks noGrp="1"/>
          </p:cNvSpPr>
          <p:nvPr/>
        </p:nvSpPr>
        <p:spPr>
          <a:xfrm>
            <a:off x="6991350" y="5286375"/>
            <a:ext cx="4333875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1">
                <a:solidFill>
                  <a:srgbClr val="087E8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E82"/>
                </a:solidFill>
                <a:latin typeface="Arial"/>
                <a:ea typeface="Arial"/>
                <a:cs typeface="Arial"/>
              </a:rPr>
              <a:t>SN74HC00N  ·  CMOS</a:t>
            </a:r>
          </a:p>
        </p:txBody>
      </p:sp>
    </p:spTree>
    <p:extLst>
      <p:ext uri="{BB962C8B-B14F-4D97-AF65-F5344CB8AC3E}">
        <p14:creationId xmlns:p14="http://schemas.microsoft.com/office/powerpoint/2010/main" val="4932973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tin">
            <a:extLst>
              <a:ext uri="{FF2B5EF4-FFF2-40B4-BE49-F238E27FC236}">
                <a16:creationId xmlns:a16="http://schemas.microsoft.com/office/drawing/2014/main" id="{125B6A03-A9D6-41BC-943A-C6C99A14809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084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466E"/>
                </a:solidFill>
                <a:latin typeface="Arial"/>
                <a:ea typeface="Arial"/>
                <a:cs typeface="Arial"/>
              </a:rPr>
              <a:t>74HC00 pin yerleşimi</a:t>
            </a:r>
          </a:p>
        </p:txBody>
      </p:sp>
      <p:sp>
        <p:nvSpPr>
          <p:cNvPr id="2" name="metin">
            <a:extLst>
              <a:ext uri="{FF2B5EF4-FFF2-40B4-BE49-F238E27FC236}">
                <a16:creationId xmlns:a16="http://schemas.microsoft.com/office/drawing/2014/main" id="{8F0C9BB0-4755-4934-AD39-DEF40155FD8C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MANTIK DEVRELERİ  ·  DERS 1</a:t>
            </a:r>
          </a:p>
        </p:txBody>
      </p:sp>
      <p:sp>
        <p:nvSpPr>
          <p:cNvPr id="3" name="metin">
            <a:extLst>
              <a:ext uri="{FF2B5EF4-FFF2-40B4-BE49-F238E27FC236}">
                <a16:creationId xmlns:a16="http://schemas.microsoft.com/office/drawing/2014/main" id="{F20B1366-774B-4296-B376-5A4DFA49BC41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42637" y="1438275"/>
            <a:ext cx="4229851" cy="4495800"/>
          </a:xfrm>
          <a:prstGeom prst="rect">
            <a:avLst/>
          </a:prstGeom>
        </p:spPr>
      </p:pic>
      <p:sp>
        <p:nvSpPr>
          <p:cNvPr id="5" name="metin">
            <a:extLst>
              <a:ext uri="{FF2B5EF4-FFF2-40B4-BE49-F238E27FC236}">
                <a16:creationId xmlns:a16="http://schemas.microsoft.com/office/drawing/2014/main" id="{442509AB-4D97-432C-9E05-D00D1D211E51}"/>
              </a:ext>
            </a:extLst>
          </p:cNvPr>
          <p:cNvSpPr>
            <a:spLocks noGrp="1"/>
          </p:cNvSpPr>
          <p:nvPr/>
        </p:nvSpPr>
        <p:spPr>
          <a:xfrm>
            <a:off x="6858000" y="1666875"/>
            <a:ext cx="4476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1">
                <a:solidFill>
                  <a:srgbClr val="1875A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75A5"/>
                </a:solidFill>
                <a:latin typeface="Arial"/>
                <a:ea typeface="Arial"/>
                <a:cs typeface="Arial"/>
              </a:rPr>
              <a:t>İki kontrol</a:t>
            </a:r>
          </a:p>
        </p:txBody>
      </p:sp>
      <p:sp>
        <p:nvSpPr>
          <p:cNvPr id="6" name="metin">
            <a:extLst>
              <a:ext uri="{FF2B5EF4-FFF2-40B4-BE49-F238E27FC236}">
                <a16:creationId xmlns:a16="http://schemas.microsoft.com/office/drawing/2014/main" id="{383151A7-0BCD-4819-8A53-D4CE8882E43F}"/>
              </a:ext>
            </a:extLst>
          </p:cNvPr>
          <p:cNvSpPr>
            <a:spLocks noGrp="1"/>
          </p:cNvSpPr>
          <p:nvPr/>
        </p:nvSpPr>
        <p:spPr>
          <a:xfrm>
            <a:off x="6858000" y="2533650"/>
            <a:ext cx="4572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14 numara besleme, 7 numara ortak toprak.</a:t>
            </a:r>
          </a:p>
        </p:txBody>
      </p:sp>
      <p:sp>
        <p:nvSpPr>
          <p:cNvPr id="7" name="metin">
            <a:extLst>
              <a:ext uri="{FF2B5EF4-FFF2-40B4-BE49-F238E27FC236}">
                <a16:creationId xmlns:a16="http://schemas.microsoft.com/office/drawing/2014/main" id="{05B76DA2-3F17-4371-BD3E-B6E4655B3130}"/>
              </a:ext>
            </a:extLst>
          </p:cNvPr>
          <p:cNvSpPr>
            <a:spLocks noGrp="1"/>
          </p:cNvSpPr>
          <p:nvPr/>
        </p:nvSpPr>
        <p:spPr>
          <a:xfrm>
            <a:off x="6858000" y="3543300"/>
            <a:ext cx="4572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A ve B girişleri ile Y çıkışları ayrı kapılara aittir.</a:t>
            </a:r>
          </a:p>
        </p:txBody>
      </p:sp>
      <p:sp>
        <p:nvSpPr>
          <p:cNvPr id="8" name="metin">
            <a:extLst>
              <a:ext uri="{FF2B5EF4-FFF2-40B4-BE49-F238E27FC236}">
                <a16:creationId xmlns:a16="http://schemas.microsoft.com/office/drawing/2014/main" id="{B8AF6CB0-E3C5-4E0C-8454-E4148A9B1340}"/>
              </a:ext>
            </a:extLst>
          </p:cNvPr>
          <p:cNvSpPr>
            <a:spLocks noGrp="1"/>
          </p:cNvSpPr>
          <p:nvPr/>
        </p:nvSpPr>
        <p:spPr>
          <a:xfrm>
            <a:off x="6858000" y="4552950"/>
            <a:ext cx="4572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Bağlamadan önce veri sayfası ve paket yönünü doğrulayın.</a:t>
            </a:r>
          </a:p>
        </p:txBody>
      </p:sp>
    </p:spTree>
    <p:extLst>
      <p:ext uri="{BB962C8B-B14F-4D97-AF65-F5344CB8AC3E}">
        <p14:creationId xmlns:p14="http://schemas.microsoft.com/office/powerpoint/2010/main" val="4001060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">
            <a:extLst>
              <a:ext uri="{FF2B5EF4-FFF2-40B4-BE49-F238E27FC236}">
                <a16:creationId xmlns:a16="http://schemas.microsoft.com/office/drawing/2014/main" id="{D7FFFC62-85BA-40A1-B0E7-EF8483E4B3CD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084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466E"/>
                </a:solidFill>
                <a:latin typeface="Arial"/>
                <a:ea typeface="Arial"/>
                <a:cs typeface="Arial"/>
              </a:rPr>
              <a:t>Veri sayfasında dört kritik sınır</a:t>
            </a:r>
          </a:p>
        </p:txBody>
      </p:sp>
      <p:sp>
        <p:nvSpPr>
          <p:cNvPr id="2" name="metin">
            <a:extLst>
              <a:ext uri="{FF2B5EF4-FFF2-40B4-BE49-F238E27FC236}">
                <a16:creationId xmlns:a16="http://schemas.microsoft.com/office/drawing/2014/main" id="{3EC140CE-F988-4FCB-A0AB-86B753CB932E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MANTIK DEVRELERİ  ·  DERS 1</a:t>
            </a:r>
          </a:p>
        </p:txBody>
      </p:sp>
      <p:sp>
        <p:nvSpPr>
          <p:cNvPr id="3" name="metin">
            <a:extLst>
              <a:ext uri="{FF2B5EF4-FFF2-40B4-BE49-F238E27FC236}">
                <a16:creationId xmlns:a16="http://schemas.microsoft.com/office/drawing/2014/main" id="{0CC64024-AC7E-48B8-A1C2-9E2A4B59AFD0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4" name="metin">
            <a:extLst>
              <a:ext uri="{FF2B5EF4-FFF2-40B4-BE49-F238E27FC236}">
                <a16:creationId xmlns:a16="http://schemas.microsoft.com/office/drawing/2014/main" id="{028CCD3F-AA95-4D28-B0D9-310ABAFE4AF3}"/>
              </a:ext>
            </a:extLst>
          </p:cNvPr>
          <p:cNvSpPr>
            <a:spLocks noGrp="1"/>
          </p:cNvSpPr>
          <p:nvPr/>
        </p:nvSpPr>
        <p:spPr>
          <a:xfrm>
            <a:off x="781050" y="1381125"/>
            <a:ext cx="10439400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VIL(max): LOW olarak kesin tanınacak en yüksek giriş gerilimi.</a:t>
            </a:r>
          </a:p>
        </p:txBody>
      </p:sp>
      <p:sp>
        <p:nvSpPr>
          <p:cNvPr id="5" name="metin">
            <a:extLst>
              <a:ext uri="{FF2B5EF4-FFF2-40B4-BE49-F238E27FC236}">
                <a16:creationId xmlns:a16="http://schemas.microsoft.com/office/drawing/2014/main" id="{2C0F0955-7D84-45EA-8142-B42E74FD98A9}"/>
              </a:ext>
            </a:extLst>
          </p:cNvPr>
          <p:cNvSpPr>
            <a:spLocks noGrp="1"/>
          </p:cNvSpPr>
          <p:nvPr/>
        </p:nvSpPr>
        <p:spPr>
          <a:xfrm>
            <a:off x="781050" y="2295525"/>
            <a:ext cx="10439400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VIH(min): HIGH olarak kesin tanınacak en düşük giriş gerilimi.</a:t>
            </a:r>
          </a:p>
        </p:txBody>
      </p:sp>
      <p:sp>
        <p:nvSpPr>
          <p:cNvPr id="6" name="metin">
            <a:extLst>
              <a:ext uri="{FF2B5EF4-FFF2-40B4-BE49-F238E27FC236}">
                <a16:creationId xmlns:a16="http://schemas.microsoft.com/office/drawing/2014/main" id="{5837DF19-6C8A-4F08-989C-5C657096B81A}"/>
              </a:ext>
            </a:extLst>
          </p:cNvPr>
          <p:cNvSpPr>
            <a:spLocks noGrp="1"/>
          </p:cNvSpPr>
          <p:nvPr/>
        </p:nvSpPr>
        <p:spPr>
          <a:xfrm>
            <a:off x="781050" y="3209925"/>
            <a:ext cx="10439400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VOL(max): belirli çıkış yükünde garanti edilen en yüksek LOW.</a:t>
            </a:r>
          </a:p>
        </p:txBody>
      </p:sp>
      <p:sp>
        <p:nvSpPr>
          <p:cNvPr id="7" name="metin">
            <a:extLst>
              <a:ext uri="{FF2B5EF4-FFF2-40B4-BE49-F238E27FC236}">
                <a16:creationId xmlns:a16="http://schemas.microsoft.com/office/drawing/2014/main" id="{8E96C5BD-034B-44C7-B315-C034DEACE440}"/>
              </a:ext>
            </a:extLst>
          </p:cNvPr>
          <p:cNvSpPr>
            <a:spLocks noGrp="1"/>
          </p:cNvSpPr>
          <p:nvPr/>
        </p:nvSpPr>
        <p:spPr>
          <a:xfrm>
            <a:off x="781050" y="4124325"/>
            <a:ext cx="10439400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VOH(min): belirli çıkış yükünde garanti edilen en düşük HIGH.</a:t>
            </a:r>
          </a:p>
        </p:txBody>
      </p:sp>
    </p:spTree>
    <p:extLst>
      <p:ext uri="{BB962C8B-B14F-4D97-AF65-F5344CB8AC3E}">
        <p14:creationId xmlns:p14="http://schemas.microsoft.com/office/powerpoint/2010/main" val="172193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">
            <a:extLst>
              <a:ext uri="{FF2B5EF4-FFF2-40B4-BE49-F238E27FC236}">
                <a16:creationId xmlns:a16="http://schemas.microsoft.com/office/drawing/2014/main" id="{14A6059F-FDF2-4CBE-8CD2-07BD3B8250C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084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466E"/>
                </a:solidFill>
                <a:latin typeface="Arial"/>
                <a:ea typeface="Arial"/>
                <a:cs typeface="Arial"/>
              </a:rPr>
              <a:t>SN74HC00: çıkış yükü gerilimi değiştirir</a:t>
            </a:r>
          </a:p>
        </p:txBody>
      </p:sp>
      <p:sp>
        <p:nvSpPr>
          <p:cNvPr id="2" name="metin">
            <a:extLst>
              <a:ext uri="{FF2B5EF4-FFF2-40B4-BE49-F238E27FC236}">
                <a16:creationId xmlns:a16="http://schemas.microsoft.com/office/drawing/2014/main" id="{D793811D-DF31-4011-A758-BD68E765E9E8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MANTIK DEVRELERİ  ·  DERS 1</a:t>
            </a:r>
          </a:p>
        </p:txBody>
      </p:sp>
      <p:sp>
        <p:nvSpPr>
          <p:cNvPr id="3" name="metin">
            <a:extLst>
              <a:ext uri="{FF2B5EF4-FFF2-40B4-BE49-F238E27FC236}">
                <a16:creationId xmlns:a16="http://schemas.microsoft.com/office/drawing/2014/main" id="{B1B3386B-B9DF-4C6F-82BC-5736096B3ED5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graphicFrame>
        <p:nvGraphicFramePr>
          <p:cNvPr id="9" name="Table 8"/>
          <p:cNvGraphicFramePr/>
          <p:nvPr/>
        </p:nvGraphicFramePr>
        <p:xfrm>
          <a:off x="666750" y="1409700"/>
          <a:ext cx="10858500" cy="3095625"/>
        </p:xfrm>
        <a:graphic>
          <a:graphicData uri="http://schemas.openxmlformats.org/drawingml/2006/table">
            <a:tbl>
              <a:tblPr/>
              <a:tblGrid>
                <a:gridCol w="233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9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VCC = 4,5 V</a:t>
                      </a:r>
                    </a:p>
                  </a:txBody>
                  <a:tcPr>
                    <a:solidFill>
                      <a:srgbClr val="084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Hafif yük: 20 µA</a:t>
                      </a:r>
                    </a:p>
                  </a:txBody>
                  <a:tcPr>
                    <a:solidFill>
                      <a:srgbClr val="084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Yük: 4 mA</a:t>
                      </a:r>
                    </a:p>
                  </a:txBody>
                  <a:tcPr>
                    <a:solidFill>
                      <a:srgbClr val="084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Sınır türü</a:t>
                      </a:r>
                    </a:p>
                  </a:txBody>
                  <a:tcPr>
                    <a:solidFill>
                      <a:srgbClr val="084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VOH(min)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4,40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3,84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Garanti edilen alt sınır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VOL(max)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0,10 V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0,33 V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Garanti edilen üst sınır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NMH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4,40−3,15 = 1,25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3,84−3,15 = 0,69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Alıcı: SN74HC00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NML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1,35−0,10 = 1,25 V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1,35−0,33 = 1,02 V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62C3C"/>
                          </a:solidFill>
                          <a:latin typeface="Arial"/>
                          <a:ea typeface="Arial"/>
                          <a:cs typeface="Arial"/>
                        </a:rPr>
                        <a:t>Alıcı: SN74HC00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metin">
            <a:extLst>
              <a:ext uri="{FF2B5EF4-FFF2-40B4-BE49-F238E27FC236}">
                <a16:creationId xmlns:a16="http://schemas.microsoft.com/office/drawing/2014/main" id="{19022136-2927-423C-8E9F-983698D2236F}"/>
              </a:ext>
            </a:extLst>
          </p:cNvPr>
          <p:cNvSpPr>
            <a:spLocks noGrp="1"/>
          </p:cNvSpPr>
          <p:nvPr/>
        </p:nvSpPr>
        <p:spPr>
          <a:xfrm>
            <a:off x="771525" y="6010275"/>
            <a:ext cx="1038225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0">
                <a:solidFill>
                  <a:srgbClr val="1875A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75A5"/>
                </a:solidFill>
                <a:latin typeface="Arial"/>
                <a:ea typeface="Arial"/>
                <a:cs typeface="Arial"/>
                <a:hlinkClick r:id="rId3"/>
              </a:rPr>
              <a:t>TI: SN74HC00 çıkış özelliklerini aç</a:t>
            </a:r>
          </a:p>
        </p:txBody>
      </p:sp>
    </p:spTree>
    <p:extLst>
      <p:ext uri="{BB962C8B-B14F-4D97-AF65-F5344CB8AC3E}">
        <p14:creationId xmlns:p14="http://schemas.microsoft.com/office/powerpoint/2010/main" val="2028298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">
            <a:extLst>
              <a:ext uri="{FF2B5EF4-FFF2-40B4-BE49-F238E27FC236}">
                <a16:creationId xmlns:a16="http://schemas.microsoft.com/office/drawing/2014/main" id="{B6AD47AC-B229-4631-93F1-7A32D8A7AD9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084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466E"/>
                </a:solidFill>
                <a:latin typeface="Arial"/>
                <a:ea typeface="Arial"/>
                <a:cs typeface="Arial"/>
              </a:rPr>
              <a:t>Gerilim seviyeleri ve gürültü payı</a:t>
            </a:r>
          </a:p>
        </p:txBody>
      </p:sp>
      <p:sp>
        <p:nvSpPr>
          <p:cNvPr id="2" name="metin">
            <a:extLst>
              <a:ext uri="{FF2B5EF4-FFF2-40B4-BE49-F238E27FC236}">
                <a16:creationId xmlns:a16="http://schemas.microsoft.com/office/drawing/2014/main" id="{063EAB5A-2EB8-430F-92C0-D659416B37B0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MANTIK DEVRELERİ  ·  DERS 1</a:t>
            </a:r>
          </a:p>
        </p:txBody>
      </p:sp>
      <p:sp>
        <p:nvSpPr>
          <p:cNvPr id="3" name="metin">
            <a:extLst>
              <a:ext uri="{FF2B5EF4-FFF2-40B4-BE49-F238E27FC236}">
                <a16:creationId xmlns:a16="http://schemas.microsoft.com/office/drawing/2014/main" id="{024BA80C-39D2-4E4A-805E-7D107615A039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rcRect l="25000" t="20000" r="27000" b="5000"/>
          <a:stretch/>
        </p:blipFill>
        <p:spPr>
          <a:xfrm>
            <a:off x="2667000" y="1333500"/>
            <a:ext cx="6858000" cy="4191000"/>
          </a:xfrm>
          <a:prstGeom prst="rect">
            <a:avLst/>
          </a:prstGeom>
        </p:spPr>
      </p:pic>
      <p:sp>
        <p:nvSpPr>
          <p:cNvPr id="5" name="metin">
            <a:extLst>
              <a:ext uri="{FF2B5EF4-FFF2-40B4-BE49-F238E27FC236}">
                <a16:creationId xmlns:a16="http://schemas.microsoft.com/office/drawing/2014/main" id="{78730E5C-0F1D-4251-989F-465C613B502A}"/>
              </a:ext>
            </a:extLst>
          </p:cNvPr>
          <p:cNvSpPr>
            <a:spLocks noGrp="1"/>
          </p:cNvSpPr>
          <p:nvPr/>
        </p:nvSpPr>
        <p:spPr>
          <a:xfrm>
            <a:off x="819150" y="5619750"/>
            <a:ext cx="10572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VOH, VIH, VIL, VOL sıralaması gürültü payının neden iki farktan oluştuğunu gösterir.</a:t>
            </a:r>
          </a:p>
        </p:txBody>
      </p:sp>
    </p:spTree>
    <p:extLst>
      <p:ext uri="{BB962C8B-B14F-4D97-AF65-F5344CB8AC3E}">
        <p14:creationId xmlns:p14="http://schemas.microsoft.com/office/powerpoint/2010/main" val="1150395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">
            <a:extLst>
              <a:ext uri="{FF2B5EF4-FFF2-40B4-BE49-F238E27FC236}">
                <a16:creationId xmlns:a16="http://schemas.microsoft.com/office/drawing/2014/main" id="{7980694B-0E59-4AF2-91E1-EFB433E5328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084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466E"/>
                </a:solidFill>
                <a:latin typeface="Arial"/>
                <a:ea typeface="Arial"/>
                <a:cs typeface="Arial"/>
              </a:rPr>
              <a:t>TTL girişinde 1,4 V ne anlama gelir?</a:t>
            </a:r>
          </a:p>
        </p:txBody>
      </p:sp>
      <p:sp>
        <p:nvSpPr>
          <p:cNvPr id="2" name="metin">
            <a:extLst>
              <a:ext uri="{FF2B5EF4-FFF2-40B4-BE49-F238E27FC236}">
                <a16:creationId xmlns:a16="http://schemas.microsoft.com/office/drawing/2014/main" id="{160F6BAE-788F-40FE-B04E-D3B8B6C8985F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MANTIK DEVRELERİ  ·  DERS 1</a:t>
            </a:r>
          </a:p>
        </p:txBody>
      </p:sp>
      <p:sp>
        <p:nvSpPr>
          <p:cNvPr id="3" name="metin">
            <a:extLst>
              <a:ext uri="{FF2B5EF4-FFF2-40B4-BE49-F238E27FC236}">
                <a16:creationId xmlns:a16="http://schemas.microsoft.com/office/drawing/2014/main" id="{4F332629-33DB-46F1-B8C8-31DA41B80423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4" name="metin">
            <a:extLst>
              <a:ext uri="{FF2B5EF4-FFF2-40B4-BE49-F238E27FC236}">
                <a16:creationId xmlns:a16="http://schemas.microsoft.com/office/drawing/2014/main" id="{E556AF04-B261-4D2C-9DEF-B712FA01F38F}"/>
              </a:ext>
            </a:extLst>
          </p:cNvPr>
          <p:cNvSpPr>
            <a:spLocks noGrp="1"/>
          </p:cNvSpPr>
          <p:nvPr/>
        </p:nvSpPr>
        <p:spPr>
          <a:xfrm>
            <a:off x="781050" y="1381125"/>
            <a:ext cx="104394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SN74LS04 için LOW: Vᵢ ≤ 0,8 V.</a:t>
            </a:r>
          </a:p>
        </p:txBody>
      </p:sp>
      <p:sp>
        <p:nvSpPr>
          <p:cNvPr id="5" name="metin">
            <a:extLst>
              <a:ext uri="{FF2B5EF4-FFF2-40B4-BE49-F238E27FC236}">
                <a16:creationId xmlns:a16="http://schemas.microsoft.com/office/drawing/2014/main" id="{43FB3693-0916-4F0F-939E-C4175C9B6A97}"/>
              </a:ext>
            </a:extLst>
          </p:cNvPr>
          <p:cNvSpPr>
            <a:spLocks noGrp="1"/>
          </p:cNvSpPr>
          <p:nvPr/>
        </p:nvSpPr>
        <p:spPr>
          <a:xfrm>
            <a:off x="781050" y="2333625"/>
            <a:ext cx="104394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HIGH: Vᵢ ≥ 2,0 V.</a:t>
            </a:r>
          </a:p>
        </p:txBody>
      </p:sp>
      <p:sp>
        <p:nvSpPr>
          <p:cNvPr id="6" name="metin">
            <a:extLst>
              <a:ext uri="{FF2B5EF4-FFF2-40B4-BE49-F238E27FC236}">
                <a16:creationId xmlns:a16="http://schemas.microsoft.com/office/drawing/2014/main" id="{F120C68B-F885-4B41-BC28-E1CF6DEE8AFA}"/>
              </a:ext>
            </a:extLst>
          </p:cNvPr>
          <p:cNvSpPr>
            <a:spLocks noGrp="1"/>
          </p:cNvSpPr>
          <p:nvPr/>
        </p:nvSpPr>
        <p:spPr>
          <a:xfrm>
            <a:off x="781050" y="3286125"/>
            <a:ext cx="104394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1">
                <a:solidFill>
                  <a:srgbClr val="B340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3403B"/>
                </a:solidFill>
                <a:latin typeface="Arial"/>
                <a:ea typeface="Arial"/>
                <a:cs typeface="Arial"/>
              </a:rPr>
              <a:t>0,8 V &lt; Vᵢ &lt; 2,0 V aralığında lojik karar garanti edilmez.</a:t>
            </a:r>
          </a:p>
        </p:txBody>
      </p:sp>
      <p:sp>
        <p:nvSpPr>
          <p:cNvPr id="7" name="metin">
            <a:extLst>
              <a:ext uri="{FF2B5EF4-FFF2-40B4-BE49-F238E27FC236}">
                <a16:creationId xmlns:a16="http://schemas.microsoft.com/office/drawing/2014/main" id="{C4BA942C-AB7A-4AB0-B443-566E67EAC0DD}"/>
              </a:ext>
            </a:extLst>
          </p:cNvPr>
          <p:cNvSpPr>
            <a:spLocks noGrp="1"/>
          </p:cNvSpPr>
          <p:nvPr/>
        </p:nvSpPr>
        <p:spPr>
          <a:xfrm>
            <a:off x="781050" y="4333875"/>
            <a:ext cx="104394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1,4 V değerine “0,5” veya güvenilir bir 0/1 atamayın.</a:t>
            </a:r>
          </a:p>
        </p:txBody>
      </p:sp>
    </p:spTree>
    <p:extLst>
      <p:ext uri="{BB962C8B-B14F-4D97-AF65-F5344CB8AC3E}">
        <p14:creationId xmlns:p14="http://schemas.microsoft.com/office/powerpoint/2010/main" val="2471772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">
            <a:extLst>
              <a:ext uri="{FF2B5EF4-FFF2-40B4-BE49-F238E27FC236}">
                <a16:creationId xmlns:a16="http://schemas.microsoft.com/office/drawing/2014/main" id="{AC0D6BAC-BD3A-4735-AF27-7484CD69916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084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466E"/>
                </a:solidFill>
                <a:latin typeface="Arial"/>
                <a:ea typeface="Arial"/>
                <a:cs typeface="Arial"/>
              </a:rPr>
              <a:t>Gürültü payı: iki farkı hesapla</a:t>
            </a:r>
          </a:p>
        </p:txBody>
      </p:sp>
      <p:sp>
        <p:nvSpPr>
          <p:cNvPr id="2" name="metin">
            <a:extLst>
              <a:ext uri="{FF2B5EF4-FFF2-40B4-BE49-F238E27FC236}">
                <a16:creationId xmlns:a16="http://schemas.microsoft.com/office/drawing/2014/main" id="{11B8B2FC-DD9C-4CB5-A424-3DC824E61300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MANTIK DEVRELERİ  ·  DERS 1</a:t>
            </a:r>
          </a:p>
        </p:txBody>
      </p:sp>
      <p:sp>
        <p:nvSpPr>
          <p:cNvPr id="3" name="metin">
            <a:extLst>
              <a:ext uri="{FF2B5EF4-FFF2-40B4-BE49-F238E27FC236}">
                <a16:creationId xmlns:a16="http://schemas.microsoft.com/office/drawing/2014/main" id="{D0EDA218-6328-4A52-928E-2B3AFD54C46F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4" name="metin">
            <a:extLst>
              <a:ext uri="{FF2B5EF4-FFF2-40B4-BE49-F238E27FC236}">
                <a16:creationId xmlns:a16="http://schemas.microsoft.com/office/drawing/2014/main" id="{C12BB4EE-D837-4FF6-BBF0-206F81759468}"/>
              </a:ext>
            </a:extLst>
          </p:cNvPr>
          <p:cNvSpPr>
            <a:spLocks noGrp="1"/>
          </p:cNvSpPr>
          <p:nvPr/>
        </p:nvSpPr>
        <p:spPr>
          <a:xfrm>
            <a:off x="781050" y="1381125"/>
            <a:ext cx="104394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Yüksek düzey: NMH = VOH(min) − VIH(min).</a:t>
            </a:r>
          </a:p>
        </p:txBody>
      </p:sp>
      <p:sp>
        <p:nvSpPr>
          <p:cNvPr id="5" name="metin">
            <a:extLst>
              <a:ext uri="{FF2B5EF4-FFF2-40B4-BE49-F238E27FC236}">
                <a16:creationId xmlns:a16="http://schemas.microsoft.com/office/drawing/2014/main" id="{22A4C804-7B47-4A7C-B8D0-CBDEC0FF9531}"/>
              </a:ext>
            </a:extLst>
          </p:cNvPr>
          <p:cNvSpPr>
            <a:spLocks noGrp="1"/>
          </p:cNvSpPr>
          <p:nvPr/>
        </p:nvSpPr>
        <p:spPr>
          <a:xfrm>
            <a:off x="781050" y="2333625"/>
            <a:ext cx="104394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Alçak düzey: NML = VIL(max) − VOL(max).</a:t>
            </a:r>
          </a:p>
        </p:txBody>
      </p:sp>
      <p:sp>
        <p:nvSpPr>
          <p:cNvPr id="6" name="metin">
            <a:extLst>
              <a:ext uri="{FF2B5EF4-FFF2-40B4-BE49-F238E27FC236}">
                <a16:creationId xmlns:a16="http://schemas.microsoft.com/office/drawing/2014/main" id="{86A5DACA-34C5-4BBA-8AFB-EEF85D70B938}"/>
              </a:ext>
            </a:extLst>
          </p:cNvPr>
          <p:cNvSpPr>
            <a:spLocks noGrp="1"/>
          </p:cNvSpPr>
          <p:nvPr/>
        </p:nvSpPr>
        <p:spPr>
          <a:xfrm>
            <a:off x="781050" y="3286125"/>
            <a:ext cx="104394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Pay negatifse bağlantının gerilim açısından garantisi yoktur.</a:t>
            </a:r>
          </a:p>
        </p:txBody>
      </p:sp>
      <p:sp>
        <p:nvSpPr>
          <p:cNvPr id="7" name="metin">
            <a:extLst>
              <a:ext uri="{FF2B5EF4-FFF2-40B4-BE49-F238E27FC236}">
                <a16:creationId xmlns:a16="http://schemas.microsoft.com/office/drawing/2014/main" id="{D7C66BF5-EE05-4A52-B796-D9334DFFD56D}"/>
              </a:ext>
            </a:extLst>
          </p:cNvPr>
          <p:cNvSpPr>
            <a:spLocks noGrp="1"/>
          </p:cNvSpPr>
          <p:nvPr/>
        </p:nvSpPr>
        <p:spPr>
          <a:xfrm>
            <a:off x="781050" y="4333875"/>
            <a:ext cx="104394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Formüllerde sürücü çıkışı ile alıcı girişi karşılaştırılır.</a:t>
            </a:r>
          </a:p>
        </p:txBody>
      </p:sp>
    </p:spTree>
    <p:extLst>
      <p:ext uri="{BB962C8B-B14F-4D97-AF65-F5344CB8AC3E}">
        <p14:creationId xmlns:p14="http://schemas.microsoft.com/office/powerpoint/2010/main" val="19187453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">
            <a:extLst>
              <a:ext uri="{FF2B5EF4-FFF2-40B4-BE49-F238E27FC236}">
                <a16:creationId xmlns:a16="http://schemas.microsoft.com/office/drawing/2014/main" id="{EF63B010-EEF4-4856-AD4D-FE172602CC9D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084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466E"/>
                </a:solidFill>
                <a:latin typeface="Arial"/>
                <a:ea typeface="Arial"/>
                <a:cs typeface="Arial"/>
              </a:rPr>
              <a:t>Çözümlü örnek: SN74LS04 → SN74LS04</a:t>
            </a:r>
          </a:p>
        </p:txBody>
      </p:sp>
      <p:sp>
        <p:nvSpPr>
          <p:cNvPr id="2" name="metin">
            <a:extLst>
              <a:ext uri="{FF2B5EF4-FFF2-40B4-BE49-F238E27FC236}">
                <a16:creationId xmlns:a16="http://schemas.microsoft.com/office/drawing/2014/main" id="{67251D89-37FA-43CE-BB19-A7B0CC4AA20C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MANTIK DEVRELERİ  ·  DERS 1</a:t>
            </a:r>
          </a:p>
        </p:txBody>
      </p:sp>
      <p:sp>
        <p:nvSpPr>
          <p:cNvPr id="3" name="metin">
            <a:extLst>
              <a:ext uri="{FF2B5EF4-FFF2-40B4-BE49-F238E27FC236}">
                <a16:creationId xmlns:a16="http://schemas.microsoft.com/office/drawing/2014/main" id="{7CD059F3-633A-4F83-A912-525D85C0ABAA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  <p:sp>
        <p:nvSpPr>
          <p:cNvPr id="4" name="metin">
            <a:extLst>
              <a:ext uri="{FF2B5EF4-FFF2-40B4-BE49-F238E27FC236}">
                <a16:creationId xmlns:a16="http://schemas.microsoft.com/office/drawing/2014/main" id="{578931DD-8B7D-45CD-983C-BE254E4A2153}"/>
              </a:ext>
            </a:extLst>
          </p:cNvPr>
          <p:cNvSpPr>
            <a:spLocks noGrp="1"/>
          </p:cNvSpPr>
          <p:nvPr/>
        </p:nvSpPr>
        <p:spPr>
          <a:xfrm>
            <a:off x="781050" y="1381125"/>
            <a:ext cx="10439400" cy="866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Veri sayfası: VOH(min) = 2,7 V; VIH(min) = 2,0 V.</a:t>
            </a:r>
          </a:p>
        </p:txBody>
      </p:sp>
      <p:sp>
        <p:nvSpPr>
          <p:cNvPr id="5" name="metin">
            <a:extLst>
              <a:ext uri="{FF2B5EF4-FFF2-40B4-BE49-F238E27FC236}">
                <a16:creationId xmlns:a16="http://schemas.microsoft.com/office/drawing/2014/main" id="{84041D7B-4B6E-4A1A-9D00-181F96C8F5B5}"/>
              </a:ext>
            </a:extLst>
          </p:cNvPr>
          <p:cNvSpPr>
            <a:spLocks noGrp="1"/>
          </p:cNvSpPr>
          <p:nvPr/>
        </p:nvSpPr>
        <p:spPr>
          <a:xfrm>
            <a:off x="781050" y="2343150"/>
            <a:ext cx="10439400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1">
                <a:solidFill>
                  <a:srgbClr val="116B5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6B50"/>
                </a:solidFill>
                <a:latin typeface="Arial"/>
                <a:ea typeface="Arial"/>
                <a:cs typeface="Arial"/>
              </a:rPr>
              <a:t>NMH = 2,7 − 2,0 = 0,7 V.</a:t>
            </a:r>
          </a:p>
        </p:txBody>
      </p:sp>
      <p:sp>
        <p:nvSpPr>
          <p:cNvPr id="6" name="metin">
            <a:extLst>
              <a:ext uri="{FF2B5EF4-FFF2-40B4-BE49-F238E27FC236}">
                <a16:creationId xmlns:a16="http://schemas.microsoft.com/office/drawing/2014/main" id="{BB60DF06-2D30-4553-AC20-09978A6F1013}"/>
              </a:ext>
            </a:extLst>
          </p:cNvPr>
          <p:cNvSpPr>
            <a:spLocks noGrp="1"/>
          </p:cNvSpPr>
          <p:nvPr/>
        </p:nvSpPr>
        <p:spPr>
          <a:xfrm>
            <a:off x="781050" y="3257550"/>
            <a:ext cx="10439400" cy="962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IOL = 4 mA yük koşulunda VOL(max) = 0,4 V; VIL(max) = 0,8 V.</a:t>
            </a:r>
          </a:p>
        </p:txBody>
      </p:sp>
      <p:sp>
        <p:nvSpPr>
          <p:cNvPr id="7" name="metin">
            <a:extLst>
              <a:ext uri="{FF2B5EF4-FFF2-40B4-BE49-F238E27FC236}">
                <a16:creationId xmlns:a16="http://schemas.microsoft.com/office/drawing/2014/main" id="{3F9BE9C9-A51F-481C-9045-1EB9A84F82FD}"/>
              </a:ext>
            </a:extLst>
          </p:cNvPr>
          <p:cNvSpPr>
            <a:spLocks noGrp="1"/>
          </p:cNvSpPr>
          <p:nvPr/>
        </p:nvSpPr>
        <p:spPr>
          <a:xfrm>
            <a:off x="781050" y="4314825"/>
            <a:ext cx="1043940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1">
                <a:solidFill>
                  <a:srgbClr val="116B5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6B50"/>
                </a:solidFill>
                <a:latin typeface="Arial"/>
                <a:ea typeface="Arial"/>
                <a:cs typeface="Arial"/>
              </a:rPr>
              <a:t>NML = 0,8 − 0,4 = 0,4 V.</a:t>
            </a:r>
          </a:p>
        </p:txBody>
      </p:sp>
    </p:spTree>
    <p:extLst>
      <p:ext uri="{BB962C8B-B14F-4D97-AF65-F5344CB8AC3E}">
        <p14:creationId xmlns:p14="http://schemas.microsoft.com/office/powerpoint/2010/main" val="8547360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">
            <a:extLst>
              <a:ext uri="{FF2B5EF4-FFF2-40B4-BE49-F238E27FC236}">
                <a16:creationId xmlns:a16="http://schemas.microsoft.com/office/drawing/2014/main" id="{3DB5A77F-2FAE-4263-8DD1-243493ADFB9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084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466E"/>
                </a:solidFill>
                <a:latin typeface="Arial"/>
                <a:ea typeface="Arial"/>
                <a:cs typeface="Arial"/>
              </a:rPr>
              <a:t>LS04 çıkışı ve HC00 girişi</a:t>
            </a:r>
          </a:p>
        </p:txBody>
      </p:sp>
      <p:sp>
        <p:nvSpPr>
          <p:cNvPr id="2" name="metin">
            <a:extLst>
              <a:ext uri="{FF2B5EF4-FFF2-40B4-BE49-F238E27FC236}">
                <a16:creationId xmlns:a16="http://schemas.microsoft.com/office/drawing/2014/main" id="{81DFD17A-2265-4656-B275-2A2D4FBBAA85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MANTIK DEVRELERİ  ·  DERS 1</a:t>
            </a:r>
          </a:p>
        </p:txBody>
      </p:sp>
      <p:sp>
        <p:nvSpPr>
          <p:cNvPr id="3" name="metin">
            <a:extLst>
              <a:ext uri="{FF2B5EF4-FFF2-40B4-BE49-F238E27FC236}">
                <a16:creationId xmlns:a16="http://schemas.microsoft.com/office/drawing/2014/main" id="{121EE096-E7FA-4C3F-AB1E-AA202E146C4A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sp>
        <p:nvSpPr>
          <p:cNvPr id="4" name="metin">
            <a:extLst>
              <a:ext uri="{FF2B5EF4-FFF2-40B4-BE49-F238E27FC236}">
                <a16:creationId xmlns:a16="http://schemas.microsoft.com/office/drawing/2014/main" id="{F440C0F4-FD78-4F5E-A7BE-69EF088231EC}"/>
              </a:ext>
            </a:extLst>
          </p:cNvPr>
          <p:cNvSpPr>
            <a:spLocks noGrp="1"/>
          </p:cNvSpPr>
          <p:nvPr/>
        </p:nvSpPr>
        <p:spPr>
          <a:xfrm>
            <a:off x="781050" y="1381125"/>
            <a:ext cx="104394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SN74LS04 HIGH çıkışı için garanti edilen alt sınır: 2,7 V.</a:t>
            </a:r>
          </a:p>
        </p:txBody>
      </p:sp>
      <p:sp>
        <p:nvSpPr>
          <p:cNvPr id="5" name="metin">
            <a:extLst>
              <a:ext uri="{FF2B5EF4-FFF2-40B4-BE49-F238E27FC236}">
                <a16:creationId xmlns:a16="http://schemas.microsoft.com/office/drawing/2014/main" id="{8A7F2660-43E3-4C17-A7AA-77CC2E4C06B4}"/>
              </a:ext>
            </a:extLst>
          </p:cNvPr>
          <p:cNvSpPr>
            <a:spLocks noGrp="1"/>
          </p:cNvSpPr>
          <p:nvPr/>
        </p:nvSpPr>
        <p:spPr>
          <a:xfrm>
            <a:off x="781050" y="2381250"/>
            <a:ext cx="104394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SN74HC00 giriş HIGH sınırı, VCC = 4,5 V iken 3,15 V.</a:t>
            </a:r>
          </a:p>
        </p:txBody>
      </p:sp>
      <p:sp>
        <p:nvSpPr>
          <p:cNvPr id="6" name="metin">
            <a:extLst>
              <a:ext uri="{FF2B5EF4-FFF2-40B4-BE49-F238E27FC236}">
                <a16:creationId xmlns:a16="http://schemas.microsoft.com/office/drawing/2014/main" id="{9E2F6D21-4208-4CE8-BC55-F94F272E3834}"/>
              </a:ext>
            </a:extLst>
          </p:cNvPr>
          <p:cNvSpPr>
            <a:spLocks noGrp="1"/>
          </p:cNvSpPr>
          <p:nvPr/>
        </p:nvSpPr>
        <p:spPr>
          <a:xfrm>
            <a:off x="781050" y="3381375"/>
            <a:ext cx="104394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1">
                <a:solidFill>
                  <a:srgbClr val="B340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3403B"/>
                </a:solidFill>
                <a:latin typeface="Arial"/>
                <a:ea typeface="Arial"/>
                <a:cs typeface="Arial"/>
              </a:rPr>
              <a:t>2,7 − 3,15 = −0,45 V: HIGH için garanti yok.</a:t>
            </a:r>
          </a:p>
        </p:txBody>
      </p:sp>
      <p:sp>
        <p:nvSpPr>
          <p:cNvPr id="7" name="metin">
            <a:extLst>
              <a:ext uri="{FF2B5EF4-FFF2-40B4-BE49-F238E27FC236}">
                <a16:creationId xmlns:a16="http://schemas.microsoft.com/office/drawing/2014/main" id="{F9B76971-D810-4446-AF2B-77D68A01271E}"/>
              </a:ext>
            </a:extLst>
          </p:cNvPr>
          <p:cNvSpPr>
            <a:spLocks noGrp="1"/>
          </p:cNvSpPr>
          <p:nvPr/>
        </p:nvSpPr>
        <p:spPr>
          <a:xfrm>
            <a:off x="781050" y="4381500"/>
            <a:ext cx="104394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Ortak toprak, doğru besleme ve yük koşulları ayrıca gerekir.</a:t>
            </a:r>
          </a:p>
        </p:txBody>
      </p:sp>
    </p:spTree>
    <p:extLst>
      <p:ext uri="{BB962C8B-B14F-4D97-AF65-F5344CB8AC3E}">
        <p14:creationId xmlns:p14="http://schemas.microsoft.com/office/powerpoint/2010/main" val="4804584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">
            <a:extLst>
              <a:ext uri="{FF2B5EF4-FFF2-40B4-BE49-F238E27FC236}">
                <a16:creationId xmlns:a16="http://schemas.microsoft.com/office/drawing/2014/main" id="{3BFC77DD-CF80-4A9E-97A9-31A2804990E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084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466E"/>
                </a:solidFill>
                <a:latin typeface="Arial"/>
                <a:ea typeface="Arial"/>
                <a:cs typeface="Arial"/>
              </a:rPr>
              <a:t>TTL uyumlu CMOS: HCT örneği</a:t>
            </a:r>
          </a:p>
        </p:txBody>
      </p:sp>
      <p:sp>
        <p:nvSpPr>
          <p:cNvPr id="2" name="metin">
            <a:extLst>
              <a:ext uri="{FF2B5EF4-FFF2-40B4-BE49-F238E27FC236}">
                <a16:creationId xmlns:a16="http://schemas.microsoft.com/office/drawing/2014/main" id="{31FEC588-5401-4242-82BF-08D5512AD2ED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MANTIK DEVRELERİ  ·  DERS 1</a:t>
            </a:r>
          </a:p>
        </p:txBody>
      </p:sp>
      <p:sp>
        <p:nvSpPr>
          <p:cNvPr id="3" name="metin">
            <a:extLst>
              <a:ext uri="{FF2B5EF4-FFF2-40B4-BE49-F238E27FC236}">
                <a16:creationId xmlns:a16="http://schemas.microsoft.com/office/drawing/2014/main" id="{3742F54E-E90A-4F89-BC09-737E77CB4EF2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sp>
        <p:nvSpPr>
          <p:cNvPr id="4" name="metin">
            <a:extLst>
              <a:ext uri="{FF2B5EF4-FFF2-40B4-BE49-F238E27FC236}">
                <a16:creationId xmlns:a16="http://schemas.microsoft.com/office/drawing/2014/main" id="{E78D3100-B6B0-44DE-AC93-B1A9D51FC159}"/>
              </a:ext>
            </a:extLst>
          </p:cNvPr>
          <p:cNvSpPr>
            <a:spLocks noGrp="1"/>
          </p:cNvSpPr>
          <p:nvPr/>
        </p:nvSpPr>
        <p:spPr>
          <a:xfrm>
            <a:off x="781050" y="1381125"/>
            <a:ext cx="104394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SN74HCT00 girişinde VIH(min) = 2,0 V; VIL(max) = 0,8 V.</a:t>
            </a:r>
          </a:p>
        </p:txBody>
      </p:sp>
      <p:sp>
        <p:nvSpPr>
          <p:cNvPr id="5" name="metin">
            <a:extLst>
              <a:ext uri="{FF2B5EF4-FFF2-40B4-BE49-F238E27FC236}">
                <a16:creationId xmlns:a16="http://schemas.microsoft.com/office/drawing/2014/main" id="{89342C8C-45EB-4775-966C-EBFC4F43DEF1}"/>
              </a:ext>
            </a:extLst>
          </p:cNvPr>
          <p:cNvSpPr>
            <a:spLocks noGrp="1"/>
          </p:cNvSpPr>
          <p:nvPr/>
        </p:nvSpPr>
        <p:spPr>
          <a:xfrm>
            <a:off x="781050" y="2381250"/>
            <a:ext cx="104394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1">
                <a:solidFill>
                  <a:srgbClr val="116B5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6B50"/>
                </a:solidFill>
                <a:latin typeface="Arial"/>
                <a:ea typeface="Arial"/>
                <a:cs typeface="Arial"/>
              </a:rPr>
              <a:t>SN74LS04 HIGH alt sınırı 2,7 V ise NMH = 0,7 V.</a:t>
            </a:r>
          </a:p>
        </p:txBody>
      </p:sp>
      <p:sp>
        <p:nvSpPr>
          <p:cNvPr id="6" name="metin">
            <a:extLst>
              <a:ext uri="{FF2B5EF4-FFF2-40B4-BE49-F238E27FC236}">
                <a16:creationId xmlns:a16="http://schemas.microsoft.com/office/drawing/2014/main" id="{8D388E48-6784-48EA-9FF4-914A64D9235B}"/>
              </a:ext>
            </a:extLst>
          </p:cNvPr>
          <p:cNvSpPr>
            <a:spLocks noGrp="1"/>
          </p:cNvSpPr>
          <p:nvPr/>
        </p:nvSpPr>
        <p:spPr>
          <a:xfrm>
            <a:off x="781050" y="3381375"/>
            <a:ext cx="1043940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LS → HCT bağlantısının akım ve çıkış LOW koşulları da denetlenir.</a:t>
            </a:r>
          </a:p>
        </p:txBody>
      </p:sp>
      <p:sp>
        <p:nvSpPr>
          <p:cNvPr id="7" name="metin">
            <a:extLst>
              <a:ext uri="{FF2B5EF4-FFF2-40B4-BE49-F238E27FC236}">
                <a16:creationId xmlns:a16="http://schemas.microsoft.com/office/drawing/2014/main" id="{5D2C6F13-FE62-4DAE-961E-E2BCFD42931D}"/>
              </a:ext>
            </a:extLst>
          </p:cNvPr>
          <p:cNvSpPr>
            <a:spLocks noGrp="1"/>
          </p:cNvSpPr>
          <p:nvPr/>
        </p:nvSpPr>
        <p:spPr>
          <a:xfrm>
            <a:off x="781050" y="4476750"/>
            <a:ext cx="104394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Parça ailesi etiketi tek başına tüm tasarım denetiminin yerini tutmaz.</a:t>
            </a:r>
          </a:p>
        </p:txBody>
      </p:sp>
    </p:spTree>
    <p:extLst>
      <p:ext uri="{BB962C8B-B14F-4D97-AF65-F5344CB8AC3E}">
        <p14:creationId xmlns:p14="http://schemas.microsoft.com/office/powerpoint/2010/main" val="18958135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tin">
            <a:extLst>
              <a:ext uri="{FF2B5EF4-FFF2-40B4-BE49-F238E27FC236}">
                <a16:creationId xmlns:a16="http://schemas.microsoft.com/office/drawing/2014/main" id="{C477093D-1F9B-427E-BE7E-F1F0FFE944B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084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466E"/>
                </a:solidFill>
                <a:latin typeface="Arial"/>
                <a:ea typeface="Arial"/>
                <a:cs typeface="Arial"/>
              </a:rPr>
              <a:t>SN74HC00 gecikmesi ve besleme gerilimi</a:t>
            </a:r>
          </a:p>
        </p:txBody>
      </p:sp>
      <p:sp>
        <p:nvSpPr>
          <p:cNvPr id="2" name="metin">
            <a:extLst>
              <a:ext uri="{FF2B5EF4-FFF2-40B4-BE49-F238E27FC236}">
                <a16:creationId xmlns:a16="http://schemas.microsoft.com/office/drawing/2014/main" id="{6908063D-52C9-42F9-A3DA-8D66931E2D70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MANTIK DEVRELERİ  ·  DERS 1</a:t>
            </a:r>
          </a:p>
        </p:txBody>
      </p:sp>
      <p:sp>
        <p:nvSpPr>
          <p:cNvPr id="3" name="metin">
            <a:extLst>
              <a:ext uri="{FF2B5EF4-FFF2-40B4-BE49-F238E27FC236}">
                <a16:creationId xmlns:a16="http://schemas.microsoft.com/office/drawing/2014/main" id="{F0AA1428-137B-4824-BFC8-AB479E21C47E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44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="895350" y="1524000"/>
          <a:ext cx="1028700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metin">
            <a:extLst>
              <a:ext uri="{FF2B5EF4-FFF2-40B4-BE49-F238E27FC236}">
                <a16:creationId xmlns:a16="http://schemas.microsoft.com/office/drawing/2014/main" id="{22C6D336-2759-4FD6-8767-97F18B60C7C3}"/>
              </a:ext>
            </a:extLst>
          </p:cNvPr>
          <p:cNvSpPr>
            <a:spLocks noGrp="1"/>
          </p:cNvSpPr>
          <p:nvPr/>
        </p:nvSpPr>
        <p:spPr>
          <a:xfrm>
            <a:off x="876300" y="5429250"/>
            <a:ext cx="10382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Girişten çıkışa yayılma gecikmesi. Tipik değer tasarım sınırı değildir.</a:t>
            </a:r>
          </a:p>
        </p:txBody>
      </p:sp>
      <p:sp>
        <p:nvSpPr>
          <p:cNvPr id="6" name="metin">
            <a:extLst>
              <a:ext uri="{FF2B5EF4-FFF2-40B4-BE49-F238E27FC236}">
                <a16:creationId xmlns:a16="http://schemas.microsoft.com/office/drawing/2014/main" id="{095E0460-28AE-4FA0-8867-4306E0E9122B}"/>
              </a:ext>
            </a:extLst>
          </p:cNvPr>
          <p:cNvSpPr>
            <a:spLocks noGrp="1"/>
          </p:cNvSpPr>
          <p:nvPr/>
        </p:nvSpPr>
        <p:spPr>
          <a:xfrm>
            <a:off x="771525" y="6010275"/>
            <a:ext cx="1038225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0">
                <a:solidFill>
                  <a:srgbClr val="1875A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75A5"/>
                </a:solidFill>
                <a:latin typeface="Arial"/>
                <a:ea typeface="Arial"/>
                <a:cs typeface="Arial"/>
                <a:hlinkClick r:id="rId4"/>
              </a:rPr>
              <a:t>TI: SN74HC00 anahtarlama özelliklerini aç</a:t>
            </a:r>
          </a:p>
        </p:txBody>
      </p:sp>
    </p:spTree>
    <p:extLst>
      <p:ext uri="{BB962C8B-B14F-4D97-AF65-F5344CB8AC3E}">
        <p14:creationId xmlns:p14="http://schemas.microsoft.com/office/powerpoint/2010/main" val="2777075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">
            <a:extLst>
              <a:ext uri="{FF2B5EF4-FFF2-40B4-BE49-F238E27FC236}">
                <a16:creationId xmlns:a16="http://schemas.microsoft.com/office/drawing/2014/main" id="{67108CE1-205F-457A-85DD-5DFC0ADB4E1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084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466E"/>
                </a:solidFill>
                <a:latin typeface="Arial"/>
                <a:ea typeface="Arial"/>
                <a:cs typeface="Arial"/>
              </a:rPr>
              <a:t>Fan-out: bir çıkış kaç giriş sürer?</a:t>
            </a:r>
          </a:p>
        </p:txBody>
      </p:sp>
      <p:sp>
        <p:nvSpPr>
          <p:cNvPr id="2" name="metin">
            <a:extLst>
              <a:ext uri="{FF2B5EF4-FFF2-40B4-BE49-F238E27FC236}">
                <a16:creationId xmlns:a16="http://schemas.microsoft.com/office/drawing/2014/main" id="{4029DD3C-5A4A-4A04-9262-3BD3BD7A7101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MANTIK DEVRELERİ  ·  DERS 1</a:t>
            </a:r>
          </a:p>
        </p:txBody>
      </p:sp>
      <p:sp>
        <p:nvSpPr>
          <p:cNvPr id="3" name="metin">
            <a:extLst>
              <a:ext uri="{FF2B5EF4-FFF2-40B4-BE49-F238E27FC236}">
                <a16:creationId xmlns:a16="http://schemas.microsoft.com/office/drawing/2014/main" id="{00AE060D-409B-4F82-92C8-3694062A9EFD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  <p:sp>
        <p:nvSpPr>
          <p:cNvPr id="4" name="metin">
            <a:extLst>
              <a:ext uri="{FF2B5EF4-FFF2-40B4-BE49-F238E27FC236}">
                <a16:creationId xmlns:a16="http://schemas.microsoft.com/office/drawing/2014/main" id="{F4D2CBF5-7884-4124-B249-B3147D7FFCBA}"/>
              </a:ext>
            </a:extLst>
          </p:cNvPr>
          <p:cNvSpPr>
            <a:spLocks noGrp="1"/>
          </p:cNvSpPr>
          <p:nvPr/>
        </p:nvSpPr>
        <p:spPr>
          <a:xfrm>
            <a:off x="781050" y="1381125"/>
            <a:ext cx="1043940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LS04: HIGH için |IOH| = 0,4 mA, IIH(max) = 20 µA.</a:t>
            </a:r>
          </a:p>
        </p:txBody>
      </p:sp>
      <p:sp>
        <p:nvSpPr>
          <p:cNvPr id="5" name="metin">
            <a:extLst>
              <a:ext uri="{FF2B5EF4-FFF2-40B4-BE49-F238E27FC236}">
                <a16:creationId xmlns:a16="http://schemas.microsoft.com/office/drawing/2014/main" id="{9C0A4C85-31ED-46AA-AE0E-37A5E0FA909E}"/>
              </a:ext>
            </a:extLst>
          </p:cNvPr>
          <p:cNvSpPr>
            <a:spLocks noGrp="1"/>
          </p:cNvSpPr>
          <p:nvPr/>
        </p:nvSpPr>
        <p:spPr>
          <a:xfrm>
            <a:off x="781050" y="2352675"/>
            <a:ext cx="10439400" cy="962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HIGH akım sınırı: 0,4 mA / 20 µA = 20 adet LS04 girişi.</a:t>
            </a:r>
          </a:p>
        </p:txBody>
      </p:sp>
      <p:sp>
        <p:nvSpPr>
          <p:cNvPr id="6" name="metin">
            <a:extLst>
              <a:ext uri="{FF2B5EF4-FFF2-40B4-BE49-F238E27FC236}">
                <a16:creationId xmlns:a16="http://schemas.microsoft.com/office/drawing/2014/main" id="{AB0E6E2F-D9F7-4A68-843F-1822DD37451A}"/>
              </a:ext>
            </a:extLst>
          </p:cNvPr>
          <p:cNvSpPr>
            <a:spLocks noGrp="1"/>
          </p:cNvSpPr>
          <p:nvPr/>
        </p:nvSpPr>
        <p:spPr>
          <a:xfrm>
            <a:off x="781050" y="3409950"/>
            <a:ext cx="1043940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LOW için IOL = 4 mA, |IIL| = 0,4 mA: 10 giriş.</a:t>
            </a:r>
          </a:p>
        </p:txBody>
      </p:sp>
      <p:sp>
        <p:nvSpPr>
          <p:cNvPr id="7" name="metin">
            <a:extLst>
              <a:ext uri="{FF2B5EF4-FFF2-40B4-BE49-F238E27FC236}">
                <a16:creationId xmlns:a16="http://schemas.microsoft.com/office/drawing/2014/main" id="{98F1F8AA-C849-4B4F-B4BD-8971D66F78A6}"/>
              </a:ext>
            </a:extLst>
          </p:cNvPr>
          <p:cNvSpPr>
            <a:spLocks noGrp="1"/>
          </p:cNvSpPr>
          <p:nvPr/>
        </p:nvSpPr>
        <p:spPr>
          <a:xfrm>
            <a:off x="781050" y="4381500"/>
            <a:ext cx="10439400" cy="962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1">
                <a:solidFill>
                  <a:srgbClr val="116B5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6B50"/>
                </a:solidFill>
                <a:latin typeface="Arial"/>
                <a:ea typeface="Arial"/>
                <a:cs typeface="Arial"/>
              </a:rPr>
              <a:t>Bu yük koşulunda akım bakımından sınır: min(20,10) = 10.</a:t>
            </a:r>
          </a:p>
        </p:txBody>
      </p:sp>
    </p:spTree>
    <p:extLst>
      <p:ext uri="{BB962C8B-B14F-4D97-AF65-F5344CB8AC3E}">
        <p14:creationId xmlns:p14="http://schemas.microsoft.com/office/powerpoint/2010/main" val="20987282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">
            <a:extLst>
              <a:ext uri="{FF2B5EF4-FFF2-40B4-BE49-F238E27FC236}">
                <a16:creationId xmlns:a16="http://schemas.microsoft.com/office/drawing/2014/main" id="{DDD242AE-69EA-4C8A-8938-4BCF462114C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084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466E"/>
                </a:solidFill>
                <a:latin typeface="Arial"/>
                <a:ea typeface="Arial"/>
                <a:cs typeface="Arial"/>
              </a:rPr>
              <a:t>Pozitif ve negatif lojik</a:t>
            </a:r>
          </a:p>
        </p:txBody>
      </p:sp>
      <p:sp>
        <p:nvSpPr>
          <p:cNvPr id="2" name="metin">
            <a:extLst>
              <a:ext uri="{FF2B5EF4-FFF2-40B4-BE49-F238E27FC236}">
                <a16:creationId xmlns:a16="http://schemas.microsoft.com/office/drawing/2014/main" id="{3410E42B-7E5E-4020-851B-87F831346D56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MANTIK DEVRELERİ  ·  DERS 1</a:t>
            </a:r>
          </a:p>
        </p:txBody>
      </p:sp>
      <p:sp>
        <p:nvSpPr>
          <p:cNvPr id="3" name="metin">
            <a:extLst>
              <a:ext uri="{FF2B5EF4-FFF2-40B4-BE49-F238E27FC236}">
                <a16:creationId xmlns:a16="http://schemas.microsoft.com/office/drawing/2014/main" id="{A421A71C-D310-4251-8E60-58A6B864EF04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46</a:t>
            </a:r>
          </a:p>
        </p:txBody>
      </p:sp>
      <p:sp>
        <p:nvSpPr>
          <p:cNvPr id="4" name="metin">
            <a:extLst>
              <a:ext uri="{FF2B5EF4-FFF2-40B4-BE49-F238E27FC236}">
                <a16:creationId xmlns:a16="http://schemas.microsoft.com/office/drawing/2014/main" id="{3E7C5284-CE60-416E-AF7E-4EAA68B51893}"/>
              </a:ext>
            </a:extLst>
          </p:cNvPr>
          <p:cNvSpPr>
            <a:spLocks noGrp="1"/>
          </p:cNvSpPr>
          <p:nvPr/>
        </p:nvSpPr>
        <p:spPr>
          <a:xfrm>
            <a:off x="781050" y="1381125"/>
            <a:ext cx="1043940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Fiziksel gerilim H veya L olabilir. Mantıksal 0/1 eşlemesi bir uzlaşıdır.</a:t>
            </a:r>
          </a:p>
        </p:txBody>
      </p:sp>
      <p:sp>
        <p:nvSpPr>
          <p:cNvPr id="5" name="metin">
            <a:extLst>
              <a:ext uri="{FF2B5EF4-FFF2-40B4-BE49-F238E27FC236}">
                <a16:creationId xmlns:a16="http://schemas.microsoft.com/office/drawing/2014/main" id="{A6920036-26AE-44A3-A976-023C11927E76}"/>
              </a:ext>
            </a:extLst>
          </p:cNvPr>
          <p:cNvSpPr>
            <a:spLocks noGrp="1"/>
          </p:cNvSpPr>
          <p:nvPr/>
        </p:nvSpPr>
        <p:spPr>
          <a:xfrm>
            <a:off x="781050" y="2524125"/>
            <a:ext cx="10439400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Pozitif lojikte H → 1 ve L → 0.</a:t>
            </a:r>
          </a:p>
        </p:txBody>
      </p:sp>
      <p:sp>
        <p:nvSpPr>
          <p:cNvPr id="6" name="metin">
            <a:extLst>
              <a:ext uri="{FF2B5EF4-FFF2-40B4-BE49-F238E27FC236}">
                <a16:creationId xmlns:a16="http://schemas.microsoft.com/office/drawing/2014/main" id="{93BB4347-33D0-446C-B7DD-B825525CF32B}"/>
              </a:ext>
            </a:extLst>
          </p:cNvPr>
          <p:cNvSpPr>
            <a:spLocks noGrp="1"/>
          </p:cNvSpPr>
          <p:nvPr/>
        </p:nvSpPr>
        <p:spPr>
          <a:xfrm>
            <a:off x="781050" y="3409950"/>
            <a:ext cx="10439400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Negatif lojikte H → 0 ve L → 1.</a:t>
            </a:r>
          </a:p>
        </p:txBody>
      </p:sp>
      <p:sp>
        <p:nvSpPr>
          <p:cNvPr id="7" name="metin">
            <a:extLst>
              <a:ext uri="{FF2B5EF4-FFF2-40B4-BE49-F238E27FC236}">
                <a16:creationId xmlns:a16="http://schemas.microsoft.com/office/drawing/2014/main" id="{E1DB216B-AD8E-411D-ACFB-3F3BAC86A600}"/>
              </a:ext>
            </a:extLst>
          </p:cNvPr>
          <p:cNvSpPr>
            <a:spLocks noGrp="1"/>
          </p:cNvSpPr>
          <p:nvPr/>
        </p:nvSpPr>
        <p:spPr>
          <a:xfrm>
            <a:off x="781050" y="4295775"/>
            <a:ext cx="10439400" cy="933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Aynı gerilim dalgası, seçilen eşlemeye göre farklı bit dizisidir.</a:t>
            </a:r>
          </a:p>
        </p:txBody>
      </p:sp>
    </p:spTree>
    <p:extLst>
      <p:ext uri="{BB962C8B-B14F-4D97-AF65-F5344CB8AC3E}">
        <p14:creationId xmlns:p14="http://schemas.microsoft.com/office/powerpoint/2010/main" val="5634029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">
            <a:extLst>
              <a:ext uri="{FF2B5EF4-FFF2-40B4-BE49-F238E27FC236}">
                <a16:creationId xmlns:a16="http://schemas.microsoft.com/office/drawing/2014/main" id="{DC4D32CD-287F-4AB2-8C7B-F4FB6E71B56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084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466E"/>
                </a:solidFill>
                <a:latin typeface="Arial"/>
                <a:ea typeface="Arial"/>
                <a:cs typeface="Arial"/>
              </a:rPr>
              <a:t>Pozitif ve negatif lojik eşleme</a:t>
            </a:r>
          </a:p>
        </p:txBody>
      </p:sp>
      <p:sp>
        <p:nvSpPr>
          <p:cNvPr id="2" name="metin">
            <a:extLst>
              <a:ext uri="{FF2B5EF4-FFF2-40B4-BE49-F238E27FC236}">
                <a16:creationId xmlns:a16="http://schemas.microsoft.com/office/drawing/2014/main" id="{9B7F1A6B-F71F-41B5-9F3C-0F93F9115243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MANTIK DEVRELERİ  ·  DERS 1</a:t>
            </a:r>
          </a:p>
        </p:txBody>
      </p:sp>
      <p:sp>
        <p:nvSpPr>
          <p:cNvPr id="3" name="metin">
            <a:extLst>
              <a:ext uri="{FF2B5EF4-FFF2-40B4-BE49-F238E27FC236}">
                <a16:creationId xmlns:a16="http://schemas.microsoft.com/office/drawing/2014/main" id="{C2002980-5A23-409D-8262-07C36DAAD1B3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47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66850" y="1897428"/>
            <a:ext cx="9315450" cy="2996470"/>
          </a:xfrm>
          <a:prstGeom prst="rect">
            <a:avLst/>
          </a:prstGeom>
        </p:spPr>
      </p:pic>
      <p:sp>
        <p:nvSpPr>
          <p:cNvPr id="5" name="metin">
            <a:extLst>
              <a:ext uri="{FF2B5EF4-FFF2-40B4-BE49-F238E27FC236}">
                <a16:creationId xmlns:a16="http://schemas.microsoft.com/office/drawing/2014/main" id="{C04315A9-803D-4AB8-92AC-C51841E6DB4E}"/>
              </a:ext>
            </a:extLst>
          </p:cNvPr>
          <p:cNvSpPr>
            <a:spLocks noGrp="1"/>
          </p:cNvSpPr>
          <p:nvPr/>
        </p:nvSpPr>
        <p:spPr>
          <a:xfrm>
            <a:off x="819150" y="5619750"/>
            <a:ext cx="10572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Solda H mantıksal 1, sağda H mantıksal 0 olarak yorumlanır. Gerilim dalgası aynıdır.</a:t>
            </a:r>
          </a:p>
        </p:txBody>
      </p:sp>
    </p:spTree>
    <p:extLst>
      <p:ext uri="{BB962C8B-B14F-4D97-AF65-F5344CB8AC3E}">
        <p14:creationId xmlns:p14="http://schemas.microsoft.com/office/powerpoint/2010/main" val="15494809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">
            <a:extLst>
              <a:ext uri="{FF2B5EF4-FFF2-40B4-BE49-F238E27FC236}">
                <a16:creationId xmlns:a16="http://schemas.microsoft.com/office/drawing/2014/main" id="{A4A2E84B-3353-45F3-92CB-0B87A24494B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084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466E"/>
                </a:solidFill>
                <a:latin typeface="Arial"/>
                <a:ea typeface="Arial"/>
                <a:cs typeface="Arial"/>
              </a:rPr>
              <a:t>Aktif düşük sinyal: /RESET</a:t>
            </a:r>
          </a:p>
        </p:txBody>
      </p:sp>
      <p:sp>
        <p:nvSpPr>
          <p:cNvPr id="2" name="metin">
            <a:extLst>
              <a:ext uri="{FF2B5EF4-FFF2-40B4-BE49-F238E27FC236}">
                <a16:creationId xmlns:a16="http://schemas.microsoft.com/office/drawing/2014/main" id="{05E9CEF2-D1BA-4E23-AFCD-B5D1298D8F71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MANTIK DEVRELERİ  ·  DERS 1</a:t>
            </a:r>
          </a:p>
        </p:txBody>
      </p:sp>
      <p:sp>
        <p:nvSpPr>
          <p:cNvPr id="3" name="metin">
            <a:extLst>
              <a:ext uri="{FF2B5EF4-FFF2-40B4-BE49-F238E27FC236}">
                <a16:creationId xmlns:a16="http://schemas.microsoft.com/office/drawing/2014/main" id="{13F65A1D-6607-4B6C-B9CB-2A76B7175684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48</a:t>
            </a:r>
          </a:p>
        </p:txBody>
      </p:sp>
      <p:sp>
        <p:nvSpPr>
          <p:cNvPr id="4" name="metin">
            <a:extLst>
              <a:ext uri="{FF2B5EF4-FFF2-40B4-BE49-F238E27FC236}">
                <a16:creationId xmlns:a16="http://schemas.microsoft.com/office/drawing/2014/main" id="{6F51E99B-87AD-4349-B244-00B8CF18A6BC}"/>
              </a:ext>
            </a:extLst>
          </p:cNvPr>
          <p:cNvSpPr>
            <a:spLocks noGrp="1"/>
          </p:cNvSpPr>
          <p:nvPr/>
        </p:nvSpPr>
        <p:spPr>
          <a:xfrm>
            <a:off x="781050" y="1381125"/>
            <a:ext cx="10439400" cy="1009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Adındaki çizgi ya da “_N” eki, etkin durumun LOW olduğunu gösterebilir.</a:t>
            </a:r>
          </a:p>
        </p:txBody>
      </p:sp>
      <p:sp>
        <p:nvSpPr>
          <p:cNvPr id="5" name="metin">
            <a:extLst>
              <a:ext uri="{FF2B5EF4-FFF2-40B4-BE49-F238E27FC236}">
                <a16:creationId xmlns:a16="http://schemas.microsoft.com/office/drawing/2014/main" id="{24DD6A7F-EB4E-4358-9284-0E9E28E3E2F3}"/>
              </a:ext>
            </a:extLst>
          </p:cNvPr>
          <p:cNvSpPr>
            <a:spLocks noGrp="1"/>
          </p:cNvSpPr>
          <p:nvPr/>
        </p:nvSpPr>
        <p:spPr>
          <a:xfrm>
            <a:off x="781050" y="2486025"/>
            <a:ext cx="1043940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RESET_N = 0: sıfırlama isteği etkin.</a:t>
            </a:r>
          </a:p>
        </p:txBody>
      </p:sp>
      <p:sp>
        <p:nvSpPr>
          <p:cNvPr id="6" name="metin">
            <a:extLst>
              <a:ext uri="{FF2B5EF4-FFF2-40B4-BE49-F238E27FC236}">
                <a16:creationId xmlns:a16="http://schemas.microsoft.com/office/drawing/2014/main" id="{3A64B1D2-5C14-4C51-851A-FB07AD47C314}"/>
              </a:ext>
            </a:extLst>
          </p:cNvPr>
          <p:cNvSpPr>
            <a:spLocks noGrp="1"/>
          </p:cNvSpPr>
          <p:nvPr/>
        </p:nvSpPr>
        <p:spPr>
          <a:xfrm>
            <a:off x="781050" y="3457575"/>
            <a:ext cx="1043940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RESET_N = 1: sıfırlama devre dışı.</a:t>
            </a:r>
          </a:p>
        </p:txBody>
      </p:sp>
      <p:sp>
        <p:nvSpPr>
          <p:cNvPr id="7" name="metin">
            <a:extLst>
              <a:ext uri="{FF2B5EF4-FFF2-40B4-BE49-F238E27FC236}">
                <a16:creationId xmlns:a16="http://schemas.microsoft.com/office/drawing/2014/main" id="{7125E95C-B1C3-4260-96D6-F7E33AC5D318}"/>
              </a:ext>
            </a:extLst>
          </p:cNvPr>
          <p:cNvSpPr>
            <a:spLocks noGrp="1"/>
          </p:cNvSpPr>
          <p:nvPr/>
        </p:nvSpPr>
        <p:spPr>
          <a:xfrm>
            <a:off x="781050" y="4429125"/>
            <a:ext cx="104394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Sinyal adının anlamı ile fiziksel seviyeyi ayrı okumak hatayı önler.</a:t>
            </a:r>
          </a:p>
        </p:txBody>
      </p:sp>
    </p:spTree>
    <p:extLst>
      <p:ext uri="{BB962C8B-B14F-4D97-AF65-F5344CB8AC3E}">
        <p14:creationId xmlns:p14="http://schemas.microsoft.com/office/powerpoint/2010/main" val="3176839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tin">
            <a:extLst>
              <a:ext uri="{FF2B5EF4-FFF2-40B4-BE49-F238E27FC236}">
                <a16:creationId xmlns:a16="http://schemas.microsoft.com/office/drawing/2014/main" id="{05DB1B54-C0E2-4543-8E8D-7F89B13E20B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08466E"/>
                </a:solidFill>
                <a:latin typeface="Arial"/>
                <a:ea typeface="Arial"/>
                <a:cs typeface="Arial"/>
              </a:defRPr>
            </a:pPr>
            <a:r>
              <a:rPr lang="en-GB" sz="2850" b="1" dirty="0" err="1">
                <a:solidFill>
                  <a:srgbClr val="08466E"/>
                </a:solidFill>
                <a:latin typeface="Arial"/>
                <a:ea typeface="Arial"/>
                <a:cs typeface="Arial"/>
              </a:rPr>
              <a:t>Çözelim</a:t>
            </a:r>
            <a:r>
              <a:rPr sz="2850" b="1" dirty="0">
                <a:solidFill>
                  <a:srgbClr val="08466E"/>
                </a:solidFill>
                <a:latin typeface="Arial"/>
                <a:ea typeface="Arial"/>
                <a:cs typeface="Arial"/>
              </a:rPr>
              <a:t>:</a:t>
            </a:r>
          </a:p>
        </p:txBody>
      </p:sp>
      <p:sp>
        <p:nvSpPr>
          <p:cNvPr id="2" name="metin">
            <a:extLst>
              <a:ext uri="{FF2B5EF4-FFF2-40B4-BE49-F238E27FC236}">
                <a16:creationId xmlns:a16="http://schemas.microsoft.com/office/drawing/2014/main" id="{9C54F64C-7DA9-4760-8995-CC618C92563B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MANTIK DEVRELERİ  ·  DERS 1</a:t>
            </a:r>
          </a:p>
        </p:txBody>
      </p:sp>
      <p:sp>
        <p:nvSpPr>
          <p:cNvPr id="3" name="metin">
            <a:extLst>
              <a:ext uri="{FF2B5EF4-FFF2-40B4-BE49-F238E27FC236}">
                <a16:creationId xmlns:a16="http://schemas.microsoft.com/office/drawing/2014/main" id="{131F3B1A-DD80-42CA-812C-92B1B04CAFAF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49</a:t>
            </a:r>
          </a:p>
        </p:txBody>
      </p:sp>
      <p:sp>
        <p:nvSpPr>
          <p:cNvPr id="4" name="metin">
            <a:extLst>
              <a:ext uri="{FF2B5EF4-FFF2-40B4-BE49-F238E27FC236}">
                <a16:creationId xmlns:a16="http://schemas.microsoft.com/office/drawing/2014/main" id="{6EBA50C3-DCDD-4E8D-9100-1ADFAD15935D}"/>
              </a:ext>
            </a:extLst>
          </p:cNvPr>
          <p:cNvSpPr>
            <a:spLocks noGrp="1"/>
          </p:cNvSpPr>
          <p:nvPr/>
        </p:nvSpPr>
        <p:spPr>
          <a:xfrm>
            <a:off x="781050" y="1381125"/>
            <a:ext cx="104394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 dirty="0">
                <a:solidFill>
                  <a:srgbClr val="162C3C"/>
                </a:solidFill>
                <a:latin typeface="Arial"/>
                <a:ea typeface="Arial"/>
                <a:cs typeface="Arial"/>
              </a:rPr>
              <a:t>A. 0–8 V / 3 bit </a:t>
            </a:r>
            <a:r>
              <a:rPr sz="2100" b="0" dirty="0" err="1">
                <a:solidFill>
                  <a:srgbClr val="162C3C"/>
                </a:solidFill>
                <a:latin typeface="Arial"/>
                <a:ea typeface="Arial"/>
                <a:cs typeface="Arial"/>
              </a:rPr>
              <a:t>modelinde</a:t>
            </a:r>
            <a:r>
              <a:rPr sz="2100" b="0" dirty="0">
                <a:solidFill>
                  <a:srgbClr val="162C3C"/>
                </a:solidFill>
                <a:latin typeface="Arial"/>
                <a:ea typeface="Arial"/>
                <a:cs typeface="Arial"/>
              </a:rPr>
              <a:t> 6,4 V </a:t>
            </a:r>
            <a:r>
              <a:rPr sz="2100" b="0" dirty="0" err="1">
                <a:solidFill>
                  <a:srgbClr val="162C3C"/>
                </a:solidFill>
                <a:latin typeface="Arial"/>
                <a:ea typeface="Arial"/>
                <a:cs typeface="Arial"/>
              </a:rPr>
              <a:t>girişin</a:t>
            </a:r>
            <a:r>
              <a:rPr sz="2100" b="0" dirty="0">
                <a:solidFill>
                  <a:srgbClr val="162C3C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0" dirty="0" err="1">
                <a:solidFill>
                  <a:srgbClr val="162C3C"/>
                </a:solidFill>
                <a:latin typeface="Arial"/>
                <a:ea typeface="Arial"/>
                <a:cs typeface="Arial"/>
              </a:rPr>
              <a:t>ikili</a:t>
            </a:r>
            <a:r>
              <a:rPr sz="2100" b="0" dirty="0">
                <a:solidFill>
                  <a:srgbClr val="162C3C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0" dirty="0" err="1">
                <a:solidFill>
                  <a:srgbClr val="162C3C"/>
                </a:solidFill>
                <a:latin typeface="Arial"/>
                <a:ea typeface="Arial"/>
                <a:cs typeface="Arial"/>
              </a:rPr>
              <a:t>kodu</a:t>
            </a:r>
            <a:r>
              <a:rPr sz="2100" b="0" dirty="0">
                <a:solidFill>
                  <a:srgbClr val="162C3C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0" dirty="0" err="1">
                <a:solidFill>
                  <a:srgbClr val="162C3C"/>
                </a:solidFill>
                <a:latin typeface="Arial"/>
                <a:ea typeface="Arial"/>
                <a:cs typeface="Arial"/>
              </a:rPr>
              <a:t>nedir</a:t>
            </a:r>
            <a:r>
              <a:rPr sz="2100" b="0" dirty="0">
                <a:solidFill>
                  <a:srgbClr val="162C3C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5" name="metin">
            <a:extLst>
              <a:ext uri="{FF2B5EF4-FFF2-40B4-BE49-F238E27FC236}">
                <a16:creationId xmlns:a16="http://schemas.microsoft.com/office/drawing/2014/main" id="{3DDCD0FF-4FCE-42EB-A4B9-08C2281F66D6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1043940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 dirty="0">
                <a:solidFill>
                  <a:srgbClr val="162C3C"/>
                </a:solidFill>
                <a:latin typeface="Arial"/>
                <a:ea typeface="Arial"/>
                <a:cs typeface="Arial"/>
              </a:rPr>
              <a:t>B. SN74LS04 </a:t>
            </a:r>
            <a:r>
              <a:rPr sz="2100" b="0" dirty="0" err="1">
                <a:solidFill>
                  <a:srgbClr val="162C3C"/>
                </a:solidFill>
                <a:latin typeface="Arial"/>
                <a:ea typeface="Arial"/>
                <a:cs typeface="Arial"/>
              </a:rPr>
              <a:t>girişine</a:t>
            </a:r>
            <a:r>
              <a:rPr sz="2100" b="0" dirty="0">
                <a:solidFill>
                  <a:srgbClr val="162C3C"/>
                </a:solidFill>
                <a:latin typeface="Arial"/>
                <a:ea typeface="Arial"/>
                <a:cs typeface="Arial"/>
              </a:rPr>
              <a:t> 1,4 V </a:t>
            </a:r>
            <a:r>
              <a:rPr sz="2100" b="0" dirty="0" err="1">
                <a:solidFill>
                  <a:srgbClr val="162C3C"/>
                </a:solidFill>
                <a:latin typeface="Arial"/>
                <a:ea typeface="Arial"/>
                <a:cs typeface="Arial"/>
              </a:rPr>
              <a:t>verilirse</a:t>
            </a:r>
            <a:r>
              <a:rPr sz="2100" b="0" dirty="0">
                <a:solidFill>
                  <a:srgbClr val="162C3C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0" dirty="0" err="1">
                <a:solidFill>
                  <a:srgbClr val="162C3C"/>
                </a:solidFill>
                <a:latin typeface="Arial"/>
                <a:ea typeface="Arial"/>
                <a:cs typeface="Arial"/>
              </a:rPr>
              <a:t>garanti</a:t>
            </a:r>
            <a:r>
              <a:rPr sz="2100" b="0" dirty="0">
                <a:solidFill>
                  <a:srgbClr val="162C3C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0" dirty="0" err="1">
                <a:solidFill>
                  <a:srgbClr val="162C3C"/>
                </a:solidFill>
                <a:latin typeface="Arial"/>
                <a:ea typeface="Arial"/>
                <a:cs typeface="Arial"/>
              </a:rPr>
              <a:t>edilen</a:t>
            </a:r>
            <a:r>
              <a:rPr sz="2100" b="0" dirty="0">
                <a:solidFill>
                  <a:srgbClr val="162C3C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0" dirty="0" err="1">
                <a:solidFill>
                  <a:srgbClr val="162C3C"/>
                </a:solidFill>
                <a:latin typeface="Arial"/>
                <a:ea typeface="Arial"/>
                <a:cs typeface="Arial"/>
              </a:rPr>
              <a:t>lojik</a:t>
            </a:r>
            <a:r>
              <a:rPr sz="2100" b="0" dirty="0">
                <a:solidFill>
                  <a:srgbClr val="162C3C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0" dirty="0" err="1">
                <a:solidFill>
                  <a:srgbClr val="162C3C"/>
                </a:solidFill>
                <a:latin typeface="Arial"/>
                <a:ea typeface="Arial"/>
                <a:cs typeface="Arial"/>
              </a:rPr>
              <a:t>değer</a:t>
            </a:r>
            <a:r>
              <a:rPr sz="2100" b="0" dirty="0">
                <a:solidFill>
                  <a:srgbClr val="162C3C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0" dirty="0" err="1">
                <a:solidFill>
                  <a:srgbClr val="162C3C"/>
                </a:solidFill>
                <a:latin typeface="Arial"/>
                <a:ea typeface="Arial"/>
                <a:cs typeface="Arial"/>
              </a:rPr>
              <a:t>nedir</a:t>
            </a:r>
            <a:r>
              <a:rPr sz="2100" b="0" dirty="0">
                <a:solidFill>
                  <a:srgbClr val="162C3C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6" name="metin">
            <a:extLst>
              <a:ext uri="{FF2B5EF4-FFF2-40B4-BE49-F238E27FC236}">
                <a16:creationId xmlns:a16="http://schemas.microsoft.com/office/drawing/2014/main" id="{8A5F96D6-A024-42CA-A5F9-4F4DC742D4AD}"/>
              </a:ext>
            </a:extLst>
          </p:cNvPr>
          <p:cNvSpPr>
            <a:spLocks noGrp="1"/>
          </p:cNvSpPr>
          <p:nvPr/>
        </p:nvSpPr>
        <p:spPr>
          <a:xfrm>
            <a:off x="781050" y="3524250"/>
            <a:ext cx="1043940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2100" b="0" dirty="0">
                <a:solidFill>
                  <a:srgbClr val="162C3C"/>
                </a:solidFill>
                <a:latin typeface="Arial"/>
                <a:ea typeface="Arial"/>
                <a:cs typeface="Arial"/>
              </a:rPr>
              <a:t>C. LS04 → HC00 </a:t>
            </a:r>
            <a:r>
              <a:rPr sz="2100" b="0" dirty="0" err="1">
                <a:solidFill>
                  <a:srgbClr val="162C3C"/>
                </a:solidFill>
                <a:latin typeface="Arial"/>
                <a:ea typeface="Arial"/>
                <a:cs typeface="Arial"/>
              </a:rPr>
              <a:t>için</a:t>
            </a:r>
            <a:r>
              <a:rPr sz="2100" b="0" dirty="0">
                <a:solidFill>
                  <a:srgbClr val="162C3C"/>
                </a:solidFill>
                <a:latin typeface="Arial"/>
                <a:ea typeface="Arial"/>
                <a:cs typeface="Arial"/>
              </a:rPr>
              <a:t> 2,7 V </a:t>
            </a:r>
            <a:r>
              <a:rPr sz="2100" b="0" dirty="0" err="1">
                <a:solidFill>
                  <a:srgbClr val="162C3C"/>
                </a:solidFill>
                <a:latin typeface="Arial"/>
                <a:ea typeface="Arial"/>
                <a:cs typeface="Arial"/>
              </a:rPr>
              <a:t>ve</a:t>
            </a:r>
            <a:r>
              <a:rPr sz="2100" b="0" dirty="0">
                <a:solidFill>
                  <a:srgbClr val="162C3C"/>
                </a:solidFill>
                <a:latin typeface="Arial"/>
                <a:ea typeface="Arial"/>
                <a:cs typeface="Arial"/>
              </a:rPr>
              <a:t> 3,15 V </a:t>
            </a:r>
            <a:r>
              <a:rPr sz="2100" b="0" dirty="0" err="1">
                <a:solidFill>
                  <a:srgbClr val="162C3C"/>
                </a:solidFill>
                <a:latin typeface="Arial"/>
                <a:ea typeface="Arial"/>
                <a:cs typeface="Arial"/>
              </a:rPr>
              <a:t>sınırları</a:t>
            </a:r>
            <a:r>
              <a:rPr sz="2100" b="0" dirty="0">
                <a:solidFill>
                  <a:srgbClr val="162C3C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0" dirty="0" err="1">
                <a:solidFill>
                  <a:srgbClr val="162C3C"/>
                </a:solidFill>
                <a:latin typeface="Arial"/>
                <a:ea typeface="Arial"/>
                <a:cs typeface="Arial"/>
              </a:rPr>
              <a:t>nasıl</a:t>
            </a:r>
            <a:r>
              <a:rPr sz="2100" b="0" dirty="0">
                <a:solidFill>
                  <a:srgbClr val="162C3C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0" dirty="0" err="1">
                <a:solidFill>
                  <a:srgbClr val="162C3C"/>
                </a:solidFill>
                <a:latin typeface="Arial"/>
                <a:ea typeface="Arial"/>
                <a:cs typeface="Arial"/>
              </a:rPr>
              <a:t>yorumlanır</a:t>
            </a:r>
            <a:r>
              <a:rPr sz="2100" b="0" dirty="0">
                <a:solidFill>
                  <a:srgbClr val="162C3C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8" name="metin">
            <a:extLst>
              <a:ext uri="{FF2B5EF4-FFF2-40B4-BE49-F238E27FC236}">
                <a16:creationId xmlns:a16="http://schemas.microsoft.com/office/drawing/2014/main" id="{3A5AEBCA-153A-5EA7-DD14-D445D076DEB0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104394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1">
                <a:solidFill>
                  <a:srgbClr val="116B50"/>
                </a:solidFill>
                <a:latin typeface="Arial"/>
                <a:ea typeface="Arial"/>
                <a:cs typeface="Arial"/>
              </a:defRPr>
            </a:pPr>
            <a:r>
              <a:rPr sz="2100" b="1" dirty="0">
                <a:solidFill>
                  <a:srgbClr val="116B50"/>
                </a:solidFill>
                <a:latin typeface="Arial"/>
                <a:ea typeface="Arial"/>
                <a:cs typeface="Arial"/>
              </a:rPr>
              <a:t>A. [6,7) V </a:t>
            </a:r>
            <a:r>
              <a:rPr sz="2100" b="1" dirty="0" err="1">
                <a:solidFill>
                  <a:srgbClr val="116B50"/>
                </a:solidFill>
                <a:latin typeface="Arial"/>
                <a:ea typeface="Arial"/>
                <a:cs typeface="Arial"/>
              </a:rPr>
              <a:t>aralığı</a:t>
            </a:r>
            <a:r>
              <a:rPr sz="2100" b="1" dirty="0">
                <a:solidFill>
                  <a:srgbClr val="116B50"/>
                </a:solidFill>
                <a:latin typeface="Arial"/>
                <a:ea typeface="Arial"/>
                <a:cs typeface="Arial"/>
              </a:rPr>
              <a:t> → 6 → 110₂.</a:t>
            </a:r>
          </a:p>
        </p:txBody>
      </p:sp>
      <p:sp>
        <p:nvSpPr>
          <p:cNvPr id="9" name="metin">
            <a:extLst>
              <a:ext uri="{FF2B5EF4-FFF2-40B4-BE49-F238E27FC236}">
                <a16:creationId xmlns:a16="http://schemas.microsoft.com/office/drawing/2014/main" id="{715E7623-9373-CC45-F4C8-E28879E6F38A}"/>
              </a:ext>
            </a:extLst>
          </p:cNvPr>
          <p:cNvSpPr>
            <a:spLocks noGrp="1"/>
          </p:cNvSpPr>
          <p:nvPr/>
        </p:nvSpPr>
        <p:spPr>
          <a:xfrm>
            <a:off x="781050" y="2933700"/>
            <a:ext cx="104394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1">
                <a:solidFill>
                  <a:srgbClr val="116B50"/>
                </a:solidFill>
                <a:latin typeface="Arial"/>
                <a:ea typeface="Arial"/>
                <a:cs typeface="Arial"/>
              </a:defRPr>
            </a:pPr>
            <a:r>
              <a:rPr sz="2100" b="1" dirty="0">
                <a:solidFill>
                  <a:srgbClr val="116B50"/>
                </a:solidFill>
                <a:latin typeface="Arial"/>
                <a:ea typeface="Arial"/>
                <a:cs typeface="Arial"/>
              </a:rPr>
              <a:t>B. 1,4 V, 0,8–2,0 V </a:t>
            </a:r>
            <a:r>
              <a:rPr sz="2100" b="1" dirty="0" err="1">
                <a:solidFill>
                  <a:srgbClr val="116B50"/>
                </a:solidFill>
                <a:latin typeface="Arial"/>
                <a:ea typeface="Arial"/>
                <a:cs typeface="Arial"/>
              </a:rPr>
              <a:t>belirsiz</a:t>
            </a:r>
            <a:r>
              <a:rPr sz="2100" b="1" dirty="0">
                <a:solidFill>
                  <a:srgbClr val="116B50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16B50"/>
                </a:solidFill>
                <a:latin typeface="Arial"/>
                <a:ea typeface="Arial"/>
                <a:cs typeface="Arial"/>
              </a:rPr>
              <a:t>aralığındadır</a:t>
            </a:r>
            <a:r>
              <a:rPr sz="2100" b="1" dirty="0">
                <a:solidFill>
                  <a:srgbClr val="116B50"/>
                </a:solidFill>
                <a:latin typeface="Arial"/>
                <a:ea typeface="Arial"/>
                <a:cs typeface="Arial"/>
              </a:rPr>
              <a:t>. </a:t>
            </a:r>
            <a:r>
              <a:rPr sz="2100" b="1" dirty="0" err="1">
                <a:solidFill>
                  <a:srgbClr val="116B50"/>
                </a:solidFill>
                <a:latin typeface="Arial"/>
                <a:ea typeface="Arial"/>
                <a:cs typeface="Arial"/>
              </a:rPr>
              <a:t>Garanti</a:t>
            </a:r>
            <a:r>
              <a:rPr sz="2100" b="1" dirty="0">
                <a:solidFill>
                  <a:srgbClr val="116B50"/>
                </a:solidFill>
                <a:latin typeface="Arial"/>
                <a:ea typeface="Arial"/>
                <a:cs typeface="Arial"/>
              </a:rPr>
              <a:t> yok.</a:t>
            </a:r>
          </a:p>
        </p:txBody>
      </p:sp>
      <p:sp>
        <p:nvSpPr>
          <p:cNvPr id="10" name="metin">
            <a:extLst>
              <a:ext uri="{FF2B5EF4-FFF2-40B4-BE49-F238E27FC236}">
                <a16:creationId xmlns:a16="http://schemas.microsoft.com/office/drawing/2014/main" id="{D7CB21CB-4524-6122-E834-4E8102AF91B7}"/>
              </a:ext>
            </a:extLst>
          </p:cNvPr>
          <p:cNvSpPr>
            <a:spLocks noGrp="1"/>
          </p:cNvSpPr>
          <p:nvPr/>
        </p:nvSpPr>
        <p:spPr>
          <a:xfrm>
            <a:off x="781050" y="3982974"/>
            <a:ext cx="10439400" cy="1028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1">
                <a:solidFill>
                  <a:srgbClr val="116B50"/>
                </a:solidFill>
                <a:latin typeface="Arial"/>
                <a:ea typeface="Arial"/>
                <a:cs typeface="Arial"/>
              </a:defRPr>
            </a:pPr>
            <a:r>
              <a:rPr sz="2100" b="1" dirty="0">
                <a:solidFill>
                  <a:srgbClr val="116B50"/>
                </a:solidFill>
                <a:latin typeface="Arial"/>
                <a:ea typeface="Arial"/>
                <a:cs typeface="Arial"/>
              </a:rPr>
              <a:t>C. NMH = −0,45 V. HIGH </a:t>
            </a:r>
            <a:r>
              <a:rPr sz="2100" b="1" dirty="0" err="1">
                <a:solidFill>
                  <a:srgbClr val="116B50"/>
                </a:solidFill>
                <a:latin typeface="Arial"/>
                <a:ea typeface="Arial"/>
                <a:cs typeface="Arial"/>
              </a:rPr>
              <a:t>koşulu</a:t>
            </a:r>
            <a:r>
              <a:rPr sz="2100" b="1" dirty="0">
                <a:solidFill>
                  <a:srgbClr val="116B50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16B50"/>
                </a:solidFill>
                <a:latin typeface="Arial"/>
                <a:ea typeface="Arial"/>
                <a:cs typeface="Arial"/>
              </a:rPr>
              <a:t>veri</a:t>
            </a:r>
            <a:r>
              <a:rPr sz="2100" b="1" dirty="0">
                <a:solidFill>
                  <a:srgbClr val="116B50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16B50"/>
                </a:solidFill>
                <a:latin typeface="Arial"/>
                <a:ea typeface="Arial"/>
                <a:cs typeface="Arial"/>
              </a:rPr>
              <a:t>sayfası</a:t>
            </a:r>
            <a:r>
              <a:rPr sz="2100" b="1" dirty="0">
                <a:solidFill>
                  <a:srgbClr val="116B50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16B50"/>
                </a:solidFill>
                <a:latin typeface="Arial"/>
                <a:ea typeface="Arial"/>
                <a:cs typeface="Arial"/>
              </a:rPr>
              <a:t>sınırlarında</a:t>
            </a:r>
            <a:r>
              <a:rPr sz="2100" b="1" dirty="0">
                <a:solidFill>
                  <a:srgbClr val="116B50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16B50"/>
                </a:solidFill>
                <a:latin typeface="Arial"/>
                <a:ea typeface="Arial"/>
                <a:cs typeface="Arial"/>
              </a:rPr>
              <a:t>sağlanmaz</a:t>
            </a:r>
            <a:r>
              <a:rPr sz="2100" b="1" dirty="0">
                <a:solidFill>
                  <a:srgbClr val="116B5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6342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10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etin">
            <a:extLst>
              <a:ext uri="{FF2B5EF4-FFF2-40B4-BE49-F238E27FC236}">
                <a16:creationId xmlns:a16="http://schemas.microsoft.com/office/drawing/2014/main" id="{92883B6F-108D-4B00-B44D-CC6ECAF56DF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0846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466E"/>
                </a:solidFill>
                <a:latin typeface="Arial"/>
                <a:ea typeface="Arial"/>
                <a:cs typeface="Arial"/>
              </a:rPr>
              <a:t>Kaynaklar ve veri sayfaları</a:t>
            </a:r>
          </a:p>
        </p:txBody>
      </p:sp>
      <p:sp>
        <p:nvSpPr>
          <p:cNvPr id="2" name="metin">
            <a:extLst>
              <a:ext uri="{FF2B5EF4-FFF2-40B4-BE49-F238E27FC236}">
                <a16:creationId xmlns:a16="http://schemas.microsoft.com/office/drawing/2014/main" id="{08959A10-C984-414D-A7FB-6642ABA27A43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MANTIK DEVRELERİ  ·  DERS 1</a:t>
            </a:r>
          </a:p>
        </p:txBody>
      </p:sp>
      <p:sp>
        <p:nvSpPr>
          <p:cNvPr id="3" name="metin">
            <a:extLst>
              <a:ext uri="{FF2B5EF4-FFF2-40B4-BE49-F238E27FC236}">
                <a16:creationId xmlns:a16="http://schemas.microsoft.com/office/drawing/2014/main" id="{14E5AF6C-370D-4C94-99C4-7E807B2E222E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4B5E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E6B"/>
                </a:solidFill>
                <a:latin typeface="Arial"/>
                <a:ea typeface="Arial"/>
                <a:cs typeface="Arial"/>
              </a:rPr>
              <a:t>52</a:t>
            </a:r>
          </a:p>
        </p:txBody>
      </p:sp>
      <p:sp>
        <p:nvSpPr>
          <p:cNvPr id="4" name="metin">
            <a:extLst>
              <a:ext uri="{FF2B5EF4-FFF2-40B4-BE49-F238E27FC236}">
                <a16:creationId xmlns:a16="http://schemas.microsoft.com/office/drawing/2014/main" id="{39ECAA83-C303-4FDD-9B4E-49753A17622E}"/>
              </a:ext>
            </a:extLst>
          </p:cNvPr>
          <p:cNvSpPr>
            <a:spLocks noGrp="1"/>
          </p:cNvSpPr>
          <p:nvPr/>
        </p:nvSpPr>
        <p:spPr>
          <a:xfrm>
            <a:off x="781050" y="1381125"/>
            <a:ext cx="104394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R. F. Tinder, Engineering Digital Design, Prentice Hall.</a:t>
            </a:r>
          </a:p>
        </p:txBody>
      </p:sp>
      <p:sp>
        <p:nvSpPr>
          <p:cNvPr id="5" name="metin">
            <a:extLst>
              <a:ext uri="{FF2B5EF4-FFF2-40B4-BE49-F238E27FC236}">
                <a16:creationId xmlns:a16="http://schemas.microsoft.com/office/drawing/2014/main" id="{2450E647-B8E0-4FA0-9929-FB38C42B78A5}"/>
              </a:ext>
            </a:extLst>
          </p:cNvPr>
          <p:cNvSpPr>
            <a:spLocks noGrp="1"/>
          </p:cNvSpPr>
          <p:nvPr/>
        </p:nvSpPr>
        <p:spPr>
          <a:xfrm>
            <a:off x="781050" y="2105025"/>
            <a:ext cx="104394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Taner Arşan ve Rıfat Çölkesen, Lojik Devre Tasarımı, Papatya.</a:t>
            </a:r>
          </a:p>
        </p:txBody>
      </p:sp>
      <p:sp>
        <p:nvSpPr>
          <p:cNvPr id="6" name="metin">
            <a:extLst>
              <a:ext uri="{FF2B5EF4-FFF2-40B4-BE49-F238E27FC236}">
                <a16:creationId xmlns:a16="http://schemas.microsoft.com/office/drawing/2014/main" id="{9D392E4B-3B28-4040-9D68-C1E9E4B36F4B}"/>
              </a:ext>
            </a:extLst>
          </p:cNvPr>
          <p:cNvSpPr>
            <a:spLocks noGrp="1"/>
          </p:cNvSpPr>
          <p:nvPr/>
        </p:nvSpPr>
        <p:spPr>
          <a:xfrm>
            <a:off x="781050" y="2914650"/>
            <a:ext cx="104394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162C3C"/>
                </a:solidFill>
                <a:latin typeface="Arial"/>
                <a:ea typeface="Arial"/>
                <a:cs typeface="Arial"/>
              </a:rPr>
              <a:t>Texas Instruments: SN7400/LS00, SN74LS04, SN74HC00, SN74HCT00.</a:t>
            </a:r>
          </a:p>
        </p:txBody>
      </p:sp>
      <p:sp>
        <p:nvSpPr>
          <p:cNvPr id="7" name="metin">
            <a:extLst>
              <a:ext uri="{FF2B5EF4-FFF2-40B4-BE49-F238E27FC236}">
                <a16:creationId xmlns:a16="http://schemas.microsoft.com/office/drawing/2014/main" id="{47313F9A-B407-4008-A17E-0EA4708E6BBD}"/>
              </a:ext>
            </a:extLst>
          </p:cNvPr>
          <p:cNvSpPr>
            <a:spLocks noGrp="1"/>
          </p:cNvSpPr>
          <p:nvPr/>
        </p:nvSpPr>
        <p:spPr>
          <a:xfrm>
            <a:off x="781050" y="3638550"/>
            <a:ext cx="104394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2C3C"/>
                </a:solidFill>
                <a:latin typeface="Arial"/>
                <a:ea typeface="Arial"/>
                <a:cs typeface="Arial"/>
              </a:rPr>
              <a:t>TI: CMOS Power Consumption and Cpd Calculation uygulama notu.</a:t>
            </a:r>
          </a:p>
        </p:txBody>
      </p:sp>
      <p:sp>
        <p:nvSpPr>
          <p:cNvPr id="8" name="metin">
            <a:extLst>
              <a:ext uri="{FF2B5EF4-FFF2-40B4-BE49-F238E27FC236}">
                <a16:creationId xmlns:a16="http://schemas.microsoft.com/office/drawing/2014/main" id="{B1647451-7EC9-4ECE-84F9-952A8D56DEBE}"/>
              </a:ext>
            </a:extLst>
          </p:cNvPr>
          <p:cNvSpPr>
            <a:spLocks noGrp="1"/>
          </p:cNvSpPr>
          <p:nvPr/>
        </p:nvSpPr>
        <p:spPr>
          <a:xfrm>
            <a:off x="781050" y="4362450"/>
            <a:ext cx="104394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162C3C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162C3C"/>
                </a:solidFill>
                <a:latin typeface="Arial"/>
                <a:ea typeface="Arial"/>
                <a:cs typeface="Arial"/>
              </a:rPr>
              <a:t>Analog Devices: ADALM2000 ADC </a:t>
            </a:r>
            <a:r>
              <a:rPr sz="1650" b="0" dirty="0" err="1">
                <a:solidFill>
                  <a:srgbClr val="162C3C"/>
                </a:solidFill>
                <a:latin typeface="Arial"/>
                <a:ea typeface="Arial"/>
                <a:cs typeface="Arial"/>
              </a:rPr>
              <a:t>ders</a:t>
            </a:r>
            <a:r>
              <a:rPr sz="1650" b="0" dirty="0">
                <a:solidFill>
                  <a:srgbClr val="162C3C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162C3C"/>
                </a:solidFill>
                <a:latin typeface="Arial"/>
                <a:ea typeface="Arial"/>
                <a:cs typeface="Arial"/>
              </a:rPr>
              <a:t>etkinliği</a:t>
            </a:r>
            <a:r>
              <a:rPr sz="1650" b="0" dirty="0">
                <a:solidFill>
                  <a:srgbClr val="162C3C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6244450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3757</Words>
  <Application>Microsoft Office PowerPoint</Application>
  <DocSecurity>0</DocSecurity>
  <PresentationFormat>Geniş ekran</PresentationFormat>
  <Paragraphs>495</Paragraphs>
  <Slides>49</Slides>
  <Notes>49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49</vt:i4>
      </vt:variant>
    </vt:vector>
  </HeadingPairs>
  <TitlesOfParts>
    <vt:vector size="52" baseType="lpstr">
      <vt:lpstr>Aptos</vt:lpstr>
      <vt:lpstr>Arial</vt:lpstr>
      <vt:lpstr>ChatGPT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Ali BULDU</cp:lastModifiedBy>
  <cp:revision>1</cp:revision>
  <dcterms:created xsi:type="dcterms:W3CDTF">2026-09-28T18:58:12Z</dcterms:created>
  <dcterms:modified xsi:type="dcterms:W3CDTF">2026-09-30T06:56:39Z</dcterms:modified>
</cp:coreProperties>
</file>