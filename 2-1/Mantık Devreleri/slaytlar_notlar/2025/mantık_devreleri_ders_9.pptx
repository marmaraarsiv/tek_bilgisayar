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90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57" r:id="rId3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585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323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11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550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197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788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124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569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97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657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490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C9047-6DA9-483A-81E2-29FF55B157E8}" type="datetimeFigureOut">
              <a:rPr lang="tr-TR" smtClean="0"/>
              <a:t>19/11/2019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1DFAD-52A6-46D3-8A38-EBF8CEDA5B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255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 smtClean="0"/>
              <a:t>Mantık Devreleri </a:t>
            </a:r>
            <a:br>
              <a:rPr lang="tr-TR" dirty="0" smtClean="0"/>
            </a:br>
            <a:r>
              <a:rPr lang="tr-TR" dirty="0" smtClean="0"/>
              <a:t>DERS 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90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908720"/>
            <a:ext cx="799288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400" b="1" dirty="0"/>
              <a:t>Bileşik Mantık </a:t>
            </a:r>
            <a:r>
              <a:rPr lang="tr-TR" sz="4400" b="1" dirty="0" smtClean="0"/>
              <a:t>Devreleri II</a:t>
            </a:r>
            <a:endParaRPr lang="tr-TR" sz="4400" b="1" dirty="0"/>
          </a:p>
          <a:p>
            <a:r>
              <a:rPr lang="tr-TR" sz="4400" b="1" dirty="0" err="1" smtClean="0"/>
              <a:t>Çoklayıcılar</a:t>
            </a:r>
            <a:r>
              <a:rPr lang="tr-TR" sz="4400" b="1" dirty="0" smtClean="0"/>
              <a:t> </a:t>
            </a:r>
            <a:r>
              <a:rPr lang="tr-TR" sz="4400" b="1" dirty="0"/>
              <a:t>- Veri Seçiciler (</a:t>
            </a:r>
            <a:r>
              <a:rPr lang="tr-TR" sz="4400" b="1" dirty="0" err="1"/>
              <a:t>Multiplexers</a:t>
            </a:r>
            <a:r>
              <a:rPr lang="tr-TR" sz="4400" b="1" dirty="0"/>
              <a:t> - Data </a:t>
            </a:r>
            <a:r>
              <a:rPr lang="tr-TR" sz="4400" b="1" dirty="0" err="1"/>
              <a:t>Selectors</a:t>
            </a:r>
            <a:r>
              <a:rPr lang="tr-TR" sz="4400" b="1" dirty="0" smtClean="0"/>
              <a:t>)</a:t>
            </a:r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106322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404664"/>
            <a:ext cx="86409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G</a:t>
            </a:r>
            <a:r>
              <a:rPr lang="tr-TR" b="1" dirty="0" smtClean="0"/>
              <a:t>İRİŞ </a:t>
            </a:r>
          </a:p>
          <a:p>
            <a:r>
              <a:rPr lang="tr-TR" dirty="0"/>
              <a:t>Ç</a:t>
            </a:r>
            <a:r>
              <a:rPr lang="tr-TR" dirty="0" smtClean="0"/>
              <a:t>ok </a:t>
            </a:r>
            <a:r>
              <a:rPr lang="tr-TR" dirty="0"/>
              <a:t>sayıdaki giriş bilgisinin zaman paylaşımlı olarak sırayla ç</a:t>
            </a:r>
            <a:r>
              <a:rPr lang="tr-TR" dirty="0" smtClean="0"/>
              <a:t>ıkışa </a:t>
            </a:r>
            <a:r>
              <a:rPr lang="tr-TR" dirty="0"/>
              <a:t>aktarılması olayı,</a:t>
            </a:r>
          </a:p>
          <a:p>
            <a:r>
              <a:rPr lang="tr-TR" b="1" dirty="0"/>
              <a:t>‘</a:t>
            </a:r>
            <a:r>
              <a:rPr lang="tr-TR" b="1" dirty="0" err="1"/>
              <a:t>multiplexing</a:t>
            </a:r>
            <a:r>
              <a:rPr lang="tr-TR" b="1" dirty="0"/>
              <a:t> - veri seçme / </a:t>
            </a:r>
            <a:r>
              <a:rPr lang="tr-TR" b="1" dirty="0" err="1"/>
              <a:t>çoklama</a:t>
            </a:r>
            <a:r>
              <a:rPr lang="tr-TR" b="1" dirty="0"/>
              <a:t>’ </a:t>
            </a:r>
            <a:r>
              <a:rPr lang="tr-TR" dirty="0"/>
              <a:t>olarak tanımlanır.</a:t>
            </a:r>
          </a:p>
          <a:p>
            <a:r>
              <a:rPr lang="tr-TR" dirty="0"/>
              <a:t>Bir ç</a:t>
            </a:r>
            <a:r>
              <a:rPr lang="tr-TR" dirty="0" smtClean="0"/>
              <a:t>ok </a:t>
            </a:r>
            <a:r>
              <a:rPr lang="tr-TR" dirty="0"/>
              <a:t>giriş hattından gelen bilgilerden birisini </a:t>
            </a:r>
            <a:r>
              <a:rPr lang="tr-TR" dirty="0" smtClean="0"/>
              <a:t>seçerek </a:t>
            </a:r>
            <a:r>
              <a:rPr lang="tr-TR" dirty="0"/>
              <a:t>uygun ç</a:t>
            </a:r>
            <a:r>
              <a:rPr lang="tr-TR" dirty="0" smtClean="0"/>
              <a:t>ıkış </a:t>
            </a:r>
            <a:r>
              <a:rPr lang="tr-TR" dirty="0"/>
              <a:t>hattına</a:t>
            </a:r>
          </a:p>
          <a:p>
            <a:r>
              <a:rPr lang="tr-TR" dirty="0" smtClean="0"/>
              <a:t>yönlendirilmesini </a:t>
            </a:r>
            <a:r>
              <a:rPr lang="tr-TR" dirty="0"/>
              <a:t>sağlayan bileşik devrelere ‘</a:t>
            </a:r>
            <a:r>
              <a:rPr lang="tr-TR" b="1" dirty="0" err="1"/>
              <a:t>çoklayıcı</a:t>
            </a:r>
            <a:r>
              <a:rPr lang="tr-TR" b="1" dirty="0"/>
              <a:t> / veri seçici devreler’ </a:t>
            </a:r>
            <a:r>
              <a:rPr lang="tr-TR" dirty="0"/>
              <a:t>(</a:t>
            </a:r>
            <a:r>
              <a:rPr lang="tr-TR" dirty="0" err="1"/>
              <a:t>multiplexer</a:t>
            </a:r>
            <a:r>
              <a:rPr lang="tr-TR" dirty="0"/>
              <a:t>)</a:t>
            </a:r>
          </a:p>
          <a:p>
            <a:r>
              <a:rPr lang="tr-TR" dirty="0"/>
              <a:t>denir ve </a:t>
            </a:r>
            <a:r>
              <a:rPr lang="tr-TR" dirty="0" smtClean="0"/>
              <a:t>(</a:t>
            </a:r>
            <a:r>
              <a:rPr lang="tr-TR" dirty="0"/>
              <a:t>MUX) </a:t>
            </a:r>
            <a:r>
              <a:rPr lang="tr-TR" dirty="0" smtClean="0"/>
              <a:t>sembolü </a:t>
            </a:r>
            <a:r>
              <a:rPr lang="tr-TR" dirty="0"/>
              <a:t>ile </a:t>
            </a:r>
            <a:r>
              <a:rPr lang="tr-TR" dirty="0" smtClean="0"/>
              <a:t>gösterilir</a:t>
            </a:r>
            <a:r>
              <a:rPr lang="tr-TR" dirty="0"/>
              <a:t>. </a:t>
            </a:r>
            <a:r>
              <a:rPr lang="tr-TR" dirty="0" smtClean="0"/>
              <a:t>Bir </a:t>
            </a:r>
            <a:r>
              <a:rPr lang="tr-TR" dirty="0"/>
              <a:t>ç</a:t>
            </a:r>
            <a:r>
              <a:rPr lang="tr-TR" dirty="0" smtClean="0"/>
              <a:t>ok </a:t>
            </a:r>
            <a:r>
              <a:rPr lang="tr-TR" dirty="0"/>
              <a:t>veri transferi, zaman paylaşım tekniği</a:t>
            </a:r>
          </a:p>
          <a:p>
            <a:r>
              <a:rPr lang="tr-TR" dirty="0"/>
              <a:t>kullanılarak </a:t>
            </a:r>
            <a:r>
              <a:rPr lang="tr-TR" dirty="0" err="1"/>
              <a:t>multiplekser</a:t>
            </a:r>
            <a:r>
              <a:rPr lang="tr-TR" dirty="0"/>
              <a:t> devreleri yardımıyla </a:t>
            </a:r>
            <a:r>
              <a:rPr lang="tr-TR" dirty="0" smtClean="0"/>
              <a:t>gerçekleştirilir</a:t>
            </a:r>
            <a:r>
              <a:rPr lang="tr-TR" dirty="0"/>
              <a:t>. </a:t>
            </a:r>
            <a:r>
              <a:rPr lang="tr-TR" dirty="0" err="1"/>
              <a:t>Ç</a:t>
            </a:r>
            <a:r>
              <a:rPr lang="tr-TR" dirty="0" err="1" smtClean="0"/>
              <a:t>oklayıcılar</a:t>
            </a:r>
            <a:r>
              <a:rPr lang="tr-TR" dirty="0"/>
              <a:t>, orijinal isminden</a:t>
            </a:r>
          </a:p>
          <a:p>
            <a:r>
              <a:rPr lang="en-US" dirty="0" err="1"/>
              <a:t>hareketle</a:t>
            </a:r>
            <a:r>
              <a:rPr lang="en-US" dirty="0"/>
              <a:t> </a:t>
            </a:r>
            <a:r>
              <a:rPr lang="tr-TR" dirty="0" err="1"/>
              <a:t>ç</a:t>
            </a:r>
            <a:r>
              <a:rPr lang="en-US" dirty="0" err="1" smtClean="0"/>
              <a:t>oğu</a:t>
            </a:r>
            <a:r>
              <a:rPr lang="en-US" dirty="0" smtClean="0"/>
              <a:t> </a:t>
            </a:r>
            <a:r>
              <a:rPr lang="en-US" dirty="0" err="1"/>
              <a:t>kere</a:t>
            </a:r>
            <a:r>
              <a:rPr lang="en-US" dirty="0"/>
              <a:t> ‘multiplexer-</a:t>
            </a:r>
            <a:r>
              <a:rPr lang="en-US" dirty="0" err="1"/>
              <a:t>multipleksır</a:t>
            </a:r>
            <a:r>
              <a:rPr lang="en-US" dirty="0"/>
              <a:t>’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adlandırılır</a:t>
            </a:r>
            <a:r>
              <a:rPr lang="en-US" dirty="0"/>
              <a:t>. </a:t>
            </a:r>
            <a:endParaRPr lang="tr-TR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12988"/>
            <a:ext cx="701992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344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908720"/>
            <a:ext cx="7791202" cy="504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8888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90" y="548680"/>
            <a:ext cx="8578282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7407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6399517"/>
            <a:ext cx="6264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8.22. </a:t>
            </a:r>
            <a:r>
              <a:rPr lang="tr-TR" dirty="0"/>
              <a:t>Kapı devreleri ile </a:t>
            </a:r>
            <a:r>
              <a:rPr lang="tr-TR" dirty="0" err="1"/>
              <a:t>gercekleştirilen</a:t>
            </a:r>
            <a:r>
              <a:rPr lang="tr-TR" dirty="0"/>
              <a:t> veri </a:t>
            </a:r>
            <a:r>
              <a:rPr lang="tr-TR" dirty="0" smtClean="0"/>
              <a:t>seçme </a:t>
            </a:r>
            <a:r>
              <a:rPr lang="tr-TR" dirty="0"/>
              <a:t>işlemi.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347663"/>
            <a:ext cx="8429625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693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56984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41365"/>
            <a:ext cx="67246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3707904" y="6165304"/>
            <a:ext cx="4716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8.23. </a:t>
            </a:r>
            <a:r>
              <a:rPr lang="tr-TR" dirty="0"/>
              <a:t>4x1 MUX </a:t>
            </a:r>
            <a:r>
              <a:rPr lang="tr-TR" dirty="0" err="1"/>
              <a:t>sembolu</a:t>
            </a:r>
            <a:r>
              <a:rPr lang="tr-TR" dirty="0"/>
              <a:t>, fonksiyon tablosu ve lojik devresi.</a:t>
            </a:r>
          </a:p>
        </p:txBody>
      </p:sp>
    </p:spTree>
    <p:extLst>
      <p:ext uri="{BB962C8B-B14F-4D97-AF65-F5344CB8AC3E}">
        <p14:creationId xmlns:p14="http://schemas.microsoft.com/office/powerpoint/2010/main" val="35353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357188"/>
            <a:ext cx="874395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094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1474"/>
            <a:ext cx="7992888" cy="629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5528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0542"/>
            <a:ext cx="7704856" cy="529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395536" y="5903072"/>
            <a:ext cx="6840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8.25. </a:t>
            </a:r>
            <a:r>
              <a:rPr lang="tr-TR" dirty="0"/>
              <a:t>İki adet 8x1 girişli </a:t>
            </a:r>
            <a:r>
              <a:rPr lang="tr-TR" dirty="0" err="1"/>
              <a:t>Ç</a:t>
            </a:r>
            <a:r>
              <a:rPr lang="tr-TR" dirty="0" err="1" smtClean="0"/>
              <a:t>oklayıcı</a:t>
            </a:r>
            <a:r>
              <a:rPr lang="tr-TR" dirty="0" smtClean="0"/>
              <a:t> </a:t>
            </a:r>
            <a:r>
              <a:rPr lang="tr-TR" dirty="0"/>
              <a:t>ile 16x1 </a:t>
            </a:r>
            <a:r>
              <a:rPr lang="tr-TR" dirty="0" err="1"/>
              <a:t>ç</a:t>
            </a:r>
            <a:r>
              <a:rPr lang="tr-TR" dirty="0" err="1" smtClean="0"/>
              <a:t>oklayıcı</a:t>
            </a:r>
            <a:r>
              <a:rPr lang="tr-TR" dirty="0" smtClean="0"/>
              <a:t> </a:t>
            </a:r>
            <a:r>
              <a:rPr lang="tr-TR" dirty="0"/>
              <a:t>yapımı.</a:t>
            </a:r>
          </a:p>
        </p:txBody>
      </p:sp>
    </p:spTree>
    <p:extLst>
      <p:ext uri="{BB962C8B-B14F-4D97-AF65-F5344CB8AC3E}">
        <p14:creationId xmlns:p14="http://schemas.microsoft.com/office/powerpoint/2010/main" val="25299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76672"/>
            <a:ext cx="8743346" cy="2603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079675"/>
            <a:ext cx="6912768" cy="3326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743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64" y="332656"/>
            <a:ext cx="8627799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704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836712"/>
            <a:ext cx="8389425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538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539552" y="260648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 err="1">
                <a:solidFill>
                  <a:srgbClr val="FF0000"/>
                </a:solidFill>
              </a:rPr>
              <a:t>Boolean</a:t>
            </a:r>
            <a:r>
              <a:rPr lang="tr-TR" sz="2400" b="1" dirty="0">
                <a:solidFill>
                  <a:srgbClr val="FF0000"/>
                </a:solidFill>
              </a:rPr>
              <a:t> Fonksiyonlarının ve Bileşik Devrelerin Gerçekleştirilmesi</a:t>
            </a:r>
            <a:endParaRPr lang="tr-TR" sz="24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2"/>
            <a:ext cx="9017819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29" y="2348880"/>
            <a:ext cx="8849467" cy="448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902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2" y="116632"/>
            <a:ext cx="9106736" cy="655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273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48680"/>
            <a:ext cx="2019300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548680"/>
            <a:ext cx="385139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20" y="4509120"/>
            <a:ext cx="2897900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583596"/>
            <a:ext cx="2880320" cy="15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7144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04800"/>
            <a:ext cx="828092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5938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260648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</a:rPr>
              <a:t>Veri Dağıtıcılar (</a:t>
            </a:r>
            <a:r>
              <a:rPr lang="tr-TR" sz="2400" b="1" dirty="0" err="1">
                <a:solidFill>
                  <a:srgbClr val="FF0000"/>
                </a:solidFill>
              </a:rPr>
              <a:t>Demultiplexers</a:t>
            </a:r>
            <a:r>
              <a:rPr lang="tr-TR" sz="2400" b="1" dirty="0">
                <a:solidFill>
                  <a:srgbClr val="FF0000"/>
                </a:solidFill>
              </a:rPr>
              <a:t> - Data </a:t>
            </a:r>
            <a:r>
              <a:rPr lang="tr-TR" sz="2400" b="1" dirty="0" err="1">
                <a:solidFill>
                  <a:srgbClr val="FF0000"/>
                </a:solidFill>
              </a:rPr>
              <a:t>Distributors</a:t>
            </a:r>
            <a:r>
              <a:rPr lang="tr-TR" sz="2400" b="1" dirty="0">
                <a:solidFill>
                  <a:srgbClr val="FF0000"/>
                </a:solidFill>
              </a:rPr>
              <a:t>)</a:t>
            </a:r>
            <a:endParaRPr lang="tr-TR" sz="24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19150"/>
            <a:ext cx="8856983" cy="585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6279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3" y="764704"/>
            <a:ext cx="8564917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5017402"/>
            <a:ext cx="88677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7956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404664"/>
            <a:ext cx="8934450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2650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58" y="404664"/>
            <a:ext cx="8765947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2018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485775"/>
            <a:ext cx="7696200" cy="588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901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31" y="404664"/>
            <a:ext cx="8782777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107504" y="6396335"/>
            <a:ext cx="9036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8.43. </a:t>
            </a:r>
            <a:r>
              <a:rPr lang="tr-TR" dirty="0"/>
              <a:t>8’de 1 kod </a:t>
            </a:r>
            <a:r>
              <a:rPr lang="tr-TR" dirty="0" err="1"/>
              <a:t>cozucu</a:t>
            </a:r>
            <a:r>
              <a:rPr lang="tr-TR" dirty="0"/>
              <a:t> devresinin </a:t>
            </a:r>
            <a:r>
              <a:rPr lang="tr-TR" dirty="0" err="1"/>
              <a:t>demultiplexer</a:t>
            </a:r>
            <a:r>
              <a:rPr lang="tr-TR" dirty="0"/>
              <a:t> olarak kullanılması ve </a:t>
            </a:r>
            <a:r>
              <a:rPr lang="tr-TR" dirty="0" err="1"/>
              <a:t>ornek</a:t>
            </a:r>
            <a:r>
              <a:rPr lang="tr-TR" dirty="0"/>
              <a:t> sinyal şekli.</a:t>
            </a:r>
          </a:p>
        </p:txBody>
      </p:sp>
    </p:spTree>
    <p:extLst>
      <p:ext uri="{BB962C8B-B14F-4D97-AF65-F5344CB8AC3E}">
        <p14:creationId xmlns:p14="http://schemas.microsoft.com/office/powerpoint/2010/main" val="1134700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9404" y="116632"/>
            <a:ext cx="901709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 err="1"/>
              <a:t>Demultiplexer</a:t>
            </a:r>
            <a:r>
              <a:rPr lang="tr-TR" sz="2000" dirty="0"/>
              <a:t> devreleri, tek bir verinin farklı yerlerde kullanılmasını sağlayacak</a:t>
            </a:r>
          </a:p>
          <a:p>
            <a:r>
              <a:rPr lang="tr-TR" sz="2000" dirty="0"/>
              <a:t>uygulamalar yanında, </a:t>
            </a:r>
            <a:r>
              <a:rPr lang="tr-TR" sz="2000" dirty="0" err="1"/>
              <a:t>multiplexer</a:t>
            </a:r>
            <a:r>
              <a:rPr lang="tr-TR" sz="2000" dirty="0"/>
              <a:t> ile birlikte sistemleri basitleştirmek amacıyla </a:t>
            </a:r>
            <a:r>
              <a:rPr lang="tr-TR" sz="2000" dirty="0" smtClean="0"/>
              <a:t>kullanılır</a:t>
            </a:r>
            <a:r>
              <a:rPr lang="tr-TR" sz="2000" dirty="0" smtClean="0"/>
              <a:t>. Bu </a:t>
            </a:r>
            <a:r>
              <a:rPr lang="tr-TR" sz="2000" dirty="0"/>
              <a:t>kullanım alanlarını birer ö</a:t>
            </a:r>
            <a:r>
              <a:rPr lang="tr-TR" sz="2000" dirty="0" smtClean="0"/>
              <a:t>rnek </a:t>
            </a:r>
            <a:r>
              <a:rPr lang="tr-TR" sz="2000" dirty="0"/>
              <a:t>ile detaylandıralım</a:t>
            </a:r>
            <a:r>
              <a:rPr lang="tr-TR" sz="2000" dirty="0" smtClean="0"/>
              <a:t>.</a:t>
            </a:r>
          </a:p>
          <a:p>
            <a:endParaRPr lang="tr-TR" sz="2000" dirty="0"/>
          </a:p>
        </p:txBody>
      </p:sp>
      <p:sp>
        <p:nvSpPr>
          <p:cNvPr id="4" name="Dikdörtgen 3"/>
          <p:cNvSpPr/>
          <p:nvPr/>
        </p:nvSpPr>
        <p:spPr>
          <a:xfrm>
            <a:off x="107504" y="1163847"/>
            <a:ext cx="903649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/>
              <a:t>ÖRNEK:</a:t>
            </a:r>
          </a:p>
          <a:p>
            <a:r>
              <a:rPr lang="tr-TR" dirty="0" smtClean="0"/>
              <a:t>Bir </a:t>
            </a:r>
            <a:r>
              <a:rPr lang="tr-TR" dirty="0"/>
              <a:t>fabrikada kullanılan </a:t>
            </a:r>
            <a:r>
              <a:rPr lang="tr-TR" dirty="0" smtClean="0"/>
              <a:t>güvenlik görüntüleme </a:t>
            </a:r>
            <a:r>
              <a:rPr lang="tr-TR" dirty="0"/>
              <a:t>sisteminde, </a:t>
            </a:r>
            <a:r>
              <a:rPr lang="tr-TR" dirty="0"/>
              <a:t>ç</a:t>
            </a:r>
            <a:r>
              <a:rPr lang="tr-TR" dirty="0" smtClean="0"/>
              <a:t>ok </a:t>
            </a:r>
            <a:r>
              <a:rPr lang="tr-TR" dirty="0"/>
              <a:t>sayıda kapıya bağlı olarak</a:t>
            </a:r>
          </a:p>
          <a:p>
            <a:r>
              <a:rPr lang="tr-TR" dirty="0"/>
              <a:t>ç</a:t>
            </a:r>
            <a:r>
              <a:rPr lang="tr-TR" dirty="0" smtClean="0"/>
              <a:t>alışan açık </a:t>
            </a:r>
            <a:r>
              <a:rPr lang="tr-TR" dirty="0"/>
              <a:t>/ kapalı anahtarlar bulunmaktadır. Her bir kapı ile bir anahtarın durumu kontrol</a:t>
            </a:r>
          </a:p>
          <a:p>
            <a:r>
              <a:rPr lang="tr-TR" dirty="0"/>
              <a:t>edilmekte ve anahtarın durumu LED’ler ile </a:t>
            </a:r>
            <a:r>
              <a:rPr lang="tr-TR" dirty="0" smtClean="0"/>
              <a:t>görüntülenmektedir</a:t>
            </a:r>
            <a:r>
              <a:rPr lang="tr-TR" dirty="0"/>
              <a:t>. LED’ler </a:t>
            </a:r>
            <a:r>
              <a:rPr lang="tr-TR" dirty="0" smtClean="0"/>
              <a:t>güvenlik </a:t>
            </a:r>
            <a:r>
              <a:rPr lang="tr-TR" dirty="0"/>
              <a:t>biriminin</a:t>
            </a:r>
          </a:p>
          <a:p>
            <a:r>
              <a:rPr lang="tr-TR" dirty="0"/>
              <a:t>bulunduğu uzak bir noktada </a:t>
            </a:r>
            <a:r>
              <a:rPr lang="tr-TR" dirty="0" smtClean="0"/>
              <a:t>görüntüleme </a:t>
            </a:r>
            <a:r>
              <a:rPr lang="tr-TR" dirty="0"/>
              <a:t>paneline yerleştirilmiştir. Bu devreyi lojik</a:t>
            </a:r>
          </a:p>
          <a:p>
            <a:r>
              <a:rPr lang="tr-TR" dirty="0"/>
              <a:t>elemanlar yardımıyla </a:t>
            </a:r>
            <a:r>
              <a:rPr lang="tr-TR" dirty="0" smtClean="0"/>
              <a:t>gerçekleştirelim</a:t>
            </a:r>
            <a:r>
              <a:rPr lang="tr-TR" dirty="0"/>
              <a:t>.</a:t>
            </a:r>
          </a:p>
          <a:p>
            <a:r>
              <a:rPr lang="tr-TR" dirty="0"/>
              <a:t>Şekil 8.44’de yapılması istenen, 8 kapının kullanıldığı </a:t>
            </a:r>
            <a:r>
              <a:rPr lang="tr-TR" dirty="0" smtClean="0"/>
              <a:t>güvenlik görüntüleme </a:t>
            </a:r>
            <a:r>
              <a:rPr lang="tr-TR" dirty="0"/>
              <a:t>sistemi prensip</a:t>
            </a:r>
          </a:p>
          <a:p>
            <a:r>
              <a:rPr lang="tr-TR" dirty="0"/>
              <a:t>şeması </a:t>
            </a:r>
            <a:r>
              <a:rPr lang="tr-TR" dirty="0" smtClean="0"/>
              <a:t>görülmektedir</a:t>
            </a:r>
            <a:r>
              <a:rPr lang="tr-TR" dirty="0"/>
              <a:t>. </a:t>
            </a:r>
            <a:r>
              <a:rPr lang="tr-TR" dirty="0" smtClean="0"/>
              <a:t>Böyle </a:t>
            </a:r>
            <a:r>
              <a:rPr lang="tr-TR" dirty="0"/>
              <a:t>bir uygulamada yapılacak işlem; her bir kapıdan gelen</a:t>
            </a:r>
          </a:p>
          <a:p>
            <a:r>
              <a:rPr lang="tr-TR" dirty="0"/>
              <a:t>anahtardan, </a:t>
            </a:r>
            <a:r>
              <a:rPr lang="tr-TR" dirty="0" smtClean="0"/>
              <a:t>gösterge </a:t>
            </a:r>
            <a:r>
              <a:rPr lang="tr-TR" dirty="0"/>
              <a:t>panelindeki ilgili LED’e bir hat </a:t>
            </a:r>
            <a:r>
              <a:rPr lang="tr-TR" dirty="0"/>
              <a:t>ç</a:t>
            </a:r>
            <a:r>
              <a:rPr lang="tr-TR" dirty="0" smtClean="0"/>
              <a:t>ekmektir</a:t>
            </a:r>
            <a:r>
              <a:rPr lang="tr-TR" dirty="0"/>
              <a:t>. Bu sistem </a:t>
            </a:r>
            <a:r>
              <a:rPr lang="tr-TR" dirty="0"/>
              <a:t>ç</a:t>
            </a:r>
            <a:r>
              <a:rPr lang="tr-TR" dirty="0" smtClean="0"/>
              <a:t>ok </a:t>
            </a:r>
            <a:r>
              <a:rPr lang="tr-TR" dirty="0"/>
              <a:t>sayıda kablo</a:t>
            </a:r>
          </a:p>
          <a:p>
            <a:r>
              <a:rPr lang="tr-TR" dirty="0" smtClean="0"/>
              <a:t>döşenmesini </a:t>
            </a:r>
            <a:r>
              <a:rPr lang="tr-TR" dirty="0"/>
              <a:t>gerektirir. Uygulanması istenilen devrede bulunan iki birim arasında 8 adet</a:t>
            </a:r>
          </a:p>
          <a:p>
            <a:r>
              <a:rPr lang="tr-TR" dirty="0"/>
              <a:t>kablo </a:t>
            </a:r>
            <a:r>
              <a:rPr lang="tr-TR" dirty="0"/>
              <a:t>ç</a:t>
            </a:r>
            <a:r>
              <a:rPr lang="tr-TR" dirty="0" smtClean="0"/>
              <a:t>ekilmesi </a:t>
            </a:r>
            <a:r>
              <a:rPr lang="tr-TR" dirty="0"/>
              <a:t>gerekmektedir.</a:t>
            </a:r>
          </a:p>
          <a:p>
            <a:r>
              <a:rPr lang="tr-TR" dirty="0"/>
              <a:t>Bu sistemi </a:t>
            </a:r>
            <a:r>
              <a:rPr lang="tr-TR" dirty="0" smtClean="0"/>
              <a:t>gerçekleştirmenin </a:t>
            </a:r>
            <a:r>
              <a:rPr lang="tr-TR" dirty="0"/>
              <a:t>diğer bir </a:t>
            </a:r>
            <a:r>
              <a:rPr lang="tr-TR" dirty="0" smtClean="0"/>
              <a:t>yöntemi</a:t>
            </a:r>
            <a:r>
              <a:rPr lang="tr-TR" dirty="0"/>
              <a:t>, </a:t>
            </a:r>
            <a:r>
              <a:rPr lang="tr-TR" dirty="0" err="1"/>
              <a:t>multiplexer</a:t>
            </a:r>
            <a:r>
              <a:rPr lang="tr-TR" dirty="0"/>
              <a:t> / </a:t>
            </a:r>
            <a:r>
              <a:rPr lang="tr-TR" dirty="0" err="1"/>
              <a:t>demultiplexer</a:t>
            </a:r>
            <a:r>
              <a:rPr lang="tr-TR" dirty="0"/>
              <a:t> kombinasyonu</a:t>
            </a:r>
          </a:p>
          <a:p>
            <a:r>
              <a:rPr lang="tr-TR" dirty="0"/>
              <a:t>kullanmaktır.</a:t>
            </a:r>
          </a:p>
          <a:p>
            <a:r>
              <a:rPr lang="tr-TR" dirty="0"/>
              <a:t>Prensip şeması </a:t>
            </a:r>
            <a:r>
              <a:rPr lang="tr-TR" dirty="0"/>
              <a:t>ç</a:t>
            </a:r>
            <a:r>
              <a:rPr lang="tr-TR" dirty="0" smtClean="0"/>
              <a:t>izilen </a:t>
            </a:r>
            <a:r>
              <a:rPr lang="tr-TR" dirty="0"/>
              <a:t>devrede, sekiz kapıda bulunan anahtarlar </a:t>
            </a:r>
            <a:r>
              <a:rPr lang="tr-TR" dirty="0" err="1"/>
              <a:t>multiplexer</a:t>
            </a:r>
            <a:r>
              <a:rPr lang="tr-TR" dirty="0"/>
              <a:t> </a:t>
            </a:r>
            <a:r>
              <a:rPr lang="tr-TR" dirty="0" smtClean="0"/>
              <a:t>için </a:t>
            </a:r>
            <a:r>
              <a:rPr lang="tr-TR" dirty="0"/>
              <a:t>veri</a:t>
            </a:r>
          </a:p>
          <a:p>
            <a:r>
              <a:rPr lang="tr-TR" dirty="0"/>
              <a:t>girişleridir. Kapılar </a:t>
            </a:r>
            <a:r>
              <a:rPr lang="tr-TR" dirty="0" smtClean="0"/>
              <a:t>açık </a:t>
            </a:r>
            <a:r>
              <a:rPr lang="tr-TR" dirty="0"/>
              <a:t>olduğu zaman ‘1’ sinyali </a:t>
            </a:r>
            <a:r>
              <a:rPr lang="tr-TR" dirty="0"/>
              <a:t>ü</a:t>
            </a:r>
            <a:r>
              <a:rPr lang="tr-TR" dirty="0" smtClean="0"/>
              <a:t>retilirken</a:t>
            </a:r>
            <a:r>
              <a:rPr lang="tr-TR" dirty="0"/>
              <a:t>, kapalı olduğu zaman ‘0’</a:t>
            </a:r>
          </a:p>
          <a:p>
            <a:r>
              <a:rPr lang="tr-TR" dirty="0"/>
              <a:t>ü</a:t>
            </a:r>
            <a:r>
              <a:rPr lang="tr-TR" dirty="0" smtClean="0"/>
              <a:t>retilir</a:t>
            </a:r>
            <a:r>
              <a:rPr lang="tr-TR" dirty="0"/>
              <a:t>. Kapıların durumuna </a:t>
            </a:r>
            <a:r>
              <a:rPr lang="tr-TR" dirty="0" smtClean="0"/>
              <a:t>göre </a:t>
            </a:r>
            <a:r>
              <a:rPr lang="tr-TR" dirty="0"/>
              <a:t>bu bilgiler </a:t>
            </a:r>
            <a:r>
              <a:rPr lang="tr-TR" dirty="0" err="1"/>
              <a:t>multiplexer</a:t>
            </a:r>
            <a:r>
              <a:rPr lang="tr-TR" dirty="0"/>
              <a:t> girişinde </a:t>
            </a:r>
            <a:r>
              <a:rPr lang="tr-TR" dirty="0" smtClean="0"/>
              <a:t>gözükür</a:t>
            </a:r>
            <a:r>
              <a:rPr lang="tr-TR" dirty="0"/>
              <a:t>. </a:t>
            </a:r>
            <a:r>
              <a:rPr lang="tr-TR" dirty="0" err="1"/>
              <a:t>Mod</a:t>
            </a:r>
            <a:r>
              <a:rPr lang="tr-TR" dirty="0"/>
              <a:t> 8 sayıcı,</a:t>
            </a:r>
          </a:p>
          <a:p>
            <a:r>
              <a:rPr lang="tr-TR" dirty="0"/>
              <a:t>hem </a:t>
            </a:r>
            <a:r>
              <a:rPr lang="tr-TR" dirty="0" err="1"/>
              <a:t>multiplexer</a:t>
            </a:r>
            <a:r>
              <a:rPr lang="tr-TR" dirty="0"/>
              <a:t> hem de </a:t>
            </a:r>
            <a:r>
              <a:rPr lang="tr-TR" dirty="0" err="1"/>
              <a:t>demultiplexer</a:t>
            </a:r>
            <a:r>
              <a:rPr lang="tr-TR" dirty="0"/>
              <a:t> </a:t>
            </a:r>
            <a:r>
              <a:rPr lang="tr-TR" dirty="0" smtClean="0"/>
              <a:t>için seçici </a:t>
            </a:r>
            <a:r>
              <a:rPr lang="tr-TR" dirty="0"/>
              <a:t>giriş sinyalleri </a:t>
            </a:r>
            <a:r>
              <a:rPr lang="tr-TR" dirty="0"/>
              <a:t>ü</a:t>
            </a:r>
            <a:r>
              <a:rPr lang="tr-TR" dirty="0" smtClean="0"/>
              <a:t>retir</a:t>
            </a:r>
            <a:r>
              <a:rPr lang="tr-TR" dirty="0"/>
              <a:t>. </a:t>
            </a:r>
            <a:r>
              <a:rPr lang="tr-TR" dirty="0" err="1"/>
              <a:t>Multiplexer</a:t>
            </a:r>
            <a:r>
              <a:rPr lang="tr-TR" dirty="0"/>
              <a:t> devresi,</a:t>
            </a:r>
          </a:p>
          <a:p>
            <a:r>
              <a:rPr lang="tr-TR" dirty="0"/>
              <a:t>girişlere bağlı kapılardan gelen sinyallerden birisini </a:t>
            </a:r>
            <a:r>
              <a:rPr lang="tr-TR" dirty="0"/>
              <a:t>ç</a:t>
            </a:r>
            <a:r>
              <a:rPr lang="tr-TR" dirty="0" smtClean="0"/>
              <a:t>ıkışına </a:t>
            </a:r>
            <a:r>
              <a:rPr lang="tr-TR" dirty="0"/>
              <a:t>aktarır. Bu </a:t>
            </a:r>
            <a:r>
              <a:rPr lang="tr-TR" dirty="0"/>
              <a:t>ç</a:t>
            </a:r>
            <a:r>
              <a:rPr lang="tr-TR" dirty="0" smtClean="0"/>
              <a:t>ıkıştan </a:t>
            </a:r>
            <a:r>
              <a:rPr lang="tr-TR" dirty="0"/>
              <a:t>alınan sinyal</a:t>
            </a:r>
          </a:p>
          <a:p>
            <a:r>
              <a:rPr lang="tr-TR" dirty="0" err="1"/>
              <a:t>demultiplexer’in</a:t>
            </a:r>
            <a:r>
              <a:rPr lang="tr-TR" dirty="0"/>
              <a:t> ‘I’ girişine uygulanır.</a:t>
            </a:r>
          </a:p>
        </p:txBody>
      </p:sp>
    </p:spTree>
    <p:extLst>
      <p:ext uri="{BB962C8B-B14F-4D97-AF65-F5344CB8AC3E}">
        <p14:creationId xmlns:p14="http://schemas.microsoft.com/office/powerpoint/2010/main" val="3018887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3528" y="188640"/>
            <a:ext cx="894095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MOD 8 sayıcı </a:t>
            </a:r>
            <a:r>
              <a:rPr lang="tr-TR" dirty="0"/>
              <a:t>ç</a:t>
            </a:r>
            <a:r>
              <a:rPr lang="tr-TR" dirty="0" smtClean="0"/>
              <a:t>ıkışından </a:t>
            </a:r>
            <a:r>
              <a:rPr lang="tr-TR" dirty="0" err="1"/>
              <a:t>demultiplexer</a:t>
            </a:r>
            <a:r>
              <a:rPr lang="tr-TR" dirty="0"/>
              <a:t> </a:t>
            </a:r>
            <a:r>
              <a:rPr lang="tr-TR" dirty="0" smtClean="0"/>
              <a:t>seçici </a:t>
            </a:r>
            <a:r>
              <a:rPr lang="tr-TR" dirty="0"/>
              <a:t>girişlerine uygulanan sinyaller, I girişinden</a:t>
            </a:r>
          </a:p>
          <a:p>
            <a:r>
              <a:rPr lang="tr-TR" dirty="0"/>
              <a:t>gelen bilgiyi </a:t>
            </a:r>
            <a:r>
              <a:rPr lang="tr-TR" dirty="0"/>
              <a:t>ç</a:t>
            </a:r>
            <a:r>
              <a:rPr lang="tr-TR" dirty="0" smtClean="0"/>
              <a:t>ıkışlara </a:t>
            </a:r>
            <a:r>
              <a:rPr lang="tr-TR" dirty="0"/>
              <a:t>bağlı olan LED’lere </a:t>
            </a:r>
            <a:r>
              <a:rPr lang="tr-TR" dirty="0" smtClean="0"/>
              <a:t>gönderir</a:t>
            </a:r>
            <a:r>
              <a:rPr lang="tr-TR" dirty="0"/>
              <a:t>. Diğer bir deyişle, seri şekilde I girişine</a:t>
            </a:r>
          </a:p>
          <a:p>
            <a:r>
              <a:rPr lang="tr-TR" dirty="0"/>
              <a:t>gelen bilgiler </a:t>
            </a:r>
            <a:r>
              <a:rPr lang="tr-TR" dirty="0" smtClean="0"/>
              <a:t>seçici </a:t>
            </a:r>
            <a:r>
              <a:rPr lang="tr-TR" dirty="0"/>
              <a:t>girişler yardımıyla uygun olan </a:t>
            </a:r>
            <a:r>
              <a:rPr lang="tr-TR" dirty="0"/>
              <a:t>ç</a:t>
            </a:r>
            <a:r>
              <a:rPr lang="tr-TR" dirty="0" smtClean="0"/>
              <a:t>ıkışa </a:t>
            </a:r>
            <a:r>
              <a:rPr lang="tr-TR" dirty="0"/>
              <a:t>aktarılır. Kapılardan birisinin </a:t>
            </a:r>
            <a:r>
              <a:rPr lang="tr-TR" dirty="0" smtClean="0"/>
              <a:t>açık</a:t>
            </a:r>
            <a:endParaRPr lang="tr-TR" dirty="0"/>
          </a:p>
          <a:p>
            <a:r>
              <a:rPr lang="tr-TR" dirty="0"/>
              <a:t>olması durumunda, ilgili LED flaş yaparak </a:t>
            </a:r>
            <a:r>
              <a:rPr lang="tr-TR" dirty="0" smtClean="0"/>
              <a:t>yanıp-söner</a:t>
            </a:r>
            <a:r>
              <a:rPr lang="tr-TR" dirty="0"/>
              <a:t>. Flaş suresi tetikleme sinyalinin</a:t>
            </a:r>
          </a:p>
          <a:p>
            <a:r>
              <a:rPr lang="tr-TR" dirty="0"/>
              <a:t>frekansını değiştirmek suretiyle ayarlanabilir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r>
              <a:rPr lang="tr-TR" dirty="0"/>
              <a:t>Yapılan uygulamada, iki uzak sistem arasında 8 hat </a:t>
            </a:r>
            <a:r>
              <a:rPr lang="tr-TR" dirty="0"/>
              <a:t>ç</a:t>
            </a:r>
            <a:r>
              <a:rPr lang="tr-TR" dirty="0" smtClean="0"/>
              <a:t>ekilmesi </a:t>
            </a:r>
            <a:r>
              <a:rPr lang="tr-TR" dirty="0"/>
              <a:t>yerine, </a:t>
            </a:r>
            <a:r>
              <a:rPr lang="tr-TR" dirty="0" err="1"/>
              <a:t>multiplexer</a:t>
            </a:r>
            <a:r>
              <a:rPr lang="tr-TR" dirty="0"/>
              <a:t> ve</a:t>
            </a:r>
          </a:p>
          <a:p>
            <a:r>
              <a:rPr lang="tr-TR" dirty="0" err="1"/>
              <a:t>demultiplexer</a:t>
            </a:r>
            <a:r>
              <a:rPr lang="tr-TR" dirty="0"/>
              <a:t> kullanarak 4 hat ile sistem </a:t>
            </a:r>
            <a:r>
              <a:rPr lang="tr-TR" dirty="0" smtClean="0"/>
              <a:t>gerçekleştirilir</a:t>
            </a:r>
            <a:r>
              <a:rPr lang="tr-TR" dirty="0"/>
              <a:t>. </a:t>
            </a:r>
            <a:r>
              <a:rPr lang="tr-TR" dirty="0" err="1"/>
              <a:t>Demultiplexer</a:t>
            </a:r>
            <a:r>
              <a:rPr lang="tr-TR" dirty="0"/>
              <a:t> devresi, verilerin eş</a:t>
            </a:r>
          </a:p>
          <a:p>
            <a:r>
              <a:rPr lang="tr-TR" dirty="0"/>
              <a:t>zamanlı olarak transferini sağlayan ‘Eşzamanlı Veri İletme Sistemi’ (</a:t>
            </a:r>
            <a:r>
              <a:rPr lang="tr-TR" dirty="0" err="1"/>
              <a:t>Synchronous</a:t>
            </a:r>
            <a:r>
              <a:rPr lang="tr-TR" dirty="0"/>
              <a:t> Data</a:t>
            </a:r>
          </a:p>
          <a:p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) olarak </a:t>
            </a:r>
            <a:r>
              <a:rPr lang="tr-TR" dirty="0"/>
              <a:t>ç</a:t>
            </a:r>
            <a:r>
              <a:rPr lang="tr-TR" dirty="0" smtClean="0"/>
              <a:t>alışabilir</a:t>
            </a:r>
            <a:r>
              <a:rPr lang="tr-TR" dirty="0"/>
              <a:t>. Bu konu sayıcı ve kaymalı kaydedici konularını</a:t>
            </a:r>
          </a:p>
          <a:p>
            <a:r>
              <a:rPr lang="tr-TR" dirty="0" smtClean="0"/>
              <a:t>içerdiğinden </a:t>
            </a:r>
            <a:r>
              <a:rPr lang="tr-TR" dirty="0"/>
              <a:t>burada </a:t>
            </a:r>
            <a:r>
              <a:rPr lang="tr-TR" dirty="0" smtClean="0"/>
              <a:t>açıklanmayacaktır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4474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404813"/>
            <a:ext cx="7839075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4038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332656"/>
            <a:ext cx="8712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</a:rPr>
              <a:t>Karşılaştırıcı ve Aritmetik İşlem Devreleri (</a:t>
            </a:r>
            <a:r>
              <a:rPr lang="tr-TR" sz="2400" b="1" dirty="0" err="1">
                <a:solidFill>
                  <a:srgbClr val="FF0000"/>
                </a:solidFill>
              </a:rPr>
              <a:t>Arithmetic</a:t>
            </a:r>
            <a:r>
              <a:rPr lang="tr-TR" sz="2400" b="1" dirty="0">
                <a:solidFill>
                  <a:srgbClr val="FF0000"/>
                </a:solidFill>
              </a:rPr>
              <a:t> </a:t>
            </a:r>
            <a:r>
              <a:rPr lang="tr-TR" sz="2400" b="1" dirty="0" err="1">
                <a:solidFill>
                  <a:srgbClr val="FF0000"/>
                </a:solidFill>
              </a:rPr>
              <a:t>Logic</a:t>
            </a:r>
            <a:r>
              <a:rPr lang="tr-TR" sz="2400" b="1" dirty="0">
                <a:solidFill>
                  <a:srgbClr val="FF0000"/>
                </a:solidFill>
              </a:rPr>
              <a:t> </a:t>
            </a:r>
            <a:r>
              <a:rPr lang="tr-TR" sz="2400" b="1" dirty="0" err="1">
                <a:solidFill>
                  <a:srgbClr val="FF0000"/>
                </a:solidFill>
              </a:rPr>
              <a:t>Unit</a:t>
            </a:r>
            <a:r>
              <a:rPr lang="tr-TR" sz="2400" b="1" dirty="0" smtClean="0">
                <a:solidFill>
                  <a:srgbClr val="FF0000"/>
                </a:solidFill>
              </a:rPr>
              <a:t>)</a:t>
            </a:r>
            <a:r>
              <a:rPr lang="tr-TR" sz="2400" b="1" dirty="0"/>
              <a:t> Karşılaştırıcılar (</a:t>
            </a:r>
            <a:r>
              <a:rPr lang="tr-TR" sz="2400" b="1" dirty="0" err="1"/>
              <a:t>Comparators</a:t>
            </a:r>
            <a:r>
              <a:rPr lang="tr-TR" sz="2400" b="1" dirty="0"/>
              <a:t>)</a:t>
            </a:r>
            <a:endParaRPr lang="tr-TR" sz="2400" dirty="0">
              <a:solidFill>
                <a:srgbClr val="FF0000"/>
              </a:solidFill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07504" y="1305342"/>
            <a:ext cx="8712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İki sayıyı karşılaştıran ve </a:t>
            </a:r>
            <a:r>
              <a:rPr lang="tr-TR" dirty="0" smtClean="0"/>
              <a:t>büyüklüklerini </a:t>
            </a:r>
            <a:r>
              <a:rPr lang="tr-TR" dirty="0"/>
              <a:t>belirleyen bileşik devreler, ‘</a:t>
            </a:r>
            <a:r>
              <a:rPr lang="tr-TR" b="1" dirty="0"/>
              <a:t>büyüklük</a:t>
            </a:r>
          </a:p>
          <a:p>
            <a:r>
              <a:rPr lang="tr-TR" b="1" dirty="0"/>
              <a:t>karşılaştırıcı</a:t>
            </a:r>
            <a:r>
              <a:rPr lang="tr-TR" dirty="0"/>
              <a:t>’ (</a:t>
            </a:r>
            <a:r>
              <a:rPr lang="tr-TR" dirty="0" err="1"/>
              <a:t>magnitude</a:t>
            </a:r>
            <a:r>
              <a:rPr lang="tr-TR" dirty="0"/>
              <a:t> </a:t>
            </a:r>
            <a:r>
              <a:rPr lang="tr-TR" dirty="0" err="1"/>
              <a:t>comparator</a:t>
            </a:r>
            <a:r>
              <a:rPr lang="tr-TR" dirty="0"/>
              <a:t>) olarak isimlendirilir. Karşılaştırma sonucu; A&gt;B,</a:t>
            </a:r>
          </a:p>
          <a:p>
            <a:r>
              <a:rPr lang="tr-TR" dirty="0"/>
              <a:t>A=B veya A&lt;B’yi belirleyen </a:t>
            </a:r>
            <a:r>
              <a:rPr lang="tr-TR" dirty="0" smtClean="0"/>
              <a:t>üç</a:t>
            </a:r>
            <a:r>
              <a:rPr lang="tr-TR" dirty="0" smtClean="0"/>
              <a:t> </a:t>
            </a:r>
            <a:r>
              <a:rPr lang="tr-TR" dirty="0"/>
              <a:t>konum ile belirlenir. En yaygın kullanım yerleri Aritmetik</a:t>
            </a:r>
          </a:p>
          <a:p>
            <a:r>
              <a:rPr lang="tr-TR" dirty="0"/>
              <a:t>Lojik devrelerdir. Karşılaştırıcı devreleri, girişleri aynı veya farklı iken </a:t>
            </a:r>
            <a:r>
              <a:rPr lang="tr-TR" dirty="0"/>
              <a:t>ç</a:t>
            </a:r>
            <a:r>
              <a:rPr lang="tr-TR" dirty="0" smtClean="0"/>
              <a:t>ıkış </a:t>
            </a:r>
            <a:r>
              <a:rPr lang="tr-TR" dirty="0"/>
              <a:t>veren kontrol</a:t>
            </a:r>
          </a:p>
          <a:p>
            <a:r>
              <a:rPr lang="tr-TR" dirty="0"/>
              <a:t>devrelerinde ve ikili karşılaştırmanın kullanıldığı adres bulma devrelerinde kullanılır.</a:t>
            </a:r>
          </a:p>
          <a:p>
            <a:r>
              <a:rPr lang="tr-TR" dirty="0"/>
              <a:t>En basit karşılaştırıcı devresi, tek bitlik A ve B sayılarının eşitlik durumunu karşılaştıran</a:t>
            </a:r>
          </a:p>
          <a:p>
            <a:r>
              <a:rPr lang="tr-TR" dirty="0"/>
              <a:t>karşılaştırıcı devresidir. Bu devrede A=B durumunda </a:t>
            </a:r>
            <a:r>
              <a:rPr lang="tr-TR" dirty="0"/>
              <a:t>ç</a:t>
            </a:r>
            <a:r>
              <a:rPr lang="tr-TR" dirty="0" smtClean="0"/>
              <a:t>ıkışlardan </a:t>
            </a:r>
            <a:r>
              <a:rPr lang="tr-TR" dirty="0"/>
              <a:t>birisi ‘1’ olurken, A≠B</a:t>
            </a:r>
          </a:p>
          <a:p>
            <a:r>
              <a:rPr lang="tr-TR" dirty="0"/>
              <a:t>durumunda diğeri ‘1’ olur (Şekil 8.45).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17032"/>
            <a:ext cx="8712968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9979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4" y="404664"/>
            <a:ext cx="886459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1209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7504" y="116633"/>
            <a:ext cx="90364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7485 entegresi, </a:t>
            </a:r>
            <a:r>
              <a:rPr lang="tr-TR" dirty="0" smtClean="0"/>
              <a:t>dört </a:t>
            </a:r>
            <a:r>
              <a:rPr lang="tr-TR" dirty="0"/>
              <a:t>bitlik iki sayıyı karşılaştıran ve karşılaştırılan bitlerin durumuna </a:t>
            </a:r>
            <a:r>
              <a:rPr lang="tr-TR" dirty="0" smtClean="0"/>
              <a:t>göre </a:t>
            </a:r>
            <a:r>
              <a:rPr lang="tr-TR" dirty="0"/>
              <a:t>ç</a:t>
            </a:r>
            <a:r>
              <a:rPr lang="tr-TR" dirty="0" smtClean="0"/>
              <a:t>ıkış </a:t>
            </a:r>
            <a:r>
              <a:rPr lang="tr-TR" dirty="0"/>
              <a:t>oluşturan lojik elemandır (Şekil 8.47). Entegre, karşılaştırılacak sayı girişleri ile birlikte</a:t>
            </a:r>
          </a:p>
          <a:p>
            <a:r>
              <a:rPr lang="tr-TR" dirty="0"/>
              <a:t>ç</a:t>
            </a:r>
            <a:r>
              <a:rPr lang="tr-TR" dirty="0" smtClean="0"/>
              <a:t>ok </a:t>
            </a:r>
            <a:r>
              <a:rPr lang="tr-TR" dirty="0"/>
              <a:t>sayıda entegrenin bir arada kullanılmasına imkan tanıyan karşılaştırma girişlerine</a:t>
            </a:r>
          </a:p>
          <a:p>
            <a:r>
              <a:rPr lang="tr-TR" dirty="0"/>
              <a:t>sahiptir. Entegrenin </a:t>
            </a:r>
            <a:r>
              <a:rPr lang="tr-TR" dirty="0" smtClean="0"/>
              <a:t>dört </a:t>
            </a:r>
            <a:r>
              <a:rPr lang="tr-TR" dirty="0"/>
              <a:t>bitlik karşılaştırma işlemine ait doğruluk tablosu Şekil 8.48’da</a:t>
            </a:r>
          </a:p>
          <a:p>
            <a:r>
              <a:rPr lang="tr-TR" dirty="0" smtClean="0"/>
              <a:t>görülmektedir</a:t>
            </a:r>
            <a:r>
              <a:rPr lang="tr-TR" dirty="0"/>
              <a:t>.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23" y="1638299"/>
            <a:ext cx="8181525" cy="49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7474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" y="476672"/>
            <a:ext cx="9143782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378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11" y="260648"/>
            <a:ext cx="9153911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6818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9" y="260648"/>
            <a:ext cx="8778750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2039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656"/>
            <a:ext cx="8805042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9961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 smtClean="0"/>
              <a:t>DİNLEDİĞİNİZ İÇİN TEŞEKKÜR EDERİZ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353903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691</Words>
  <Application>Microsoft Office PowerPoint</Application>
  <PresentationFormat>Ekran Gösterisi (4:3)</PresentationFormat>
  <Paragraphs>63</Paragraphs>
  <Slides>34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34</vt:i4>
      </vt:variant>
    </vt:vector>
  </HeadingPairs>
  <TitlesOfParts>
    <vt:vector size="35" baseType="lpstr">
      <vt:lpstr>Ofis Teması</vt:lpstr>
      <vt:lpstr>Mantık Devreleri  DERS 9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8</dc:title>
  <dc:creator>bilgisayarim</dc:creator>
  <cp:lastModifiedBy>bilgisayarim</cp:lastModifiedBy>
  <cp:revision>39</cp:revision>
  <dcterms:created xsi:type="dcterms:W3CDTF">2019-10-14T11:40:58Z</dcterms:created>
  <dcterms:modified xsi:type="dcterms:W3CDTF">2019-11-19T10:24:10Z</dcterms:modified>
</cp:coreProperties>
</file>