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9" r:id="rId4"/>
    <p:sldId id="260" r:id="rId5"/>
    <p:sldId id="261" r:id="rId6"/>
    <p:sldId id="262" r:id="rId7"/>
    <p:sldId id="263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64" r:id="rId18"/>
  </p:sldIdLst>
  <p:sldSz cx="9144000" cy="6858000" type="screen4x3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7" d="100"/>
          <a:sy n="87" d="100"/>
        </p:scale>
        <p:origin x="-1464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644F1-B1B8-4BCE-BAB3-78369E86D50F}" type="datetimeFigureOut">
              <a:rPr lang="tr-TR" smtClean="0"/>
              <a:t>02/12/2019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A5D7A-7548-4C87-B1C3-C54E37A6458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48179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644F1-B1B8-4BCE-BAB3-78369E86D50F}" type="datetimeFigureOut">
              <a:rPr lang="tr-TR" smtClean="0"/>
              <a:t>02/12/2019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A5D7A-7548-4C87-B1C3-C54E37A6458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730329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644F1-B1B8-4BCE-BAB3-78369E86D50F}" type="datetimeFigureOut">
              <a:rPr lang="tr-TR" smtClean="0"/>
              <a:t>02/12/2019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A5D7A-7548-4C87-B1C3-C54E37A6458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8199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644F1-B1B8-4BCE-BAB3-78369E86D50F}" type="datetimeFigureOut">
              <a:rPr lang="tr-TR" smtClean="0"/>
              <a:t>02/12/2019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A5D7A-7548-4C87-B1C3-C54E37A6458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15447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644F1-B1B8-4BCE-BAB3-78369E86D50F}" type="datetimeFigureOut">
              <a:rPr lang="tr-TR" smtClean="0"/>
              <a:t>02/12/2019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A5D7A-7548-4C87-B1C3-C54E37A6458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46296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644F1-B1B8-4BCE-BAB3-78369E86D50F}" type="datetimeFigureOut">
              <a:rPr lang="tr-TR" smtClean="0"/>
              <a:t>02/12/2019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A5D7A-7548-4C87-B1C3-C54E37A6458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853425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644F1-B1B8-4BCE-BAB3-78369E86D50F}" type="datetimeFigureOut">
              <a:rPr lang="tr-TR" smtClean="0"/>
              <a:t>02/12/2019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A5D7A-7548-4C87-B1C3-C54E37A6458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20795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644F1-B1B8-4BCE-BAB3-78369E86D50F}" type="datetimeFigureOut">
              <a:rPr lang="tr-TR" smtClean="0"/>
              <a:t>02/12/2019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A5D7A-7548-4C87-B1C3-C54E37A6458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727910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644F1-B1B8-4BCE-BAB3-78369E86D50F}" type="datetimeFigureOut">
              <a:rPr lang="tr-TR" smtClean="0"/>
              <a:t>02/12/2019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A5D7A-7548-4C87-B1C3-C54E37A6458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16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644F1-B1B8-4BCE-BAB3-78369E86D50F}" type="datetimeFigureOut">
              <a:rPr lang="tr-TR" smtClean="0"/>
              <a:t>02/12/2019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A5D7A-7548-4C87-B1C3-C54E37A6458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8294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644F1-B1B8-4BCE-BAB3-78369E86D50F}" type="datetimeFigureOut">
              <a:rPr lang="tr-TR" smtClean="0"/>
              <a:t>02/12/2019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A5D7A-7548-4C87-B1C3-C54E37A6458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62176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A644F1-B1B8-4BCE-BAB3-78369E86D50F}" type="datetimeFigureOut">
              <a:rPr lang="tr-TR" smtClean="0"/>
              <a:t>02/12/2019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BA5D7A-7548-4C87-B1C3-C54E37A6458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41629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611560" y="908720"/>
            <a:ext cx="7992888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4400" b="1" dirty="0"/>
              <a:t>Senkron Sıralı / </a:t>
            </a:r>
            <a:r>
              <a:rPr lang="tr-TR" sz="4400" b="1" dirty="0" err="1"/>
              <a:t>Ardışıl</a:t>
            </a:r>
            <a:endParaRPr lang="tr-TR" sz="4400" b="1" dirty="0"/>
          </a:p>
          <a:p>
            <a:r>
              <a:rPr lang="tr-TR" sz="4400" b="1" dirty="0"/>
              <a:t>Mantık Devreleri</a:t>
            </a:r>
            <a:endParaRPr lang="tr-TR" sz="4400" dirty="0"/>
          </a:p>
        </p:txBody>
      </p:sp>
    </p:spTree>
    <p:extLst>
      <p:ext uri="{BB962C8B-B14F-4D97-AF65-F5344CB8AC3E}">
        <p14:creationId xmlns:p14="http://schemas.microsoft.com/office/powerpoint/2010/main" val="1222672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Unvan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dirty="0" smtClean="0"/>
              <a:t>Mantık Devreleri </a:t>
            </a:r>
            <a:br>
              <a:rPr lang="tr-TR" dirty="0" smtClean="0"/>
            </a:br>
            <a:r>
              <a:rPr lang="tr-TR" dirty="0" smtClean="0"/>
              <a:t>DERS </a:t>
            </a:r>
            <a:r>
              <a:rPr lang="tr-TR" dirty="0" smtClean="0"/>
              <a:t>12-17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633287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179512" y="692696"/>
            <a:ext cx="878497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dirty="0"/>
              <a:t>Bilgi saklama yeteneğine sahip elemanlar olan belleklerde saklanan ikili bilgiler, sıralı</a:t>
            </a:r>
          </a:p>
          <a:p>
            <a:r>
              <a:rPr lang="tr-TR" dirty="0"/>
              <a:t>devrenin durumunu tanımlar. Harici girişlerden ikili bilgiler alan </a:t>
            </a:r>
            <a:r>
              <a:rPr lang="tr-TR" dirty="0" err="1"/>
              <a:t>ardışıl</a:t>
            </a:r>
            <a:r>
              <a:rPr lang="tr-TR" dirty="0"/>
              <a:t> devre, </a:t>
            </a:r>
            <a:r>
              <a:rPr lang="tr-TR" dirty="0" smtClean="0"/>
              <a:t>hariçten</a:t>
            </a:r>
            <a:endParaRPr lang="tr-TR" dirty="0"/>
          </a:p>
          <a:p>
            <a:r>
              <a:rPr lang="tr-TR" dirty="0"/>
              <a:t>aldığı ikili bilgi ile, bellek elemanlarının mevcut durumlarını birleştirerek </a:t>
            </a:r>
            <a:r>
              <a:rPr lang="tr-TR" dirty="0" smtClean="0"/>
              <a:t>çıkışta </a:t>
            </a:r>
            <a:r>
              <a:rPr lang="tr-TR" dirty="0"/>
              <a:t>oluşacak</a:t>
            </a:r>
          </a:p>
          <a:p>
            <a:r>
              <a:rPr lang="tr-TR" dirty="0"/>
              <a:t>ikili değeri belirler</a:t>
            </a:r>
            <a:r>
              <a:rPr lang="tr-TR" dirty="0" smtClean="0"/>
              <a:t>.</a:t>
            </a:r>
          </a:p>
          <a:p>
            <a:r>
              <a:rPr lang="tr-TR" dirty="0" smtClean="0"/>
              <a:t> </a:t>
            </a:r>
            <a:r>
              <a:rPr lang="tr-TR" dirty="0"/>
              <a:t>Bileşik devrelere geri besleme ve zamanlama gibi olguların eklenmesiyle oluşan devrelere</a:t>
            </a:r>
            <a:r>
              <a:rPr lang="tr-TR" dirty="0" smtClean="0"/>
              <a:t>, </a:t>
            </a:r>
            <a:r>
              <a:rPr lang="tr-TR" b="1" dirty="0" smtClean="0"/>
              <a:t>‘</a:t>
            </a:r>
            <a:r>
              <a:rPr lang="tr-TR" b="1" dirty="0"/>
              <a:t>sıralı veya </a:t>
            </a:r>
            <a:r>
              <a:rPr lang="tr-TR" b="1" dirty="0" err="1"/>
              <a:t>ardışıl</a:t>
            </a:r>
            <a:r>
              <a:rPr lang="tr-TR" b="1" dirty="0"/>
              <a:t> lojik devreler’ </a:t>
            </a:r>
            <a:r>
              <a:rPr lang="tr-TR" dirty="0"/>
              <a:t>denir (Şekil 10.1.a). </a:t>
            </a:r>
            <a:r>
              <a:rPr lang="tr-TR" dirty="0" err="1"/>
              <a:t>Ardışıl</a:t>
            </a:r>
            <a:r>
              <a:rPr lang="tr-TR" dirty="0"/>
              <a:t> devrelerde </a:t>
            </a:r>
            <a:r>
              <a:rPr lang="tr-TR" dirty="0" err="1"/>
              <a:t>sıkca</a:t>
            </a:r>
            <a:r>
              <a:rPr lang="tr-TR" dirty="0"/>
              <a:t> </a:t>
            </a:r>
            <a:r>
              <a:rPr lang="tr-TR" dirty="0" smtClean="0"/>
              <a:t>kullanılan bellek </a:t>
            </a:r>
            <a:r>
              <a:rPr lang="tr-TR" dirty="0"/>
              <a:t>elemanları, bileşik devrelere bir geri besleme (</a:t>
            </a:r>
            <a:r>
              <a:rPr lang="tr-TR" dirty="0" err="1"/>
              <a:t>feedback</a:t>
            </a:r>
            <a:r>
              <a:rPr lang="tr-TR" dirty="0"/>
              <a:t>) yolu sağlayacak </a:t>
            </a:r>
            <a:r>
              <a:rPr lang="tr-TR" dirty="0" smtClean="0"/>
              <a:t>şekilde bağlanır </a:t>
            </a:r>
            <a:r>
              <a:rPr lang="tr-TR" dirty="0"/>
              <a:t>(Şekil 10.1.b).</a:t>
            </a:r>
          </a:p>
        </p:txBody>
      </p:sp>
      <p:sp>
        <p:nvSpPr>
          <p:cNvPr id="3" name="Dikdörtgen 2"/>
          <p:cNvSpPr/>
          <p:nvPr/>
        </p:nvSpPr>
        <p:spPr>
          <a:xfrm>
            <a:off x="323528" y="323364"/>
            <a:ext cx="6174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b="1" dirty="0"/>
              <a:t>Giriş</a:t>
            </a:r>
            <a:endParaRPr lang="tr-T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3001020"/>
            <a:ext cx="8964488" cy="3484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15786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179512" y="476672"/>
            <a:ext cx="8856984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dirty="0"/>
              <a:t>Senkron sıralı devrelerde, senkron </a:t>
            </a:r>
            <a:r>
              <a:rPr lang="tr-TR" dirty="0" err="1"/>
              <a:t>calışma</a:t>
            </a:r>
            <a:r>
              <a:rPr lang="tr-TR" dirty="0"/>
              <a:t> periyodik tetikleme sinyalleri (</a:t>
            </a:r>
            <a:r>
              <a:rPr lang="tr-TR" dirty="0" err="1"/>
              <a:t>clock</a:t>
            </a:r>
            <a:r>
              <a:rPr lang="tr-TR" dirty="0"/>
              <a:t> </a:t>
            </a:r>
            <a:r>
              <a:rPr lang="tr-TR" dirty="0" err="1"/>
              <a:t>pulses</a:t>
            </a:r>
            <a:r>
              <a:rPr lang="tr-TR" dirty="0"/>
              <a:t>) dizisi</a:t>
            </a:r>
          </a:p>
          <a:p>
            <a:r>
              <a:rPr lang="tr-TR" dirty="0" err="1"/>
              <a:t>ureten</a:t>
            </a:r>
            <a:r>
              <a:rPr lang="tr-TR" dirty="0"/>
              <a:t> ana sinyal </a:t>
            </a:r>
            <a:r>
              <a:rPr lang="tr-TR" dirty="0" err="1"/>
              <a:t>ureteci</a:t>
            </a:r>
            <a:r>
              <a:rPr lang="tr-TR" dirty="0"/>
              <a:t> (</a:t>
            </a:r>
            <a:r>
              <a:rPr lang="tr-TR" dirty="0" err="1"/>
              <a:t>master</a:t>
            </a:r>
            <a:r>
              <a:rPr lang="tr-TR" dirty="0"/>
              <a:t> - </a:t>
            </a:r>
            <a:r>
              <a:rPr lang="tr-TR" dirty="0" err="1"/>
              <a:t>clock</a:t>
            </a:r>
            <a:r>
              <a:rPr lang="tr-TR" dirty="0"/>
              <a:t> </a:t>
            </a:r>
            <a:r>
              <a:rPr lang="tr-TR" dirty="0" err="1"/>
              <a:t>generator</a:t>
            </a:r>
            <a:r>
              <a:rPr lang="tr-TR" dirty="0"/>
              <a:t>) ile sağlanır</a:t>
            </a:r>
            <a:r>
              <a:rPr lang="tr-TR" dirty="0" smtClean="0"/>
              <a:t>.</a:t>
            </a:r>
          </a:p>
          <a:p>
            <a:endParaRPr lang="tr-TR" dirty="0"/>
          </a:p>
          <a:p>
            <a:r>
              <a:rPr lang="tr-TR" dirty="0"/>
              <a:t>Bellek elemanlarının girişinde tetikleme sinyalleri kullanan senkron sıralı devreler,</a:t>
            </a:r>
          </a:p>
          <a:p>
            <a:r>
              <a:rPr lang="tr-TR" b="1" dirty="0"/>
              <a:t>‘tetiklemeli (saatli) sıralı devreler’ </a:t>
            </a:r>
            <a:r>
              <a:rPr lang="tr-TR" dirty="0"/>
              <a:t>(</a:t>
            </a:r>
            <a:r>
              <a:rPr lang="tr-TR" dirty="0" err="1"/>
              <a:t>clocked</a:t>
            </a:r>
            <a:r>
              <a:rPr lang="tr-TR" dirty="0"/>
              <a:t> </a:t>
            </a:r>
            <a:r>
              <a:rPr lang="tr-TR" dirty="0" err="1"/>
              <a:t>sequential</a:t>
            </a:r>
            <a:r>
              <a:rPr lang="tr-TR" dirty="0"/>
              <a:t> </a:t>
            </a:r>
            <a:r>
              <a:rPr lang="tr-TR" dirty="0" err="1"/>
              <a:t>logic</a:t>
            </a:r>
            <a:r>
              <a:rPr lang="tr-TR" dirty="0"/>
              <a:t>) olarak adlandırılır.</a:t>
            </a:r>
          </a:p>
          <a:p>
            <a:r>
              <a:rPr lang="tr-TR" dirty="0"/>
              <a:t>Kararsızlık probleminin oluşmadığı bu devrelerde, bellek elemanı olarak </a:t>
            </a:r>
            <a:r>
              <a:rPr lang="tr-TR" dirty="0" err="1"/>
              <a:t>Flip-Flop</a:t>
            </a:r>
            <a:r>
              <a:rPr lang="tr-TR" dirty="0"/>
              <a:t> devreleri</a:t>
            </a:r>
          </a:p>
          <a:p>
            <a:r>
              <a:rPr lang="tr-TR" dirty="0"/>
              <a:t>kullanılır</a:t>
            </a:r>
            <a:r>
              <a:rPr lang="tr-TR" dirty="0" smtClean="0"/>
              <a:t>.</a:t>
            </a:r>
          </a:p>
          <a:p>
            <a:endParaRPr lang="tr-TR" dirty="0"/>
          </a:p>
          <a:p>
            <a:r>
              <a:rPr lang="tr-TR" dirty="0"/>
              <a:t>Asenkron (eş zamanlı olmayan) sıralı devrelerde, </a:t>
            </a:r>
            <a:r>
              <a:rPr lang="tr-TR" dirty="0" smtClean="0"/>
              <a:t>çıkışın </a:t>
            </a:r>
            <a:r>
              <a:rPr lang="tr-TR" dirty="0"/>
              <a:t>değişmesi giriş sinyallerinin bir</a:t>
            </a:r>
          </a:p>
          <a:p>
            <a:r>
              <a:rPr lang="tr-TR" dirty="0"/>
              <a:t>veya daha fazlasının değişmesine bağımlıdır. Giriş ve buna bağlı olarak </a:t>
            </a:r>
            <a:r>
              <a:rPr lang="tr-TR" dirty="0" smtClean="0"/>
              <a:t>çıkış </a:t>
            </a:r>
            <a:r>
              <a:rPr lang="tr-TR" dirty="0"/>
              <a:t>durumu</a:t>
            </a:r>
          </a:p>
          <a:p>
            <a:r>
              <a:rPr lang="tr-TR" dirty="0"/>
              <a:t>herhangi bir anda etkilenebilir (değişebilir).</a:t>
            </a:r>
          </a:p>
        </p:txBody>
      </p:sp>
      <p:sp>
        <p:nvSpPr>
          <p:cNvPr id="4" name="Dikdörtgen 3"/>
          <p:cNvSpPr/>
          <p:nvPr/>
        </p:nvSpPr>
        <p:spPr>
          <a:xfrm>
            <a:off x="0" y="3615993"/>
            <a:ext cx="35063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b="1" dirty="0" err="1"/>
              <a:t>Ardışıl</a:t>
            </a:r>
            <a:r>
              <a:rPr lang="tr-TR" b="1" dirty="0"/>
              <a:t> </a:t>
            </a:r>
            <a:r>
              <a:rPr lang="tr-TR" b="1" dirty="0" smtClean="0"/>
              <a:t>(Senkron) Devrelerin </a:t>
            </a:r>
            <a:r>
              <a:rPr lang="tr-TR" b="1" dirty="0"/>
              <a:t>Analizi</a:t>
            </a:r>
            <a:endParaRPr lang="tr-TR" dirty="0"/>
          </a:p>
        </p:txBody>
      </p:sp>
      <p:sp>
        <p:nvSpPr>
          <p:cNvPr id="5" name="Dikdörtgen 4"/>
          <p:cNvSpPr/>
          <p:nvPr/>
        </p:nvSpPr>
        <p:spPr>
          <a:xfrm>
            <a:off x="205474" y="4026751"/>
            <a:ext cx="883102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dirty="0" err="1"/>
              <a:t>Ardışıl</a:t>
            </a:r>
            <a:r>
              <a:rPr lang="tr-TR" dirty="0"/>
              <a:t> devre, bileşiminde en az bir FF bulunduran, bunun </a:t>
            </a:r>
            <a:r>
              <a:rPr lang="tr-TR" dirty="0" err="1"/>
              <a:t>otesinde</a:t>
            </a:r>
            <a:r>
              <a:rPr lang="tr-TR" dirty="0"/>
              <a:t> giriş-</a:t>
            </a:r>
            <a:r>
              <a:rPr lang="tr-TR" dirty="0" err="1"/>
              <a:t>cıkış</a:t>
            </a:r>
            <a:r>
              <a:rPr lang="tr-TR" dirty="0"/>
              <a:t> durumunu</a:t>
            </a:r>
          </a:p>
          <a:p>
            <a:r>
              <a:rPr lang="tr-TR" dirty="0"/>
              <a:t>belirleyen bileşik devreler (lojik kapılar) </a:t>
            </a:r>
            <a:r>
              <a:rPr lang="tr-TR" dirty="0" err="1"/>
              <a:t>iceren</a:t>
            </a:r>
            <a:r>
              <a:rPr lang="tr-TR" dirty="0"/>
              <a:t> </a:t>
            </a:r>
            <a:r>
              <a:rPr lang="tr-TR" dirty="0" err="1"/>
              <a:t>duzeneklerdir</a:t>
            </a:r>
            <a:r>
              <a:rPr lang="tr-TR" dirty="0"/>
              <a:t>. </a:t>
            </a:r>
            <a:r>
              <a:rPr lang="tr-TR" dirty="0" err="1"/>
              <a:t>Ardışıl</a:t>
            </a:r>
            <a:r>
              <a:rPr lang="tr-TR" dirty="0"/>
              <a:t> devrelerin davranışı;</a:t>
            </a:r>
          </a:p>
          <a:p>
            <a:r>
              <a:rPr lang="tr-TR" dirty="0"/>
              <a:t>girişlerine, </a:t>
            </a:r>
            <a:r>
              <a:rPr lang="tr-TR" dirty="0" err="1"/>
              <a:t>cıkışlarına</a:t>
            </a:r>
            <a:r>
              <a:rPr lang="tr-TR" dirty="0"/>
              <a:t> ve mevcut durum ile alabilecekleri gelecek durumlara </a:t>
            </a:r>
            <a:r>
              <a:rPr lang="tr-TR" dirty="0" err="1"/>
              <a:t>gore</a:t>
            </a:r>
            <a:r>
              <a:rPr lang="tr-TR" dirty="0"/>
              <a:t> belirlenir.</a:t>
            </a:r>
          </a:p>
          <a:p>
            <a:r>
              <a:rPr lang="tr-TR" dirty="0" err="1"/>
              <a:t>Ardışıl</a:t>
            </a:r>
            <a:r>
              <a:rPr lang="tr-TR" dirty="0"/>
              <a:t> bir devrenin analizi; girişlerin, </a:t>
            </a:r>
            <a:r>
              <a:rPr lang="tr-TR" dirty="0" err="1"/>
              <a:t>cıkışların</a:t>
            </a:r>
            <a:r>
              <a:rPr lang="tr-TR" dirty="0"/>
              <a:t> ve iş sırası tablosu veya şemasının elde</a:t>
            </a:r>
          </a:p>
          <a:p>
            <a:r>
              <a:rPr lang="tr-TR" dirty="0"/>
              <a:t>edilmesi şeklinde </a:t>
            </a:r>
            <a:r>
              <a:rPr lang="tr-TR" dirty="0" err="1"/>
              <a:t>gercekleştirilir</a:t>
            </a:r>
            <a:r>
              <a:rPr lang="tr-T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750581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179512" y="260648"/>
            <a:ext cx="885698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dirty="0" err="1"/>
              <a:t>Ardışıl</a:t>
            </a:r>
            <a:r>
              <a:rPr lang="tr-TR" dirty="0"/>
              <a:t> devrelerin davranışını tanımlayan </a:t>
            </a:r>
            <a:r>
              <a:rPr lang="tr-TR" dirty="0" err="1"/>
              <a:t>boolean</a:t>
            </a:r>
            <a:r>
              <a:rPr lang="tr-TR" dirty="0"/>
              <a:t> ifadeleri yazılabilir. Ancak, bu ifadelerin</a:t>
            </a:r>
          </a:p>
          <a:p>
            <a:r>
              <a:rPr lang="tr-TR" dirty="0"/>
              <a:t>doğrudan veya dolaylı olarak gerekli zaman sırasını </a:t>
            </a:r>
            <a:r>
              <a:rPr lang="tr-TR" dirty="0" err="1"/>
              <a:t>icermesi</a:t>
            </a:r>
            <a:r>
              <a:rPr lang="tr-TR" dirty="0"/>
              <a:t> gerekir. </a:t>
            </a:r>
            <a:r>
              <a:rPr lang="tr-TR" dirty="0" err="1"/>
              <a:t>Ardışıl</a:t>
            </a:r>
            <a:r>
              <a:rPr lang="tr-TR" dirty="0"/>
              <a:t> devreyi analiz</a:t>
            </a:r>
          </a:p>
          <a:p>
            <a:r>
              <a:rPr lang="tr-TR" dirty="0"/>
              <a:t>etmek </a:t>
            </a:r>
            <a:r>
              <a:rPr lang="tr-TR" dirty="0" err="1"/>
              <a:t>icin</a:t>
            </a:r>
            <a:r>
              <a:rPr lang="tr-TR" dirty="0"/>
              <a:t>, tetiklemeli </a:t>
            </a:r>
            <a:r>
              <a:rPr lang="tr-TR" dirty="0" err="1"/>
              <a:t>ardışıl</a:t>
            </a:r>
            <a:r>
              <a:rPr lang="tr-TR" dirty="0"/>
              <a:t> devreye bir </a:t>
            </a:r>
            <a:r>
              <a:rPr lang="tr-TR" dirty="0" err="1"/>
              <a:t>ornek</a:t>
            </a:r>
            <a:r>
              <a:rPr lang="tr-TR" dirty="0"/>
              <a:t> vererek </a:t>
            </a:r>
            <a:r>
              <a:rPr lang="tr-TR" dirty="0" err="1"/>
              <a:t>ardışıl</a:t>
            </a:r>
            <a:r>
              <a:rPr lang="tr-TR" dirty="0"/>
              <a:t> devrelerin davranışlarını</a:t>
            </a:r>
          </a:p>
          <a:p>
            <a:r>
              <a:rPr lang="tr-TR" dirty="0" err="1"/>
              <a:t>acıklayan</a:t>
            </a:r>
            <a:r>
              <a:rPr lang="tr-TR" dirty="0"/>
              <a:t> </a:t>
            </a:r>
            <a:r>
              <a:rPr lang="tr-TR" dirty="0" err="1"/>
              <a:t>ceşitli</a:t>
            </a:r>
            <a:r>
              <a:rPr lang="tr-TR" dirty="0"/>
              <a:t> </a:t>
            </a:r>
            <a:r>
              <a:rPr lang="tr-TR" dirty="0" err="1"/>
              <a:t>yontemleri</a:t>
            </a:r>
            <a:r>
              <a:rPr lang="tr-TR" dirty="0"/>
              <a:t> inceleyelim.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460977"/>
            <a:ext cx="8712968" cy="50255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033477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179512" y="260648"/>
            <a:ext cx="7128792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dirty="0" smtClean="0"/>
              <a:t>Bir </a:t>
            </a:r>
            <a:r>
              <a:rPr lang="tr-TR" dirty="0" err="1"/>
              <a:t>ardışıl</a:t>
            </a:r>
            <a:r>
              <a:rPr lang="tr-TR" dirty="0"/>
              <a:t> devrenin analizi </a:t>
            </a:r>
            <a:r>
              <a:rPr lang="tr-TR" dirty="0" smtClean="0"/>
              <a:t>üç </a:t>
            </a:r>
            <a:r>
              <a:rPr lang="tr-TR" dirty="0"/>
              <a:t>değişik </a:t>
            </a:r>
            <a:r>
              <a:rPr lang="tr-TR" dirty="0" smtClean="0"/>
              <a:t>yöntemle yapılabilir:</a:t>
            </a:r>
          </a:p>
          <a:p>
            <a:endParaRPr lang="tr-TR" dirty="0"/>
          </a:p>
          <a:p>
            <a:r>
              <a:rPr lang="el-GR" dirty="0"/>
              <a:t>ί- </a:t>
            </a:r>
            <a:r>
              <a:rPr lang="tr-TR" dirty="0"/>
              <a:t>Durum </a:t>
            </a:r>
            <a:r>
              <a:rPr lang="tr-TR" dirty="0" smtClean="0"/>
              <a:t>Geçiş </a:t>
            </a:r>
            <a:r>
              <a:rPr lang="tr-TR" dirty="0"/>
              <a:t>Şeması </a:t>
            </a:r>
            <a:r>
              <a:rPr lang="tr-TR" dirty="0" smtClean="0"/>
              <a:t>Yöntemi</a:t>
            </a:r>
            <a:r>
              <a:rPr lang="tr-TR" dirty="0"/>
              <a:t>,</a:t>
            </a:r>
          </a:p>
          <a:p>
            <a:r>
              <a:rPr lang="el-GR" dirty="0"/>
              <a:t>ίί- </a:t>
            </a:r>
            <a:r>
              <a:rPr lang="tr-TR" dirty="0"/>
              <a:t>Durum </a:t>
            </a:r>
            <a:r>
              <a:rPr lang="tr-TR" dirty="0" smtClean="0"/>
              <a:t>Geçiş </a:t>
            </a:r>
            <a:r>
              <a:rPr lang="tr-TR" dirty="0"/>
              <a:t>Tablosu </a:t>
            </a:r>
            <a:r>
              <a:rPr lang="tr-TR" dirty="0" smtClean="0"/>
              <a:t>Yöntemi</a:t>
            </a:r>
            <a:r>
              <a:rPr lang="tr-TR" dirty="0"/>
              <a:t>,</a:t>
            </a:r>
          </a:p>
          <a:p>
            <a:r>
              <a:rPr lang="el-GR" dirty="0"/>
              <a:t>ίίί- </a:t>
            </a:r>
            <a:r>
              <a:rPr lang="tr-TR" dirty="0"/>
              <a:t>Durum Denklemleri </a:t>
            </a:r>
            <a:r>
              <a:rPr lang="tr-TR" dirty="0" smtClean="0"/>
              <a:t>Yöntemi,</a:t>
            </a:r>
          </a:p>
          <a:p>
            <a:endParaRPr lang="tr-TR" dirty="0"/>
          </a:p>
          <a:p>
            <a:r>
              <a:rPr lang="tr-TR" dirty="0"/>
              <a:t>Bu </a:t>
            </a:r>
            <a:r>
              <a:rPr lang="tr-TR" dirty="0" smtClean="0"/>
              <a:t>yöntemleri </a:t>
            </a:r>
            <a:r>
              <a:rPr lang="tr-TR" dirty="0"/>
              <a:t>sırası ile </a:t>
            </a:r>
            <a:r>
              <a:rPr lang="tr-TR" dirty="0" smtClean="0"/>
              <a:t>açıklayalım</a:t>
            </a:r>
            <a:r>
              <a:rPr lang="tr-TR" dirty="0"/>
              <a:t>.</a:t>
            </a:r>
          </a:p>
        </p:txBody>
      </p:sp>
      <p:sp>
        <p:nvSpPr>
          <p:cNvPr id="3" name="Dikdörtgen 2"/>
          <p:cNvSpPr/>
          <p:nvPr/>
        </p:nvSpPr>
        <p:spPr>
          <a:xfrm>
            <a:off x="201486" y="2636912"/>
            <a:ext cx="31988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b="1" dirty="0"/>
              <a:t>1. Durum Geçiş Şeması Yöntemi</a:t>
            </a:r>
            <a:endParaRPr lang="tr-TR" dirty="0"/>
          </a:p>
        </p:txBody>
      </p:sp>
      <p:sp>
        <p:nvSpPr>
          <p:cNvPr id="4" name="Dikdörtgen 3"/>
          <p:cNvSpPr/>
          <p:nvPr/>
        </p:nvSpPr>
        <p:spPr>
          <a:xfrm>
            <a:off x="176199" y="3212976"/>
            <a:ext cx="8712967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dirty="0"/>
              <a:t>Durum </a:t>
            </a:r>
            <a:r>
              <a:rPr lang="tr-TR" dirty="0" err="1"/>
              <a:t>geciş</a:t>
            </a:r>
            <a:r>
              <a:rPr lang="tr-TR" dirty="0"/>
              <a:t> şeması </a:t>
            </a:r>
            <a:r>
              <a:rPr lang="tr-TR" dirty="0" err="1"/>
              <a:t>yontemi</a:t>
            </a:r>
            <a:r>
              <a:rPr lang="tr-TR" dirty="0"/>
              <a:t>; </a:t>
            </a:r>
            <a:r>
              <a:rPr lang="tr-TR" dirty="0" err="1"/>
              <a:t>ardışıl</a:t>
            </a:r>
            <a:r>
              <a:rPr lang="tr-TR" dirty="0"/>
              <a:t> devrenin </a:t>
            </a:r>
            <a:r>
              <a:rPr lang="tr-TR" dirty="0" err="1"/>
              <a:t>sozel</a:t>
            </a:r>
            <a:r>
              <a:rPr lang="tr-TR" dirty="0"/>
              <a:t> anlatımını en iyi yansıtan, mevcut</a:t>
            </a:r>
          </a:p>
          <a:p>
            <a:r>
              <a:rPr lang="tr-TR" dirty="0"/>
              <a:t>durum-gelecek durum ilişkisini </a:t>
            </a:r>
            <a:r>
              <a:rPr lang="tr-TR" dirty="0" err="1"/>
              <a:t>gorsel</a:t>
            </a:r>
            <a:r>
              <a:rPr lang="tr-TR" dirty="0"/>
              <a:t> bicimde sergileyen bir </a:t>
            </a:r>
            <a:r>
              <a:rPr lang="tr-TR" dirty="0" err="1"/>
              <a:t>yontemdir</a:t>
            </a:r>
            <a:r>
              <a:rPr lang="tr-TR" dirty="0"/>
              <a:t>. Bu </a:t>
            </a:r>
            <a:r>
              <a:rPr lang="tr-TR" dirty="0" err="1"/>
              <a:t>yontemde</a:t>
            </a:r>
            <a:r>
              <a:rPr lang="tr-TR" dirty="0"/>
              <a:t>,</a:t>
            </a:r>
          </a:p>
          <a:p>
            <a:r>
              <a:rPr lang="tr-TR" dirty="0"/>
              <a:t>devrenin her durumu bir daireyle, durumlar arasındaki </a:t>
            </a:r>
            <a:r>
              <a:rPr lang="tr-TR" dirty="0" err="1"/>
              <a:t>gecişler</a:t>
            </a:r>
            <a:r>
              <a:rPr lang="tr-TR" dirty="0"/>
              <a:t> ise daireleri birbirine</a:t>
            </a:r>
          </a:p>
          <a:p>
            <a:r>
              <a:rPr lang="tr-TR" dirty="0"/>
              <a:t>bağlayan </a:t>
            </a:r>
            <a:r>
              <a:rPr lang="tr-TR" dirty="0" err="1"/>
              <a:t>yonlu</a:t>
            </a:r>
            <a:r>
              <a:rPr lang="tr-TR" dirty="0"/>
              <a:t> oklar ile </a:t>
            </a:r>
            <a:r>
              <a:rPr lang="tr-TR" dirty="0" err="1"/>
              <a:t>gosterilir</a:t>
            </a:r>
            <a:r>
              <a:rPr lang="tr-TR" dirty="0"/>
              <a:t>. Her dairenin </a:t>
            </a:r>
            <a:r>
              <a:rPr lang="tr-TR" dirty="0" err="1"/>
              <a:t>icindeki</a:t>
            </a:r>
            <a:r>
              <a:rPr lang="tr-TR" dirty="0"/>
              <a:t> ikili sayı, dairenin temsil ettiği</a:t>
            </a:r>
          </a:p>
          <a:p>
            <a:r>
              <a:rPr lang="tr-TR" dirty="0"/>
              <a:t>durumu tanımlar. </a:t>
            </a:r>
            <a:r>
              <a:rPr lang="tr-TR" dirty="0" err="1"/>
              <a:t>Gecişleri</a:t>
            </a:r>
            <a:r>
              <a:rPr lang="tr-TR" dirty="0"/>
              <a:t> </a:t>
            </a:r>
            <a:r>
              <a:rPr lang="tr-TR" dirty="0" err="1"/>
              <a:t>gosteren</a:t>
            </a:r>
            <a:r>
              <a:rPr lang="tr-TR" dirty="0"/>
              <a:t> oklar </a:t>
            </a:r>
            <a:r>
              <a:rPr lang="tr-TR" dirty="0" err="1"/>
              <a:t>uzerine</a:t>
            </a:r>
            <a:r>
              <a:rPr lang="tr-TR" dirty="0"/>
              <a:t> ise </a:t>
            </a:r>
            <a:r>
              <a:rPr lang="tr-TR" dirty="0" err="1"/>
              <a:t>soz</a:t>
            </a:r>
            <a:r>
              <a:rPr lang="tr-TR" dirty="0"/>
              <a:t> konusu durum </a:t>
            </a:r>
            <a:r>
              <a:rPr lang="tr-TR" dirty="0" err="1"/>
              <a:t>gecişinin</a:t>
            </a:r>
            <a:r>
              <a:rPr lang="tr-TR" dirty="0"/>
              <a:t> hangi</a:t>
            </a:r>
          </a:p>
          <a:p>
            <a:r>
              <a:rPr lang="tr-TR" dirty="0"/>
              <a:t>girdilerle </a:t>
            </a:r>
            <a:r>
              <a:rPr lang="tr-TR" dirty="0" err="1"/>
              <a:t>gercekleştiği</a:t>
            </a:r>
            <a:r>
              <a:rPr lang="tr-TR" dirty="0"/>
              <a:t> ve </a:t>
            </a:r>
            <a:r>
              <a:rPr lang="tr-TR" dirty="0" err="1"/>
              <a:t>cıktının</a:t>
            </a:r>
            <a:r>
              <a:rPr lang="tr-TR" dirty="0"/>
              <a:t> ne olduğu yazılır. Bu </a:t>
            </a:r>
            <a:r>
              <a:rPr lang="tr-TR" dirty="0" err="1"/>
              <a:t>gosterim</a:t>
            </a:r>
            <a:r>
              <a:rPr lang="tr-TR" dirty="0"/>
              <a:t> </a:t>
            </a:r>
            <a:r>
              <a:rPr lang="tr-TR" dirty="0" err="1"/>
              <a:t>icin</a:t>
            </a:r>
            <a:r>
              <a:rPr lang="tr-TR" dirty="0"/>
              <a:t> kesme işareti (/)</a:t>
            </a:r>
          </a:p>
          <a:p>
            <a:r>
              <a:rPr lang="tr-TR" dirty="0"/>
              <a:t>kullanılır ve bu kesme işaretinin soluna girdiler, sağına ise </a:t>
            </a:r>
            <a:r>
              <a:rPr lang="tr-TR" dirty="0" err="1"/>
              <a:t>cıktılar</a:t>
            </a:r>
            <a:r>
              <a:rPr lang="tr-TR" dirty="0"/>
              <a:t> yazılır. Bir durum</a:t>
            </a:r>
          </a:p>
          <a:p>
            <a:r>
              <a:rPr lang="tr-TR" dirty="0"/>
              <a:t>değişikliği </a:t>
            </a:r>
            <a:r>
              <a:rPr lang="tr-TR" dirty="0" err="1"/>
              <a:t>soz</a:t>
            </a:r>
            <a:r>
              <a:rPr lang="tr-TR" dirty="0"/>
              <a:t> konusu değil ise, durum </a:t>
            </a:r>
            <a:r>
              <a:rPr lang="tr-TR" dirty="0" err="1"/>
              <a:t>geciş</a:t>
            </a:r>
            <a:r>
              <a:rPr lang="tr-TR" dirty="0"/>
              <a:t> oku başladığı noktaya </a:t>
            </a:r>
            <a:r>
              <a:rPr lang="tr-TR" dirty="0" smtClean="0"/>
              <a:t>döner.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823993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412" y="620688"/>
            <a:ext cx="7422988" cy="5760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588954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95218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97759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22307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22743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15000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15768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70341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34075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46931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ikdörtgen 2"/>
          <p:cNvSpPr/>
          <p:nvPr/>
        </p:nvSpPr>
        <p:spPr>
          <a:xfrm>
            <a:off x="1979712" y="2060848"/>
            <a:ext cx="525658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4000" dirty="0" smtClean="0"/>
              <a:t>DİNLEDİĞİNİZ İÇİN TEŞEKKÜR EDERİZ</a:t>
            </a:r>
            <a:endParaRPr lang="tr-TR" sz="4000" dirty="0"/>
          </a:p>
        </p:txBody>
      </p:sp>
    </p:spTree>
    <p:extLst>
      <p:ext uri="{BB962C8B-B14F-4D97-AF65-F5344CB8AC3E}">
        <p14:creationId xmlns:p14="http://schemas.microsoft.com/office/powerpoint/2010/main" val="3639245275"/>
      </p:ext>
    </p:extLst>
  </p:cSld>
  <p:clrMapOvr>
    <a:masterClrMapping/>
  </p:clrMapOvr>
</p:sld>
</file>

<file path=ppt/theme/theme1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456</Words>
  <Application>Microsoft Office PowerPoint</Application>
  <PresentationFormat>Ekran Gösterisi (4:3)</PresentationFormat>
  <Paragraphs>47</Paragraphs>
  <Slides>17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17</vt:i4>
      </vt:variant>
    </vt:vector>
  </HeadingPairs>
  <TitlesOfParts>
    <vt:vector size="18" baseType="lpstr">
      <vt:lpstr>Ofis Teması</vt:lpstr>
      <vt:lpstr>PowerPoint Sunusu</vt:lpstr>
      <vt:lpstr>Mantık Devreleri  DERS 12-17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Mantık Devreleri  DERS 12</dc:title>
  <dc:creator>bilgisayarim</dc:creator>
  <cp:lastModifiedBy>bilgisayarim</cp:lastModifiedBy>
  <cp:revision>14</cp:revision>
  <dcterms:created xsi:type="dcterms:W3CDTF">2019-11-25T08:13:12Z</dcterms:created>
  <dcterms:modified xsi:type="dcterms:W3CDTF">2019-12-02T09:43:00Z</dcterms:modified>
</cp:coreProperties>
</file>