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90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57" r:id="rId35"/>
  </p:sldIdLst>
  <p:sldSz cx="9144000" cy="6858000" type="screen4x3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6" d="100"/>
          <a:sy n="86" d="100"/>
        </p:scale>
        <p:origin x="1524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tr-TR" smtClean="0"/>
              <a:t>Asıl alt başlık stilini düzenlemek için tıklatın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C9047-6DA9-483A-81E2-29FF55B157E8}" type="datetimeFigureOut">
              <a:rPr lang="tr-TR" smtClean="0"/>
              <a:t>10.12.2024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1DFAD-52A6-46D3-8A38-EBF8CEDA5B4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1358570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C9047-6DA9-483A-81E2-29FF55B157E8}" type="datetimeFigureOut">
              <a:rPr lang="tr-TR" smtClean="0"/>
              <a:t>10.12.2024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1DFAD-52A6-46D3-8A38-EBF8CEDA5B4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9932343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C9047-6DA9-483A-81E2-29FF55B157E8}" type="datetimeFigureOut">
              <a:rPr lang="tr-TR" smtClean="0"/>
              <a:t>10.12.2024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1DFAD-52A6-46D3-8A38-EBF8CEDA5B4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521164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C9047-6DA9-483A-81E2-29FF55B157E8}" type="datetimeFigureOut">
              <a:rPr lang="tr-TR" smtClean="0"/>
              <a:t>10.12.2024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1DFAD-52A6-46D3-8A38-EBF8CEDA5B4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5355055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Metin Yer Tutucusu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6" name="İçerik Yer Tutucus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7" name="Veri Yer Tutucusu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C9047-6DA9-483A-81E2-29FF55B157E8}" type="datetimeFigureOut">
              <a:rPr lang="tr-TR" smtClean="0"/>
              <a:t>10.12.2024</a:t>
            </a:fld>
            <a:endParaRPr lang="tr-TR"/>
          </a:p>
        </p:txBody>
      </p:sp>
      <p:sp>
        <p:nvSpPr>
          <p:cNvPr id="8" name="Altbilgi Yer Tutucusu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1DFAD-52A6-46D3-8A38-EBF8CEDA5B4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7719758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C9047-6DA9-483A-81E2-29FF55B157E8}" type="datetimeFigureOut">
              <a:rPr lang="tr-TR" smtClean="0"/>
              <a:t>10.12.2024</a:t>
            </a:fld>
            <a:endParaRPr lang="tr-TR"/>
          </a:p>
        </p:txBody>
      </p:sp>
      <p:sp>
        <p:nvSpPr>
          <p:cNvPr id="4" name="Altbilgi Yer Tutucusu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1DFAD-52A6-46D3-8A38-EBF8CEDA5B4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1478832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C9047-6DA9-483A-81E2-29FF55B157E8}" type="datetimeFigureOut">
              <a:rPr lang="tr-TR" smtClean="0"/>
              <a:t>10.12.2024</a:t>
            </a:fld>
            <a:endParaRPr lang="tr-TR"/>
          </a:p>
        </p:txBody>
      </p:sp>
      <p:sp>
        <p:nvSpPr>
          <p:cNvPr id="3" name="Altbilgi Yer Tutucusu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1DFAD-52A6-46D3-8A38-EBF8CEDA5B4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9512442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C9047-6DA9-483A-81E2-29FF55B157E8}" type="datetimeFigureOut">
              <a:rPr lang="tr-TR" smtClean="0"/>
              <a:t>10.12.2024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1DFAD-52A6-46D3-8A38-EBF8CEDA5B4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2156910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Resim Yer Tutucusu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C9047-6DA9-483A-81E2-29FF55B157E8}" type="datetimeFigureOut">
              <a:rPr lang="tr-TR" smtClean="0"/>
              <a:t>10.12.2024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1DFAD-52A6-46D3-8A38-EBF8CEDA5B4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429741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C9047-6DA9-483A-81E2-29FF55B157E8}" type="datetimeFigureOut">
              <a:rPr lang="tr-TR" smtClean="0"/>
              <a:t>10.12.2024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1DFAD-52A6-46D3-8A38-EBF8CEDA5B4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5465792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C9047-6DA9-483A-81E2-29FF55B157E8}" type="datetimeFigureOut">
              <a:rPr lang="tr-TR" smtClean="0"/>
              <a:t>10.12.2024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1DFAD-52A6-46D3-8A38-EBF8CEDA5B4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949026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3C9047-6DA9-483A-81E2-29FF55B157E8}" type="datetimeFigureOut">
              <a:rPr lang="tr-TR" smtClean="0"/>
              <a:t>10.12.2024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31DFAD-52A6-46D3-8A38-EBF8CEDA5B4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462550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Unvan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tr-TR" dirty="0" smtClean="0"/>
              <a:t>Mantık Devreleri </a:t>
            </a:r>
            <a:br>
              <a:rPr lang="tr-TR" dirty="0" smtClean="0"/>
            </a:br>
            <a:r>
              <a:rPr lang="tr-TR" dirty="0" smtClean="0"/>
              <a:t>DERS 9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19053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dörtgen 1"/>
          <p:cNvSpPr/>
          <p:nvPr/>
        </p:nvSpPr>
        <p:spPr>
          <a:xfrm>
            <a:off x="611560" y="908720"/>
            <a:ext cx="7992888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sz="4400" b="1" dirty="0"/>
              <a:t>Bileşik Mantık </a:t>
            </a:r>
            <a:r>
              <a:rPr lang="tr-TR" sz="4400" b="1" dirty="0" smtClean="0"/>
              <a:t>Devreleri II</a:t>
            </a:r>
            <a:endParaRPr lang="tr-TR" sz="4400" b="1" dirty="0"/>
          </a:p>
          <a:p>
            <a:r>
              <a:rPr lang="tr-TR" sz="4400" b="1" dirty="0" err="1" smtClean="0"/>
              <a:t>Çoklayıcılar</a:t>
            </a:r>
            <a:r>
              <a:rPr lang="tr-TR" sz="4400" b="1" dirty="0" smtClean="0"/>
              <a:t> </a:t>
            </a:r>
            <a:r>
              <a:rPr lang="tr-TR" sz="4400" b="1" dirty="0"/>
              <a:t>- Veri Seçiciler (</a:t>
            </a:r>
            <a:r>
              <a:rPr lang="tr-TR" sz="4400" b="1" dirty="0" err="1"/>
              <a:t>Multiplexers</a:t>
            </a:r>
            <a:r>
              <a:rPr lang="tr-TR" sz="4400" b="1" dirty="0"/>
              <a:t> - Data </a:t>
            </a:r>
            <a:r>
              <a:rPr lang="tr-TR" sz="4400" b="1" dirty="0" err="1"/>
              <a:t>Selectors</a:t>
            </a:r>
            <a:r>
              <a:rPr lang="tr-TR" sz="4400" b="1" dirty="0" smtClean="0"/>
              <a:t>)</a:t>
            </a:r>
            <a:endParaRPr lang="tr-TR" sz="4400" dirty="0"/>
          </a:p>
        </p:txBody>
      </p:sp>
    </p:spTree>
    <p:extLst>
      <p:ext uri="{BB962C8B-B14F-4D97-AF65-F5344CB8AC3E}">
        <p14:creationId xmlns:p14="http://schemas.microsoft.com/office/powerpoint/2010/main" val="10632270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dörtgen 1"/>
          <p:cNvSpPr/>
          <p:nvPr/>
        </p:nvSpPr>
        <p:spPr>
          <a:xfrm>
            <a:off x="179512" y="404664"/>
            <a:ext cx="864096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b="1" dirty="0"/>
              <a:t>G</a:t>
            </a:r>
            <a:r>
              <a:rPr lang="tr-TR" b="1" dirty="0" smtClean="0"/>
              <a:t>İRİŞ </a:t>
            </a:r>
          </a:p>
          <a:p>
            <a:r>
              <a:rPr lang="tr-TR" dirty="0"/>
              <a:t>Ç</a:t>
            </a:r>
            <a:r>
              <a:rPr lang="tr-TR" dirty="0" smtClean="0"/>
              <a:t>ok </a:t>
            </a:r>
            <a:r>
              <a:rPr lang="tr-TR" dirty="0"/>
              <a:t>sayıdaki giriş bilgisinin zaman paylaşımlı olarak sırayla ç</a:t>
            </a:r>
            <a:r>
              <a:rPr lang="tr-TR" dirty="0" smtClean="0"/>
              <a:t>ıkışa </a:t>
            </a:r>
            <a:r>
              <a:rPr lang="tr-TR" dirty="0"/>
              <a:t>aktarılması olayı,</a:t>
            </a:r>
          </a:p>
          <a:p>
            <a:r>
              <a:rPr lang="tr-TR" b="1" dirty="0"/>
              <a:t>‘</a:t>
            </a:r>
            <a:r>
              <a:rPr lang="tr-TR" b="1" dirty="0" err="1"/>
              <a:t>multiplexing</a:t>
            </a:r>
            <a:r>
              <a:rPr lang="tr-TR" b="1" dirty="0"/>
              <a:t> - veri seçme / </a:t>
            </a:r>
            <a:r>
              <a:rPr lang="tr-TR" b="1" dirty="0" err="1"/>
              <a:t>çoklama</a:t>
            </a:r>
            <a:r>
              <a:rPr lang="tr-TR" b="1" dirty="0"/>
              <a:t>’ </a:t>
            </a:r>
            <a:r>
              <a:rPr lang="tr-TR" dirty="0"/>
              <a:t>olarak tanımlanır.</a:t>
            </a:r>
          </a:p>
          <a:p>
            <a:r>
              <a:rPr lang="tr-TR" dirty="0"/>
              <a:t>Bir ç</a:t>
            </a:r>
            <a:r>
              <a:rPr lang="tr-TR" dirty="0" smtClean="0"/>
              <a:t>ok </a:t>
            </a:r>
            <a:r>
              <a:rPr lang="tr-TR" dirty="0"/>
              <a:t>giriş hattından gelen bilgilerden birisini </a:t>
            </a:r>
            <a:r>
              <a:rPr lang="tr-TR" dirty="0" smtClean="0"/>
              <a:t>seçerek </a:t>
            </a:r>
            <a:r>
              <a:rPr lang="tr-TR" dirty="0"/>
              <a:t>uygun ç</a:t>
            </a:r>
            <a:r>
              <a:rPr lang="tr-TR" dirty="0" smtClean="0"/>
              <a:t>ıkış </a:t>
            </a:r>
            <a:r>
              <a:rPr lang="tr-TR" dirty="0"/>
              <a:t>hattına</a:t>
            </a:r>
          </a:p>
          <a:p>
            <a:r>
              <a:rPr lang="tr-TR" dirty="0" smtClean="0"/>
              <a:t>yönlendirilmesini </a:t>
            </a:r>
            <a:r>
              <a:rPr lang="tr-TR" dirty="0"/>
              <a:t>sağlayan bileşik devrelere ‘</a:t>
            </a:r>
            <a:r>
              <a:rPr lang="tr-TR" b="1" dirty="0" err="1"/>
              <a:t>çoklayıcı</a:t>
            </a:r>
            <a:r>
              <a:rPr lang="tr-TR" b="1" dirty="0"/>
              <a:t> / veri seçici devreler’ </a:t>
            </a:r>
            <a:r>
              <a:rPr lang="tr-TR" dirty="0"/>
              <a:t>(</a:t>
            </a:r>
            <a:r>
              <a:rPr lang="tr-TR" dirty="0" err="1"/>
              <a:t>multiplexer</a:t>
            </a:r>
            <a:r>
              <a:rPr lang="tr-TR" dirty="0"/>
              <a:t>)</a:t>
            </a:r>
          </a:p>
          <a:p>
            <a:r>
              <a:rPr lang="tr-TR" dirty="0"/>
              <a:t>denir ve </a:t>
            </a:r>
            <a:r>
              <a:rPr lang="tr-TR" dirty="0" smtClean="0"/>
              <a:t>(</a:t>
            </a:r>
            <a:r>
              <a:rPr lang="tr-TR" dirty="0"/>
              <a:t>MUX) </a:t>
            </a:r>
            <a:r>
              <a:rPr lang="tr-TR" dirty="0" smtClean="0"/>
              <a:t>sembolü </a:t>
            </a:r>
            <a:r>
              <a:rPr lang="tr-TR" dirty="0"/>
              <a:t>ile </a:t>
            </a:r>
            <a:r>
              <a:rPr lang="tr-TR" dirty="0" smtClean="0"/>
              <a:t>gösterilir</a:t>
            </a:r>
            <a:r>
              <a:rPr lang="tr-TR" dirty="0"/>
              <a:t>. </a:t>
            </a:r>
            <a:r>
              <a:rPr lang="tr-TR" dirty="0" smtClean="0"/>
              <a:t>Bir </a:t>
            </a:r>
            <a:r>
              <a:rPr lang="tr-TR" dirty="0"/>
              <a:t>ç</a:t>
            </a:r>
            <a:r>
              <a:rPr lang="tr-TR" dirty="0" smtClean="0"/>
              <a:t>ok </a:t>
            </a:r>
            <a:r>
              <a:rPr lang="tr-TR" dirty="0"/>
              <a:t>veri transferi, zaman paylaşım tekniği</a:t>
            </a:r>
          </a:p>
          <a:p>
            <a:r>
              <a:rPr lang="tr-TR" dirty="0"/>
              <a:t>kullanılarak </a:t>
            </a:r>
            <a:r>
              <a:rPr lang="tr-TR" dirty="0" err="1" smtClean="0"/>
              <a:t>multipleksır</a:t>
            </a:r>
            <a:r>
              <a:rPr lang="tr-TR" dirty="0" smtClean="0"/>
              <a:t> </a:t>
            </a:r>
            <a:r>
              <a:rPr lang="tr-TR" dirty="0"/>
              <a:t>devreleri yardımıyla </a:t>
            </a:r>
            <a:r>
              <a:rPr lang="tr-TR" dirty="0" smtClean="0"/>
              <a:t>gerçekleştirilir</a:t>
            </a:r>
            <a:r>
              <a:rPr lang="tr-TR" dirty="0"/>
              <a:t>. </a:t>
            </a:r>
            <a:r>
              <a:rPr lang="tr-TR" dirty="0" err="1"/>
              <a:t>Ç</a:t>
            </a:r>
            <a:r>
              <a:rPr lang="tr-TR" dirty="0" err="1" smtClean="0"/>
              <a:t>oklayıcılar</a:t>
            </a:r>
            <a:r>
              <a:rPr lang="tr-TR" dirty="0"/>
              <a:t>, orijinal isminden</a:t>
            </a:r>
          </a:p>
          <a:p>
            <a:r>
              <a:rPr lang="en-US" dirty="0" err="1"/>
              <a:t>hareketle</a:t>
            </a:r>
            <a:r>
              <a:rPr lang="en-US" dirty="0"/>
              <a:t> </a:t>
            </a:r>
            <a:r>
              <a:rPr lang="tr-TR" dirty="0" err="1"/>
              <a:t>ç</a:t>
            </a:r>
            <a:r>
              <a:rPr lang="en-US" dirty="0" err="1" smtClean="0"/>
              <a:t>oğu</a:t>
            </a:r>
            <a:r>
              <a:rPr lang="en-US" dirty="0" smtClean="0"/>
              <a:t> </a:t>
            </a:r>
            <a:r>
              <a:rPr lang="en-US" dirty="0" err="1"/>
              <a:t>kere</a:t>
            </a:r>
            <a:r>
              <a:rPr lang="en-US" dirty="0"/>
              <a:t> ‘multiplexer-</a:t>
            </a:r>
            <a:r>
              <a:rPr lang="en-US" dirty="0" err="1"/>
              <a:t>multipleksır</a:t>
            </a:r>
            <a:r>
              <a:rPr lang="en-US" dirty="0"/>
              <a:t>’ </a:t>
            </a:r>
            <a:r>
              <a:rPr lang="en-US" dirty="0" err="1"/>
              <a:t>olarak</a:t>
            </a:r>
            <a:r>
              <a:rPr lang="en-US" dirty="0"/>
              <a:t> </a:t>
            </a:r>
            <a:r>
              <a:rPr lang="en-US" dirty="0" err="1"/>
              <a:t>adlandırılır</a:t>
            </a:r>
            <a:r>
              <a:rPr lang="en-US" dirty="0"/>
              <a:t>. </a:t>
            </a:r>
            <a:endParaRPr lang="tr-TR" dirty="0"/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2712988"/>
            <a:ext cx="7019925" cy="402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534428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7" y="908720"/>
            <a:ext cx="7791202" cy="50405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288887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190" y="548680"/>
            <a:ext cx="8578282" cy="53285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074075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dörtgen 1"/>
          <p:cNvSpPr/>
          <p:nvPr/>
        </p:nvSpPr>
        <p:spPr>
          <a:xfrm>
            <a:off x="179512" y="6399517"/>
            <a:ext cx="626469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b="1" dirty="0"/>
              <a:t>Şekil 8.22. </a:t>
            </a:r>
            <a:r>
              <a:rPr lang="tr-TR" dirty="0"/>
              <a:t>Kapı devreleri </a:t>
            </a:r>
            <a:r>
              <a:rPr lang="tr-TR"/>
              <a:t>ile </a:t>
            </a:r>
            <a:r>
              <a:rPr lang="tr-TR" smtClean="0"/>
              <a:t>gerçekleştirilen </a:t>
            </a:r>
            <a:r>
              <a:rPr lang="tr-TR" dirty="0"/>
              <a:t>veri </a:t>
            </a:r>
            <a:r>
              <a:rPr lang="tr-TR" dirty="0" smtClean="0"/>
              <a:t>seçme </a:t>
            </a:r>
            <a:r>
              <a:rPr lang="tr-TR" dirty="0"/>
              <a:t>işlemi.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188" y="347663"/>
            <a:ext cx="8429625" cy="6162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669357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88640"/>
            <a:ext cx="8856984" cy="275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1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2941365"/>
            <a:ext cx="6724650" cy="3619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ikdörtgen 1"/>
          <p:cNvSpPr/>
          <p:nvPr/>
        </p:nvSpPr>
        <p:spPr>
          <a:xfrm>
            <a:off x="3707904" y="6165304"/>
            <a:ext cx="471601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b="1" dirty="0"/>
              <a:t>Şekil 8.23. </a:t>
            </a:r>
            <a:r>
              <a:rPr lang="tr-TR" dirty="0"/>
              <a:t>4x1 MUX </a:t>
            </a:r>
            <a:r>
              <a:rPr lang="tr-TR" dirty="0" err="1"/>
              <a:t>sembolu</a:t>
            </a:r>
            <a:r>
              <a:rPr lang="tr-TR" dirty="0"/>
              <a:t>, fonksiyon tablosu ve lojik devresi.</a:t>
            </a:r>
          </a:p>
        </p:txBody>
      </p:sp>
    </p:spTree>
    <p:extLst>
      <p:ext uri="{BB962C8B-B14F-4D97-AF65-F5344CB8AC3E}">
        <p14:creationId xmlns:p14="http://schemas.microsoft.com/office/powerpoint/2010/main" val="3535372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025" y="357188"/>
            <a:ext cx="8743950" cy="6143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409403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371474"/>
            <a:ext cx="7992888" cy="6297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055280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420542"/>
            <a:ext cx="7704856" cy="52944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ikdörtgen 1"/>
          <p:cNvSpPr/>
          <p:nvPr/>
        </p:nvSpPr>
        <p:spPr>
          <a:xfrm>
            <a:off x="395536" y="5903072"/>
            <a:ext cx="684076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b="1" dirty="0"/>
              <a:t>Şekil 8.25. </a:t>
            </a:r>
            <a:r>
              <a:rPr lang="tr-TR" dirty="0"/>
              <a:t>İki adet 8x1 girişli </a:t>
            </a:r>
            <a:r>
              <a:rPr lang="tr-TR" dirty="0" err="1"/>
              <a:t>Ç</a:t>
            </a:r>
            <a:r>
              <a:rPr lang="tr-TR" dirty="0" err="1" smtClean="0"/>
              <a:t>oklayıcı</a:t>
            </a:r>
            <a:r>
              <a:rPr lang="tr-TR" dirty="0" smtClean="0"/>
              <a:t> </a:t>
            </a:r>
            <a:r>
              <a:rPr lang="tr-TR" dirty="0"/>
              <a:t>ile 16x1 </a:t>
            </a:r>
            <a:r>
              <a:rPr lang="tr-TR" dirty="0" err="1"/>
              <a:t>ç</a:t>
            </a:r>
            <a:r>
              <a:rPr lang="tr-TR" dirty="0" err="1" smtClean="0"/>
              <a:t>oklayıcı</a:t>
            </a:r>
            <a:r>
              <a:rPr lang="tr-TR" dirty="0" smtClean="0"/>
              <a:t> </a:t>
            </a:r>
            <a:r>
              <a:rPr lang="tr-TR" dirty="0"/>
              <a:t>yapımı.</a:t>
            </a:r>
          </a:p>
        </p:txBody>
      </p:sp>
    </p:spTree>
    <p:extLst>
      <p:ext uri="{BB962C8B-B14F-4D97-AF65-F5344CB8AC3E}">
        <p14:creationId xmlns:p14="http://schemas.microsoft.com/office/powerpoint/2010/main" val="2529928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476672"/>
            <a:ext cx="8743346" cy="26030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0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3079675"/>
            <a:ext cx="6912768" cy="33268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574393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664" y="332656"/>
            <a:ext cx="8627799" cy="6192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87046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5" y="836712"/>
            <a:ext cx="8389425" cy="20162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925380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dörtgen 1"/>
          <p:cNvSpPr/>
          <p:nvPr/>
        </p:nvSpPr>
        <p:spPr>
          <a:xfrm>
            <a:off x="539552" y="260648"/>
            <a:ext cx="835292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sz="2400" b="1" dirty="0" err="1">
                <a:solidFill>
                  <a:srgbClr val="FF0000"/>
                </a:solidFill>
              </a:rPr>
              <a:t>Boolean</a:t>
            </a:r>
            <a:r>
              <a:rPr lang="tr-TR" sz="2400" b="1" dirty="0">
                <a:solidFill>
                  <a:srgbClr val="FF0000"/>
                </a:solidFill>
              </a:rPr>
              <a:t> Fonksiyonlarının ve Bileşik Devrelerin Gerçekleştirilmesi</a:t>
            </a:r>
            <a:endParaRPr lang="tr-TR" sz="2400" dirty="0">
              <a:solidFill>
                <a:srgbClr val="FF0000"/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836712"/>
            <a:ext cx="9017819" cy="16561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029" y="2348880"/>
            <a:ext cx="8849467" cy="44857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69029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32" y="116632"/>
            <a:ext cx="9106736" cy="65527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582733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2200" y="548680"/>
            <a:ext cx="2019300" cy="15841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1" y="548680"/>
            <a:ext cx="3851399" cy="30243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4020" y="4509120"/>
            <a:ext cx="2897900" cy="13681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8064" y="4583596"/>
            <a:ext cx="2880320" cy="1509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971446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304800"/>
            <a:ext cx="8280920" cy="624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759383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dörtgen 1"/>
          <p:cNvSpPr/>
          <p:nvPr/>
        </p:nvSpPr>
        <p:spPr>
          <a:xfrm>
            <a:off x="467544" y="260648"/>
            <a:ext cx="748883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sz="2400" b="1" dirty="0">
                <a:solidFill>
                  <a:srgbClr val="FF0000"/>
                </a:solidFill>
              </a:rPr>
              <a:t>Veri Dağıtıcılar (</a:t>
            </a:r>
            <a:r>
              <a:rPr lang="tr-TR" sz="2400" b="1" dirty="0" err="1">
                <a:solidFill>
                  <a:srgbClr val="FF0000"/>
                </a:solidFill>
              </a:rPr>
              <a:t>Demultiplexers</a:t>
            </a:r>
            <a:r>
              <a:rPr lang="tr-TR" sz="2400" b="1" dirty="0">
                <a:solidFill>
                  <a:srgbClr val="FF0000"/>
                </a:solidFill>
              </a:rPr>
              <a:t> - Data </a:t>
            </a:r>
            <a:r>
              <a:rPr lang="tr-TR" sz="2400" b="1" dirty="0" err="1">
                <a:solidFill>
                  <a:srgbClr val="FF0000"/>
                </a:solidFill>
              </a:rPr>
              <a:t>Distributors</a:t>
            </a:r>
            <a:r>
              <a:rPr lang="tr-TR" sz="2400" b="1" dirty="0">
                <a:solidFill>
                  <a:srgbClr val="FF0000"/>
                </a:solidFill>
              </a:rPr>
              <a:t>)</a:t>
            </a:r>
            <a:endParaRPr lang="tr-TR" sz="2400" dirty="0">
              <a:solidFill>
                <a:srgbClr val="FF0000"/>
              </a:solidFill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819150"/>
            <a:ext cx="8856983" cy="58502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662797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13" y="764704"/>
            <a:ext cx="8564917" cy="42484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Resi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223" y="5157192"/>
            <a:ext cx="8753475" cy="135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79566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775" y="404664"/>
            <a:ext cx="8934450" cy="60486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826508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758" y="404664"/>
            <a:ext cx="8765947" cy="60486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220181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900" y="485775"/>
            <a:ext cx="7696200" cy="5886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890167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331" y="404664"/>
            <a:ext cx="8782777" cy="60486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ikdörtgen 1"/>
          <p:cNvSpPr/>
          <p:nvPr/>
        </p:nvSpPr>
        <p:spPr>
          <a:xfrm>
            <a:off x="107504" y="6396335"/>
            <a:ext cx="903649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b="1" dirty="0"/>
              <a:t>Şekil 8.43. </a:t>
            </a:r>
            <a:r>
              <a:rPr lang="tr-TR" dirty="0"/>
              <a:t>8’de 1 kod </a:t>
            </a:r>
            <a:r>
              <a:rPr lang="tr-TR" dirty="0" err="1"/>
              <a:t>cozucu</a:t>
            </a:r>
            <a:r>
              <a:rPr lang="tr-TR" dirty="0"/>
              <a:t> devresinin </a:t>
            </a:r>
            <a:r>
              <a:rPr lang="tr-TR" dirty="0" err="1"/>
              <a:t>demultiplexer</a:t>
            </a:r>
            <a:r>
              <a:rPr lang="tr-TR" dirty="0"/>
              <a:t> olarak kullanılması ve </a:t>
            </a:r>
            <a:r>
              <a:rPr lang="tr-TR" dirty="0" err="1"/>
              <a:t>ornek</a:t>
            </a:r>
            <a:r>
              <a:rPr lang="tr-TR" dirty="0"/>
              <a:t> sinyal şekli.</a:t>
            </a:r>
          </a:p>
        </p:txBody>
      </p:sp>
    </p:spTree>
    <p:extLst>
      <p:ext uri="{BB962C8B-B14F-4D97-AF65-F5344CB8AC3E}">
        <p14:creationId xmlns:p14="http://schemas.microsoft.com/office/powerpoint/2010/main" val="113470095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dörtgen 1"/>
          <p:cNvSpPr/>
          <p:nvPr/>
        </p:nvSpPr>
        <p:spPr>
          <a:xfrm>
            <a:off x="19404" y="116632"/>
            <a:ext cx="9017091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sz="2000" dirty="0" err="1"/>
              <a:t>Demultiplexer</a:t>
            </a:r>
            <a:r>
              <a:rPr lang="tr-TR" sz="2000" dirty="0"/>
              <a:t> devreleri, tek bir verinin farklı yerlerde kullanılmasını sağlayacak</a:t>
            </a:r>
          </a:p>
          <a:p>
            <a:r>
              <a:rPr lang="tr-TR" sz="2000" dirty="0"/>
              <a:t>uygulamalar yanında, </a:t>
            </a:r>
            <a:r>
              <a:rPr lang="tr-TR" sz="2000" dirty="0" err="1"/>
              <a:t>multiplexer</a:t>
            </a:r>
            <a:r>
              <a:rPr lang="tr-TR" sz="2000" dirty="0"/>
              <a:t> ile birlikte sistemleri basitleştirmek amacıyla </a:t>
            </a:r>
            <a:r>
              <a:rPr lang="tr-TR" sz="2000" dirty="0" smtClean="0"/>
              <a:t>kullanılır. Bu </a:t>
            </a:r>
            <a:r>
              <a:rPr lang="tr-TR" sz="2000" dirty="0"/>
              <a:t>kullanım alanlarını birer ö</a:t>
            </a:r>
            <a:r>
              <a:rPr lang="tr-TR" sz="2000" dirty="0" smtClean="0"/>
              <a:t>rnek </a:t>
            </a:r>
            <a:r>
              <a:rPr lang="tr-TR" sz="2000" dirty="0"/>
              <a:t>ile detaylandıralım</a:t>
            </a:r>
            <a:r>
              <a:rPr lang="tr-TR" sz="2000" dirty="0" smtClean="0"/>
              <a:t>.</a:t>
            </a:r>
          </a:p>
          <a:p>
            <a:endParaRPr lang="tr-TR" sz="2000" dirty="0"/>
          </a:p>
        </p:txBody>
      </p:sp>
      <p:sp>
        <p:nvSpPr>
          <p:cNvPr id="4" name="Dikdörtgen 3"/>
          <p:cNvSpPr/>
          <p:nvPr/>
        </p:nvSpPr>
        <p:spPr>
          <a:xfrm>
            <a:off x="107504" y="1163847"/>
            <a:ext cx="9036496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b="1" dirty="0" smtClean="0"/>
              <a:t>ÖRNEK:</a:t>
            </a:r>
          </a:p>
          <a:p>
            <a:r>
              <a:rPr lang="tr-TR" dirty="0" smtClean="0"/>
              <a:t>Bir </a:t>
            </a:r>
            <a:r>
              <a:rPr lang="tr-TR" dirty="0"/>
              <a:t>fabrikada kullanılan </a:t>
            </a:r>
            <a:r>
              <a:rPr lang="tr-TR" dirty="0" smtClean="0"/>
              <a:t>güvenlik görüntüleme </a:t>
            </a:r>
            <a:r>
              <a:rPr lang="tr-TR" dirty="0"/>
              <a:t>sisteminde, ç</a:t>
            </a:r>
            <a:r>
              <a:rPr lang="tr-TR" dirty="0" smtClean="0"/>
              <a:t>ok </a:t>
            </a:r>
            <a:r>
              <a:rPr lang="tr-TR" dirty="0"/>
              <a:t>sayıda kapıya bağlı olarak</a:t>
            </a:r>
          </a:p>
          <a:p>
            <a:r>
              <a:rPr lang="tr-TR" dirty="0"/>
              <a:t>ç</a:t>
            </a:r>
            <a:r>
              <a:rPr lang="tr-TR" dirty="0" smtClean="0"/>
              <a:t>alışan açık </a:t>
            </a:r>
            <a:r>
              <a:rPr lang="tr-TR" dirty="0"/>
              <a:t>/ kapalı anahtarlar bulunmaktadır. Her bir kapı ile bir anahtarın durumu kontrol</a:t>
            </a:r>
          </a:p>
          <a:p>
            <a:r>
              <a:rPr lang="tr-TR" dirty="0"/>
              <a:t>edilmekte ve anahtarın durumu LED’ler ile </a:t>
            </a:r>
            <a:r>
              <a:rPr lang="tr-TR" dirty="0" smtClean="0"/>
              <a:t>görüntülenmektedir</a:t>
            </a:r>
            <a:r>
              <a:rPr lang="tr-TR" dirty="0"/>
              <a:t>. LED’ler </a:t>
            </a:r>
            <a:r>
              <a:rPr lang="tr-TR" dirty="0" smtClean="0"/>
              <a:t>güvenlik </a:t>
            </a:r>
            <a:r>
              <a:rPr lang="tr-TR" dirty="0"/>
              <a:t>biriminin</a:t>
            </a:r>
          </a:p>
          <a:p>
            <a:r>
              <a:rPr lang="tr-TR" dirty="0"/>
              <a:t>bulunduğu uzak bir noktada </a:t>
            </a:r>
            <a:r>
              <a:rPr lang="tr-TR" dirty="0" smtClean="0"/>
              <a:t>görüntüleme </a:t>
            </a:r>
            <a:r>
              <a:rPr lang="tr-TR" dirty="0"/>
              <a:t>paneline yerleştirilmiştir. Bu devreyi lojik</a:t>
            </a:r>
          </a:p>
          <a:p>
            <a:r>
              <a:rPr lang="tr-TR" dirty="0"/>
              <a:t>elemanlar yardımıyla </a:t>
            </a:r>
            <a:r>
              <a:rPr lang="tr-TR" dirty="0" smtClean="0"/>
              <a:t>gerçekleştirelim</a:t>
            </a:r>
            <a:r>
              <a:rPr lang="tr-TR" dirty="0"/>
              <a:t>.</a:t>
            </a:r>
          </a:p>
          <a:p>
            <a:r>
              <a:rPr lang="tr-TR" dirty="0"/>
              <a:t>Şekil 8.44’de yapılması istenen, 8 kapının kullanıldığı </a:t>
            </a:r>
            <a:r>
              <a:rPr lang="tr-TR" dirty="0" smtClean="0"/>
              <a:t>güvenlik görüntüleme </a:t>
            </a:r>
            <a:r>
              <a:rPr lang="tr-TR" dirty="0"/>
              <a:t>sistemi prensip</a:t>
            </a:r>
          </a:p>
          <a:p>
            <a:r>
              <a:rPr lang="tr-TR" dirty="0"/>
              <a:t>şeması </a:t>
            </a:r>
            <a:r>
              <a:rPr lang="tr-TR" dirty="0" smtClean="0"/>
              <a:t>görülmektedir</a:t>
            </a:r>
            <a:r>
              <a:rPr lang="tr-TR" dirty="0"/>
              <a:t>. </a:t>
            </a:r>
            <a:r>
              <a:rPr lang="tr-TR" dirty="0" smtClean="0"/>
              <a:t>Böyle </a:t>
            </a:r>
            <a:r>
              <a:rPr lang="tr-TR" dirty="0"/>
              <a:t>bir uygulamada yapılacak işlem; her bir kapıdan gelen</a:t>
            </a:r>
          </a:p>
          <a:p>
            <a:r>
              <a:rPr lang="tr-TR" dirty="0"/>
              <a:t>anahtardan, </a:t>
            </a:r>
            <a:r>
              <a:rPr lang="tr-TR" dirty="0" smtClean="0"/>
              <a:t>gösterge </a:t>
            </a:r>
            <a:r>
              <a:rPr lang="tr-TR" dirty="0"/>
              <a:t>panelindeki ilgili LED’e bir hat ç</a:t>
            </a:r>
            <a:r>
              <a:rPr lang="tr-TR" dirty="0" smtClean="0"/>
              <a:t>ekmektir</a:t>
            </a:r>
            <a:r>
              <a:rPr lang="tr-TR" dirty="0"/>
              <a:t>. Bu sistem ç</a:t>
            </a:r>
            <a:r>
              <a:rPr lang="tr-TR" dirty="0" smtClean="0"/>
              <a:t>ok </a:t>
            </a:r>
            <a:r>
              <a:rPr lang="tr-TR" dirty="0"/>
              <a:t>sayıda kablo</a:t>
            </a:r>
          </a:p>
          <a:p>
            <a:r>
              <a:rPr lang="tr-TR" dirty="0" smtClean="0"/>
              <a:t>döşenmesini </a:t>
            </a:r>
            <a:r>
              <a:rPr lang="tr-TR" dirty="0"/>
              <a:t>gerektirir. Uygulanması istenilen devrede bulunan iki birim arasında 8 adet</a:t>
            </a:r>
          </a:p>
          <a:p>
            <a:r>
              <a:rPr lang="tr-TR" dirty="0"/>
              <a:t>kablo ç</a:t>
            </a:r>
            <a:r>
              <a:rPr lang="tr-TR" dirty="0" smtClean="0"/>
              <a:t>ekilmesi </a:t>
            </a:r>
            <a:r>
              <a:rPr lang="tr-TR" dirty="0"/>
              <a:t>gerekmektedir.</a:t>
            </a:r>
          </a:p>
          <a:p>
            <a:r>
              <a:rPr lang="tr-TR" dirty="0"/>
              <a:t>Bu sistemi </a:t>
            </a:r>
            <a:r>
              <a:rPr lang="tr-TR" dirty="0" smtClean="0"/>
              <a:t>gerçekleştirmenin </a:t>
            </a:r>
            <a:r>
              <a:rPr lang="tr-TR" dirty="0"/>
              <a:t>diğer bir </a:t>
            </a:r>
            <a:r>
              <a:rPr lang="tr-TR" dirty="0" smtClean="0"/>
              <a:t>yöntemi</a:t>
            </a:r>
            <a:r>
              <a:rPr lang="tr-TR" dirty="0"/>
              <a:t>, </a:t>
            </a:r>
            <a:r>
              <a:rPr lang="tr-TR" dirty="0" err="1"/>
              <a:t>multiplexer</a:t>
            </a:r>
            <a:r>
              <a:rPr lang="tr-TR" dirty="0"/>
              <a:t> / </a:t>
            </a:r>
            <a:r>
              <a:rPr lang="tr-TR" dirty="0" err="1"/>
              <a:t>demultiplexer</a:t>
            </a:r>
            <a:r>
              <a:rPr lang="tr-TR" dirty="0"/>
              <a:t> kombinasyonu</a:t>
            </a:r>
          </a:p>
          <a:p>
            <a:r>
              <a:rPr lang="tr-TR" dirty="0"/>
              <a:t>kullanmaktır.</a:t>
            </a:r>
          </a:p>
          <a:p>
            <a:r>
              <a:rPr lang="tr-TR" dirty="0"/>
              <a:t>Prensip şeması ç</a:t>
            </a:r>
            <a:r>
              <a:rPr lang="tr-TR" dirty="0" smtClean="0"/>
              <a:t>izilen </a:t>
            </a:r>
            <a:r>
              <a:rPr lang="tr-TR" dirty="0"/>
              <a:t>devrede, sekiz kapıda bulunan anahtarlar </a:t>
            </a:r>
            <a:r>
              <a:rPr lang="tr-TR" dirty="0" err="1"/>
              <a:t>multiplexer</a:t>
            </a:r>
            <a:r>
              <a:rPr lang="tr-TR" dirty="0"/>
              <a:t> </a:t>
            </a:r>
            <a:r>
              <a:rPr lang="tr-TR" dirty="0" smtClean="0"/>
              <a:t>için </a:t>
            </a:r>
            <a:r>
              <a:rPr lang="tr-TR" dirty="0"/>
              <a:t>veri</a:t>
            </a:r>
          </a:p>
          <a:p>
            <a:r>
              <a:rPr lang="tr-TR" dirty="0"/>
              <a:t>girişleridir. Kapılar </a:t>
            </a:r>
            <a:r>
              <a:rPr lang="tr-TR" dirty="0" smtClean="0"/>
              <a:t>açık </a:t>
            </a:r>
            <a:r>
              <a:rPr lang="tr-TR" dirty="0"/>
              <a:t>olduğu zaman ‘1’ sinyali ü</a:t>
            </a:r>
            <a:r>
              <a:rPr lang="tr-TR" dirty="0" smtClean="0"/>
              <a:t>retilirken</a:t>
            </a:r>
            <a:r>
              <a:rPr lang="tr-TR" dirty="0"/>
              <a:t>, kapalı olduğu zaman ‘0’</a:t>
            </a:r>
          </a:p>
          <a:p>
            <a:r>
              <a:rPr lang="tr-TR" dirty="0"/>
              <a:t>ü</a:t>
            </a:r>
            <a:r>
              <a:rPr lang="tr-TR" dirty="0" smtClean="0"/>
              <a:t>retilir</a:t>
            </a:r>
            <a:r>
              <a:rPr lang="tr-TR" dirty="0"/>
              <a:t>. Kapıların durumuna </a:t>
            </a:r>
            <a:r>
              <a:rPr lang="tr-TR" dirty="0" smtClean="0"/>
              <a:t>göre </a:t>
            </a:r>
            <a:r>
              <a:rPr lang="tr-TR" dirty="0"/>
              <a:t>bu bilgiler </a:t>
            </a:r>
            <a:r>
              <a:rPr lang="tr-TR" dirty="0" err="1"/>
              <a:t>multiplexer</a:t>
            </a:r>
            <a:r>
              <a:rPr lang="tr-TR" dirty="0"/>
              <a:t> girişinde </a:t>
            </a:r>
            <a:r>
              <a:rPr lang="tr-TR" dirty="0" smtClean="0"/>
              <a:t>gözükür</a:t>
            </a:r>
            <a:r>
              <a:rPr lang="tr-TR" dirty="0"/>
              <a:t>. </a:t>
            </a:r>
            <a:r>
              <a:rPr lang="tr-TR" dirty="0" err="1"/>
              <a:t>Mod</a:t>
            </a:r>
            <a:r>
              <a:rPr lang="tr-TR" dirty="0"/>
              <a:t> 8 sayıcı,</a:t>
            </a:r>
          </a:p>
          <a:p>
            <a:r>
              <a:rPr lang="tr-TR" dirty="0"/>
              <a:t>hem </a:t>
            </a:r>
            <a:r>
              <a:rPr lang="tr-TR" dirty="0" err="1"/>
              <a:t>multiplexer</a:t>
            </a:r>
            <a:r>
              <a:rPr lang="tr-TR" dirty="0"/>
              <a:t> hem de </a:t>
            </a:r>
            <a:r>
              <a:rPr lang="tr-TR" dirty="0" err="1"/>
              <a:t>demultiplexer</a:t>
            </a:r>
            <a:r>
              <a:rPr lang="tr-TR" dirty="0"/>
              <a:t> </a:t>
            </a:r>
            <a:r>
              <a:rPr lang="tr-TR" dirty="0" smtClean="0"/>
              <a:t>için seçici </a:t>
            </a:r>
            <a:r>
              <a:rPr lang="tr-TR" dirty="0"/>
              <a:t>giriş sinyalleri ü</a:t>
            </a:r>
            <a:r>
              <a:rPr lang="tr-TR" dirty="0" smtClean="0"/>
              <a:t>retir</a:t>
            </a:r>
            <a:r>
              <a:rPr lang="tr-TR" dirty="0"/>
              <a:t>. </a:t>
            </a:r>
            <a:r>
              <a:rPr lang="tr-TR" dirty="0" err="1"/>
              <a:t>Multiplexer</a:t>
            </a:r>
            <a:r>
              <a:rPr lang="tr-TR" dirty="0"/>
              <a:t> devresi,</a:t>
            </a:r>
          </a:p>
          <a:p>
            <a:r>
              <a:rPr lang="tr-TR" dirty="0"/>
              <a:t>girişlere bağlı kapılardan gelen sinyallerden birisini ç</a:t>
            </a:r>
            <a:r>
              <a:rPr lang="tr-TR" dirty="0" smtClean="0"/>
              <a:t>ıkışına </a:t>
            </a:r>
            <a:r>
              <a:rPr lang="tr-TR" dirty="0"/>
              <a:t>aktarır. Bu ç</a:t>
            </a:r>
            <a:r>
              <a:rPr lang="tr-TR" dirty="0" smtClean="0"/>
              <a:t>ıkıştan </a:t>
            </a:r>
            <a:r>
              <a:rPr lang="tr-TR" dirty="0"/>
              <a:t>alınan sinyal</a:t>
            </a:r>
          </a:p>
          <a:p>
            <a:r>
              <a:rPr lang="tr-TR" dirty="0" err="1"/>
              <a:t>demultiplexer’in</a:t>
            </a:r>
            <a:r>
              <a:rPr lang="tr-TR" dirty="0"/>
              <a:t> ‘I’ girişine uygulanır.</a:t>
            </a:r>
          </a:p>
        </p:txBody>
      </p:sp>
    </p:spTree>
    <p:extLst>
      <p:ext uri="{BB962C8B-B14F-4D97-AF65-F5344CB8AC3E}">
        <p14:creationId xmlns:p14="http://schemas.microsoft.com/office/powerpoint/2010/main" val="301888740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dörtgen 1"/>
          <p:cNvSpPr/>
          <p:nvPr/>
        </p:nvSpPr>
        <p:spPr>
          <a:xfrm>
            <a:off x="23528" y="188640"/>
            <a:ext cx="8940959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dirty="0"/>
              <a:t>MOD 8 sayıcı ç</a:t>
            </a:r>
            <a:r>
              <a:rPr lang="tr-TR" dirty="0" smtClean="0"/>
              <a:t>ıkışından </a:t>
            </a:r>
            <a:r>
              <a:rPr lang="tr-TR" dirty="0" err="1"/>
              <a:t>demultiplexer</a:t>
            </a:r>
            <a:r>
              <a:rPr lang="tr-TR" dirty="0"/>
              <a:t> </a:t>
            </a:r>
            <a:r>
              <a:rPr lang="tr-TR" dirty="0" smtClean="0"/>
              <a:t>seçici </a:t>
            </a:r>
            <a:r>
              <a:rPr lang="tr-TR" dirty="0"/>
              <a:t>girişlerine uygulanan sinyaller, I girişinden</a:t>
            </a:r>
          </a:p>
          <a:p>
            <a:r>
              <a:rPr lang="tr-TR" dirty="0"/>
              <a:t>gelen bilgiyi ç</a:t>
            </a:r>
            <a:r>
              <a:rPr lang="tr-TR" dirty="0" smtClean="0"/>
              <a:t>ıkışlara </a:t>
            </a:r>
            <a:r>
              <a:rPr lang="tr-TR" dirty="0"/>
              <a:t>bağlı olan LED’lere </a:t>
            </a:r>
            <a:r>
              <a:rPr lang="tr-TR" dirty="0" smtClean="0"/>
              <a:t>gönderir</a:t>
            </a:r>
            <a:r>
              <a:rPr lang="tr-TR" dirty="0"/>
              <a:t>. Diğer bir deyişle, seri şekilde I girişine</a:t>
            </a:r>
          </a:p>
          <a:p>
            <a:r>
              <a:rPr lang="tr-TR" dirty="0"/>
              <a:t>gelen bilgiler </a:t>
            </a:r>
            <a:r>
              <a:rPr lang="tr-TR" dirty="0" smtClean="0"/>
              <a:t>seçici </a:t>
            </a:r>
            <a:r>
              <a:rPr lang="tr-TR" dirty="0"/>
              <a:t>girişler yardımıyla uygun olan ç</a:t>
            </a:r>
            <a:r>
              <a:rPr lang="tr-TR" dirty="0" smtClean="0"/>
              <a:t>ıkışa </a:t>
            </a:r>
            <a:r>
              <a:rPr lang="tr-TR" dirty="0"/>
              <a:t>aktarılır. Kapılardan birisinin </a:t>
            </a:r>
            <a:r>
              <a:rPr lang="tr-TR" dirty="0" smtClean="0"/>
              <a:t>açık</a:t>
            </a:r>
            <a:endParaRPr lang="tr-TR" dirty="0"/>
          </a:p>
          <a:p>
            <a:r>
              <a:rPr lang="tr-TR" dirty="0"/>
              <a:t>olması durumunda, ilgili LED flaş yaparak </a:t>
            </a:r>
            <a:r>
              <a:rPr lang="tr-TR" dirty="0" smtClean="0"/>
              <a:t>yanıp-söner</a:t>
            </a:r>
            <a:r>
              <a:rPr lang="tr-TR" dirty="0"/>
              <a:t>. Flaş suresi tetikleme sinyalinin</a:t>
            </a:r>
          </a:p>
          <a:p>
            <a:r>
              <a:rPr lang="tr-TR" dirty="0"/>
              <a:t>frekansını değiştirmek suretiyle ayarlanabilir</a:t>
            </a:r>
            <a:r>
              <a:rPr lang="tr-TR" dirty="0" smtClean="0"/>
              <a:t>.</a:t>
            </a:r>
          </a:p>
          <a:p>
            <a:endParaRPr lang="tr-TR" dirty="0" smtClean="0"/>
          </a:p>
          <a:p>
            <a:r>
              <a:rPr lang="tr-TR" dirty="0"/>
              <a:t>Yapılan uygulamada, iki uzak sistem arasında 8 hat ç</a:t>
            </a:r>
            <a:r>
              <a:rPr lang="tr-TR" dirty="0" smtClean="0"/>
              <a:t>ekilmesi </a:t>
            </a:r>
            <a:r>
              <a:rPr lang="tr-TR" dirty="0"/>
              <a:t>yerine, </a:t>
            </a:r>
            <a:r>
              <a:rPr lang="tr-TR" dirty="0" err="1"/>
              <a:t>multiplexer</a:t>
            </a:r>
            <a:r>
              <a:rPr lang="tr-TR" dirty="0"/>
              <a:t> ve</a:t>
            </a:r>
          </a:p>
          <a:p>
            <a:r>
              <a:rPr lang="tr-TR" dirty="0" err="1"/>
              <a:t>demultiplexer</a:t>
            </a:r>
            <a:r>
              <a:rPr lang="tr-TR" dirty="0"/>
              <a:t> kullanarak 4 hat ile sistem </a:t>
            </a:r>
            <a:r>
              <a:rPr lang="tr-TR" dirty="0" smtClean="0"/>
              <a:t>gerçekleştirilir</a:t>
            </a:r>
            <a:r>
              <a:rPr lang="tr-TR" dirty="0"/>
              <a:t>. </a:t>
            </a:r>
            <a:r>
              <a:rPr lang="tr-TR" dirty="0" err="1"/>
              <a:t>Demultiplexer</a:t>
            </a:r>
            <a:r>
              <a:rPr lang="tr-TR" dirty="0"/>
              <a:t> devresi, verilerin eş</a:t>
            </a:r>
          </a:p>
          <a:p>
            <a:r>
              <a:rPr lang="tr-TR" dirty="0"/>
              <a:t>zamanlı olarak transferini sağlayan ‘Eşzamanlı Veri İletme Sistemi’ (</a:t>
            </a:r>
            <a:r>
              <a:rPr lang="tr-TR" dirty="0" err="1"/>
              <a:t>Synchronous</a:t>
            </a:r>
            <a:r>
              <a:rPr lang="tr-TR" dirty="0"/>
              <a:t> Data</a:t>
            </a:r>
          </a:p>
          <a:p>
            <a:r>
              <a:rPr lang="tr-TR" dirty="0" err="1"/>
              <a:t>Transmission</a:t>
            </a:r>
            <a:r>
              <a:rPr lang="tr-TR" dirty="0"/>
              <a:t> </a:t>
            </a:r>
            <a:r>
              <a:rPr lang="tr-TR" dirty="0" err="1"/>
              <a:t>System</a:t>
            </a:r>
            <a:r>
              <a:rPr lang="tr-TR" dirty="0"/>
              <a:t>) olarak ç</a:t>
            </a:r>
            <a:r>
              <a:rPr lang="tr-TR" dirty="0" smtClean="0"/>
              <a:t>alışabilir</a:t>
            </a:r>
            <a:r>
              <a:rPr lang="tr-TR" dirty="0"/>
              <a:t>. Bu konu sayıcı ve kaymalı kaydedici konularını</a:t>
            </a:r>
          </a:p>
          <a:p>
            <a:r>
              <a:rPr lang="tr-TR" dirty="0" smtClean="0"/>
              <a:t>içerdiğinden </a:t>
            </a:r>
            <a:r>
              <a:rPr lang="tr-TR" dirty="0"/>
              <a:t>burada </a:t>
            </a:r>
            <a:r>
              <a:rPr lang="tr-TR" dirty="0" smtClean="0"/>
              <a:t>açıklanmayacaktır</a:t>
            </a:r>
            <a:r>
              <a:rPr lang="tr-T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2447471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463" y="404813"/>
            <a:ext cx="7839075" cy="6048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0403896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dörtgen 1"/>
          <p:cNvSpPr/>
          <p:nvPr/>
        </p:nvSpPr>
        <p:spPr>
          <a:xfrm>
            <a:off x="251520" y="332656"/>
            <a:ext cx="871296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sz="2400" b="1" dirty="0">
                <a:solidFill>
                  <a:srgbClr val="FF0000"/>
                </a:solidFill>
              </a:rPr>
              <a:t>Karşılaştırıcı ve Aritmetik İşlem Devreleri (</a:t>
            </a:r>
            <a:r>
              <a:rPr lang="tr-TR" sz="2400" b="1" dirty="0" err="1">
                <a:solidFill>
                  <a:srgbClr val="FF0000"/>
                </a:solidFill>
              </a:rPr>
              <a:t>Arithmetic</a:t>
            </a:r>
            <a:r>
              <a:rPr lang="tr-TR" sz="2400" b="1" dirty="0">
                <a:solidFill>
                  <a:srgbClr val="FF0000"/>
                </a:solidFill>
              </a:rPr>
              <a:t> </a:t>
            </a:r>
            <a:r>
              <a:rPr lang="tr-TR" sz="2400" b="1" dirty="0" err="1">
                <a:solidFill>
                  <a:srgbClr val="FF0000"/>
                </a:solidFill>
              </a:rPr>
              <a:t>Logic</a:t>
            </a:r>
            <a:r>
              <a:rPr lang="tr-TR" sz="2400" b="1" dirty="0">
                <a:solidFill>
                  <a:srgbClr val="FF0000"/>
                </a:solidFill>
              </a:rPr>
              <a:t> </a:t>
            </a:r>
            <a:r>
              <a:rPr lang="tr-TR" sz="2400" b="1" dirty="0" err="1">
                <a:solidFill>
                  <a:srgbClr val="FF0000"/>
                </a:solidFill>
              </a:rPr>
              <a:t>Unit</a:t>
            </a:r>
            <a:r>
              <a:rPr lang="tr-TR" sz="2400" b="1" dirty="0" smtClean="0">
                <a:solidFill>
                  <a:srgbClr val="FF0000"/>
                </a:solidFill>
              </a:rPr>
              <a:t>)</a:t>
            </a:r>
            <a:r>
              <a:rPr lang="tr-TR" sz="2400" b="1" dirty="0"/>
              <a:t> Karşılaştırıcılar (</a:t>
            </a:r>
            <a:r>
              <a:rPr lang="tr-TR" sz="2400" b="1" dirty="0" err="1"/>
              <a:t>Comparators</a:t>
            </a:r>
            <a:r>
              <a:rPr lang="tr-TR" sz="2400" b="1" dirty="0"/>
              <a:t>)</a:t>
            </a:r>
            <a:endParaRPr lang="tr-TR" sz="2400" dirty="0">
              <a:solidFill>
                <a:srgbClr val="FF0000"/>
              </a:solidFill>
            </a:endParaRPr>
          </a:p>
        </p:txBody>
      </p:sp>
      <p:sp>
        <p:nvSpPr>
          <p:cNvPr id="3" name="Dikdörtgen 2"/>
          <p:cNvSpPr/>
          <p:nvPr/>
        </p:nvSpPr>
        <p:spPr>
          <a:xfrm>
            <a:off x="107504" y="1305342"/>
            <a:ext cx="8712968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dirty="0"/>
              <a:t>İki sayıyı karşılaştıran ve </a:t>
            </a:r>
            <a:r>
              <a:rPr lang="tr-TR" dirty="0" smtClean="0"/>
              <a:t>büyüklüklerini </a:t>
            </a:r>
            <a:r>
              <a:rPr lang="tr-TR" dirty="0"/>
              <a:t>belirleyen bileşik devreler, ‘</a:t>
            </a:r>
            <a:r>
              <a:rPr lang="tr-TR" b="1" dirty="0"/>
              <a:t>büyüklük</a:t>
            </a:r>
          </a:p>
          <a:p>
            <a:r>
              <a:rPr lang="tr-TR" b="1" dirty="0"/>
              <a:t>karşılaştırıcı</a:t>
            </a:r>
            <a:r>
              <a:rPr lang="tr-TR" dirty="0"/>
              <a:t>’ (</a:t>
            </a:r>
            <a:r>
              <a:rPr lang="tr-TR" dirty="0" err="1"/>
              <a:t>magnitude</a:t>
            </a:r>
            <a:r>
              <a:rPr lang="tr-TR" dirty="0"/>
              <a:t> </a:t>
            </a:r>
            <a:r>
              <a:rPr lang="tr-TR" dirty="0" err="1"/>
              <a:t>comparator</a:t>
            </a:r>
            <a:r>
              <a:rPr lang="tr-TR" dirty="0"/>
              <a:t>) olarak isimlendirilir. Karşılaştırma sonucu; A&gt;B,</a:t>
            </a:r>
          </a:p>
          <a:p>
            <a:r>
              <a:rPr lang="tr-TR" dirty="0"/>
              <a:t>A=B veya A&lt;B’yi belirleyen </a:t>
            </a:r>
            <a:r>
              <a:rPr lang="tr-TR" dirty="0" smtClean="0"/>
              <a:t>üç </a:t>
            </a:r>
            <a:r>
              <a:rPr lang="tr-TR" dirty="0"/>
              <a:t>konum ile belirlenir. En yaygın kullanım yerleri Aritmetik</a:t>
            </a:r>
          </a:p>
          <a:p>
            <a:r>
              <a:rPr lang="tr-TR" dirty="0"/>
              <a:t>Lojik devrelerdir. Karşılaştırıcı devreleri, girişleri aynı veya farklı iken ç</a:t>
            </a:r>
            <a:r>
              <a:rPr lang="tr-TR" dirty="0" smtClean="0"/>
              <a:t>ıkış </a:t>
            </a:r>
            <a:r>
              <a:rPr lang="tr-TR" dirty="0"/>
              <a:t>veren kontrol</a:t>
            </a:r>
          </a:p>
          <a:p>
            <a:r>
              <a:rPr lang="tr-TR" dirty="0"/>
              <a:t>devrelerinde ve ikili karşılaştırmanın kullanıldığı adres bulma devrelerinde kullanılır.</a:t>
            </a:r>
          </a:p>
          <a:p>
            <a:r>
              <a:rPr lang="tr-TR" dirty="0"/>
              <a:t>En basit karşılaştırıcı devresi, tek bitlik A ve B sayılarının eşitlik durumunu karşılaştıran</a:t>
            </a:r>
          </a:p>
          <a:p>
            <a:r>
              <a:rPr lang="tr-TR" dirty="0"/>
              <a:t>karşılaştırıcı devresidir. Bu devrede A=B durumunda ç</a:t>
            </a:r>
            <a:r>
              <a:rPr lang="tr-TR" dirty="0" smtClean="0"/>
              <a:t>ıkışlardan </a:t>
            </a:r>
            <a:r>
              <a:rPr lang="tr-TR" dirty="0"/>
              <a:t>birisi ‘1’ olurken, A≠B</a:t>
            </a:r>
          </a:p>
          <a:p>
            <a:r>
              <a:rPr lang="tr-TR" dirty="0"/>
              <a:t>durumunda diğeri ‘1’ olur (Şekil 8.45).</a:t>
            </a:r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3717032"/>
            <a:ext cx="8712968" cy="25202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5997950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64" y="404664"/>
            <a:ext cx="8864597" cy="5904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8120910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dörtgen 1"/>
          <p:cNvSpPr/>
          <p:nvPr/>
        </p:nvSpPr>
        <p:spPr>
          <a:xfrm>
            <a:off x="107504" y="116633"/>
            <a:ext cx="9036496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dirty="0"/>
              <a:t>7485 entegresi, </a:t>
            </a:r>
            <a:r>
              <a:rPr lang="tr-TR" dirty="0" smtClean="0"/>
              <a:t>dört </a:t>
            </a:r>
            <a:r>
              <a:rPr lang="tr-TR" dirty="0"/>
              <a:t>bitlik iki sayıyı karşılaştıran ve karşılaştırılan bitlerin durumuna </a:t>
            </a:r>
            <a:r>
              <a:rPr lang="tr-TR" dirty="0" smtClean="0"/>
              <a:t>göre </a:t>
            </a:r>
            <a:r>
              <a:rPr lang="tr-TR" dirty="0"/>
              <a:t>ç</a:t>
            </a:r>
            <a:r>
              <a:rPr lang="tr-TR" dirty="0" smtClean="0"/>
              <a:t>ıkış </a:t>
            </a:r>
            <a:r>
              <a:rPr lang="tr-TR" dirty="0"/>
              <a:t>oluşturan lojik elemandır (Şekil 8.47). Entegre, karşılaştırılacak sayı girişleri ile birlikte</a:t>
            </a:r>
          </a:p>
          <a:p>
            <a:r>
              <a:rPr lang="tr-TR" dirty="0"/>
              <a:t>ç</a:t>
            </a:r>
            <a:r>
              <a:rPr lang="tr-TR" dirty="0" smtClean="0"/>
              <a:t>ok </a:t>
            </a:r>
            <a:r>
              <a:rPr lang="tr-TR" dirty="0"/>
              <a:t>sayıda entegrenin bir arada kullanılmasına imkan tanıyan karşılaştırma girişlerine</a:t>
            </a:r>
          </a:p>
          <a:p>
            <a:r>
              <a:rPr lang="tr-TR" dirty="0"/>
              <a:t>sahiptir. Entegrenin </a:t>
            </a:r>
            <a:r>
              <a:rPr lang="tr-TR" dirty="0" smtClean="0"/>
              <a:t>dört </a:t>
            </a:r>
            <a:r>
              <a:rPr lang="tr-TR" dirty="0"/>
              <a:t>bitlik karşılaştırma işlemine ait doğruluk tablosu Şekil 8.48’da</a:t>
            </a:r>
          </a:p>
          <a:p>
            <a:r>
              <a:rPr lang="tr-TR" dirty="0" smtClean="0"/>
              <a:t>görülmektedir</a:t>
            </a:r>
            <a:r>
              <a:rPr lang="tr-TR" dirty="0"/>
              <a:t>.</a:t>
            </a:r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2923" y="1638299"/>
            <a:ext cx="8181525" cy="49697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8747428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" y="476672"/>
            <a:ext cx="9143782" cy="61206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7737875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911" y="260648"/>
            <a:ext cx="9153911" cy="65973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5681848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739" y="260648"/>
            <a:ext cx="8778750" cy="65973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9203910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32656"/>
            <a:ext cx="8805042" cy="5976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1996139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ikdörtgen 2"/>
          <p:cNvSpPr/>
          <p:nvPr/>
        </p:nvSpPr>
        <p:spPr>
          <a:xfrm>
            <a:off x="1979712" y="2060848"/>
            <a:ext cx="5256584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sz="4000" dirty="0" smtClean="0"/>
              <a:t>DİNLEDİĞİNİZ İÇİN TEŞEKKÜR EDERİZ</a:t>
            </a:r>
            <a:endParaRPr lang="tr-TR" sz="4000" dirty="0"/>
          </a:p>
        </p:txBody>
      </p:sp>
    </p:spTree>
    <p:extLst>
      <p:ext uri="{BB962C8B-B14F-4D97-AF65-F5344CB8AC3E}">
        <p14:creationId xmlns:p14="http://schemas.microsoft.com/office/powerpoint/2010/main" val="3539034178"/>
      </p:ext>
    </p:extLst>
  </p:cSld>
  <p:clrMapOvr>
    <a:masterClrMapping/>
  </p:clrMapOvr>
</p:sld>
</file>

<file path=ppt/theme/theme1.xml><?xml version="1.0" encoding="utf-8"?>
<a:theme xmlns:a="http://schemas.openxmlformats.org/drawingml/2006/main" name="Ofis Teması">
  <a:themeElements>
    <a:clrScheme name="Ofis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i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581</TotalTime>
  <Words>691</Words>
  <Application>Microsoft Office PowerPoint</Application>
  <PresentationFormat>Ekran Gösterisi (4:3)</PresentationFormat>
  <Paragraphs>63</Paragraphs>
  <Slides>34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2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34</vt:i4>
      </vt:variant>
    </vt:vector>
  </HeadingPairs>
  <TitlesOfParts>
    <vt:vector size="37" baseType="lpstr">
      <vt:lpstr>Arial</vt:lpstr>
      <vt:lpstr>Calibri</vt:lpstr>
      <vt:lpstr>Ofis Teması</vt:lpstr>
      <vt:lpstr>Mantık Devreleri  DERS 9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Mantık Devreleri  DERS 8</dc:title>
  <dc:creator>bilgisayarim</dc:creator>
  <cp:lastModifiedBy>Ali BULDU</cp:lastModifiedBy>
  <cp:revision>42</cp:revision>
  <dcterms:created xsi:type="dcterms:W3CDTF">2019-10-14T11:40:58Z</dcterms:created>
  <dcterms:modified xsi:type="dcterms:W3CDTF">2024-12-10T07:12:53Z</dcterms:modified>
</cp:coreProperties>
</file>