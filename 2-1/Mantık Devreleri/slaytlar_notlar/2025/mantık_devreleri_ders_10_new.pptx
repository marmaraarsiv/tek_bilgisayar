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59" r:id="rId24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17.12.2024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769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17.12.2024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267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17.12.2024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3344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17.12.2024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0125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17.12.2024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048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17.12.2024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7238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17.12.2024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4041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17.12.2024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0503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17.12.2024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900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17.12.2024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7622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6206-3BB4-403C-9540-21F4B96617DF}" type="datetimeFigureOut">
              <a:rPr lang="tr-TR" smtClean="0"/>
              <a:t>17.12.2024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80555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96206-3BB4-403C-9540-21F4B96617DF}" type="datetimeFigureOut">
              <a:rPr lang="tr-TR" smtClean="0"/>
              <a:t>17.12.2024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7FBCA-92C3-4EC7-A2A0-C3BFA3160F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3740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van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dirty="0"/>
              <a:t>Mantık Devreleri </a:t>
            </a:r>
            <a:br>
              <a:rPr lang="tr-TR" dirty="0"/>
            </a:br>
            <a:r>
              <a:rPr lang="tr-TR" dirty="0"/>
              <a:t>DERS 10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5553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611560" y="908720"/>
            <a:ext cx="799288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400" b="1" dirty="0"/>
              <a:t>Bileşik Mantık Devreleri III</a:t>
            </a:r>
          </a:p>
          <a:p>
            <a:r>
              <a:rPr lang="tr-TR" sz="4400" b="1" dirty="0"/>
              <a:t>Aritmetik İşlem Devreleri Toplayıcı Devreleri (</a:t>
            </a:r>
            <a:r>
              <a:rPr lang="tr-TR" sz="4400" b="1" dirty="0" err="1"/>
              <a:t>Adders</a:t>
            </a:r>
            <a:r>
              <a:rPr lang="tr-TR" sz="4400" b="1" dirty="0"/>
              <a:t>)</a:t>
            </a:r>
          </a:p>
          <a:p>
            <a:r>
              <a:rPr lang="tr-TR" sz="4400" b="1" dirty="0"/>
              <a:t>Çıkarıcı Devreleri (</a:t>
            </a:r>
            <a:r>
              <a:rPr lang="tr-TR" sz="4400" b="1" dirty="0" err="1"/>
              <a:t>Subtractor</a:t>
            </a:r>
            <a:r>
              <a:rPr lang="tr-TR" sz="4400" b="1" dirty="0"/>
              <a:t> </a:t>
            </a:r>
            <a:r>
              <a:rPr lang="tr-TR" sz="4400" b="1" dirty="0" err="1"/>
              <a:t>Circuits</a:t>
            </a:r>
            <a:r>
              <a:rPr lang="tr-TR" sz="4400" b="1" dirty="0"/>
              <a:t>)</a:t>
            </a:r>
            <a:endParaRPr lang="tr-TR" sz="4400" dirty="0"/>
          </a:p>
        </p:txBody>
      </p:sp>
    </p:spTree>
    <p:extLst>
      <p:ext uri="{BB962C8B-B14F-4D97-AF65-F5344CB8AC3E}">
        <p14:creationId xmlns:p14="http://schemas.microsoft.com/office/powerpoint/2010/main" val="3529803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95536" y="332656"/>
            <a:ext cx="33900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</a:rPr>
              <a:t>Aritmetik İşlem Devreleri</a:t>
            </a:r>
            <a:endParaRPr lang="tr-TR" sz="2400" dirty="0">
              <a:solidFill>
                <a:srgbClr val="FF0000"/>
              </a:solidFill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07504" y="794321"/>
            <a:ext cx="903649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Toplama, çıkarma, çarpma, bölme işlemlerini yapan devrelere, ‘</a:t>
            </a:r>
            <a:r>
              <a:rPr lang="tr-TR" b="1" dirty="0"/>
              <a:t>Aritmetik İşlem Devreleri’</a:t>
            </a:r>
          </a:p>
          <a:p>
            <a:r>
              <a:rPr lang="tr-TR" dirty="0"/>
              <a:t>denir. Bilgisayarlarda ve hesap makinalarında, temel işlemler toplama ve çıkartma</a:t>
            </a:r>
          </a:p>
          <a:p>
            <a:r>
              <a:rPr lang="tr-TR" dirty="0"/>
              <a:t>işlemleridir. 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Çarpma</a:t>
            </a:r>
            <a:r>
              <a:rPr lang="tr-TR" dirty="0"/>
              <a:t> işlemi; toplama işleminin tekrarlanması, bölme işlemi ise; çıkartma</a:t>
            </a:r>
          </a:p>
          <a:p>
            <a:r>
              <a:rPr lang="tr-TR" dirty="0"/>
              <a:t>işleminin tekrarlanması ile yapılır. Bu nedenle toplayıcı ve çıkarıcı devrelerini detaylı olarak</a:t>
            </a:r>
          </a:p>
          <a:p>
            <a:r>
              <a:rPr lang="tr-TR" dirty="0"/>
              <a:t>inceleyeceğiz.</a:t>
            </a:r>
          </a:p>
        </p:txBody>
      </p:sp>
      <p:sp>
        <p:nvSpPr>
          <p:cNvPr id="4" name="Dikdörtgen 3"/>
          <p:cNvSpPr/>
          <p:nvPr/>
        </p:nvSpPr>
        <p:spPr>
          <a:xfrm>
            <a:off x="179512" y="2271649"/>
            <a:ext cx="33900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>
                <a:solidFill>
                  <a:srgbClr val="0070C0"/>
                </a:solidFill>
              </a:rPr>
              <a:t>Toplayıcı Devreleri (</a:t>
            </a:r>
            <a:r>
              <a:rPr lang="tr-TR" b="1" dirty="0" err="1">
                <a:solidFill>
                  <a:srgbClr val="0070C0"/>
                </a:solidFill>
              </a:rPr>
              <a:t>Adders</a:t>
            </a:r>
            <a:r>
              <a:rPr lang="tr-TR" b="1" dirty="0">
                <a:solidFill>
                  <a:srgbClr val="0070C0"/>
                </a:solidFill>
              </a:rPr>
              <a:t>)</a:t>
            </a:r>
            <a:endParaRPr lang="tr-TR" dirty="0">
              <a:solidFill>
                <a:srgbClr val="0070C0"/>
              </a:solidFill>
            </a:endParaRPr>
          </a:p>
        </p:txBody>
      </p:sp>
      <p:sp>
        <p:nvSpPr>
          <p:cNvPr id="5" name="Dikdörtgen 4"/>
          <p:cNvSpPr/>
          <p:nvPr/>
        </p:nvSpPr>
        <p:spPr>
          <a:xfrm>
            <a:off x="179512" y="2670173"/>
            <a:ext cx="88569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İki biti toplayan devreler</a:t>
            </a:r>
          </a:p>
          <a:p>
            <a:r>
              <a:rPr lang="tr-TR" dirty="0"/>
              <a:t>‘</a:t>
            </a:r>
            <a:r>
              <a:rPr lang="tr-TR" b="1" dirty="0"/>
              <a:t>yarım toplayıcı</a:t>
            </a:r>
            <a:r>
              <a:rPr lang="tr-TR" dirty="0"/>
              <a:t>’ olarak, </a:t>
            </a:r>
            <a:r>
              <a:rPr lang="tr-TR" i="1" u="sng" dirty="0"/>
              <a:t>elde değerini temsil eden biti </a:t>
            </a:r>
            <a:r>
              <a:rPr lang="tr-TR" dirty="0"/>
              <a:t>üçüncü bit olarak değerlendirilen ve</a:t>
            </a:r>
          </a:p>
          <a:p>
            <a:r>
              <a:rPr lang="tr-TR" dirty="0"/>
              <a:t>üç bitin toplamını yapan devreler ise ‘</a:t>
            </a:r>
            <a:r>
              <a:rPr lang="tr-TR" b="1" dirty="0"/>
              <a:t>tam toplayıcı’ </a:t>
            </a:r>
            <a:r>
              <a:rPr lang="tr-TR" dirty="0"/>
              <a:t>olarak isimlendirilir. Yarım toplayıcı</a:t>
            </a:r>
          </a:p>
          <a:p>
            <a:r>
              <a:rPr lang="tr-TR" dirty="0"/>
              <a:t>terimi, tam toplayıcıyı oluşturmak için iki tane yarım toplayıcı kullanılmasından ileri</a:t>
            </a:r>
          </a:p>
          <a:p>
            <a:r>
              <a:rPr lang="tr-TR" dirty="0"/>
              <a:t>gelmektedir.</a:t>
            </a:r>
          </a:p>
        </p:txBody>
      </p:sp>
      <p:sp>
        <p:nvSpPr>
          <p:cNvPr id="6" name="Dikdörtgen 5"/>
          <p:cNvSpPr/>
          <p:nvPr/>
        </p:nvSpPr>
        <p:spPr>
          <a:xfrm>
            <a:off x="234784" y="4169664"/>
            <a:ext cx="3334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Yarım</a:t>
            </a:r>
            <a:r>
              <a:rPr lang="en-US" b="1" dirty="0"/>
              <a:t> </a:t>
            </a:r>
            <a:r>
              <a:rPr lang="en-US" b="1" dirty="0" err="1"/>
              <a:t>Toplayıcı</a:t>
            </a:r>
            <a:r>
              <a:rPr lang="en-US" b="1" dirty="0"/>
              <a:t> (Half Adder – HA)</a:t>
            </a:r>
            <a:endParaRPr lang="tr-TR" dirty="0"/>
          </a:p>
        </p:txBody>
      </p:sp>
      <p:sp>
        <p:nvSpPr>
          <p:cNvPr id="7" name="Dikdörtgen 6"/>
          <p:cNvSpPr/>
          <p:nvPr/>
        </p:nvSpPr>
        <p:spPr>
          <a:xfrm>
            <a:off x="261558" y="4570203"/>
            <a:ext cx="86309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Girişine uygulanan iki biti toplayıp, sonucu toplam (</a:t>
            </a:r>
            <a:r>
              <a:rPr lang="tr-TR" dirty="0" err="1"/>
              <a:t>sum</a:t>
            </a:r>
            <a:r>
              <a:rPr lang="tr-TR" dirty="0"/>
              <a:t>) ve elde (</a:t>
            </a:r>
            <a:r>
              <a:rPr lang="tr-TR" dirty="0" err="1"/>
              <a:t>carry</a:t>
            </a:r>
            <a:r>
              <a:rPr lang="tr-TR" dirty="0"/>
              <a:t>) şeklinde veren</a:t>
            </a:r>
          </a:p>
          <a:p>
            <a:r>
              <a:rPr lang="tr-TR" dirty="0"/>
              <a:t>toplayıcı devresi, ‘</a:t>
            </a:r>
            <a:r>
              <a:rPr lang="tr-TR" b="1" dirty="0"/>
              <a:t>yarım toplayıcı</a:t>
            </a:r>
            <a:r>
              <a:rPr lang="tr-TR" dirty="0"/>
              <a:t>’ olarak isimlendirilir</a:t>
            </a:r>
          </a:p>
        </p:txBody>
      </p:sp>
    </p:spTree>
    <p:extLst>
      <p:ext uri="{BB962C8B-B14F-4D97-AF65-F5344CB8AC3E}">
        <p14:creationId xmlns:p14="http://schemas.microsoft.com/office/powerpoint/2010/main" val="2674356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188640"/>
            <a:ext cx="3334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Yarım</a:t>
            </a:r>
            <a:r>
              <a:rPr lang="en-US" b="1" dirty="0"/>
              <a:t> </a:t>
            </a:r>
            <a:r>
              <a:rPr lang="en-US" b="1" dirty="0" err="1"/>
              <a:t>Toplayıcı</a:t>
            </a:r>
            <a:r>
              <a:rPr lang="en-US" b="1" dirty="0"/>
              <a:t> (Half Adder – HA)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251520" y="573438"/>
            <a:ext cx="87849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(Şekil 8.51). Yarım toplayıcı devresi, doğruluk tablosundan elde edilen fonksiyonların lojik devresinin çizilmesi ile oluşturulur. Oluşan devrede, ‘Toplam’ ve ‘Elde’ değerlerini temsil eden iki çıkış bulunur.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72" y="1844824"/>
            <a:ext cx="8390719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9833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88" y="404664"/>
            <a:ext cx="8764892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8887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260648"/>
            <a:ext cx="3384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Tam </a:t>
            </a:r>
            <a:r>
              <a:rPr lang="en-US" b="1" dirty="0" err="1"/>
              <a:t>Toplayıcı</a:t>
            </a:r>
            <a:r>
              <a:rPr lang="en-US" b="1" dirty="0"/>
              <a:t> (Full Adder - FA)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179512" y="629980"/>
            <a:ext cx="88569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Bir bitlik üç adet sayının toplamını gerçekleştiren ve sonucu S ve C olarak isimlendirilen iki</a:t>
            </a:r>
          </a:p>
          <a:p>
            <a:r>
              <a:rPr lang="tr-TR" dirty="0"/>
              <a:t>çıkış hattında gösteren düzenek, ‘</a:t>
            </a:r>
            <a:r>
              <a:rPr lang="tr-TR" b="1" dirty="0"/>
              <a:t>Tam Toplayıcı</a:t>
            </a:r>
            <a:r>
              <a:rPr lang="tr-TR" dirty="0"/>
              <a:t>’ olarak isimlendirilir (Şekil 8.53.a.).</a:t>
            </a:r>
          </a:p>
          <a:p>
            <a:r>
              <a:rPr lang="tr-TR" dirty="0"/>
              <a:t>Girişlerden ikisi toplanacak bitleri gösterirken, üçüncü giriş bir önceki düşük </a:t>
            </a:r>
            <a:r>
              <a:rPr lang="tr-TR" dirty="0" err="1"/>
              <a:t>değerlikli</a:t>
            </a:r>
            <a:endParaRPr lang="tr-TR" dirty="0"/>
          </a:p>
          <a:p>
            <a:r>
              <a:rPr lang="tr-TR" dirty="0"/>
              <a:t>basamaktan gelen </a:t>
            </a:r>
            <a:r>
              <a:rPr lang="tr-TR" dirty="0" err="1"/>
              <a:t>eldeyi</a:t>
            </a:r>
            <a:r>
              <a:rPr lang="tr-TR" dirty="0"/>
              <a:t> (</a:t>
            </a:r>
            <a:r>
              <a:rPr lang="tr-TR" dirty="0" err="1"/>
              <a:t>carry</a:t>
            </a:r>
            <a:r>
              <a:rPr lang="tr-TR" dirty="0"/>
              <a:t>) ifade etmek için kullanılır. Tam toplayıcı devresi tasarlamak</a:t>
            </a:r>
          </a:p>
          <a:p>
            <a:r>
              <a:rPr lang="tr-TR" dirty="0"/>
              <a:t>için Şekil 8.53.b’deki doğruluk tablosundan faydalanılabilir.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107308"/>
            <a:ext cx="8712968" cy="434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3006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>
            <a:extLst>
              <a:ext uri="{FF2B5EF4-FFF2-40B4-BE49-F238E27FC236}">
                <a16:creationId xmlns:a16="http://schemas.microsoft.com/office/drawing/2014/main" id="{2AAF3CAD-CA8B-4223-849B-EEB19B495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5785"/>
            <a:ext cx="9058275" cy="2543175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BFCC99CB-64B5-418D-B853-F2E334773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284984"/>
            <a:ext cx="8753475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26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06129"/>
            <a:ext cx="8712968" cy="634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53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611560" y="332656"/>
            <a:ext cx="22322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Paralel Toplayıcı :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107504" y="718958"/>
            <a:ext cx="891222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Yarım ve tam toplayıcı işlemlerinde, tek bitlik sayıların toplamı işlemi açıklandı. Bununla</a:t>
            </a:r>
          </a:p>
          <a:p>
            <a:r>
              <a:rPr lang="tr-TR" dirty="0"/>
              <a:t>beraber, her biri çok sayıda ikili basamak içeren iki sayının toplanması işlemini aynı anda</a:t>
            </a:r>
          </a:p>
          <a:p>
            <a:r>
              <a:rPr lang="tr-TR" dirty="0"/>
              <a:t>yapan devrelere ihtiyaç vardır. Bilgisayarlarda ve hesap makinalarında çok sayıda bite sahip</a:t>
            </a:r>
          </a:p>
          <a:p>
            <a:r>
              <a:rPr lang="tr-TR" dirty="0"/>
              <a:t>iki sayıyı aynı anda toplayan devreler ‘</a:t>
            </a:r>
            <a:r>
              <a:rPr lang="tr-TR" b="1" dirty="0"/>
              <a:t>paralel toplayıcı</a:t>
            </a:r>
            <a:r>
              <a:rPr lang="tr-TR" dirty="0"/>
              <a:t>’ olarak isimlendirilir. Şekil</a:t>
            </a:r>
          </a:p>
          <a:p>
            <a:r>
              <a:rPr lang="tr-TR" dirty="0"/>
              <a:t>8.57’de, her biri beş bitlik iki sayıyı toplayan paralel toplayıcının blok şeması görülmektedir.</a:t>
            </a:r>
          </a:p>
          <a:p>
            <a:r>
              <a:rPr lang="tr-TR" dirty="0"/>
              <a:t>Bu devrede toplama işlemi, en düşük basamaklı bilgilerin toplanması ile başlar.</a:t>
            </a:r>
          </a:p>
          <a:p>
            <a:r>
              <a:rPr lang="sv-SE" dirty="0"/>
              <a:t>En d</a:t>
            </a:r>
            <a:r>
              <a:rPr lang="tr-TR" dirty="0"/>
              <a:t>ü</a:t>
            </a:r>
            <a:r>
              <a:rPr lang="sv-SE" dirty="0"/>
              <a:t>ş</a:t>
            </a:r>
            <a:r>
              <a:rPr lang="tr-TR" dirty="0"/>
              <a:t>ü</a:t>
            </a:r>
            <a:r>
              <a:rPr lang="sv-SE" dirty="0"/>
              <a:t>k değerli basamakta Co biti ‘0’ olduğundan; Ao ve Bo değerleri toplanarak S0 ve </a:t>
            </a:r>
            <a:r>
              <a:rPr lang="sv-SE" dirty="0" smtClean="0"/>
              <a:t>C</a:t>
            </a:r>
            <a:r>
              <a:rPr lang="tr-TR" dirty="0" smtClean="0"/>
              <a:t>1</a:t>
            </a:r>
            <a:endParaRPr lang="sv-SE" dirty="0"/>
          </a:p>
          <a:p>
            <a:r>
              <a:rPr lang="tr-TR" dirty="0"/>
              <a:t>çıkışlarına gönderilir. Bunun dışındaki basamakları toplamak için, </a:t>
            </a:r>
            <a:r>
              <a:rPr lang="tr-TR" dirty="0" err="1"/>
              <a:t>Ai</a:t>
            </a:r>
            <a:r>
              <a:rPr lang="tr-TR" dirty="0"/>
              <a:t>, </a:t>
            </a:r>
            <a:r>
              <a:rPr lang="tr-TR" dirty="0" err="1"/>
              <a:t>Bi</a:t>
            </a:r>
            <a:r>
              <a:rPr lang="tr-TR" dirty="0"/>
              <a:t>, </a:t>
            </a:r>
            <a:r>
              <a:rPr lang="tr-TR" dirty="0" err="1"/>
              <a:t>Ci</a:t>
            </a:r>
            <a:r>
              <a:rPr lang="tr-TR" dirty="0"/>
              <a:t> bitler toplanarak</a:t>
            </a:r>
          </a:p>
          <a:p>
            <a:r>
              <a:rPr lang="tr-TR" dirty="0"/>
              <a:t>ilgili S</a:t>
            </a:r>
            <a:r>
              <a:rPr lang="el-GR" dirty="0"/>
              <a:t>ί </a:t>
            </a:r>
            <a:r>
              <a:rPr lang="tr-TR" dirty="0"/>
              <a:t>ve C</a:t>
            </a:r>
            <a:r>
              <a:rPr lang="el-GR" dirty="0"/>
              <a:t>ί </a:t>
            </a:r>
            <a:r>
              <a:rPr lang="tr-TR" dirty="0"/>
              <a:t>çıkışlarında gösterilir. </a:t>
            </a:r>
            <a:r>
              <a:rPr lang="tr-TR" dirty="0" err="1"/>
              <a:t>Ci</a:t>
            </a:r>
            <a:r>
              <a:rPr lang="tr-TR" dirty="0"/>
              <a:t> çıkışındaki bilgi, bir sonraki yüksek basamak</a:t>
            </a:r>
          </a:p>
          <a:p>
            <a:r>
              <a:rPr lang="tr-TR" dirty="0" err="1"/>
              <a:t>değerlikli</a:t>
            </a:r>
            <a:r>
              <a:rPr lang="tr-TR" dirty="0"/>
              <a:t> bitlerin toplandığı </a:t>
            </a:r>
            <a:r>
              <a:rPr lang="tr-TR" dirty="0" err="1"/>
              <a:t>FAi’nın</a:t>
            </a:r>
            <a:r>
              <a:rPr lang="tr-TR" dirty="0"/>
              <a:t> </a:t>
            </a:r>
            <a:r>
              <a:rPr lang="tr-TR" dirty="0" err="1"/>
              <a:t>Ci</a:t>
            </a:r>
            <a:r>
              <a:rPr lang="tr-TR" dirty="0"/>
              <a:t> girişine uygulanır.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581280"/>
            <a:ext cx="8280920" cy="2728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2954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260649"/>
            <a:ext cx="885698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/>
              <a:t>Sonuç olarak; her bir FA, girişlere uygulanan üç bitin (A, B ve C) toplamını yaparak, toplam  sonucunu S ve C çıkışlarında gösterir. Örneğin, FA3 tam toplayıcı devresi A3, B3 ve C3</a:t>
            </a:r>
          </a:p>
          <a:p>
            <a:r>
              <a:rPr lang="tr-TR" sz="1600" dirty="0"/>
              <a:t>değerlerini toplayarak sonucu C4 ve S3 çıkışlarında gösterir.</a:t>
            </a:r>
          </a:p>
          <a:p>
            <a:r>
              <a:rPr lang="tr-TR" sz="1600" dirty="0"/>
              <a:t>Yapılan örnekte, beş bitlik iki sayının toplanması açıklandı. Günümüz bilgisayar</a:t>
            </a:r>
          </a:p>
          <a:p>
            <a:r>
              <a:rPr lang="tr-TR" sz="1600" dirty="0"/>
              <a:t>sistemlerinde aynı anda toplanacak sayılar 8 ile 64 bit arasında değişmektedir.</a:t>
            </a:r>
          </a:p>
          <a:p>
            <a:r>
              <a:rPr lang="tr-TR" sz="1600" dirty="0"/>
              <a:t>Pratikte tüm </a:t>
            </a:r>
            <a:r>
              <a:rPr lang="tr-TR" sz="1600" dirty="0" err="1"/>
              <a:t>FA’lardaki</a:t>
            </a:r>
            <a:r>
              <a:rPr lang="tr-TR" sz="1600" dirty="0"/>
              <a:t> toplama işlemi aynı anda yapıldığından, paralel toplayıcılar çok hızlı</a:t>
            </a:r>
          </a:p>
          <a:p>
            <a:r>
              <a:rPr lang="tr-TR" sz="1600" dirty="0"/>
              <a:t>işlem yaparlar. Piyasada 7483, 74283, 74LS83A ve 74HC283 (CMOS) gibi farklı yapıda</a:t>
            </a:r>
          </a:p>
          <a:p>
            <a:r>
              <a:rPr lang="tr-TR" sz="1600" dirty="0"/>
              <a:t>dört bitlik paralel toplayıcılar bulunmaktadır. Şekil 8.58.a’da 74LS283 tipi dört bitlik paralel</a:t>
            </a:r>
          </a:p>
          <a:p>
            <a:r>
              <a:rPr lang="tr-TR" sz="1600" dirty="0"/>
              <a:t>toplayıcının fonksiyon şeması görülmektedir. Dört bitlik paralel toplayıcı iki adet dört bitlik girişe (A3,A2,A1,A0 ve B3,B2,B1,B0) ve en düşük basamaklı bit (LSB) için kullanılan </a:t>
            </a:r>
            <a:r>
              <a:rPr lang="tr-TR" sz="1600" dirty="0" err="1"/>
              <a:t>Co</a:t>
            </a:r>
            <a:r>
              <a:rPr lang="tr-TR" sz="1600" dirty="0"/>
              <a:t> girişine sahiptir. Çıkış olarak; dört adet toplam çıkışı (S3, S2, S1, S0) ile birlikte en yüksek</a:t>
            </a:r>
          </a:p>
          <a:p>
            <a:r>
              <a:rPr lang="tr-TR" sz="1600" dirty="0"/>
              <a:t>basamaklı bitin elde çıkışı olan C4 bulunur.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3307637"/>
            <a:ext cx="8352928" cy="355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3910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07504" y="116632"/>
            <a:ext cx="89289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Paralel toplayıcıları </a:t>
            </a:r>
            <a:r>
              <a:rPr lang="tr-TR" dirty="0" err="1"/>
              <a:t>kaskat</a:t>
            </a:r>
            <a:r>
              <a:rPr lang="tr-TR" dirty="0"/>
              <a:t> bağlayarak, daha fazla sayıdaki bitleri paralel olarak toplamak</a:t>
            </a:r>
          </a:p>
          <a:p>
            <a:r>
              <a:rPr lang="tr-TR" dirty="0"/>
              <a:t>mümkündür. Şekil 8.58.b’de iki adet dört bitlik paralel toplayıcının blok şeması</a:t>
            </a:r>
          </a:p>
          <a:p>
            <a:r>
              <a:rPr lang="tr-TR" dirty="0"/>
              <a:t>görülmektedir. </a:t>
            </a:r>
            <a:r>
              <a:rPr lang="tr-TR" dirty="0" err="1"/>
              <a:t>Kaskat</a:t>
            </a:r>
            <a:r>
              <a:rPr lang="tr-TR" dirty="0"/>
              <a:t> bağlanan paralel toplayıcılarda, sağdaki toplayıcı düşük basamak</a:t>
            </a:r>
          </a:p>
          <a:p>
            <a:r>
              <a:rPr lang="tr-TR" dirty="0" err="1"/>
              <a:t>değerlikli</a:t>
            </a:r>
            <a:r>
              <a:rPr lang="tr-TR" dirty="0"/>
              <a:t> dört biti toplayarak, bitlerin toplamını ve toplam sonucunda oluşan elde bitini çıkış</a:t>
            </a:r>
          </a:p>
          <a:p>
            <a:r>
              <a:rPr lang="tr-TR" dirty="0"/>
              <a:t>olarak verir.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74" y="1671638"/>
            <a:ext cx="8815222" cy="489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4905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95" y="404664"/>
            <a:ext cx="8520461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2651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332656"/>
            <a:ext cx="39604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Çıkarıcı Devreleri (</a:t>
            </a:r>
            <a:r>
              <a:rPr lang="tr-TR" b="1" dirty="0" err="1"/>
              <a:t>Subtractor</a:t>
            </a:r>
            <a:r>
              <a:rPr lang="tr-TR" b="1" dirty="0"/>
              <a:t> </a:t>
            </a:r>
            <a:r>
              <a:rPr lang="tr-TR" b="1" dirty="0" err="1"/>
              <a:t>Circuits</a:t>
            </a:r>
            <a:r>
              <a:rPr lang="tr-TR" b="1" dirty="0"/>
              <a:t>)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251520" y="701988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Lojik devrelerde yapılan ikinci temel işlem çıkarmadır. İki bitin çıkarmasını yapan devreye</a:t>
            </a:r>
          </a:p>
          <a:p>
            <a:r>
              <a:rPr lang="tr-TR" dirty="0"/>
              <a:t>‘</a:t>
            </a:r>
            <a:r>
              <a:rPr lang="tr-TR" b="1" dirty="0"/>
              <a:t>yarım çıkarıcı’</a:t>
            </a:r>
            <a:r>
              <a:rPr lang="tr-TR" dirty="0"/>
              <a:t>, üç bitin çıkarmasını yapan devreye ise ‘</a:t>
            </a:r>
            <a:r>
              <a:rPr lang="tr-TR" b="1" dirty="0"/>
              <a:t>tam çıkarıcı’ </a:t>
            </a:r>
            <a:r>
              <a:rPr lang="tr-TR" dirty="0"/>
              <a:t>devresi denir.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62" y="1628800"/>
            <a:ext cx="8610099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3493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188640"/>
            <a:ext cx="3879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/>
              <a:t>Yarım Çıkarıcı Devresi (</a:t>
            </a:r>
            <a:r>
              <a:rPr lang="tr-TR" b="1" dirty="0" err="1"/>
              <a:t>Half</a:t>
            </a:r>
            <a:r>
              <a:rPr lang="tr-TR" b="1" dirty="0"/>
              <a:t> </a:t>
            </a:r>
            <a:r>
              <a:rPr lang="tr-TR" b="1" dirty="0" err="1"/>
              <a:t>Subtractor</a:t>
            </a:r>
            <a:r>
              <a:rPr lang="tr-TR" b="1" dirty="0"/>
              <a:t>)</a:t>
            </a:r>
            <a:endParaRPr lang="tr-TR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589240"/>
            <a:ext cx="8784976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522989"/>
            <a:ext cx="8715375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691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12" y="908720"/>
            <a:ext cx="8011144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5353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260648"/>
            <a:ext cx="3685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/>
              <a:t>Tam Çıkarıcı Devresi (Full </a:t>
            </a:r>
            <a:r>
              <a:rPr lang="tr-TR" b="1" dirty="0" err="1"/>
              <a:t>Subtractor</a:t>
            </a:r>
            <a:r>
              <a:rPr lang="tr-TR" b="1" dirty="0"/>
              <a:t>)</a:t>
            </a:r>
            <a:endParaRPr lang="tr-TR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22" y="629981"/>
            <a:ext cx="8696065" cy="4599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2598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21" y="260648"/>
            <a:ext cx="8621759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9869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86" y="404664"/>
            <a:ext cx="8420557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9751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95536" y="188640"/>
            <a:ext cx="5904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İki Yarım Çıkarıcı Kullanılarak Tam Çıkarıcı Elde Edilmesi :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251520" y="612845"/>
            <a:ext cx="88924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İki yarım toplayıcı kullanılarak tam toplayıcı yapıldığı gibi, iki yarım çıkarıcı (H.S.)</a:t>
            </a:r>
          </a:p>
          <a:p>
            <a:r>
              <a:rPr lang="tr-TR" dirty="0"/>
              <a:t>kullanılarak tam çıkarıcı oluşturulabilir (Şekil 8.67). İki yarım çıkarıcı ile oluşturulan tam</a:t>
            </a:r>
          </a:p>
          <a:p>
            <a:r>
              <a:rPr lang="tr-TR" dirty="0"/>
              <a:t>çıkarıcı devresinde, I. Yarım çıkarıcının ‘Fark’ çıkışı II. yarım çıkarıcının girişlerinden birisi</a:t>
            </a:r>
          </a:p>
          <a:p>
            <a:r>
              <a:rPr lang="tr-TR" dirty="0"/>
              <a:t>olarak uygulanırken, C girişi ikinci yarım çıkarıcının diğer girişine uygulanır. İki yarım</a:t>
            </a:r>
          </a:p>
          <a:p>
            <a:r>
              <a:rPr lang="tr-TR" dirty="0"/>
              <a:t>çıkarıcının ‘Borç’ çıkışları bir ‘VEYA’ kapısı ile birleştirilerek, tam çıkarıcı devresi ‘Borç’</a:t>
            </a:r>
          </a:p>
          <a:p>
            <a:r>
              <a:rPr lang="tr-TR" dirty="0"/>
              <a:t>çıkışı elde edilir.</a:t>
            </a:r>
          </a:p>
          <a:p>
            <a:endParaRPr lang="tr-TR" dirty="0"/>
          </a:p>
          <a:p>
            <a:r>
              <a:rPr lang="tr-TR" dirty="0"/>
              <a:t>Şekil 8.67’de blok şeması görülen tam çıkarıcı devresinde blok olarak gösterilen yarım</a:t>
            </a:r>
          </a:p>
          <a:p>
            <a:r>
              <a:rPr lang="tr-TR" dirty="0"/>
              <a:t>çıkarıcıların yerine acık devrelerinin yerleştirilmesi ile tam toplayıcı lojik devresi elde edilir</a:t>
            </a:r>
          </a:p>
          <a:p>
            <a:r>
              <a:rPr lang="tr-TR" dirty="0"/>
              <a:t>(Şekil 8.68). Bu devrenin çıkışının tasarım yoluyla elde edilen ve Şekil 8.66’da şeması</a:t>
            </a:r>
          </a:p>
          <a:p>
            <a:r>
              <a:rPr lang="tr-TR" dirty="0"/>
              <a:t>verilen devre ile aynı işlevi yaptığının kontrolünü</a:t>
            </a:r>
          </a:p>
          <a:p>
            <a:r>
              <a:rPr lang="tr-TR" dirty="0"/>
              <a:t> yapalım:</a:t>
            </a:r>
          </a:p>
        </p:txBody>
      </p:sp>
    </p:spTree>
    <p:extLst>
      <p:ext uri="{BB962C8B-B14F-4D97-AF65-F5344CB8AC3E}">
        <p14:creationId xmlns:p14="http://schemas.microsoft.com/office/powerpoint/2010/main" val="3741972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9940"/>
            <a:ext cx="8064896" cy="6738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9308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07" y="764704"/>
            <a:ext cx="8760973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1558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404664"/>
            <a:ext cx="3384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Paralel Çıkarıcı devresi:</a:t>
            </a:r>
            <a:endParaRPr lang="tr-TR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65" y="908720"/>
            <a:ext cx="8566271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1941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1979712" y="2060848"/>
            <a:ext cx="525658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dirty="0"/>
              <a:t>DİNLEDİĞİNİZ İÇİN TEŞEKKÜR EDERİZ</a:t>
            </a:r>
          </a:p>
        </p:txBody>
      </p:sp>
    </p:spTree>
    <p:extLst>
      <p:ext uri="{BB962C8B-B14F-4D97-AF65-F5344CB8AC3E}">
        <p14:creationId xmlns:p14="http://schemas.microsoft.com/office/powerpoint/2010/main" val="3045191490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865</Words>
  <Application>Microsoft Office PowerPoint</Application>
  <PresentationFormat>Ekran Gösterisi (4:3)</PresentationFormat>
  <Paragraphs>72</Paragraphs>
  <Slides>23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23</vt:i4>
      </vt:variant>
    </vt:vector>
  </HeadingPairs>
  <TitlesOfParts>
    <vt:vector size="26" baseType="lpstr">
      <vt:lpstr>Arial</vt:lpstr>
      <vt:lpstr>Calibri</vt:lpstr>
      <vt:lpstr>Ofis Teması</vt:lpstr>
      <vt:lpstr>Mantık Devreleri  DERS 10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Mantık Devreleri  DERS 10</dc:title>
  <dc:creator>bilgisayarim</dc:creator>
  <cp:lastModifiedBy>Ali BULDU</cp:lastModifiedBy>
  <cp:revision>25</cp:revision>
  <dcterms:created xsi:type="dcterms:W3CDTF">2019-10-21T11:55:30Z</dcterms:created>
  <dcterms:modified xsi:type="dcterms:W3CDTF">2024-12-17T07:07:56Z</dcterms:modified>
</cp:coreProperties>
</file>