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4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9" r:id="rId40"/>
    <p:sldId id="300" r:id="rId41"/>
    <p:sldId id="260" r:id="rId4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5649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860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490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87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606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947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144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212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770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916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279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6300E-F998-42E7-BBDC-CC7D8500782A}" type="datetimeFigureOut">
              <a:rPr lang="tr-TR" smtClean="0"/>
              <a:t>23/10/2019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57D0D-58BC-4A68-BE85-CADFE81C12D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198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</a:t>
            </a:r>
            <a:r>
              <a:rPr lang="tr-TR" dirty="0"/>
              <a:t>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747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1844824"/>
            <a:ext cx="792088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b="1" dirty="0" err="1"/>
              <a:t>Boolean</a:t>
            </a:r>
            <a:r>
              <a:rPr lang="tr-TR" sz="4000" b="1" dirty="0"/>
              <a:t> Kuralları ve</a:t>
            </a:r>
          </a:p>
          <a:p>
            <a:r>
              <a:rPr lang="tr-TR" sz="4000" b="1" dirty="0"/>
              <a:t>Lojik İfadelerin</a:t>
            </a:r>
          </a:p>
          <a:p>
            <a:r>
              <a:rPr lang="tr-TR" sz="4000" b="1" dirty="0"/>
              <a:t>Sadeleştirilmesi</a:t>
            </a:r>
          </a:p>
          <a:p>
            <a:r>
              <a:rPr lang="tr-TR" sz="4000" b="1" dirty="0"/>
              <a:t>(</a:t>
            </a:r>
            <a:r>
              <a:rPr lang="tr-TR" sz="4000" b="1" dirty="0" err="1"/>
              <a:t>Boolean</a:t>
            </a:r>
            <a:r>
              <a:rPr lang="tr-TR" sz="4000" b="1" dirty="0"/>
              <a:t> </a:t>
            </a:r>
            <a:r>
              <a:rPr lang="tr-TR" sz="4000" b="1" dirty="0" err="1"/>
              <a:t>Algebra</a:t>
            </a:r>
            <a:r>
              <a:rPr lang="tr-TR" sz="4000" b="1" dirty="0"/>
              <a:t> </a:t>
            </a:r>
            <a:r>
              <a:rPr lang="tr-TR" sz="4000" b="1" dirty="0" err="1"/>
              <a:t>and</a:t>
            </a:r>
            <a:r>
              <a:rPr lang="tr-TR" sz="4000" b="1" dirty="0"/>
              <a:t> </a:t>
            </a:r>
            <a:r>
              <a:rPr lang="tr-TR" sz="4000" b="1" dirty="0" err="1"/>
              <a:t>Logic</a:t>
            </a:r>
            <a:endParaRPr lang="tr-TR" sz="4000" b="1" dirty="0"/>
          </a:p>
          <a:p>
            <a:r>
              <a:rPr lang="tr-TR" sz="4000" b="1" dirty="0" err="1"/>
              <a:t>Simplification</a:t>
            </a:r>
            <a:r>
              <a:rPr lang="tr-TR" sz="4000" b="1" dirty="0"/>
              <a:t>)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167008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90182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b="1" dirty="0" smtClean="0"/>
          </a:p>
          <a:p>
            <a:endParaRPr lang="tr-TR" b="1" dirty="0"/>
          </a:p>
          <a:p>
            <a:r>
              <a:rPr lang="tr-TR" b="1" dirty="0" smtClean="0"/>
              <a:t>Giriş</a:t>
            </a:r>
            <a:endParaRPr lang="tr-TR" b="1" dirty="0"/>
          </a:p>
          <a:p>
            <a:pPr algn="just"/>
            <a:r>
              <a:rPr lang="tr-TR" dirty="0"/>
              <a:t>Sayısal elektroniğin temeli hipoteze dayanmaktadır. ‘Doğru’ veya ‘Yanlış’ olduğu</a:t>
            </a:r>
          </a:p>
          <a:p>
            <a:pPr algn="just"/>
            <a:r>
              <a:rPr lang="tr-TR" dirty="0"/>
              <a:t>konusunda karar verilebilen fikirler </a:t>
            </a:r>
            <a:r>
              <a:rPr lang="tr-TR" b="1" dirty="0"/>
              <a:t>‘hipotez’ </a:t>
            </a:r>
            <a:r>
              <a:rPr lang="tr-TR" dirty="0"/>
              <a:t>olarak tanımlanır. Hipotez aynı anda hem</a:t>
            </a:r>
          </a:p>
          <a:p>
            <a:pPr algn="just"/>
            <a:r>
              <a:rPr lang="tr-TR" dirty="0"/>
              <a:t>doğru, hem yanlış olamaz, yalnızca ‘doğru’ veya yalnızca ‘yanlış’ </a:t>
            </a:r>
            <a:r>
              <a:rPr lang="tr-TR" dirty="0" smtClean="0"/>
              <a:t>olarak değerlendirilebilirler</a:t>
            </a:r>
            <a:r>
              <a:rPr lang="tr-TR" dirty="0"/>
              <a:t>.</a:t>
            </a:r>
          </a:p>
          <a:p>
            <a:pPr algn="just"/>
            <a:endParaRPr lang="tr-TR" dirty="0"/>
          </a:p>
          <a:p>
            <a:pPr algn="just"/>
            <a:r>
              <a:rPr lang="tr-TR" dirty="0" smtClean="0"/>
              <a:t>Matematikçi </a:t>
            </a:r>
            <a:r>
              <a:rPr lang="tr-TR" dirty="0"/>
              <a:t>George </a:t>
            </a:r>
            <a:r>
              <a:rPr lang="tr-TR" dirty="0" err="1"/>
              <a:t>Boole</a:t>
            </a:r>
            <a:r>
              <a:rPr lang="tr-TR" dirty="0"/>
              <a:t> (1815-1864) tarafından 1854 </a:t>
            </a:r>
            <a:r>
              <a:rPr lang="tr-TR" dirty="0" smtClean="0"/>
              <a:t>yılında ortaya </a:t>
            </a:r>
            <a:r>
              <a:rPr lang="tr-TR" dirty="0"/>
              <a:t>atılan fikirlerin </a:t>
            </a:r>
            <a:r>
              <a:rPr lang="tr-TR" dirty="0" err="1"/>
              <a:t>Peono</a:t>
            </a:r>
            <a:r>
              <a:rPr lang="tr-TR" dirty="0"/>
              <a:t>, </a:t>
            </a:r>
            <a:r>
              <a:rPr lang="tr-TR" dirty="0" err="1"/>
              <a:t>Whitehead</a:t>
            </a:r>
            <a:r>
              <a:rPr lang="tr-TR" dirty="0"/>
              <a:t>, </a:t>
            </a:r>
            <a:r>
              <a:rPr lang="tr-TR" dirty="0" err="1"/>
              <a:t>Bertrand</a:t>
            </a:r>
            <a:r>
              <a:rPr lang="tr-TR" dirty="0"/>
              <a:t> </a:t>
            </a:r>
            <a:r>
              <a:rPr lang="tr-TR" dirty="0" err="1"/>
              <a:t>Russell</a:t>
            </a:r>
            <a:r>
              <a:rPr lang="tr-TR" dirty="0"/>
              <a:t> ve diğer </a:t>
            </a:r>
            <a:r>
              <a:rPr lang="tr-TR" dirty="0" smtClean="0"/>
              <a:t>matematikçiler tarafından </a:t>
            </a:r>
            <a:r>
              <a:rPr lang="tr-TR" dirty="0"/>
              <a:t>geliştirilmesi ile, sayısal elektroniğin oluşumunu sağlayan </a:t>
            </a:r>
            <a:r>
              <a:rPr lang="tr-TR" dirty="0" err="1"/>
              <a:t>Boolean</a:t>
            </a:r>
            <a:r>
              <a:rPr lang="tr-TR" dirty="0"/>
              <a:t> </a:t>
            </a:r>
            <a:r>
              <a:rPr lang="tr-TR" dirty="0" smtClean="0"/>
              <a:t>matematiği geliştirildi.</a:t>
            </a:r>
          </a:p>
          <a:p>
            <a:pPr algn="just"/>
            <a:endParaRPr lang="tr-TR" dirty="0"/>
          </a:p>
          <a:p>
            <a:pPr algn="just"/>
            <a:r>
              <a:rPr lang="tr-TR" dirty="0" err="1"/>
              <a:t>Boolean</a:t>
            </a:r>
            <a:r>
              <a:rPr lang="tr-TR" dirty="0"/>
              <a:t> matematiğinin gelişim süreci içerisinde, kullanılan </a:t>
            </a:r>
            <a:r>
              <a:rPr lang="tr-TR" dirty="0" err="1"/>
              <a:t>notasyon</a:t>
            </a:r>
            <a:r>
              <a:rPr lang="tr-TR" dirty="0"/>
              <a:t> ve sembollerde</a:t>
            </a:r>
          </a:p>
          <a:p>
            <a:pPr algn="just"/>
            <a:r>
              <a:rPr lang="tr-TR" dirty="0"/>
              <a:t>değişimler oluştu ve </a:t>
            </a:r>
            <a:r>
              <a:rPr lang="tr-TR" dirty="0" err="1"/>
              <a:t>Boolean</a:t>
            </a:r>
            <a:r>
              <a:rPr lang="tr-TR" dirty="0"/>
              <a:t> matematiğini oluşturan kurallar (</a:t>
            </a:r>
            <a:r>
              <a:rPr lang="tr-TR" dirty="0" err="1"/>
              <a:t>postulates</a:t>
            </a:r>
            <a:r>
              <a:rPr lang="tr-TR" dirty="0"/>
              <a:t>), E.V. </a:t>
            </a:r>
            <a:r>
              <a:rPr lang="tr-TR" dirty="0" err="1"/>
              <a:t>Huntington</a:t>
            </a:r>
            <a:endParaRPr lang="tr-TR" dirty="0"/>
          </a:p>
          <a:p>
            <a:pPr algn="just"/>
            <a:r>
              <a:rPr lang="tr-TR" dirty="0"/>
              <a:t>tarafından 1904 yılında basıldı. Oluşturulan kuralların </a:t>
            </a:r>
            <a:r>
              <a:rPr lang="tr-TR" dirty="0" err="1"/>
              <a:t>Claude</a:t>
            </a:r>
            <a:r>
              <a:rPr lang="tr-TR" dirty="0"/>
              <a:t> E. </a:t>
            </a:r>
            <a:r>
              <a:rPr lang="tr-TR" dirty="0" err="1"/>
              <a:t>Shannon</a:t>
            </a:r>
            <a:r>
              <a:rPr lang="tr-TR" dirty="0"/>
              <a:t> tarafından</a:t>
            </a:r>
          </a:p>
          <a:p>
            <a:pPr algn="just"/>
            <a:r>
              <a:rPr lang="tr-TR" dirty="0"/>
              <a:t>elektronik elemanlara uygulanması sonucu, </a:t>
            </a:r>
            <a:r>
              <a:rPr lang="tr-TR" dirty="0" err="1"/>
              <a:t>Boolean</a:t>
            </a:r>
            <a:r>
              <a:rPr lang="tr-TR" dirty="0"/>
              <a:t> kurallarının anahtarlamalı sistemlerde</a:t>
            </a:r>
          </a:p>
          <a:p>
            <a:pPr algn="just"/>
            <a:r>
              <a:rPr lang="tr-TR" dirty="0"/>
              <a:t>kullanılabileceği açıklandı (1938).</a:t>
            </a:r>
          </a:p>
        </p:txBody>
      </p:sp>
    </p:spTree>
    <p:extLst>
      <p:ext uri="{BB962C8B-B14F-4D97-AF65-F5344CB8AC3E}">
        <p14:creationId xmlns:p14="http://schemas.microsoft.com/office/powerpoint/2010/main" val="163290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260648"/>
            <a:ext cx="86409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Elektronik devrelerin bir kısmını oluşturan anahtarlamalı sistemlerin temelini oluşturduğu</a:t>
            </a:r>
          </a:p>
          <a:p>
            <a:r>
              <a:rPr lang="tr-TR" dirty="0"/>
              <a:t>Lojik devreler, ikili moda göre çalışır ve giriş /çıkışları ‘0’ veya ‘1’ değerlerinden birisini</a:t>
            </a:r>
          </a:p>
          <a:p>
            <a:r>
              <a:rPr lang="tr-TR" dirty="0"/>
              <a:t>alabilir. Böyle bir devre, cebirsel veya grafiksel yöntemlerden birisi kullanılarak</a:t>
            </a:r>
          </a:p>
          <a:p>
            <a:r>
              <a:rPr lang="tr-TR" dirty="0"/>
              <a:t>sadeleştirilebilir. Lojik devrelerin sadeleştirilmesinde kullanılan yöntemlerden birisi, temel</a:t>
            </a:r>
          </a:p>
          <a:p>
            <a:r>
              <a:rPr lang="tr-TR" dirty="0"/>
              <a:t>prensiplere göre doğruluğu kabul edilmiş işlemler, eşitlikler ve kanunlardan oluşan </a:t>
            </a:r>
            <a:r>
              <a:rPr lang="tr-TR" dirty="0" err="1"/>
              <a:t>Boolean</a:t>
            </a:r>
            <a:endParaRPr lang="tr-TR" dirty="0"/>
          </a:p>
          <a:p>
            <a:r>
              <a:rPr lang="tr-TR" dirty="0"/>
              <a:t>kurallarıdır. </a:t>
            </a:r>
            <a:endParaRPr lang="tr-TR" dirty="0" smtClean="0"/>
          </a:p>
          <a:p>
            <a:pPr algn="just"/>
            <a:r>
              <a:rPr lang="tr-TR" dirty="0" smtClean="0"/>
              <a:t>Diğer </a:t>
            </a:r>
            <a:r>
              <a:rPr lang="tr-TR" dirty="0"/>
              <a:t>bir deyişle; </a:t>
            </a:r>
            <a:r>
              <a:rPr lang="tr-TR" b="1" dirty="0"/>
              <a:t>‘</a:t>
            </a:r>
            <a:r>
              <a:rPr lang="tr-TR" b="1" dirty="0" err="1"/>
              <a:t>Boolean</a:t>
            </a:r>
            <a:r>
              <a:rPr lang="tr-TR" b="1" dirty="0"/>
              <a:t> kuralları’</a:t>
            </a:r>
            <a:r>
              <a:rPr lang="tr-TR" dirty="0"/>
              <a:t>, </a:t>
            </a:r>
            <a:r>
              <a:rPr lang="tr-TR" u="sng" dirty="0">
                <a:solidFill>
                  <a:srgbClr val="FF0000"/>
                </a:solidFill>
              </a:rPr>
              <a:t>dijital devrelerin sahip oldukları</a:t>
            </a:r>
          </a:p>
          <a:p>
            <a:pPr algn="just"/>
            <a:r>
              <a:rPr lang="tr-TR" u="sng" dirty="0">
                <a:solidFill>
                  <a:srgbClr val="FF0000"/>
                </a:solidFill>
              </a:rPr>
              <a:t>girişlerin etkilerini açıklamak ve verilen bir lojik eşitliği gerçekleştirilecek en iyi devreyi</a:t>
            </a:r>
          </a:p>
          <a:p>
            <a:pPr algn="just"/>
            <a:r>
              <a:rPr lang="tr-TR" u="sng" dirty="0">
                <a:solidFill>
                  <a:srgbClr val="FF0000"/>
                </a:solidFill>
              </a:rPr>
              <a:t>belirlemek amacıyla lojik ifadeleri sadeleştirmede kullanılabilir.</a:t>
            </a:r>
          </a:p>
          <a:p>
            <a:pPr algn="just"/>
            <a:r>
              <a:rPr lang="tr-TR" dirty="0"/>
              <a:t>Lojik devrelerin işlevini açıklamak amacıyla yazılan eşitliklerde, giriş değişkenleri olarak</a:t>
            </a:r>
          </a:p>
          <a:p>
            <a:pPr algn="just"/>
            <a:r>
              <a:rPr lang="tr-TR" dirty="0"/>
              <a:t>alfabenin başındaki harfler (A, B, C, D,..) çıkış değişkenleri olarak alfabenin sonundaki</a:t>
            </a:r>
          </a:p>
          <a:p>
            <a:r>
              <a:rPr lang="tr-TR" dirty="0"/>
              <a:t>harfler (I, X, Y, W, Z,..) kullanılır (Şekil 4.1</a:t>
            </a:r>
            <a:r>
              <a:rPr lang="tr-TR" dirty="0" smtClean="0"/>
              <a:t>).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76968"/>
            <a:ext cx="7992888" cy="26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78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25240" y="44608"/>
            <a:ext cx="864096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1. </a:t>
            </a:r>
            <a:r>
              <a:rPr lang="tr-TR" sz="2400" b="1" dirty="0"/>
              <a:t>Önemli </a:t>
            </a:r>
            <a:r>
              <a:rPr lang="tr-TR" sz="2400" b="1" dirty="0" err="1"/>
              <a:t>Boolean</a:t>
            </a:r>
            <a:r>
              <a:rPr lang="tr-TR" sz="2400" b="1" dirty="0"/>
              <a:t> Kuralları</a:t>
            </a:r>
          </a:p>
          <a:p>
            <a:r>
              <a:rPr lang="tr-TR" sz="2400" dirty="0"/>
              <a:t>1850’li yıllarda George </a:t>
            </a:r>
            <a:r>
              <a:rPr lang="tr-TR" sz="2400" dirty="0" err="1"/>
              <a:t>Boole</a:t>
            </a:r>
            <a:r>
              <a:rPr lang="tr-TR" sz="2400" dirty="0"/>
              <a:t> tarafından geliştirilen </a:t>
            </a:r>
            <a:r>
              <a:rPr lang="tr-TR" sz="2400" dirty="0" err="1"/>
              <a:t>Boolean</a:t>
            </a:r>
            <a:r>
              <a:rPr lang="tr-TR" sz="2400" dirty="0"/>
              <a:t> matematiği kuralları, ‘VE</a:t>
            </a:r>
            <a:r>
              <a:rPr lang="tr-TR" sz="2400" dirty="0" smtClean="0"/>
              <a:t>’, ‘</a:t>
            </a:r>
            <a:r>
              <a:rPr lang="tr-TR" sz="2400" dirty="0"/>
              <a:t>VEYA’ ve ‘DEĞİL’ temel mantıksal işlemlerinden oluşan sembolik bir sistemdir. George</a:t>
            </a:r>
          </a:p>
          <a:p>
            <a:r>
              <a:rPr lang="tr-TR" sz="2400" dirty="0" err="1"/>
              <a:t>Boole</a:t>
            </a:r>
            <a:r>
              <a:rPr lang="tr-TR" sz="2400" dirty="0"/>
              <a:t>, temel mantıksal işlemleri kullanılarak toplama, çıkarma, çarpma, bölme </a:t>
            </a:r>
            <a:r>
              <a:rPr lang="tr-TR" sz="2400" dirty="0" smtClean="0"/>
              <a:t>ve karşılaştırma </a:t>
            </a:r>
            <a:r>
              <a:rPr lang="tr-TR" sz="2400" dirty="0"/>
              <a:t>işlemleri yapabiliyordu. Bu işlemler temelde ikili işlemlerdi ve bu </a:t>
            </a:r>
            <a:r>
              <a:rPr lang="tr-TR" sz="2400" dirty="0" smtClean="0"/>
              <a:t>nedenle birbirinin </a:t>
            </a:r>
            <a:r>
              <a:rPr lang="tr-TR" sz="2400" dirty="0"/>
              <a:t>tersi olan iki durumla açıklanabiliyordu:</a:t>
            </a:r>
          </a:p>
          <a:p>
            <a:r>
              <a:rPr lang="tr-TR" sz="2800" b="1" dirty="0"/>
              <a:t>Doğru – Yanlış, Evet – Hayır, Açık – Kapalı, ‘1’ – ‘0’, vb.</a:t>
            </a:r>
          </a:p>
          <a:p>
            <a:r>
              <a:rPr lang="tr-TR" sz="2400" dirty="0"/>
              <a:t>Başlangıçta pratik olarak görülmeyen sistem, daha sonraları yaygın olarak </a:t>
            </a:r>
            <a:r>
              <a:rPr lang="tr-TR" sz="2400" dirty="0" smtClean="0"/>
              <a:t>kullanılmaya başlandı </a:t>
            </a:r>
            <a:r>
              <a:rPr lang="tr-TR" sz="2400" dirty="0"/>
              <a:t>ve ‘</a:t>
            </a:r>
            <a:r>
              <a:rPr lang="tr-TR" sz="2400" dirty="0" err="1"/>
              <a:t>Boolean</a:t>
            </a:r>
            <a:r>
              <a:rPr lang="tr-TR" sz="2400" dirty="0"/>
              <a:t> Matematiği / </a:t>
            </a:r>
            <a:r>
              <a:rPr lang="tr-TR" sz="2400" dirty="0" err="1"/>
              <a:t>Cebiri</a:t>
            </a:r>
            <a:r>
              <a:rPr lang="tr-TR" sz="2400" dirty="0"/>
              <a:t>’ veya ‘</a:t>
            </a:r>
            <a:r>
              <a:rPr lang="tr-TR" sz="2400" dirty="0" err="1"/>
              <a:t>Boolean</a:t>
            </a:r>
            <a:r>
              <a:rPr lang="tr-TR" sz="2400" dirty="0"/>
              <a:t> Kuralları’ olarak isimlendirildi.</a:t>
            </a:r>
          </a:p>
          <a:p>
            <a:r>
              <a:rPr lang="tr-TR" sz="2400" dirty="0"/>
              <a:t>İkili sayı sistemi ile birleştirilen </a:t>
            </a:r>
            <a:r>
              <a:rPr lang="tr-TR" sz="2400" dirty="0" err="1"/>
              <a:t>Boolean</a:t>
            </a:r>
            <a:r>
              <a:rPr lang="tr-TR" sz="2400" dirty="0"/>
              <a:t> kuralları, sayısal elektronik devrelerin (buna </a:t>
            </a:r>
            <a:r>
              <a:rPr lang="tr-TR" sz="2400" dirty="0" smtClean="0"/>
              <a:t>bağlı olarak </a:t>
            </a:r>
            <a:r>
              <a:rPr lang="tr-TR" sz="2400" dirty="0"/>
              <a:t>Bilgisayarların) temelini oluşturdu.</a:t>
            </a:r>
          </a:p>
          <a:p>
            <a:r>
              <a:rPr lang="tr-TR" sz="2400" dirty="0"/>
              <a:t>Her sistemin kendi içerisinde kuralları olması gibi, </a:t>
            </a:r>
            <a:r>
              <a:rPr lang="tr-TR" sz="2400" dirty="0" err="1"/>
              <a:t>Boolean</a:t>
            </a:r>
            <a:r>
              <a:rPr lang="tr-TR" sz="2400" dirty="0"/>
              <a:t> matematiğinde de </a:t>
            </a:r>
            <a:r>
              <a:rPr lang="tr-TR" sz="2400" dirty="0" smtClean="0"/>
              <a:t>kendi içerisinde </a:t>
            </a:r>
            <a:r>
              <a:rPr lang="tr-TR" sz="2400" dirty="0"/>
              <a:t>kuralları vardır. Sadeleştirme işlemini gerçekleştirmede kullanılan bu kuralları</a:t>
            </a:r>
          </a:p>
          <a:p>
            <a:r>
              <a:rPr lang="tr-TR" sz="2400" dirty="0"/>
              <a:t>genel hatları ile inceleyelim.</a:t>
            </a:r>
          </a:p>
        </p:txBody>
      </p:sp>
    </p:spTree>
    <p:extLst>
      <p:ext uri="{BB962C8B-B14F-4D97-AF65-F5344CB8AC3E}">
        <p14:creationId xmlns:p14="http://schemas.microsoft.com/office/powerpoint/2010/main" val="51738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0"/>
            <a:ext cx="89644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Temel Özellikler :</a:t>
            </a:r>
          </a:p>
          <a:p>
            <a:r>
              <a:rPr lang="tr-TR" dirty="0" err="1"/>
              <a:t>Boolean</a:t>
            </a:r>
            <a:r>
              <a:rPr lang="tr-TR" dirty="0"/>
              <a:t> cebrindeki temel özellikler : etkisiz eleman, birim eleman, yutan eleman, ters</a:t>
            </a:r>
          </a:p>
          <a:p>
            <a:r>
              <a:rPr lang="tr-TR" dirty="0"/>
              <a:t>eleman şeklinde sıralanabilir.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268760"/>
            <a:ext cx="9012811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04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82" y="548680"/>
            <a:ext cx="8927590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67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31241"/>
            <a:ext cx="8519831" cy="262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50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74095"/>
            <a:ext cx="8568952" cy="6642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320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5" y="692696"/>
            <a:ext cx="848624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2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496944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26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8352928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67000"/>
            <a:ext cx="8352928" cy="249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758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5267"/>
            <a:ext cx="8900303" cy="381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47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188640"/>
            <a:ext cx="871296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 err="1"/>
              <a:t>Boolean</a:t>
            </a:r>
            <a:r>
              <a:rPr lang="tr-TR" sz="2000" b="1" dirty="0"/>
              <a:t> Kurallarını Kullanarak Lojik Eşitliklerin Sadeleştirilmesi</a:t>
            </a:r>
          </a:p>
          <a:p>
            <a:r>
              <a:rPr lang="tr-TR" sz="2000" dirty="0"/>
              <a:t>Karmaşık lojik ifadeler, yukarıda özetlenen </a:t>
            </a:r>
            <a:r>
              <a:rPr lang="tr-TR" sz="2000" dirty="0" err="1"/>
              <a:t>boolean</a:t>
            </a:r>
            <a:r>
              <a:rPr lang="tr-TR" sz="2000" dirty="0"/>
              <a:t> matematiğindeki kurallardan</a:t>
            </a:r>
          </a:p>
          <a:p>
            <a:r>
              <a:rPr lang="tr-TR" sz="2000" dirty="0"/>
              <a:t>faydalanarak sadeleştirilebilirler (basitleştirilebilirler). Sadeleştirilen lojik </a:t>
            </a:r>
            <a:r>
              <a:rPr lang="tr-TR" sz="2000" dirty="0" smtClean="0"/>
              <a:t>ifadelerden oluşturulacak </a:t>
            </a:r>
            <a:r>
              <a:rPr lang="tr-TR" sz="2000" dirty="0"/>
              <a:t>elektronik devreler, hem daha basit hem de daha ucuz </a:t>
            </a:r>
            <a:r>
              <a:rPr lang="tr-TR" sz="2000" dirty="0" smtClean="0"/>
              <a:t>olarak gerçekleştirilebilirler</a:t>
            </a:r>
            <a:r>
              <a:rPr lang="tr-TR" sz="2000" dirty="0"/>
              <a:t>.</a:t>
            </a:r>
          </a:p>
          <a:p>
            <a:r>
              <a:rPr lang="tr-TR" sz="2000" dirty="0" err="1"/>
              <a:t>Boolean</a:t>
            </a:r>
            <a:r>
              <a:rPr lang="tr-TR" sz="2000" dirty="0"/>
              <a:t> kurallarının lojik ifadelerin basitleştirilmesinde kullanılmasına örnek </a:t>
            </a:r>
            <a:r>
              <a:rPr lang="tr-TR" sz="2000" dirty="0" smtClean="0"/>
              <a:t>olması bakımından </a:t>
            </a:r>
            <a:r>
              <a:rPr lang="tr-TR" sz="2000" dirty="0"/>
              <a:t>yukarıdaki bazı eşitlikleri ispatlayalım ve fonksiyon basitleştirme </a:t>
            </a:r>
            <a:r>
              <a:rPr lang="tr-TR" sz="2000" dirty="0" smtClean="0"/>
              <a:t>işlemleri yapalım</a:t>
            </a:r>
            <a:r>
              <a:rPr lang="tr-TR" sz="2000" dirty="0"/>
              <a:t>.</a:t>
            </a:r>
          </a:p>
          <a:p>
            <a:r>
              <a:rPr lang="tr-TR" sz="2000" dirty="0"/>
              <a:t>İşlemlerde değişkenlerin </a:t>
            </a:r>
            <a:r>
              <a:rPr lang="tr-TR" sz="2000" dirty="0" err="1"/>
              <a:t>değilini</a:t>
            </a:r>
            <a:r>
              <a:rPr lang="tr-TR" sz="2000" dirty="0"/>
              <a:t> ifade etmek için </a:t>
            </a:r>
            <a:r>
              <a:rPr lang="tr-TR" sz="2000" b="1" dirty="0"/>
              <a:t>‘ ' ’ </a:t>
            </a:r>
            <a:r>
              <a:rPr lang="tr-TR" sz="2000" dirty="0"/>
              <a:t>işareti kullanılırken, birleşik</a:t>
            </a:r>
          </a:p>
          <a:p>
            <a:r>
              <a:rPr lang="tr-TR" sz="2000" dirty="0"/>
              <a:t>ifadelerin </a:t>
            </a:r>
            <a:r>
              <a:rPr lang="tr-TR" sz="2000" dirty="0" err="1"/>
              <a:t>değili</a:t>
            </a:r>
            <a:r>
              <a:rPr lang="tr-TR" sz="2000" dirty="0"/>
              <a:t> için ‘—’ sembolü kullanılacaktır.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37" y="3358739"/>
            <a:ext cx="8629239" cy="284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202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51" y="620688"/>
            <a:ext cx="8485422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251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90" y="3861048"/>
            <a:ext cx="8152515" cy="225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59" y="116632"/>
            <a:ext cx="848677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929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71" y="836712"/>
            <a:ext cx="8986359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5861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24" y="692696"/>
            <a:ext cx="8047952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5993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71296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0292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94" y="476672"/>
            <a:ext cx="8968341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865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30" y="260648"/>
            <a:ext cx="8634158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8241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4" y="1052736"/>
            <a:ext cx="8103088" cy="456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3718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21" y="908720"/>
            <a:ext cx="8508558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087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428625"/>
            <a:ext cx="762952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953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755181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870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836712"/>
            <a:ext cx="785812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262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3"/>
            <a:ext cx="8496944" cy="5140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669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76672"/>
            <a:ext cx="8280921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054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0" y="332656"/>
            <a:ext cx="8509650" cy="6264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526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870956" cy="209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44" y="2996952"/>
            <a:ext cx="8870956" cy="2294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28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19063"/>
            <a:ext cx="8892480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9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91470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70" y="2132856"/>
            <a:ext cx="8768542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0689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16" y="764704"/>
            <a:ext cx="8692396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804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54" y="404664"/>
            <a:ext cx="857981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275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71" y="548680"/>
            <a:ext cx="883451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1628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44" y="404664"/>
            <a:ext cx="856348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4522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44" y="980728"/>
            <a:ext cx="8721312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4705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10" y="476672"/>
            <a:ext cx="836164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025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8" y="692696"/>
            <a:ext cx="8745353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8628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2656"/>
            <a:ext cx="5486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05" y="646980"/>
            <a:ext cx="7070419" cy="571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237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206494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549</Words>
  <Application>Microsoft Office PowerPoint</Application>
  <PresentationFormat>Ekran Gösterisi (4:3)</PresentationFormat>
  <Paragraphs>50</Paragraphs>
  <Slides>41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2" baseType="lpstr">
      <vt:lpstr>Ofis Teması</vt:lpstr>
      <vt:lpstr>Mantık Devreleri  DERS 6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6</dc:title>
  <dc:creator>bilgisayarim</dc:creator>
  <cp:lastModifiedBy>bilgisayarim</cp:lastModifiedBy>
  <cp:revision>18</cp:revision>
  <dcterms:created xsi:type="dcterms:W3CDTF">2019-10-01T12:33:23Z</dcterms:created>
  <dcterms:modified xsi:type="dcterms:W3CDTF">2019-10-23T06:45:06Z</dcterms:modified>
</cp:coreProperties>
</file>