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97" r:id="rId23"/>
    <p:sldId id="279" r:id="rId24"/>
    <p:sldId id="280" r:id="rId25"/>
    <p:sldId id="281" r:id="rId26"/>
    <p:sldId id="282" r:id="rId27"/>
    <p:sldId id="283" r:id="rId28"/>
    <p:sldId id="284" r:id="rId29"/>
    <p:sldId id="291" r:id="rId30"/>
    <p:sldId id="285" r:id="rId31"/>
    <p:sldId id="286" r:id="rId32"/>
    <p:sldId id="292" r:id="rId33"/>
    <p:sldId id="293" r:id="rId34"/>
    <p:sldId id="294" r:id="rId35"/>
    <p:sldId id="295" r:id="rId36"/>
    <p:sldId id="296" r:id="rId37"/>
    <p:sldId id="262" r:id="rId3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123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1849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0824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681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4797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2790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846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6177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185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4386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671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D271C-FD3D-4806-AE33-1B5C3D4AAC46}" type="datetimeFigureOut">
              <a:rPr lang="tr-TR" smtClean="0"/>
              <a:t>24/12/2019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850B6-5FDC-46BC-AC25-99C31F45C6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658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 smtClean="0"/>
              <a:t>Mantık Devreleri </a:t>
            </a:r>
            <a:br>
              <a:rPr lang="tr-TR" dirty="0" smtClean="0"/>
            </a:br>
            <a:r>
              <a:rPr lang="tr-TR" dirty="0" smtClean="0"/>
              <a:t>DERS 13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213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908720"/>
            <a:ext cx="799288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400" b="1" dirty="0" smtClean="0"/>
              <a:t>Sayıcılar (Counter )</a:t>
            </a:r>
          </a:p>
          <a:p>
            <a:r>
              <a:rPr lang="tr-TR" sz="4400" b="1" dirty="0" smtClean="0"/>
              <a:t>Senkron Sayıcılar (</a:t>
            </a:r>
            <a:r>
              <a:rPr lang="tr-TR" sz="4400" b="1" dirty="0"/>
              <a:t>Eşzamanlı Paralel Sayıcılar)</a:t>
            </a:r>
            <a:endParaRPr lang="tr-TR" sz="4400" dirty="0"/>
          </a:p>
        </p:txBody>
      </p:sp>
    </p:spTree>
    <p:extLst>
      <p:ext uri="{BB962C8B-B14F-4D97-AF65-F5344CB8AC3E}">
        <p14:creationId xmlns:p14="http://schemas.microsoft.com/office/powerpoint/2010/main" val="331263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335846"/>
            <a:ext cx="878497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smtClean="0"/>
              <a:t>GİRİŞ</a:t>
            </a:r>
            <a:r>
              <a:rPr lang="tr-TR" dirty="0" smtClean="0"/>
              <a:t> </a:t>
            </a:r>
          </a:p>
          <a:p>
            <a:endParaRPr lang="tr-TR" dirty="0" smtClean="0"/>
          </a:p>
          <a:p>
            <a:r>
              <a:rPr lang="tr-TR" dirty="0" smtClean="0"/>
              <a:t>Asenkron </a:t>
            </a:r>
            <a:r>
              <a:rPr lang="tr-TR" dirty="0"/>
              <a:t>sayıcılarda temel işlem; tetikleme sinyalinin ilk </a:t>
            </a:r>
            <a:r>
              <a:rPr lang="tr-TR" dirty="0" err="1"/>
              <a:t>FF’ye</a:t>
            </a:r>
            <a:r>
              <a:rPr lang="tr-TR" dirty="0"/>
              <a:t> uygulanması ve </a:t>
            </a:r>
            <a:r>
              <a:rPr lang="tr-TR" dirty="0" err="1"/>
              <a:t>FF’lerdeki</a:t>
            </a:r>
            <a:endParaRPr lang="tr-TR" dirty="0"/>
          </a:p>
          <a:p>
            <a:r>
              <a:rPr lang="tr-TR" dirty="0"/>
              <a:t>konum değişikliğinin bir yayılım gecikmesi sonucunda takip eden </a:t>
            </a:r>
            <a:r>
              <a:rPr lang="tr-TR" dirty="0" err="1"/>
              <a:t>FF’lere</a:t>
            </a:r>
            <a:r>
              <a:rPr lang="tr-TR" dirty="0"/>
              <a:t> sırası ile</a:t>
            </a:r>
          </a:p>
          <a:p>
            <a:r>
              <a:rPr lang="tr-TR" dirty="0"/>
              <a:t>aktarılmasıdır. Bu durumda, </a:t>
            </a:r>
            <a:r>
              <a:rPr lang="tr-TR" dirty="0" err="1"/>
              <a:t>FF’lerin</a:t>
            </a:r>
            <a:r>
              <a:rPr lang="tr-TR" dirty="0"/>
              <a:t> konum değiştirmelerinin neden olduğu gecikme (bilgi</a:t>
            </a:r>
          </a:p>
          <a:p>
            <a:r>
              <a:rPr lang="tr-TR" dirty="0"/>
              <a:t>aktarımı sırasında) sebebiyle bir zaman kaybı olmakta ve sayma hızı azalmaktadır. Bilgi</a:t>
            </a:r>
          </a:p>
          <a:p>
            <a:r>
              <a:rPr lang="tr-TR" dirty="0"/>
              <a:t>aktarımı sırasında oluşan zaman kaybını azaltmak ve sayma hızını artırmak amacıyla,</a:t>
            </a:r>
          </a:p>
          <a:p>
            <a:r>
              <a:rPr lang="tr-TR" dirty="0"/>
              <a:t>tetikleme sinyalinin tüm FF girişlerine aynı anda uygulandığı </a:t>
            </a:r>
            <a:r>
              <a:rPr lang="tr-TR" b="1" dirty="0"/>
              <a:t>‘senkron sayıcı’ </a:t>
            </a:r>
            <a:r>
              <a:rPr lang="tr-TR" dirty="0"/>
              <a:t>olarak</a:t>
            </a:r>
          </a:p>
          <a:p>
            <a:r>
              <a:rPr lang="tr-TR" dirty="0"/>
              <a:t>adlandırılan sayıcılar geliştirilmiştir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Senkron (eş zamanlı) kelimesi, herhangi bir devrede bulunan elemanların ve devrede oluşan</a:t>
            </a:r>
          </a:p>
          <a:p>
            <a:r>
              <a:rPr lang="tr-TR" dirty="0"/>
              <a:t>olayların birbiri ile zaman ilişkisi içerisinde bulunduğunu belirtir. Senkron kelimesinin</a:t>
            </a:r>
          </a:p>
          <a:p>
            <a:r>
              <a:rPr lang="tr-TR" dirty="0"/>
              <a:t>sayıcılar ile birlikte kullanılması, sayıcıda bulunan tüm </a:t>
            </a:r>
            <a:r>
              <a:rPr lang="tr-TR" dirty="0" err="1"/>
              <a:t>FF’lerin</a:t>
            </a:r>
            <a:r>
              <a:rPr lang="tr-TR" dirty="0"/>
              <a:t> tetikleme girişlerine aynı</a:t>
            </a:r>
          </a:p>
          <a:p>
            <a:r>
              <a:rPr lang="tr-TR" dirty="0"/>
              <a:t>tetikleme sinyalinin uygulanması anlamına gelir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Tüm </a:t>
            </a:r>
            <a:r>
              <a:rPr lang="tr-TR" dirty="0" err="1"/>
              <a:t>FF’lerin</a:t>
            </a:r>
            <a:r>
              <a:rPr lang="tr-TR" dirty="0"/>
              <a:t> tek bir tetikleme sinyali ile tetiklendiği senkron sayıcılarda, </a:t>
            </a:r>
            <a:r>
              <a:rPr lang="tr-TR" dirty="0" err="1"/>
              <a:t>FF’ler</a:t>
            </a:r>
            <a:r>
              <a:rPr lang="tr-TR" dirty="0"/>
              <a:t> kontrol</a:t>
            </a:r>
          </a:p>
          <a:p>
            <a:r>
              <a:rPr lang="tr-TR" dirty="0"/>
              <a:t>girişlerinin durumlarına bağlı olarak konum değiştirirler.</a:t>
            </a:r>
          </a:p>
        </p:txBody>
      </p:sp>
    </p:spTree>
    <p:extLst>
      <p:ext uri="{BB962C8B-B14F-4D97-AF65-F5344CB8AC3E}">
        <p14:creationId xmlns:p14="http://schemas.microsoft.com/office/powerpoint/2010/main" val="344224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720432" y="404664"/>
            <a:ext cx="3851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İki ve </a:t>
            </a:r>
            <a:r>
              <a:rPr lang="tr-TR" b="1" dirty="0" smtClean="0"/>
              <a:t>Üç </a:t>
            </a:r>
            <a:r>
              <a:rPr lang="tr-TR" b="1" dirty="0"/>
              <a:t>Bitlik Senkron Yukarı Sayıcılar</a:t>
            </a:r>
            <a:endParaRPr lang="tr-TR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773996"/>
            <a:ext cx="8982075" cy="5583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1158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919163"/>
            <a:ext cx="8905875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167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652463"/>
            <a:ext cx="7734300" cy="555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547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7504" y="1124744"/>
            <a:ext cx="88569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Üç bitlik sayma işlemini özetleyen doğruluk tablosunun veya dalga şekillerinin</a:t>
            </a:r>
          </a:p>
          <a:p>
            <a:r>
              <a:rPr lang="tr-TR" dirty="0"/>
              <a:t>incelenmesinden; C </a:t>
            </a:r>
            <a:r>
              <a:rPr lang="tr-TR" dirty="0" err="1"/>
              <a:t>FF’sinin</a:t>
            </a:r>
            <a:r>
              <a:rPr lang="tr-TR" dirty="0"/>
              <a:t> durum değiştirdiği anlarda QA ve QB değerlerinin ‘1’ olduğu</a:t>
            </a:r>
          </a:p>
          <a:p>
            <a:r>
              <a:rPr lang="tr-TR" dirty="0"/>
              <a:t>bulunur. Bu durumda; QA ve QB çıkışlarının ‘VE’ kapısına uygulanması ve kapı çıkışının JCKC</a:t>
            </a:r>
          </a:p>
          <a:p>
            <a:r>
              <a:rPr lang="tr-TR" dirty="0"/>
              <a:t>girişlerine bağlanması ile gerekli şartlar sağlanır. QA ve QB çıkışlarının ‘1’ olduğu</a:t>
            </a:r>
          </a:p>
          <a:p>
            <a:r>
              <a:rPr lang="tr-TR" dirty="0"/>
              <a:t>anlarda, JC-KC girişlerine ‘1’ uygulanır. Bu anlarda gelen tetikleme sinyalleri ile C </a:t>
            </a:r>
            <a:r>
              <a:rPr lang="tr-TR" dirty="0" err="1"/>
              <a:t>FF’si</a:t>
            </a:r>
            <a:endParaRPr lang="tr-TR" dirty="0"/>
          </a:p>
          <a:p>
            <a:r>
              <a:rPr lang="tr-TR" dirty="0"/>
              <a:t>konum değiştirirken, diğer zamanlarda uygulanan tetikleme sinyalinin bir etkisi olmaz.</a:t>
            </a:r>
          </a:p>
        </p:txBody>
      </p:sp>
    </p:spTree>
    <p:extLst>
      <p:ext uri="{BB962C8B-B14F-4D97-AF65-F5344CB8AC3E}">
        <p14:creationId xmlns:p14="http://schemas.microsoft.com/office/powerpoint/2010/main" val="92134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476672"/>
            <a:ext cx="4205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 smtClean="0"/>
              <a:t>Dört </a:t>
            </a:r>
            <a:r>
              <a:rPr lang="tr-TR" b="1" dirty="0"/>
              <a:t>Bitlik ve BCD Senkron Yukarı Sayıcılar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324430" y="980728"/>
            <a:ext cx="856895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Şekil 11.23’de negatif kenar tetiklemeli </a:t>
            </a:r>
            <a:r>
              <a:rPr lang="tr-TR" dirty="0" err="1"/>
              <a:t>FF’ler</a:t>
            </a:r>
            <a:r>
              <a:rPr lang="tr-TR" dirty="0"/>
              <a:t> ile oluşturulan, dört bitlik senkron yukarı</a:t>
            </a:r>
          </a:p>
          <a:p>
            <a:r>
              <a:rPr lang="tr-TR" dirty="0"/>
              <a:t>sayıcı lojik şeması görülmektedir. Şekilden görüleceği üzere; A, B ve C </a:t>
            </a:r>
            <a:r>
              <a:rPr lang="tr-TR" dirty="0" err="1"/>
              <a:t>FF’lerinin</a:t>
            </a:r>
            <a:endParaRPr lang="tr-TR" dirty="0"/>
          </a:p>
          <a:p>
            <a:r>
              <a:rPr lang="tr-TR" dirty="0"/>
              <a:t>bağlantılarının, üç bitlik senkron sayıcıdan farkı yoktur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Devrenin çalışmasını açıklamak için, ilk anda tüm FF çıkışlarının ‘0’ olduğu kabul edilir. İlk</a:t>
            </a:r>
          </a:p>
          <a:p>
            <a:r>
              <a:rPr lang="tr-TR" dirty="0"/>
              <a:t>tetikleme sinyali ile, A </a:t>
            </a:r>
            <a:r>
              <a:rPr lang="tr-TR" dirty="0" err="1"/>
              <a:t>FF’si</a:t>
            </a:r>
            <a:r>
              <a:rPr lang="tr-TR" dirty="0"/>
              <a:t> konum değiştirerek ‘1’ değerini alır ve B </a:t>
            </a:r>
            <a:r>
              <a:rPr lang="tr-TR" dirty="0" err="1"/>
              <a:t>FF’sinin</a:t>
            </a:r>
            <a:r>
              <a:rPr lang="tr-TR" dirty="0"/>
              <a:t> J-K</a:t>
            </a:r>
          </a:p>
          <a:p>
            <a:r>
              <a:rPr lang="tr-TR" dirty="0"/>
              <a:t>girişlerini ‘1’ yapar. Ancak bu konum değişikliği </a:t>
            </a:r>
            <a:r>
              <a:rPr lang="tr-TR" dirty="0" err="1"/>
              <a:t>FF’nin</a:t>
            </a:r>
            <a:r>
              <a:rPr lang="tr-TR" dirty="0"/>
              <a:t> yayılım gecikmesine bağlıdır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Örneğin; yayılım gecikmesi 20nsn ise, B </a:t>
            </a:r>
            <a:r>
              <a:rPr lang="tr-TR" dirty="0" err="1"/>
              <a:t>FF’sinin</a:t>
            </a:r>
            <a:r>
              <a:rPr lang="tr-TR" dirty="0"/>
              <a:t> JK girişlerindeki değer değişimi </a:t>
            </a:r>
            <a:r>
              <a:rPr lang="tr-TR" dirty="0" smtClean="0"/>
              <a:t>20nsn sonra </a:t>
            </a:r>
            <a:r>
              <a:rPr lang="tr-TR" dirty="0"/>
              <a:t>etkili olur. Yayılım gecikmesinin sonucu olarak, ilk tetikleme sinyali ile yalnızca A</a:t>
            </a:r>
          </a:p>
          <a:p>
            <a:r>
              <a:rPr lang="tr-TR" dirty="0" err="1"/>
              <a:t>FF’si</a:t>
            </a:r>
            <a:r>
              <a:rPr lang="tr-TR" dirty="0"/>
              <a:t> konum değiştirir, diğer </a:t>
            </a:r>
            <a:r>
              <a:rPr lang="tr-TR" dirty="0" err="1"/>
              <a:t>FF’lerde</a:t>
            </a:r>
            <a:r>
              <a:rPr lang="tr-TR" dirty="0"/>
              <a:t> bir değişiklik olmaz</a:t>
            </a:r>
            <a:r>
              <a:rPr lang="tr-TR" dirty="0" smtClean="0"/>
              <a:t>.</a:t>
            </a:r>
          </a:p>
          <a:p>
            <a:endParaRPr lang="tr-TR" dirty="0" smtClean="0"/>
          </a:p>
          <a:p>
            <a:r>
              <a:rPr lang="tr-TR" dirty="0"/>
              <a:t>İkinci tetikleme sinyali ile, ‘</a:t>
            </a:r>
            <a:r>
              <a:rPr lang="tr-TR" dirty="0" err="1"/>
              <a:t>toggle</a:t>
            </a:r>
            <a:r>
              <a:rPr lang="tr-TR" dirty="0"/>
              <a:t>’ </a:t>
            </a:r>
            <a:r>
              <a:rPr lang="tr-TR" dirty="0" err="1"/>
              <a:t>modu</a:t>
            </a:r>
            <a:r>
              <a:rPr lang="tr-TR" dirty="0"/>
              <a:t> çalışma şartı sağlanan A ve B </a:t>
            </a:r>
            <a:r>
              <a:rPr lang="tr-TR" dirty="0" err="1"/>
              <a:t>FF’leri</a:t>
            </a:r>
            <a:r>
              <a:rPr lang="tr-TR" dirty="0"/>
              <a:t> etkilenir. Bu</a:t>
            </a:r>
          </a:p>
          <a:p>
            <a:r>
              <a:rPr lang="tr-TR" dirty="0"/>
              <a:t>sinyal ile A </a:t>
            </a:r>
            <a:r>
              <a:rPr lang="tr-TR" dirty="0" err="1"/>
              <a:t>FF’sinin</a:t>
            </a:r>
            <a:r>
              <a:rPr lang="tr-TR" dirty="0"/>
              <a:t> çıkışı 1’den 0’a giderken, B </a:t>
            </a:r>
            <a:r>
              <a:rPr lang="tr-TR" dirty="0" err="1"/>
              <a:t>FF’sinin</a:t>
            </a:r>
            <a:r>
              <a:rPr lang="tr-TR" dirty="0"/>
              <a:t> çıkışı 0’dan 1’e değişir. Bu anda</a:t>
            </a:r>
          </a:p>
          <a:p>
            <a:r>
              <a:rPr lang="tr-TR" dirty="0"/>
              <a:t>C ve D </a:t>
            </a:r>
            <a:r>
              <a:rPr lang="tr-TR" dirty="0" err="1"/>
              <a:t>FF’lerinin</a:t>
            </a:r>
            <a:r>
              <a:rPr lang="tr-TR" dirty="0"/>
              <a:t> J-K girişleri ‘0’ olduğundan konum değiştirmezler. İkinci tetikleme</a:t>
            </a:r>
          </a:p>
          <a:p>
            <a:r>
              <a:rPr lang="tr-TR" dirty="0"/>
              <a:t>sinyali sonucunda çıkışlardaki değerler; D=0, C=0, B=1, A=0 olduğundan, çıkış (2)10</a:t>
            </a:r>
          </a:p>
          <a:p>
            <a:r>
              <a:rPr lang="tr-TR" dirty="0"/>
              <a:t>değerine eşittir.</a:t>
            </a:r>
          </a:p>
        </p:txBody>
      </p:sp>
    </p:spTree>
    <p:extLst>
      <p:ext uri="{BB962C8B-B14F-4D97-AF65-F5344CB8AC3E}">
        <p14:creationId xmlns:p14="http://schemas.microsoft.com/office/powerpoint/2010/main" val="339462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98" y="404664"/>
            <a:ext cx="8761261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6385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42900"/>
            <a:ext cx="8751936" cy="3518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9530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86" y="476672"/>
            <a:ext cx="880823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57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14" y="476672"/>
            <a:ext cx="8778974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396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29" y="548680"/>
            <a:ext cx="8345046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094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332656"/>
            <a:ext cx="2120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Senkron Aşağı Sayıcı</a:t>
            </a:r>
            <a:endParaRPr lang="tr-T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33" y="908720"/>
            <a:ext cx="8351942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1852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57" y="1124744"/>
            <a:ext cx="8905772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1475656" y="6021288"/>
            <a:ext cx="5904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11.26. </a:t>
            </a:r>
            <a:r>
              <a:rPr lang="tr-TR" dirty="0"/>
              <a:t>Dört bitlik senkron aşağı sayıcı lojik şeması.</a:t>
            </a:r>
          </a:p>
        </p:txBody>
      </p:sp>
    </p:spTree>
    <p:extLst>
      <p:ext uri="{BB962C8B-B14F-4D97-AF65-F5344CB8AC3E}">
        <p14:creationId xmlns:p14="http://schemas.microsoft.com/office/powerpoint/2010/main" val="95001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404664"/>
            <a:ext cx="3960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Senkron Yukarı - Aşağı Sayıcı</a:t>
            </a:r>
            <a:endParaRPr lang="tr-T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34174"/>
            <a:ext cx="8568952" cy="5791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3768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78" y="0"/>
            <a:ext cx="8756993" cy="436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1907704" y="5877272"/>
            <a:ext cx="5328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11.27. </a:t>
            </a:r>
            <a:r>
              <a:rPr lang="tr-TR" dirty="0"/>
              <a:t>Senkron yukarı / aşağı sayıcı (Mod-8).</a:t>
            </a:r>
          </a:p>
        </p:txBody>
      </p:sp>
    </p:spTree>
    <p:extLst>
      <p:ext uri="{BB962C8B-B14F-4D97-AF65-F5344CB8AC3E}">
        <p14:creationId xmlns:p14="http://schemas.microsoft.com/office/powerpoint/2010/main" val="242884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533872" y="48110"/>
            <a:ext cx="3456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Senkron Sayıcıların Tasarımı</a:t>
            </a:r>
            <a:endParaRPr lang="tr-T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17442"/>
            <a:ext cx="8424936" cy="6179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3306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6632"/>
            <a:ext cx="8136904" cy="1030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14438"/>
            <a:ext cx="8784975" cy="545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3546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62" y="404664"/>
            <a:ext cx="8722018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0657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17858"/>
            <a:ext cx="6480720" cy="5530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1458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12776"/>
            <a:ext cx="41433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725144"/>
            <a:ext cx="64103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9154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56387"/>
            <a:ext cx="8455210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9458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08" y="404664"/>
            <a:ext cx="8292056" cy="6093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8403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54" y="404664"/>
            <a:ext cx="8207694" cy="5945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0966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1"/>
            <a:ext cx="8496944" cy="6624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8696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4"/>
            <a:ext cx="9036496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1979712" y="5445224"/>
            <a:ext cx="57606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11.36. </a:t>
            </a:r>
            <a:r>
              <a:rPr lang="tr-TR" dirty="0"/>
              <a:t>Mod-16 senkron aşağı sayıcı lojik şeması.</a:t>
            </a:r>
          </a:p>
        </p:txBody>
      </p:sp>
    </p:spTree>
    <p:extLst>
      <p:ext uri="{BB962C8B-B14F-4D97-AF65-F5344CB8AC3E}">
        <p14:creationId xmlns:p14="http://schemas.microsoft.com/office/powerpoint/2010/main" val="1471309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476672"/>
            <a:ext cx="2099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 smtClean="0"/>
              <a:t>Ön </a:t>
            </a:r>
            <a:r>
              <a:rPr lang="tr-TR" b="1" dirty="0"/>
              <a:t>Kurmalı Sayıcılar</a:t>
            </a:r>
            <a:endParaRPr lang="tr-TR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01834"/>
            <a:ext cx="8784976" cy="572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120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91" y="1196753"/>
            <a:ext cx="8381681" cy="4526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1043608" y="5445224"/>
            <a:ext cx="67687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Şekil 11.44. </a:t>
            </a:r>
            <a:r>
              <a:rPr lang="tr-TR" dirty="0"/>
              <a:t>Asenkron </a:t>
            </a:r>
            <a:r>
              <a:rPr lang="tr-TR" dirty="0" err="1"/>
              <a:t>önkurmalı</a:t>
            </a:r>
            <a:r>
              <a:rPr lang="tr-TR" dirty="0"/>
              <a:t> senkron sayıcı devresi lojik şeması.</a:t>
            </a:r>
          </a:p>
        </p:txBody>
      </p:sp>
    </p:spTree>
    <p:extLst>
      <p:ext uri="{BB962C8B-B14F-4D97-AF65-F5344CB8AC3E}">
        <p14:creationId xmlns:p14="http://schemas.microsoft.com/office/powerpoint/2010/main" val="3273891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83" y="908720"/>
            <a:ext cx="8471635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971600" y="476672"/>
            <a:ext cx="896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ÖRNEK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335777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06716"/>
            <a:ext cx="7632848" cy="6364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7352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219023"/>
            <a:ext cx="26931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Sayıcı </a:t>
            </a:r>
            <a:r>
              <a:rPr lang="tr-TR" b="1" dirty="0" smtClean="0"/>
              <a:t>Uygulamaları</a:t>
            </a:r>
          </a:p>
          <a:p>
            <a:r>
              <a:rPr lang="tr-TR" b="1" dirty="0" smtClean="0"/>
              <a:t>Sağa </a:t>
            </a:r>
            <a:r>
              <a:rPr lang="tr-TR" b="1" dirty="0"/>
              <a:t>/ Sola </a:t>
            </a:r>
            <a:r>
              <a:rPr lang="tr-TR" b="1" dirty="0" err="1"/>
              <a:t>Yuruyen</a:t>
            </a:r>
            <a:r>
              <a:rPr lang="tr-TR" b="1" dirty="0"/>
              <a:t> Işıklar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152737" y="865354"/>
            <a:ext cx="871296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74193 yukarı / aşağı sayıcı </a:t>
            </a:r>
            <a:r>
              <a:rPr lang="tr-TR" dirty="0" err="1"/>
              <a:t>entegreci</a:t>
            </a:r>
            <a:r>
              <a:rPr lang="tr-TR" dirty="0"/>
              <a:t> kullanarak, sağa veya sola doğru yanan ışıklar</a:t>
            </a:r>
          </a:p>
          <a:p>
            <a:r>
              <a:rPr lang="tr-TR" dirty="0"/>
              <a:t>oluşturmak mümkündür (Şekil 11.59).</a:t>
            </a:r>
          </a:p>
          <a:p>
            <a:r>
              <a:rPr lang="tr-TR" dirty="0"/>
              <a:t>74193 entegresi ile yukarı / aşağı saydırma işlemi yapılabilir. 0000 ile 1111 değerleri</a:t>
            </a:r>
          </a:p>
          <a:p>
            <a:r>
              <a:rPr lang="tr-TR" dirty="0"/>
              <a:t>arasında yukarı/aşağı sayma yapan entegrenin çıkışı, 4 hattan 16 hatta kod çözücü (</a:t>
            </a:r>
            <a:r>
              <a:rPr lang="tr-TR" dirty="0" err="1"/>
              <a:t>onaltılı</a:t>
            </a:r>
            <a:endParaRPr lang="tr-TR" dirty="0"/>
          </a:p>
          <a:p>
            <a:r>
              <a:rPr lang="tr-TR" dirty="0"/>
              <a:t>kod çözücü) olan 74154 entegresine giriş olarak uygulanır. Bu durumda 16 LED’in sağa</a:t>
            </a:r>
          </a:p>
          <a:p>
            <a:r>
              <a:rPr lang="tr-TR" dirty="0"/>
              <a:t>veya sola yanması kontrolü yapılabilir. Devredeki LED’lerin sağa / sola yanması işlemi, ‘VE</a:t>
            </a:r>
          </a:p>
          <a:p>
            <a:r>
              <a:rPr lang="tr-TR" dirty="0"/>
              <a:t>DEĞİL’ kapıları A,B,C,D kapıları yardımı ile gerçekleştirilir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 </a:t>
            </a:r>
            <a:r>
              <a:rPr lang="tr-TR" dirty="0"/>
              <a:t>Şekil 11.59’daki devrenin çalışmasını açıklayabilmek için; ‘A’ kapısının 1 </a:t>
            </a:r>
            <a:r>
              <a:rPr lang="tr-TR" dirty="0" err="1"/>
              <a:t>nolu</a:t>
            </a:r>
            <a:r>
              <a:rPr lang="tr-TR" dirty="0"/>
              <a:t> girişinin</a:t>
            </a:r>
          </a:p>
          <a:p>
            <a:r>
              <a:rPr lang="tr-TR" dirty="0"/>
              <a:t>‘lojik 0’ ve ‘B’ kapısının 5 </a:t>
            </a:r>
            <a:r>
              <a:rPr lang="tr-TR" dirty="0" err="1"/>
              <a:t>nolu</a:t>
            </a:r>
            <a:r>
              <a:rPr lang="tr-TR" dirty="0"/>
              <a:t> girişinin lojik ‘1’ olduğunu kabul edelim. ‘C’ ve ‘D’</a:t>
            </a:r>
          </a:p>
          <a:p>
            <a:r>
              <a:rPr lang="tr-TR" dirty="0"/>
              <a:t>kapılarının bağlantı şekillerinden dolayı, belirtilen iki noktadaki lojik değerler devamlı</a:t>
            </a:r>
          </a:p>
          <a:p>
            <a:r>
              <a:rPr lang="tr-TR" dirty="0"/>
              <a:t>birbirinin tersidir. ‘B’ kapısının girişlerinden birisinin ‘lojik 1’ olması nedeni ile, tetikleme</a:t>
            </a:r>
          </a:p>
          <a:p>
            <a:r>
              <a:rPr lang="tr-TR" dirty="0"/>
              <a:t>sinyali 74193 entegresinin ‘yukarı sayma’ girişinde gözükür ve sayıcı 0000’den başlayarak</a:t>
            </a:r>
          </a:p>
          <a:p>
            <a:r>
              <a:rPr lang="tr-TR" dirty="0"/>
              <a:t>yukarı doğru saymaya başlar.</a:t>
            </a:r>
          </a:p>
        </p:txBody>
      </p:sp>
    </p:spTree>
    <p:extLst>
      <p:ext uri="{BB962C8B-B14F-4D97-AF65-F5344CB8AC3E}">
        <p14:creationId xmlns:p14="http://schemas.microsoft.com/office/powerpoint/2010/main" val="9782460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57188"/>
            <a:ext cx="8424935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0842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61933" y="116632"/>
            <a:ext cx="885698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Sayıcı çıkışındaki sayma değeri ‘1111’ değerine ulaşınca en soldaki LED yanar ve ‘C’</a:t>
            </a:r>
          </a:p>
          <a:p>
            <a:r>
              <a:rPr lang="tr-TR" dirty="0"/>
              <a:t>kapısının girişlerinden birisi ‘0’ olur. Girişlerinden birisi ‘0’ olan ‘C’ kapısının çıkışı ‘1’ olur</a:t>
            </a:r>
          </a:p>
          <a:p>
            <a:r>
              <a:rPr lang="tr-TR" dirty="0"/>
              <a:t>ve ‘A’ kapısının ‘1’ </a:t>
            </a:r>
            <a:r>
              <a:rPr lang="tr-TR" dirty="0" err="1"/>
              <a:t>nolu</a:t>
            </a:r>
            <a:r>
              <a:rPr lang="tr-TR" dirty="0"/>
              <a:t> </a:t>
            </a:r>
            <a:r>
              <a:rPr lang="tr-TR" dirty="0" err="1"/>
              <a:t>pine</a:t>
            </a:r>
            <a:r>
              <a:rPr lang="tr-TR" dirty="0"/>
              <a:t> bağlı olan ucu ‘lojik 1’ olur. ‘A’ kapısının çıkışı ‘1’ değerini</a:t>
            </a:r>
          </a:p>
          <a:p>
            <a:r>
              <a:rPr lang="tr-TR" dirty="0"/>
              <a:t>alır ve 74154 entegresinin ‘aşağı sayma’ ucunu aktif hale getirir. Aynı anda, ‘C’ kapısının</a:t>
            </a:r>
          </a:p>
          <a:p>
            <a:r>
              <a:rPr lang="tr-TR" dirty="0"/>
              <a:t>çıkışı ‘D’ kapısının girişini de ‘1’ yapar ve her iki girişinde ‘1’ olan ‘D’ kapısı çıkışında</a:t>
            </a:r>
          </a:p>
          <a:p>
            <a:r>
              <a:rPr lang="tr-TR" dirty="0"/>
              <a:t>‘lojik 0’ oluşur. ‘D’ kapısı çıkışında oluşan ‘0’ değeri, tetikleme sinyalinin ‘B’ kapısı</a:t>
            </a:r>
          </a:p>
          <a:p>
            <a:r>
              <a:rPr lang="tr-TR" dirty="0"/>
              <a:t>üzerinden ‘yukarı sayma’ ucuna uygulanmasına engel olur. ‘D’ kapısının çıkışındaki ‘lojik</a:t>
            </a:r>
          </a:p>
          <a:p>
            <a:r>
              <a:rPr lang="tr-TR" dirty="0"/>
              <a:t>0’ değerinin ‘C’ kapısına giriş olarak uygulanması, kod çözücü entegrenin en solundaki</a:t>
            </a:r>
          </a:p>
          <a:p>
            <a:r>
              <a:rPr lang="tr-TR" dirty="0"/>
              <a:t>çıkışının ‘0’ olmaması durumunda bile ‘aşağı sayma’ ucunun aktif olarak kalmasını sağlar.</a:t>
            </a:r>
          </a:p>
          <a:p>
            <a:r>
              <a:rPr lang="tr-TR" dirty="0"/>
              <a:t>Sayıcı entegresinin aşağı doğru sayması, kod çözücü çıkışlarının soldan sağa doğru aktif</a:t>
            </a:r>
          </a:p>
          <a:p>
            <a:r>
              <a:rPr lang="tr-TR" dirty="0"/>
              <a:t>olmasını (lojik 0) ve LED’lerin soldan sağa doğru yanmasını sağlar. Sayma işlemi ‘0000’</a:t>
            </a:r>
          </a:p>
          <a:p>
            <a:r>
              <a:rPr lang="tr-TR" dirty="0"/>
              <a:t>değerine ulaştığı anda, ‘B’ kapısı çıkışı tekrar ‘yukarı sayma’ girişini aktif yapar ve LED’ler</a:t>
            </a:r>
          </a:p>
          <a:p>
            <a:r>
              <a:rPr lang="tr-TR" dirty="0"/>
              <a:t>sağdan sola doğru yanmaya başlar.</a:t>
            </a:r>
          </a:p>
        </p:txBody>
      </p:sp>
      <p:sp>
        <p:nvSpPr>
          <p:cNvPr id="3" name="Dikdörtgen 2"/>
          <p:cNvSpPr/>
          <p:nvPr/>
        </p:nvSpPr>
        <p:spPr>
          <a:xfrm>
            <a:off x="216361" y="3832114"/>
            <a:ext cx="1217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Dijital Saat</a:t>
            </a:r>
            <a:endParaRPr lang="tr-TR" dirty="0"/>
          </a:p>
        </p:txBody>
      </p:sp>
      <p:sp>
        <p:nvSpPr>
          <p:cNvPr id="4" name="Dikdörtgen 3"/>
          <p:cNvSpPr/>
          <p:nvPr/>
        </p:nvSpPr>
        <p:spPr>
          <a:xfrm>
            <a:off x="161933" y="4176890"/>
            <a:ext cx="885698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Sayıcıların yaygın kullanıldığı yerlerden birisi, dijital (sayısal) saatlerdir (Şekil 11.60).</a:t>
            </a:r>
          </a:p>
          <a:p>
            <a:r>
              <a:rPr lang="tr-TR" dirty="0"/>
              <a:t>Sayısal saatlerde; saat, dakika ve saniye olarak bulunulan an gösterilir.</a:t>
            </a:r>
          </a:p>
          <a:p>
            <a:r>
              <a:rPr lang="tr-TR" dirty="0"/>
              <a:t>Şekil 11.60’daki dijital saat devresinin çalışması için gerekli besleme gerilimi ve sayma</a:t>
            </a:r>
          </a:p>
          <a:p>
            <a:r>
              <a:rPr lang="tr-TR" dirty="0"/>
              <a:t>işlemi için gerekli tetikleme sinyali, 220 V / 50Hz şehir şebekesinden elde edilir. 220 V AC</a:t>
            </a:r>
          </a:p>
          <a:p>
            <a:r>
              <a:rPr lang="tr-TR" dirty="0"/>
              <a:t>gerilim doğrultmaç devresi ile +5V DC gerilim şekline dönüştürülürken, 50 </a:t>
            </a:r>
            <a:r>
              <a:rPr lang="tr-TR" dirty="0" err="1"/>
              <a:t>Hz’lik</a:t>
            </a:r>
            <a:r>
              <a:rPr lang="tr-TR" dirty="0"/>
              <a:t> sinyal 1</a:t>
            </a:r>
          </a:p>
          <a:p>
            <a:r>
              <a:rPr lang="tr-TR" dirty="0" err="1"/>
              <a:t>Hz’lik</a:t>
            </a:r>
            <a:r>
              <a:rPr lang="tr-TR" dirty="0"/>
              <a:t> tetikleme sinyali şekline dönüştürülür. Bu işlemler için; dalga şekillendirici ve 50’ye</a:t>
            </a:r>
          </a:p>
          <a:p>
            <a:r>
              <a:rPr lang="tr-TR" dirty="0"/>
              <a:t>bölen devreler kullanılır.</a:t>
            </a:r>
          </a:p>
          <a:p>
            <a:r>
              <a:rPr lang="tr-TR" dirty="0"/>
              <a:t>Saat devresindeki saniye sayıcı devreye uygulanan tetikleme sinyali, saniye sayma işleminin</a:t>
            </a:r>
          </a:p>
          <a:p>
            <a:r>
              <a:rPr lang="tr-TR" dirty="0"/>
              <a:t>yanında dakika ve saat sayma işlemleri içinde kullanılır.</a:t>
            </a:r>
          </a:p>
        </p:txBody>
      </p:sp>
    </p:spTree>
    <p:extLst>
      <p:ext uri="{BB962C8B-B14F-4D97-AF65-F5344CB8AC3E}">
        <p14:creationId xmlns:p14="http://schemas.microsoft.com/office/powerpoint/2010/main" val="4175565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25107"/>
            <a:ext cx="7416823" cy="5950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6224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60" y="980728"/>
            <a:ext cx="8613785" cy="504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6162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 smtClean="0"/>
              <a:t>DİNLEDİĞİNİZ İÇİN TEŞEKKÜR EDERİZ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373748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1058</Words>
  <Application>Microsoft Office PowerPoint</Application>
  <PresentationFormat>Ekran Gösterisi (4:3)</PresentationFormat>
  <Paragraphs>92</Paragraphs>
  <Slides>37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38" baseType="lpstr">
      <vt:lpstr>Ofis Teması</vt:lpstr>
      <vt:lpstr>Mantık Devreleri  DERS 13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13</dc:title>
  <dc:creator>bilgisayarim</dc:creator>
  <cp:lastModifiedBy>bilgisayarim</cp:lastModifiedBy>
  <cp:revision>17</cp:revision>
  <dcterms:created xsi:type="dcterms:W3CDTF">2019-12-02T09:43:28Z</dcterms:created>
  <dcterms:modified xsi:type="dcterms:W3CDTF">2019-12-24T09:15:41Z</dcterms:modified>
</cp:coreProperties>
</file>