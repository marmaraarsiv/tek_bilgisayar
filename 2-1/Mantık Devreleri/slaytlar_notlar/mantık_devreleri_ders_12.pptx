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73" r:id="rId3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3036B-EA07-4197-A8BD-42ECD1BB3D42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EEEAC-4411-4366-B410-6A584F788A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273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15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6240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1552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894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48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309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871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255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180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398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970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A76E6-0DE2-479E-A09C-49EBEA585951}" type="datetimeFigureOut">
              <a:rPr lang="tr-TR" smtClean="0"/>
              <a:t>11/12/2019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4E95-993C-437F-9206-32C691703D0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260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dirty="0" smtClean="0"/>
              <a:t>Mantık Devreleri </a:t>
            </a:r>
            <a:br>
              <a:rPr lang="tr-TR" dirty="0" smtClean="0"/>
            </a:br>
            <a:r>
              <a:rPr lang="tr-TR" smtClean="0"/>
              <a:t>DERS 12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240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611560" y="908720"/>
            <a:ext cx="799288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/>
              <a:t>Sayıcılar</a:t>
            </a:r>
          </a:p>
          <a:p>
            <a:r>
              <a:rPr lang="tr-TR" sz="4400" b="1" dirty="0"/>
              <a:t>(</a:t>
            </a:r>
            <a:r>
              <a:rPr lang="tr-TR" sz="4400" b="1" dirty="0" err="1"/>
              <a:t>Counters</a:t>
            </a:r>
            <a:r>
              <a:rPr lang="tr-TR" sz="4400" b="1" dirty="0"/>
              <a:t>)</a:t>
            </a:r>
            <a:endParaRPr lang="tr-TR" sz="4400" dirty="0"/>
          </a:p>
        </p:txBody>
      </p:sp>
    </p:spTree>
    <p:extLst>
      <p:ext uri="{BB962C8B-B14F-4D97-AF65-F5344CB8AC3E}">
        <p14:creationId xmlns:p14="http://schemas.microsoft.com/office/powerpoint/2010/main" val="3991493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404664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Giriş</a:t>
            </a:r>
          </a:p>
          <a:p>
            <a:r>
              <a:rPr lang="tr-TR" dirty="0"/>
              <a:t>Giriş darbelerine bağlı olarak belirli bir durum dizisini tekrarlayan lojik devreler, </a:t>
            </a:r>
            <a:r>
              <a:rPr lang="tr-TR" b="1" dirty="0"/>
              <a:t>‘sayıcı’</a:t>
            </a:r>
          </a:p>
          <a:p>
            <a:r>
              <a:rPr lang="tr-TR" dirty="0"/>
              <a:t>olarak adlandırılır. Çok değişik alanlarda kullanılan sayıcı devreleri, </a:t>
            </a:r>
            <a:r>
              <a:rPr lang="tr-TR" dirty="0" err="1"/>
              <a:t>FF’lerin</a:t>
            </a:r>
            <a:r>
              <a:rPr lang="tr-TR" dirty="0"/>
              <a:t> uygun şekilde</a:t>
            </a:r>
          </a:p>
          <a:p>
            <a:r>
              <a:rPr lang="tr-TR" dirty="0"/>
              <a:t>bağlanmalarıyla elde edilir. Dijital ölçü, kumanda ve kontrol sistemlerinin en önemli</a:t>
            </a:r>
          </a:p>
          <a:p>
            <a:r>
              <a:rPr lang="tr-TR" dirty="0"/>
              <a:t>elemanları olan sayıcıları, değişik referanslara göre sınıflandırmak ve adlandırmak</a:t>
            </a:r>
          </a:p>
          <a:p>
            <a:r>
              <a:rPr lang="tr-TR" dirty="0"/>
              <a:t>mümkündür. Sayıcılar en genel şekli ile aşağıdaki gibi sınıflandırılabilir.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276872"/>
            <a:ext cx="8567139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95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908721"/>
            <a:ext cx="864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A- </a:t>
            </a:r>
            <a:r>
              <a:rPr lang="tr-TR" sz="2400" b="1" dirty="0"/>
              <a:t>Sayıcıların tetikleme sinyallerinin uygulama zamanına </a:t>
            </a:r>
            <a:r>
              <a:rPr lang="tr-TR" sz="2400" b="1" dirty="0" smtClean="0"/>
              <a:t>göre</a:t>
            </a:r>
            <a:endParaRPr lang="tr-TR" sz="2400" b="1" dirty="0"/>
          </a:p>
          <a:p>
            <a:r>
              <a:rPr lang="tr-TR" sz="2400" b="1" dirty="0"/>
              <a:t>sınıflandırılması:</a:t>
            </a:r>
          </a:p>
          <a:p>
            <a:r>
              <a:rPr lang="tr-TR" sz="2800" dirty="0"/>
              <a:t>Tetikleme sinyallerinin </a:t>
            </a:r>
            <a:r>
              <a:rPr lang="tr-TR" sz="2800" dirty="0" err="1"/>
              <a:t>FF’lere</a:t>
            </a:r>
            <a:r>
              <a:rPr lang="tr-TR" sz="2800" dirty="0"/>
              <a:t> uygulanış zamanına göre sayıcılar iki gruba ayrılır</a:t>
            </a:r>
            <a:r>
              <a:rPr lang="tr-TR" sz="2800" dirty="0" smtClean="0"/>
              <a:t>:</a:t>
            </a:r>
          </a:p>
          <a:p>
            <a:endParaRPr lang="tr-TR" sz="2800" dirty="0"/>
          </a:p>
          <a:p>
            <a:r>
              <a:rPr lang="tr-TR" sz="2800" dirty="0"/>
              <a:t>i- Asenkron (farklı zamanlı) sayıcılar,</a:t>
            </a:r>
          </a:p>
          <a:p>
            <a:r>
              <a:rPr lang="tr-TR" sz="2800" dirty="0"/>
              <a:t>ii- Senkron (eş zamanlı) sayıcılar</a:t>
            </a:r>
            <a:r>
              <a:rPr lang="tr-TR" sz="2800" dirty="0" smtClean="0"/>
              <a:t>.</a:t>
            </a:r>
          </a:p>
          <a:p>
            <a:endParaRPr lang="tr-TR" sz="2800" dirty="0"/>
          </a:p>
          <a:p>
            <a:r>
              <a:rPr lang="tr-TR" dirty="0"/>
              <a:t>Asenkron sayıcılarda, sayma işlemi için kullanılan tetikleme sinyali ilk </a:t>
            </a:r>
            <a:r>
              <a:rPr lang="tr-TR" dirty="0" err="1"/>
              <a:t>FF’ye</a:t>
            </a:r>
            <a:r>
              <a:rPr lang="tr-TR" dirty="0"/>
              <a:t> uygulanır. İlk</a:t>
            </a:r>
          </a:p>
          <a:p>
            <a:r>
              <a:rPr lang="tr-TR" dirty="0" err="1"/>
              <a:t>FF’nin</a:t>
            </a:r>
            <a:r>
              <a:rPr lang="tr-TR" dirty="0"/>
              <a:t> Q veya </a:t>
            </a:r>
            <a:r>
              <a:rPr lang="tr-TR" dirty="0" err="1"/>
              <a:t>Qı</a:t>
            </a:r>
            <a:r>
              <a:rPr lang="tr-TR" dirty="0"/>
              <a:t> çıkışından alınan sinyal ile daha sonra gelen FF tetiklenir. Diğer bir</a:t>
            </a:r>
          </a:p>
          <a:p>
            <a:r>
              <a:rPr lang="tr-TR" dirty="0"/>
              <a:t>deyişle; </a:t>
            </a:r>
            <a:r>
              <a:rPr lang="tr-TR" dirty="0" err="1"/>
              <a:t>FF’ler</a:t>
            </a:r>
            <a:r>
              <a:rPr lang="tr-TR" dirty="0"/>
              <a:t> birbirini tetiklerler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Senkron sayıcılarda, tetikleme sinyalleri sayıcıyı oluşturan bütün </a:t>
            </a:r>
            <a:r>
              <a:rPr lang="tr-TR" dirty="0" err="1"/>
              <a:t>FF’lere</a:t>
            </a:r>
            <a:r>
              <a:rPr lang="tr-TR" dirty="0"/>
              <a:t> tek bir hattan aynı</a:t>
            </a:r>
          </a:p>
          <a:p>
            <a:r>
              <a:rPr lang="tr-TR" dirty="0"/>
              <a:t>anda uygulanır. Bu durumda devrede bulunan tüm </a:t>
            </a:r>
            <a:r>
              <a:rPr lang="tr-TR" dirty="0" err="1"/>
              <a:t>FF’ler</a:t>
            </a:r>
            <a:r>
              <a:rPr lang="tr-TR" dirty="0"/>
              <a:t> birlikte tetiklenir.</a:t>
            </a:r>
          </a:p>
        </p:txBody>
      </p:sp>
    </p:spTree>
    <p:extLst>
      <p:ext uri="{BB962C8B-B14F-4D97-AF65-F5344CB8AC3E}">
        <p14:creationId xmlns:p14="http://schemas.microsoft.com/office/powerpoint/2010/main" val="129028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476672"/>
            <a:ext cx="8352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B- Sayıcıların sayma </a:t>
            </a:r>
            <a:r>
              <a:rPr lang="tr-TR" b="1" dirty="0" smtClean="0"/>
              <a:t>yönüne göre </a:t>
            </a:r>
            <a:r>
              <a:rPr lang="tr-TR" b="1" dirty="0"/>
              <a:t>sınıflandırılması:</a:t>
            </a:r>
          </a:p>
          <a:p>
            <a:r>
              <a:rPr lang="tr-TR" dirty="0"/>
              <a:t>Sayıcılar sayma yönüne göre üç grupta incelenebilir:</a:t>
            </a:r>
          </a:p>
          <a:p>
            <a:r>
              <a:rPr lang="tr-TR" dirty="0"/>
              <a:t>i- Yukarı / İleri sayıcılar (</a:t>
            </a:r>
            <a:r>
              <a:rPr lang="tr-TR" dirty="0" err="1"/>
              <a:t>Up</a:t>
            </a:r>
            <a:r>
              <a:rPr lang="tr-TR" dirty="0"/>
              <a:t> </a:t>
            </a:r>
            <a:r>
              <a:rPr lang="tr-TR" dirty="0" err="1"/>
              <a:t>counters</a:t>
            </a:r>
            <a:r>
              <a:rPr lang="tr-TR" dirty="0"/>
              <a:t>): Sayıcı 0’dan başlayıp yukarı doğru sayma</a:t>
            </a:r>
          </a:p>
          <a:p>
            <a:r>
              <a:rPr lang="tr-TR" dirty="0"/>
              <a:t>işlemi gerçekleştiriyorsa, </a:t>
            </a:r>
            <a:r>
              <a:rPr lang="tr-TR" b="1" dirty="0"/>
              <a:t>‘yukarı sayıcı’ </a:t>
            </a:r>
            <a:r>
              <a:rPr lang="tr-TR" dirty="0"/>
              <a:t>denir.</a:t>
            </a:r>
          </a:p>
          <a:p>
            <a:r>
              <a:rPr lang="tr-TR" dirty="0"/>
              <a:t>ii- Aşağı / Geri sayıcılar (</a:t>
            </a:r>
            <a:r>
              <a:rPr lang="tr-TR" dirty="0" err="1"/>
              <a:t>Down</a:t>
            </a:r>
            <a:r>
              <a:rPr lang="tr-TR" dirty="0"/>
              <a:t> </a:t>
            </a:r>
            <a:r>
              <a:rPr lang="tr-TR" dirty="0" err="1"/>
              <a:t>counters</a:t>
            </a:r>
            <a:r>
              <a:rPr lang="tr-TR" dirty="0"/>
              <a:t>): Sayıcı belirli bir sayıdan başlayıp 0’a</a:t>
            </a:r>
          </a:p>
          <a:p>
            <a:r>
              <a:rPr lang="tr-TR" dirty="0"/>
              <a:t>doğru sayma işlemi yapıyorsa, </a:t>
            </a:r>
            <a:r>
              <a:rPr lang="tr-TR" b="1" dirty="0"/>
              <a:t>‘aşağı sayıcı’ </a:t>
            </a:r>
            <a:r>
              <a:rPr lang="tr-TR" dirty="0"/>
              <a:t>olarak adlandırılır.</a:t>
            </a:r>
          </a:p>
          <a:p>
            <a:r>
              <a:rPr lang="tr-TR" dirty="0"/>
              <a:t>iii- Yukarı-Aşağı sayıcılar (</a:t>
            </a:r>
            <a:r>
              <a:rPr lang="tr-TR" dirty="0" err="1"/>
              <a:t>Up-Down</a:t>
            </a:r>
            <a:r>
              <a:rPr lang="tr-TR" dirty="0"/>
              <a:t> </a:t>
            </a:r>
            <a:r>
              <a:rPr lang="tr-TR" dirty="0" err="1"/>
              <a:t>Counters</a:t>
            </a:r>
            <a:r>
              <a:rPr lang="tr-TR" dirty="0"/>
              <a:t>): Sayıcı her iki yönde sayma işlemini</a:t>
            </a:r>
          </a:p>
          <a:p>
            <a:r>
              <a:rPr lang="tr-TR" dirty="0"/>
              <a:t>gerçekleştirebiliyorsa, </a:t>
            </a:r>
            <a:r>
              <a:rPr lang="tr-TR" b="1" dirty="0"/>
              <a:t>‘yukarı-aşağı sayıcı’ </a:t>
            </a:r>
            <a:r>
              <a:rPr lang="tr-TR" dirty="0"/>
              <a:t>olarak isimlendirilir.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281675" y="2996952"/>
            <a:ext cx="86409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C- Sayıcıların sayma kodlanmasına </a:t>
            </a:r>
            <a:r>
              <a:rPr lang="tr-TR" b="1" dirty="0" smtClean="0"/>
              <a:t>göre </a:t>
            </a:r>
            <a:r>
              <a:rPr lang="tr-TR" b="1" dirty="0"/>
              <a:t>sınıflandırılması:</a:t>
            </a:r>
          </a:p>
          <a:p>
            <a:r>
              <a:rPr lang="tr-TR" dirty="0"/>
              <a:t>Sayıcılar, sayıcının takip edeceği sayma dizisi referans alınarak gruplandırılabilir. Sayıcılar</a:t>
            </a:r>
          </a:p>
          <a:p>
            <a:r>
              <a:rPr lang="tr-TR" dirty="0"/>
              <a:t>girişlerine uygulanan darbe miktarına bağlı olarak </a:t>
            </a:r>
            <a:r>
              <a:rPr lang="tr-TR" dirty="0" smtClean="0"/>
              <a:t>2ᶯ </a:t>
            </a:r>
            <a:r>
              <a:rPr lang="tr-TR" dirty="0"/>
              <a:t>değişik durum alabilir. Diğer bir</a:t>
            </a:r>
          </a:p>
          <a:p>
            <a:r>
              <a:rPr lang="tr-TR" dirty="0"/>
              <a:t>deyişle; n sayıdaki FF ile, </a:t>
            </a:r>
            <a:r>
              <a:rPr lang="tr-TR" dirty="0" smtClean="0"/>
              <a:t>  2ᶯ </a:t>
            </a:r>
            <a:r>
              <a:rPr lang="tr-TR" dirty="0"/>
              <a:t>sayıda sayma işlemi yapılır. Üç adet FF kullanan sayıcı 8</a:t>
            </a:r>
          </a:p>
          <a:p>
            <a:r>
              <a:rPr lang="tr-TR" dirty="0"/>
              <a:t>kademe, dört adet FF kullanan sayıcı 16 kademe sayma gerçekleştirir. Sayıcılar, sayabileceği</a:t>
            </a:r>
          </a:p>
          <a:p>
            <a:r>
              <a:rPr lang="tr-TR" dirty="0"/>
              <a:t>maksimum değeri sayabileceği gibi, belirli bir değere kadar sayma yapabilir. Sayıcılar,</a:t>
            </a:r>
          </a:p>
          <a:p>
            <a:r>
              <a:rPr lang="tr-TR" dirty="0"/>
              <a:t>sayılan dizinin kodlanmasına göre: İkili sayıcı, BCD sayıcı, </a:t>
            </a:r>
            <a:r>
              <a:rPr lang="tr-TR" dirty="0" err="1"/>
              <a:t>Mod</a:t>
            </a:r>
            <a:r>
              <a:rPr lang="tr-TR" dirty="0"/>
              <a:t> sayıcı vb. gruplara</a:t>
            </a:r>
          </a:p>
          <a:p>
            <a:r>
              <a:rPr lang="tr-TR" dirty="0"/>
              <a:t>ayrılabilir.</a:t>
            </a:r>
          </a:p>
          <a:p>
            <a:r>
              <a:rPr lang="tr-TR" dirty="0"/>
              <a:t>Yapılan gruplandırmalarda; grubun birisi incelenirken, diğer grupların elemanlarının</a:t>
            </a:r>
          </a:p>
          <a:p>
            <a:r>
              <a:rPr lang="tr-TR" dirty="0"/>
              <a:t>özellikleri ile karşılaşılabilir. Bu nedenle, tetikleme işaretlerinin uygulanması şekline göre</a:t>
            </a:r>
          </a:p>
          <a:p>
            <a:r>
              <a:rPr lang="tr-TR" dirty="0"/>
              <a:t>sayıcıların sınıflandırılmasından başlanarak, yeri geldikçe diğer gruplandırmalar içerisinde</a:t>
            </a:r>
          </a:p>
          <a:p>
            <a:r>
              <a:rPr lang="tr-TR" dirty="0"/>
              <a:t>bulunan alt gruplardan bahsedilecektir.</a:t>
            </a:r>
          </a:p>
        </p:txBody>
      </p:sp>
    </p:spTree>
    <p:extLst>
      <p:ext uri="{BB962C8B-B14F-4D97-AF65-F5344CB8AC3E}">
        <p14:creationId xmlns:p14="http://schemas.microsoft.com/office/powerpoint/2010/main" val="239543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332656"/>
            <a:ext cx="8568952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1. Asenkron Sayıcılar</a:t>
            </a:r>
          </a:p>
          <a:p>
            <a:r>
              <a:rPr lang="tr-TR" dirty="0"/>
              <a:t>Bir </a:t>
            </a:r>
            <a:r>
              <a:rPr lang="tr-TR" dirty="0" err="1"/>
              <a:t>FF’nin</a:t>
            </a:r>
            <a:r>
              <a:rPr lang="tr-TR" dirty="0"/>
              <a:t> çıkışının onu takip eden </a:t>
            </a:r>
            <a:r>
              <a:rPr lang="tr-TR" dirty="0" err="1"/>
              <a:t>FF’nin</a:t>
            </a:r>
            <a:r>
              <a:rPr lang="tr-TR" dirty="0"/>
              <a:t> girişini tetiklemek için kullanıldığı sayıcılar,</a:t>
            </a:r>
          </a:p>
          <a:p>
            <a:r>
              <a:rPr lang="tr-TR" b="1" dirty="0"/>
              <a:t>‘asenkron sayıcılar’ </a:t>
            </a:r>
            <a:r>
              <a:rPr lang="tr-TR" dirty="0"/>
              <a:t>olarak adlandırılır. Asenkron sayıcılar, </a:t>
            </a:r>
            <a:r>
              <a:rPr lang="tr-TR" b="1" dirty="0"/>
              <a:t>‘dalgalı sayıcı’ </a:t>
            </a:r>
            <a:r>
              <a:rPr lang="tr-TR" dirty="0"/>
              <a:t>veya </a:t>
            </a:r>
            <a:r>
              <a:rPr lang="tr-TR" b="1" dirty="0"/>
              <a:t>‘seri</a:t>
            </a:r>
          </a:p>
          <a:p>
            <a:r>
              <a:rPr lang="tr-TR" b="1" dirty="0"/>
              <a:t>sayıcı’ </a:t>
            </a:r>
            <a:r>
              <a:rPr lang="tr-TR" dirty="0"/>
              <a:t>olarak ta isimlendirilir. Bu tip sayıcılarda </a:t>
            </a:r>
            <a:r>
              <a:rPr lang="tr-TR" dirty="0" err="1"/>
              <a:t>FF’ler</a:t>
            </a:r>
            <a:r>
              <a:rPr lang="tr-TR" dirty="0"/>
              <a:t> ‘</a:t>
            </a:r>
            <a:r>
              <a:rPr lang="tr-TR" dirty="0" err="1"/>
              <a:t>toggle</a:t>
            </a:r>
            <a:r>
              <a:rPr lang="tr-TR" dirty="0"/>
              <a:t>’ </a:t>
            </a:r>
            <a:r>
              <a:rPr lang="tr-TR" dirty="0" err="1"/>
              <a:t>modunda</a:t>
            </a:r>
            <a:r>
              <a:rPr lang="tr-TR" dirty="0"/>
              <a:t> çalışırlar, yani</a:t>
            </a:r>
          </a:p>
          <a:p>
            <a:r>
              <a:rPr lang="tr-TR" dirty="0"/>
              <a:t>uygulanan her tetikleme sinyali ile durum değiştirirler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Asenkron sayıcıların önemli özelliklerinden (mahsurlarından) birisi, çalışma hızı yani</a:t>
            </a:r>
          </a:p>
          <a:p>
            <a:r>
              <a:rPr lang="tr-TR" dirty="0"/>
              <a:t>yayılım gecikmesidir. Çünkü, 5 adet seri bağlı </a:t>
            </a:r>
            <a:r>
              <a:rPr lang="tr-TR" dirty="0" err="1"/>
              <a:t>FF’nin</a:t>
            </a:r>
            <a:r>
              <a:rPr lang="tr-TR" dirty="0"/>
              <a:t> kullanıldığı bir sayıcıda </a:t>
            </a:r>
            <a:r>
              <a:rPr lang="tr-TR" dirty="0" err="1"/>
              <a:t>herbir</a:t>
            </a:r>
            <a:r>
              <a:rPr lang="tr-TR" dirty="0"/>
              <a:t> </a:t>
            </a:r>
            <a:r>
              <a:rPr lang="tr-TR" dirty="0" err="1"/>
              <a:t>FF’nin</a:t>
            </a:r>
            <a:endParaRPr lang="tr-TR" dirty="0"/>
          </a:p>
          <a:p>
            <a:r>
              <a:rPr lang="tr-TR" dirty="0"/>
              <a:t>yayılım gecikmesi 10 </a:t>
            </a:r>
            <a:r>
              <a:rPr lang="tr-TR" dirty="0" err="1"/>
              <a:t>nsn</a:t>
            </a:r>
            <a:r>
              <a:rPr lang="tr-TR" dirty="0"/>
              <a:t> ise, devrede bulunan 5. </a:t>
            </a:r>
            <a:r>
              <a:rPr lang="tr-TR" dirty="0" err="1"/>
              <a:t>FF’nin</a:t>
            </a:r>
            <a:r>
              <a:rPr lang="tr-TR" dirty="0"/>
              <a:t> konum değiştirmesi için 5x10nsn =</a:t>
            </a:r>
          </a:p>
          <a:p>
            <a:r>
              <a:rPr lang="tr-TR" dirty="0"/>
              <a:t>50 </a:t>
            </a:r>
            <a:r>
              <a:rPr lang="tr-TR" dirty="0" err="1"/>
              <a:t>nsn’lik</a:t>
            </a:r>
            <a:r>
              <a:rPr lang="tr-TR" dirty="0"/>
              <a:t> bir zamanın geçmesi gerekir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Asenkron sayıcıları, yukarı ve aşağı asenkron sayıcılar olarak sınıflandırmak mümkündür.</a:t>
            </a:r>
          </a:p>
        </p:txBody>
      </p:sp>
    </p:spTree>
    <p:extLst>
      <p:ext uri="{BB962C8B-B14F-4D97-AF65-F5344CB8AC3E}">
        <p14:creationId xmlns:p14="http://schemas.microsoft.com/office/powerpoint/2010/main" val="1407393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159023"/>
            <a:ext cx="53806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b="1" dirty="0"/>
              <a:t>1. Asenkron </a:t>
            </a:r>
            <a:r>
              <a:rPr lang="tr-TR" sz="2400" b="1" dirty="0" smtClean="0"/>
              <a:t> </a:t>
            </a:r>
            <a:r>
              <a:rPr lang="tr-TR" sz="2400" b="1" dirty="0"/>
              <a:t>Sayıcı (İkili Dalgacık Sayıcı)</a:t>
            </a:r>
            <a:endParaRPr lang="tr-TR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8772525" cy="5961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1444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51520" y="188640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Tetikleme sinyalleri ile </a:t>
            </a:r>
            <a:r>
              <a:rPr lang="tr-TR" dirty="0" err="1"/>
              <a:t>FF’lerde</a:t>
            </a:r>
            <a:r>
              <a:rPr lang="tr-TR" dirty="0"/>
              <a:t> oluşan çıkış değerleri tablo olarak gösterilirse, ikili sayma</a:t>
            </a:r>
          </a:p>
          <a:p>
            <a:r>
              <a:rPr lang="tr-TR" dirty="0"/>
              <a:t>dizisinin oluştuğu görülür (Şekil 11.1.b). Bu nedenle devre, ‘</a:t>
            </a:r>
            <a:r>
              <a:rPr lang="tr-TR" b="1" dirty="0"/>
              <a:t>ikili sayıcı</a:t>
            </a:r>
            <a:r>
              <a:rPr lang="tr-TR" dirty="0"/>
              <a:t>’ olarak adlandırılır.</a:t>
            </a:r>
          </a:p>
          <a:p>
            <a:r>
              <a:rPr lang="tr-TR" dirty="0"/>
              <a:t>Oluşan olayların dalga şekli formunda çizilmesi ile, Şekil 11.1.c’de gözüken çıkış sinyal</a:t>
            </a:r>
          </a:p>
          <a:p>
            <a:r>
              <a:rPr lang="tr-TR" dirty="0"/>
              <a:t>şekilleri oluşur. Oluşan dalga şekli, </a:t>
            </a:r>
            <a:r>
              <a:rPr lang="tr-TR" dirty="0" err="1"/>
              <a:t>FF’lerde</a:t>
            </a:r>
            <a:r>
              <a:rPr lang="tr-TR" dirty="0"/>
              <a:t> tetikleme sinyaline bağlı olarak oluşan çıkış</a:t>
            </a:r>
          </a:p>
          <a:p>
            <a:r>
              <a:rPr lang="tr-TR" dirty="0"/>
              <a:t>değerleri ile ilgili açıklayıcı bilgi vermektedir. Sayma dizisinde, 4.tetikleme </a:t>
            </a:r>
            <a:r>
              <a:rPr lang="tr-TR" dirty="0" err="1"/>
              <a:t>palsı</a:t>
            </a:r>
            <a:r>
              <a:rPr lang="tr-TR" dirty="0"/>
              <a:t> ile</a:t>
            </a:r>
          </a:p>
          <a:p>
            <a:r>
              <a:rPr lang="tr-TR" dirty="0"/>
              <a:t>çıkışların ‘00’ değerlerini aldığı ve sayma işlemine tekrar başlanacağı görülebilir.</a:t>
            </a:r>
          </a:p>
        </p:txBody>
      </p:sp>
      <p:sp>
        <p:nvSpPr>
          <p:cNvPr id="3" name="Dikdörtgen 2"/>
          <p:cNvSpPr/>
          <p:nvPr/>
        </p:nvSpPr>
        <p:spPr>
          <a:xfrm>
            <a:off x="251520" y="2551837"/>
            <a:ext cx="84249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/>
              <a:t>Örnek; Negatif </a:t>
            </a:r>
            <a:r>
              <a:rPr lang="tr-TR" dirty="0"/>
              <a:t>kenar tetiklemeli </a:t>
            </a:r>
            <a:r>
              <a:rPr lang="tr-TR" dirty="0" err="1"/>
              <a:t>FF’ler</a:t>
            </a:r>
            <a:r>
              <a:rPr lang="tr-TR" dirty="0"/>
              <a:t> kullanılması durumunda, Şekil 11.2.a’daki</a:t>
            </a:r>
          </a:p>
          <a:p>
            <a:r>
              <a:rPr lang="tr-TR" dirty="0"/>
              <a:t>bağlantı oluşur. Her bir </a:t>
            </a:r>
            <a:r>
              <a:rPr lang="tr-TR" dirty="0" err="1"/>
              <a:t>FF’nin</a:t>
            </a:r>
            <a:r>
              <a:rPr lang="tr-TR" dirty="0"/>
              <a:t> Q çıkışının, bir sonraki </a:t>
            </a:r>
            <a:r>
              <a:rPr lang="tr-TR" dirty="0" err="1"/>
              <a:t>FF’nin</a:t>
            </a:r>
            <a:r>
              <a:rPr lang="tr-TR" dirty="0"/>
              <a:t> tetikleme sinyalini</a:t>
            </a:r>
          </a:p>
          <a:p>
            <a:r>
              <a:rPr lang="tr-TR" dirty="0"/>
              <a:t>oluşturduğu Şekil 11.2.a’daki devrede oluşan olayları inceleyelim.</a:t>
            </a:r>
          </a:p>
        </p:txBody>
      </p:sp>
    </p:spTree>
    <p:extLst>
      <p:ext uri="{BB962C8B-B14F-4D97-AF65-F5344CB8AC3E}">
        <p14:creationId xmlns:p14="http://schemas.microsoft.com/office/powerpoint/2010/main" val="2144402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14" y="692696"/>
            <a:ext cx="8308812" cy="5328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911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188640"/>
            <a:ext cx="849694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Devrede bulunan </a:t>
            </a:r>
            <a:r>
              <a:rPr lang="tr-TR" dirty="0" err="1"/>
              <a:t>FF’ler</a:t>
            </a:r>
            <a:r>
              <a:rPr lang="tr-TR" dirty="0"/>
              <a:t> ‘</a:t>
            </a:r>
            <a:r>
              <a:rPr lang="tr-TR" dirty="0" err="1"/>
              <a:t>toggle</a:t>
            </a:r>
            <a:r>
              <a:rPr lang="tr-TR" dirty="0"/>
              <a:t>’ </a:t>
            </a:r>
            <a:r>
              <a:rPr lang="tr-TR" dirty="0" err="1"/>
              <a:t>modunda</a:t>
            </a:r>
            <a:r>
              <a:rPr lang="tr-TR" dirty="0"/>
              <a:t> çalıştıklarından, tetikleme sinyalinin düşen </a:t>
            </a:r>
            <a:r>
              <a:rPr lang="tr-TR" dirty="0" smtClean="0"/>
              <a:t>kenarı ile </a:t>
            </a:r>
            <a:r>
              <a:rPr lang="tr-TR" dirty="0"/>
              <a:t>ilgili </a:t>
            </a:r>
            <a:r>
              <a:rPr lang="tr-TR" dirty="0" err="1"/>
              <a:t>FF’nin</a:t>
            </a:r>
            <a:r>
              <a:rPr lang="tr-TR" dirty="0"/>
              <a:t> durumu 1’den 0’a yada 0’dan 1’e değişir. En düşük </a:t>
            </a:r>
            <a:r>
              <a:rPr lang="tr-TR" dirty="0" err="1"/>
              <a:t>değerlikli</a:t>
            </a:r>
            <a:r>
              <a:rPr lang="tr-TR" dirty="0"/>
              <a:t> FF olan </a:t>
            </a:r>
            <a:r>
              <a:rPr lang="tr-TR" dirty="0" smtClean="0"/>
              <a:t>ve gelen </a:t>
            </a:r>
            <a:r>
              <a:rPr lang="tr-TR" dirty="0"/>
              <a:t>tetikleme sinyallerini alan A </a:t>
            </a:r>
            <a:r>
              <a:rPr lang="tr-TR" dirty="0" err="1"/>
              <a:t>FF’si</a:t>
            </a:r>
            <a:r>
              <a:rPr lang="tr-TR" dirty="0"/>
              <a:t>, ilk gelen tetikleme sinyalinin düşen kenarı ile</a:t>
            </a:r>
          </a:p>
          <a:p>
            <a:r>
              <a:rPr lang="tr-TR" dirty="0"/>
              <a:t>durum değiştirir ve QA çıkışı ‘1’ olur. İkinci gelen tetikleme sinyalinin düşen kenarı A</a:t>
            </a:r>
          </a:p>
          <a:p>
            <a:r>
              <a:rPr lang="tr-TR" dirty="0" err="1"/>
              <a:t>FF’sinin</a:t>
            </a:r>
            <a:r>
              <a:rPr lang="tr-TR" dirty="0"/>
              <a:t> durumunu 1’den 0’a değiştirir. Bu anda A </a:t>
            </a:r>
            <a:r>
              <a:rPr lang="tr-TR" dirty="0" err="1"/>
              <a:t>FF’sinin</a:t>
            </a:r>
            <a:r>
              <a:rPr lang="tr-TR" dirty="0"/>
              <a:t> çıkışının bağlı olduğu B </a:t>
            </a:r>
            <a:r>
              <a:rPr lang="tr-TR" dirty="0" err="1"/>
              <a:t>FF’si</a:t>
            </a:r>
            <a:endParaRPr lang="tr-TR" dirty="0"/>
          </a:p>
          <a:p>
            <a:r>
              <a:rPr lang="tr-TR" dirty="0"/>
              <a:t>tetiklenir ve QB çıkışı '1' değerini alır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Her tetikleme sinyali ile durum değiştiren A </a:t>
            </a:r>
            <a:r>
              <a:rPr lang="tr-TR" dirty="0" err="1"/>
              <a:t>FF’si</a:t>
            </a:r>
            <a:r>
              <a:rPr lang="tr-TR" dirty="0"/>
              <a:t>, dördüncü sinyalin sonunda B’yi tekrar</a:t>
            </a:r>
          </a:p>
          <a:p>
            <a:r>
              <a:rPr lang="tr-TR" dirty="0"/>
              <a:t>tetikleyerek QB çıkışının 1’den 0’a düşmesine neden olur. Bu değişim C </a:t>
            </a:r>
            <a:r>
              <a:rPr lang="tr-TR" dirty="0" err="1"/>
              <a:t>FF’sini</a:t>
            </a:r>
            <a:r>
              <a:rPr lang="tr-TR" dirty="0"/>
              <a:t> tetikleyerek</a:t>
            </a:r>
          </a:p>
          <a:p>
            <a:r>
              <a:rPr lang="tr-TR" dirty="0"/>
              <a:t>QC çıkışının '1' olmasını sağlar. Tetikleme sinyalleriyle </a:t>
            </a:r>
            <a:r>
              <a:rPr lang="tr-TR" dirty="0" err="1"/>
              <a:t>FF’lerin</a:t>
            </a:r>
            <a:r>
              <a:rPr lang="tr-TR" dirty="0"/>
              <a:t> çıkışlarında olan değişimler</a:t>
            </a:r>
          </a:p>
          <a:p>
            <a:r>
              <a:rPr lang="tr-TR" dirty="0"/>
              <a:t>ve </a:t>
            </a:r>
            <a:r>
              <a:rPr lang="tr-TR" dirty="0" smtClean="0"/>
              <a:t>her bir </a:t>
            </a:r>
            <a:r>
              <a:rPr lang="tr-TR" dirty="0" err="1"/>
              <a:t>FF’nin</a:t>
            </a:r>
            <a:r>
              <a:rPr lang="tr-TR" dirty="0"/>
              <a:t> çıkışında oluşacak dalga şekli, Şekil 11.2.b’de görülmektedir. Şekilde</a:t>
            </a:r>
          </a:p>
          <a:p>
            <a:r>
              <a:rPr lang="tr-TR" dirty="0"/>
              <a:t>görüldüğü gibi, </a:t>
            </a:r>
            <a:r>
              <a:rPr lang="tr-TR" dirty="0" err="1"/>
              <a:t>FF’lerin</a:t>
            </a:r>
            <a:r>
              <a:rPr lang="tr-TR" dirty="0"/>
              <a:t> çıkışı birer birer değişerek, sinyalin sayıcı boyunca bir dalgacık</a:t>
            </a:r>
          </a:p>
          <a:p>
            <a:r>
              <a:rPr lang="tr-TR" dirty="0"/>
              <a:t>şeklinde yayılmasını sağlar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Sayıcı devresindeki bir </a:t>
            </a:r>
            <a:r>
              <a:rPr lang="tr-TR" dirty="0" err="1"/>
              <a:t>FF’nin</a:t>
            </a:r>
            <a:r>
              <a:rPr lang="tr-TR" dirty="0"/>
              <a:t> giriş ve çıkış sinyallerinin karşılaştırılması durumunda; her</a:t>
            </a:r>
          </a:p>
          <a:p>
            <a:r>
              <a:rPr lang="tr-TR" dirty="0"/>
              <a:t>bir FF çıkışındaki sinyalin frekansının, girişindeki sinyalin frekansının yarısı olduğu görülür.</a:t>
            </a:r>
          </a:p>
          <a:p>
            <a:r>
              <a:rPr lang="tr-TR" dirty="0"/>
              <a:t>Bu durum, </a:t>
            </a:r>
            <a:r>
              <a:rPr lang="tr-TR" dirty="0" err="1"/>
              <a:t>FF’nin</a:t>
            </a:r>
            <a:r>
              <a:rPr lang="tr-TR" dirty="0"/>
              <a:t> frekans bölücü olarak kullanılabileceği imkanını ortaya çıkarır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Sayıcıda kullanılan FF çıkışlarındaki dalga şekillerinden görüleceği üzere; sayıcı</a:t>
            </a:r>
          </a:p>
          <a:p>
            <a:r>
              <a:rPr lang="tr-TR" dirty="0"/>
              <a:t>devresindeki her bir </a:t>
            </a:r>
            <a:r>
              <a:rPr lang="tr-TR" dirty="0" err="1"/>
              <a:t>FF’de</a:t>
            </a:r>
            <a:r>
              <a:rPr lang="tr-TR" dirty="0"/>
              <a:t> girişten uygulanan bilginin frekansı ikiye bölünmekte ve </a:t>
            </a:r>
            <a:r>
              <a:rPr lang="tr-TR" dirty="0" smtClean="0"/>
              <a:t>4 </a:t>
            </a:r>
            <a:r>
              <a:rPr lang="tr-TR" dirty="0"/>
              <a:t>kademeli bir sayıcıda girişten uygulanan sinyal 16’ya bölünmüş olarak elde edilmektedir</a:t>
            </a:r>
          </a:p>
          <a:p>
            <a:r>
              <a:rPr lang="tr-TR" dirty="0"/>
              <a:t>(Şekil 11.2.b).</a:t>
            </a:r>
          </a:p>
        </p:txBody>
      </p:sp>
    </p:spTree>
    <p:extLst>
      <p:ext uri="{BB962C8B-B14F-4D97-AF65-F5344CB8AC3E}">
        <p14:creationId xmlns:p14="http://schemas.microsoft.com/office/powerpoint/2010/main" val="2231424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332656"/>
            <a:ext cx="5688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Sıfırlamalı ve </a:t>
            </a:r>
            <a:r>
              <a:rPr lang="tr-TR" b="1" dirty="0" smtClean="0"/>
              <a:t>Ön kurmalı </a:t>
            </a:r>
            <a:r>
              <a:rPr lang="tr-TR" b="1" dirty="0"/>
              <a:t>Asenkron Yukarı Sayıcılar</a:t>
            </a:r>
            <a:endParaRPr lang="tr-TR" dirty="0"/>
          </a:p>
        </p:txBody>
      </p:sp>
      <p:sp>
        <p:nvSpPr>
          <p:cNvPr id="3" name="Dikdörtgen 2"/>
          <p:cNvSpPr/>
          <p:nvPr/>
        </p:nvSpPr>
        <p:spPr>
          <a:xfrm>
            <a:off x="251520" y="836712"/>
            <a:ext cx="871296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Şekil 11.2.a’da görülen devre 0’dan başlamakta ve yukarı doğru saymaktadır. Ancak</a:t>
            </a:r>
          </a:p>
          <a:p>
            <a:r>
              <a:rPr lang="tr-TR" dirty="0" err="1"/>
              <a:t>FF’lerin</a:t>
            </a:r>
            <a:r>
              <a:rPr lang="tr-TR" dirty="0"/>
              <a:t> ve buna bağlı olarak sayıcının başlangıçta sıfır olmaması durumunda, tüm </a:t>
            </a:r>
            <a:r>
              <a:rPr lang="tr-TR" dirty="0" err="1"/>
              <a:t>FF’leri</a:t>
            </a:r>
            <a:r>
              <a:rPr lang="tr-TR" dirty="0"/>
              <a:t> '0'</a:t>
            </a:r>
          </a:p>
          <a:p>
            <a:r>
              <a:rPr lang="tr-TR" dirty="0"/>
              <a:t>konumuna kurmamız gerekir. Bu işlem, </a:t>
            </a:r>
            <a:r>
              <a:rPr lang="tr-TR" dirty="0" err="1"/>
              <a:t>FF’lerin</a:t>
            </a:r>
            <a:r>
              <a:rPr lang="tr-TR" dirty="0"/>
              <a:t> asenkron silme (</a:t>
            </a:r>
            <a:r>
              <a:rPr lang="tr-TR" dirty="0" err="1"/>
              <a:t>clear-reset</a:t>
            </a:r>
            <a:r>
              <a:rPr lang="tr-TR" dirty="0"/>
              <a:t>) girişinden</a:t>
            </a:r>
          </a:p>
          <a:p>
            <a:r>
              <a:rPr lang="tr-TR" dirty="0"/>
              <a:t>faydalanarak gerçekleştirilir. Şekil 11.3.a’da sıfırlama devresi eklenmiş asenkron yukarı</a:t>
            </a:r>
          </a:p>
          <a:p>
            <a:r>
              <a:rPr lang="tr-TR" dirty="0"/>
              <a:t>sayıcı devresi görülmektedir</a:t>
            </a:r>
            <a:r>
              <a:rPr lang="tr-TR" dirty="0" smtClean="0"/>
              <a:t>.</a:t>
            </a:r>
          </a:p>
          <a:p>
            <a:endParaRPr lang="tr-TR" dirty="0"/>
          </a:p>
          <a:p>
            <a:r>
              <a:rPr lang="tr-TR" dirty="0"/>
              <a:t>Sıfırlama girişine sahip sayıcıdaki S1, R1, C1 elemanlarından oluşan sıfırlama devresi,</a:t>
            </a:r>
          </a:p>
          <a:p>
            <a:r>
              <a:rPr lang="tr-TR" dirty="0"/>
              <a:t>sıfırlama işlemini gerçekleştirir. Sıfırlama işleminin gerçekleştirilmesi için, devredeki S1</a:t>
            </a:r>
          </a:p>
          <a:p>
            <a:r>
              <a:rPr lang="tr-TR" dirty="0"/>
              <a:t>anahtarı devre çalışma anahtarı ile eşzamanlı bağlanmalıdır. Çalışma anahtarı ve sıfırlama</a:t>
            </a:r>
          </a:p>
          <a:p>
            <a:r>
              <a:rPr lang="tr-TR" dirty="0"/>
              <a:t>devresindeki S1 kapatıldığı anda, R1-C1 seri devresinden çok büyük bir şarj akımı geçer</a:t>
            </a:r>
          </a:p>
          <a:p>
            <a:r>
              <a:rPr lang="tr-TR" dirty="0"/>
              <a:t>(çünkü C1 boştur ve üzerindeki gerilim sıfırdır). Bu şarj akımı nedeniyle, R1 direncinde</a:t>
            </a:r>
          </a:p>
          <a:p>
            <a:r>
              <a:rPr lang="tr-TR" dirty="0"/>
              <a:t>büyük bir gerilim düşümü oluşur. R1’in alt ucundaki ‘0’ seviyeli bu gerilim, sıfırlama sinyali</a:t>
            </a:r>
          </a:p>
          <a:p>
            <a:r>
              <a:rPr lang="tr-TR" dirty="0"/>
              <a:t>olarak </a:t>
            </a:r>
            <a:r>
              <a:rPr lang="tr-TR" dirty="0" err="1"/>
              <a:t>FF’lerin</a:t>
            </a:r>
            <a:r>
              <a:rPr lang="tr-TR" dirty="0"/>
              <a:t> sıfırlama girişlerine uygulanır ve tüm </a:t>
            </a:r>
            <a:r>
              <a:rPr lang="tr-TR" dirty="0" err="1"/>
              <a:t>FF’lerin</a:t>
            </a:r>
            <a:r>
              <a:rPr lang="tr-TR" dirty="0"/>
              <a:t> çıkışları sıfıra kurulur. Daha</a:t>
            </a:r>
          </a:p>
          <a:p>
            <a:r>
              <a:rPr lang="tr-TR" dirty="0"/>
              <a:t>sonra C1 kondansatörü şarj olur ve kondansatörde oluşan ‘+V’ gerilimi sıfırlama girişlerini</a:t>
            </a:r>
          </a:p>
          <a:p>
            <a:r>
              <a:rPr lang="tr-TR" dirty="0"/>
              <a:t>etkisiz yapar.</a:t>
            </a:r>
          </a:p>
        </p:txBody>
      </p:sp>
    </p:spTree>
    <p:extLst>
      <p:ext uri="{BB962C8B-B14F-4D97-AF65-F5344CB8AC3E}">
        <p14:creationId xmlns:p14="http://schemas.microsoft.com/office/powerpoint/2010/main" val="1764689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63" y="908720"/>
            <a:ext cx="870093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7270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8"/>
            <a:ext cx="87849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Kullanılan </a:t>
            </a:r>
            <a:r>
              <a:rPr lang="tr-TR" dirty="0" err="1"/>
              <a:t>FF’lerin</a:t>
            </a:r>
            <a:r>
              <a:rPr lang="tr-TR" dirty="0"/>
              <a:t> sıfırlama girişlerinin '1' seviyesinde etkili olması durumunda, sıfırlama</a:t>
            </a:r>
          </a:p>
          <a:p>
            <a:r>
              <a:rPr lang="tr-TR" dirty="0"/>
              <a:t>devresindeki C1 ile R1 elemanlarının yer değiştirmesi gerekir (Şekil 11.3.b). Bu yeni devrede,</a:t>
            </a:r>
          </a:p>
          <a:p>
            <a:r>
              <a:rPr lang="tr-TR" dirty="0"/>
              <a:t>ilk şarj akımı sırasında tüm gerilim R1 direnci üzerinde düşeceğinden devre sıfırlanır. Daha</a:t>
            </a:r>
          </a:p>
          <a:p>
            <a:r>
              <a:rPr lang="tr-TR" dirty="0"/>
              <a:t>sonra kondansatörün şarj olmasıyla devreden akan akım sıfırlanacağından sıfırlama girişleri</a:t>
            </a:r>
          </a:p>
          <a:p>
            <a:r>
              <a:rPr lang="tr-TR" dirty="0"/>
              <a:t>etkisizleşir. Böylece, devrede sayma işlemi başlamadan önce sıfırlama </a:t>
            </a:r>
            <a:r>
              <a:rPr lang="tr-TR" dirty="0" smtClean="0"/>
              <a:t>işlemi gerçekleştirilir.</a:t>
            </a:r>
          </a:p>
          <a:p>
            <a:r>
              <a:rPr lang="tr-TR" dirty="0" smtClean="0"/>
              <a:t>Belirli </a:t>
            </a:r>
            <a:r>
              <a:rPr lang="tr-TR" dirty="0"/>
              <a:t>tip </a:t>
            </a:r>
            <a:r>
              <a:rPr lang="tr-TR" dirty="0" err="1"/>
              <a:t>Flip-flop’lar</a:t>
            </a:r>
            <a:r>
              <a:rPr lang="tr-TR" dirty="0"/>
              <a:t>, sıfırlama girişleri (</a:t>
            </a:r>
            <a:r>
              <a:rPr lang="tr-TR" dirty="0" err="1"/>
              <a:t>Reset</a:t>
            </a:r>
            <a:r>
              <a:rPr lang="tr-TR" dirty="0"/>
              <a:t>-R) </a:t>
            </a:r>
            <a:r>
              <a:rPr lang="tr-TR" dirty="0" err="1"/>
              <a:t>yanısıra</a:t>
            </a:r>
            <a:r>
              <a:rPr lang="tr-TR" dirty="0"/>
              <a:t> </a:t>
            </a:r>
            <a:r>
              <a:rPr lang="tr-TR" dirty="0" err="1"/>
              <a:t>önkurma</a:t>
            </a:r>
            <a:r>
              <a:rPr lang="tr-TR" dirty="0"/>
              <a:t> (</a:t>
            </a:r>
            <a:r>
              <a:rPr lang="tr-TR" dirty="0" err="1"/>
              <a:t>preset</a:t>
            </a:r>
            <a:r>
              <a:rPr lang="tr-TR" dirty="0"/>
              <a:t>-</a:t>
            </a:r>
          </a:p>
          <a:p>
            <a:r>
              <a:rPr lang="tr-TR" dirty="0"/>
              <a:t>S) girişlerine de sahiptir. Bu giriş aktif olunca, ilgili </a:t>
            </a:r>
            <a:r>
              <a:rPr lang="tr-TR" dirty="0" err="1"/>
              <a:t>FF’nin</a:t>
            </a:r>
            <a:r>
              <a:rPr lang="tr-TR" dirty="0"/>
              <a:t> çıkışı '1' değerine kurulur. Hem</a:t>
            </a:r>
          </a:p>
          <a:p>
            <a:r>
              <a:rPr lang="tr-TR" dirty="0" err="1"/>
              <a:t>önkurma</a:t>
            </a:r>
            <a:r>
              <a:rPr lang="tr-TR" dirty="0"/>
              <a:t>, hem de sıfırlama girişlerine sahip </a:t>
            </a:r>
            <a:r>
              <a:rPr lang="tr-TR" dirty="0" err="1"/>
              <a:t>FF’ler</a:t>
            </a:r>
            <a:r>
              <a:rPr lang="tr-TR" dirty="0"/>
              <a:t> kullanılarak, sayma işleminin istediğimiz</a:t>
            </a:r>
          </a:p>
          <a:p>
            <a:r>
              <a:rPr lang="tr-TR" dirty="0"/>
              <a:t>kademeden (sayıdan) başlaması sağlanabilir. Belirli bir sayıdan başlayarak sayma işlemi</a:t>
            </a:r>
          </a:p>
          <a:p>
            <a:r>
              <a:rPr lang="tr-TR" dirty="0"/>
              <a:t>yapan devreler, </a:t>
            </a:r>
            <a:r>
              <a:rPr lang="tr-TR" b="1" dirty="0" smtClean="0"/>
              <a:t>‘</a:t>
            </a:r>
            <a:r>
              <a:rPr lang="tr-TR" b="1" dirty="0" err="1" smtClean="0"/>
              <a:t>önkurmalı</a:t>
            </a:r>
            <a:r>
              <a:rPr lang="tr-TR" b="1" dirty="0" smtClean="0"/>
              <a:t> </a:t>
            </a:r>
            <a:r>
              <a:rPr lang="tr-TR" b="1" dirty="0"/>
              <a:t>sayıcılar' </a:t>
            </a:r>
            <a:r>
              <a:rPr lang="tr-TR" dirty="0"/>
              <a:t>(</a:t>
            </a:r>
            <a:r>
              <a:rPr lang="tr-TR" dirty="0" err="1"/>
              <a:t>preset</a:t>
            </a:r>
            <a:r>
              <a:rPr lang="tr-TR" dirty="0"/>
              <a:t> sayıcılar) olarak adlandırılır.</a:t>
            </a:r>
          </a:p>
        </p:txBody>
      </p:sp>
    </p:spTree>
    <p:extLst>
      <p:ext uri="{BB962C8B-B14F-4D97-AF65-F5344CB8AC3E}">
        <p14:creationId xmlns:p14="http://schemas.microsoft.com/office/powerpoint/2010/main" val="328525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540649" cy="3082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ikdörtgen 2"/>
          <p:cNvSpPr/>
          <p:nvPr/>
        </p:nvSpPr>
        <p:spPr>
          <a:xfrm>
            <a:off x="251520" y="4077072"/>
            <a:ext cx="88204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Şekil 11.4’de </a:t>
            </a:r>
            <a:r>
              <a:rPr lang="tr-TR" dirty="0" err="1"/>
              <a:t>önkurma</a:t>
            </a:r>
            <a:r>
              <a:rPr lang="tr-TR" dirty="0"/>
              <a:t> ve sıfırlama girişlerine sahip J-K </a:t>
            </a:r>
            <a:r>
              <a:rPr lang="tr-TR" dirty="0" err="1"/>
              <a:t>FF’lerle</a:t>
            </a:r>
            <a:r>
              <a:rPr lang="tr-TR" dirty="0"/>
              <a:t> oluşturulan ve '0101' ikili</a:t>
            </a:r>
          </a:p>
          <a:p>
            <a:r>
              <a:rPr lang="tr-TR" dirty="0"/>
              <a:t>sayısından saymaya başlayan </a:t>
            </a:r>
            <a:r>
              <a:rPr lang="tr-TR" dirty="0" err="1"/>
              <a:t>önkurmalı</a:t>
            </a:r>
            <a:r>
              <a:rPr lang="tr-TR" dirty="0"/>
              <a:t> sayıcı devresi görülmektedir. Bu devrede, 1’e</a:t>
            </a:r>
          </a:p>
          <a:p>
            <a:r>
              <a:rPr lang="tr-TR" dirty="0"/>
              <a:t>kurulması istenen </a:t>
            </a:r>
            <a:r>
              <a:rPr lang="tr-TR" dirty="0" err="1"/>
              <a:t>FF’lerin</a:t>
            </a:r>
            <a:r>
              <a:rPr lang="tr-TR" dirty="0"/>
              <a:t> </a:t>
            </a:r>
            <a:r>
              <a:rPr lang="tr-TR" dirty="0" err="1"/>
              <a:t>önkurma</a:t>
            </a:r>
            <a:r>
              <a:rPr lang="tr-TR" dirty="0"/>
              <a:t> girişleri ile, 0’a kurulması istenen </a:t>
            </a:r>
            <a:r>
              <a:rPr lang="tr-TR" dirty="0" err="1"/>
              <a:t>FF’lerin</a:t>
            </a:r>
            <a:r>
              <a:rPr lang="tr-TR" dirty="0"/>
              <a:t> sıfırlama</a:t>
            </a:r>
          </a:p>
          <a:p>
            <a:r>
              <a:rPr lang="tr-TR" dirty="0"/>
              <a:t>girişleri birleştirilerek darbe üretici devreye bağlanır. Devreye gerilim uygulanması ile,</a:t>
            </a:r>
          </a:p>
          <a:p>
            <a:r>
              <a:rPr lang="tr-TR" dirty="0"/>
              <a:t>devredeki </a:t>
            </a:r>
            <a:r>
              <a:rPr lang="tr-TR" dirty="0" err="1"/>
              <a:t>FF’ler</a:t>
            </a:r>
            <a:r>
              <a:rPr lang="tr-TR" dirty="0"/>
              <a:t> ‘0’ veya ‘1’ değerlerine kurulur ve sayıcı ‘0101’ değerinden başlayarak</a:t>
            </a:r>
          </a:p>
          <a:p>
            <a:r>
              <a:rPr lang="tr-TR" dirty="0"/>
              <a:t>yukarı doğru sayar.</a:t>
            </a:r>
          </a:p>
        </p:txBody>
      </p:sp>
    </p:spTree>
    <p:extLst>
      <p:ext uri="{BB962C8B-B14F-4D97-AF65-F5344CB8AC3E}">
        <p14:creationId xmlns:p14="http://schemas.microsoft.com/office/powerpoint/2010/main" val="559854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208912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ikdörtgen 1"/>
          <p:cNvSpPr/>
          <p:nvPr/>
        </p:nvSpPr>
        <p:spPr>
          <a:xfrm>
            <a:off x="395536" y="3501008"/>
            <a:ext cx="86409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Sayma işleminin başlayacağı değeri isteğe göre ayarlayabileceğimiz devre örneği, Şekil</a:t>
            </a:r>
          </a:p>
          <a:p>
            <a:r>
              <a:rPr lang="tr-TR" dirty="0"/>
              <a:t>11.5’de görülmektedir. </a:t>
            </a:r>
            <a:r>
              <a:rPr lang="tr-TR" dirty="0" smtClean="0"/>
              <a:t>‘</a:t>
            </a:r>
            <a:r>
              <a:rPr lang="tr-TR" b="1" dirty="0"/>
              <a:t>Ç</a:t>
            </a:r>
            <a:r>
              <a:rPr lang="tr-TR" b="1" dirty="0" smtClean="0"/>
              <a:t>ok seçenekli </a:t>
            </a:r>
            <a:r>
              <a:rPr lang="tr-TR" b="1" dirty="0" err="1"/>
              <a:t>ö</a:t>
            </a:r>
            <a:r>
              <a:rPr lang="tr-TR" b="1" dirty="0" err="1" smtClean="0"/>
              <a:t>nkurmalı</a:t>
            </a:r>
            <a:r>
              <a:rPr lang="tr-TR" b="1" dirty="0" smtClean="0"/>
              <a:t> </a:t>
            </a:r>
            <a:r>
              <a:rPr lang="tr-TR" b="1" dirty="0"/>
              <a:t>sayıcı’ </a:t>
            </a:r>
            <a:r>
              <a:rPr lang="tr-TR" dirty="0"/>
              <a:t>adı verilen bu devrede, sayma</a:t>
            </a:r>
          </a:p>
          <a:p>
            <a:r>
              <a:rPr lang="tr-TR" dirty="0"/>
              <a:t>işleminin başlatılmasını istediğimiz değer ikili sayı olarak ABCD girişlerine uygulanır.</a:t>
            </a:r>
          </a:p>
          <a:p>
            <a:r>
              <a:rPr lang="tr-TR" dirty="0"/>
              <a:t>Örneğin; sayma işlemine (4)10=(0100)2’den başlamak isteniyorsa, girişlere A=B=D=0 ve</a:t>
            </a:r>
          </a:p>
          <a:p>
            <a:r>
              <a:rPr lang="tr-TR" dirty="0"/>
              <a:t>C=1 değerleri uygulanmalıdır. Devreye PE (Paralel </a:t>
            </a:r>
            <a:r>
              <a:rPr lang="tr-TR" dirty="0" err="1"/>
              <a:t>Enable</a:t>
            </a:r>
            <a:r>
              <a:rPr lang="tr-TR" dirty="0"/>
              <a:t>) sinyalinin uygulanması ile</a:t>
            </a:r>
          </a:p>
          <a:p>
            <a:r>
              <a:rPr lang="tr-TR" dirty="0"/>
              <a:t>bilgiler paralel olarak </a:t>
            </a:r>
            <a:r>
              <a:rPr lang="tr-TR" dirty="0" err="1"/>
              <a:t>FF’lere</a:t>
            </a:r>
            <a:r>
              <a:rPr lang="tr-TR" dirty="0"/>
              <a:t> aktarılır. ‘</a:t>
            </a:r>
            <a:r>
              <a:rPr lang="tr-TR" dirty="0" err="1"/>
              <a:t>Clk</a:t>
            </a:r>
            <a:r>
              <a:rPr lang="tr-TR" dirty="0"/>
              <a:t>’ sinyalinin ilk </a:t>
            </a:r>
            <a:r>
              <a:rPr lang="tr-TR" dirty="0" err="1"/>
              <a:t>FF’nin</a:t>
            </a:r>
            <a:r>
              <a:rPr lang="tr-TR" dirty="0"/>
              <a:t> tetikleme girişine</a:t>
            </a:r>
          </a:p>
          <a:p>
            <a:r>
              <a:rPr lang="tr-TR" dirty="0"/>
              <a:t>uygulanması ile, sayıcı kurulan değerden başlayarak yukarı doğru sayma işlemi yapar.</a:t>
            </a:r>
          </a:p>
        </p:txBody>
      </p:sp>
    </p:spTree>
    <p:extLst>
      <p:ext uri="{BB962C8B-B14F-4D97-AF65-F5344CB8AC3E}">
        <p14:creationId xmlns:p14="http://schemas.microsoft.com/office/powerpoint/2010/main" val="135689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404664"/>
            <a:ext cx="2242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Asenkron Aşağı Sayıcı</a:t>
            </a:r>
            <a:endParaRPr lang="tr-TR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78" y="823913"/>
            <a:ext cx="8758910" cy="5922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1220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7" y="260648"/>
            <a:ext cx="8670082" cy="6264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802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249221" y="364014"/>
            <a:ext cx="3746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b="1" dirty="0"/>
              <a:t>Yukarı - Aşağı Asenkron Sayıcılar</a:t>
            </a:r>
            <a:endParaRPr lang="tr-T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24592"/>
            <a:ext cx="8640960" cy="274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21" y="3573015"/>
            <a:ext cx="8499243" cy="2974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0628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38" y="332655"/>
            <a:ext cx="8518933" cy="6176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2174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260648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Asenkron Sayıcılarla Belirli Bir Değere Kadar Sayma İşlemi</a:t>
            </a:r>
            <a:endParaRPr lang="tr-TR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3" y="1124744"/>
            <a:ext cx="8944383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2053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95536" y="260648"/>
            <a:ext cx="39604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/>
              <a:t>Dolaylı Sıfırlamalı Asenkron Sayıcılar</a:t>
            </a:r>
            <a:endParaRPr lang="tr-TR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06" y="773995"/>
            <a:ext cx="8765982" cy="579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476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32656"/>
            <a:ext cx="79248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13780"/>
            <a:ext cx="8568952" cy="5144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2600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52" y="476672"/>
            <a:ext cx="8749143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57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8" y="290513"/>
            <a:ext cx="8010525" cy="627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236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" y="404664"/>
            <a:ext cx="8957944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6041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5576"/>
            <a:ext cx="8280920" cy="620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2254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179512" y="188640"/>
            <a:ext cx="88569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Mod-10 sayıcısında </a:t>
            </a:r>
            <a:r>
              <a:rPr lang="tr-TR" dirty="0" err="1"/>
              <a:t>FF’lerin</a:t>
            </a:r>
            <a:r>
              <a:rPr lang="tr-TR" dirty="0"/>
              <a:t> çıkışında oluşan dalga şekilleri incelenirse, devrenin tetikleme</a:t>
            </a:r>
          </a:p>
          <a:p>
            <a:r>
              <a:rPr lang="tr-TR" dirty="0"/>
              <a:t>sinyalinin frekansını 10’a böldüğü görülür. Bu nedenle frekansın 10’a bölünmesi istenilen</a:t>
            </a:r>
          </a:p>
          <a:p>
            <a:r>
              <a:rPr lang="tr-TR" dirty="0"/>
              <a:t>durumlarda Mod-10 sayıcısı kullanılır.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31812"/>
            <a:ext cx="8712968" cy="5249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01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467544" y="48110"/>
            <a:ext cx="4004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b="1" dirty="0"/>
              <a:t>Doğrudan sıfırlanmalı asenkron sayıcılar</a:t>
            </a:r>
            <a:endParaRPr lang="tr-T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4536"/>
            <a:ext cx="8676456" cy="18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789511"/>
            <a:ext cx="8784976" cy="395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73260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52736"/>
            <a:ext cx="7920880" cy="554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828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420888"/>
            <a:ext cx="8565916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82768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5800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3850"/>
            <a:ext cx="8208911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30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" y="0"/>
            <a:ext cx="8740913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933056"/>
            <a:ext cx="8784976" cy="2808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1113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1" y="548680"/>
            <a:ext cx="8654419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829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/>
          <p:cNvSpPr/>
          <p:nvPr/>
        </p:nvSpPr>
        <p:spPr>
          <a:xfrm>
            <a:off x="323528" y="404664"/>
            <a:ext cx="8496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Devre durum geçiş tablosunun oluşturulması için, Şekil 11.17.a’daki tablo ve JK FF geçiş</a:t>
            </a:r>
          </a:p>
          <a:p>
            <a:r>
              <a:rPr lang="tr-TR" dirty="0"/>
              <a:t>tablosu yardımıyla, her </a:t>
            </a:r>
            <a:r>
              <a:rPr lang="tr-TR" dirty="0" err="1"/>
              <a:t>FF’nin</a:t>
            </a:r>
            <a:r>
              <a:rPr lang="tr-TR" dirty="0"/>
              <a:t> J ve K girişlerine yapılacak bağlantıyı tespit etmek gerekir.</a:t>
            </a:r>
          </a:p>
          <a:p>
            <a:r>
              <a:rPr lang="tr-TR" dirty="0" err="1"/>
              <a:t>FF’lerin</a:t>
            </a:r>
            <a:r>
              <a:rPr lang="tr-TR" dirty="0"/>
              <a:t> </a:t>
            </a:r>
            <a:r>
              <a:rPr lang="tr-TR" b="1" dirty="0"/>
              <a:t>‘uyarma fonksiyonları’ </a:t>
            </a:r>
            <a:r>
              <a:rPr lang="tr-TR" dirty="0"/>
              <a:t>olarak bilinen durumların tespiti sırasında; ilgili </a:t>
            </a:r>
            <a:r>
              <a:rPr lang="tr-TR" dirty="0" err="1"/>
              <a:t>FF’nin</a:t>
            </a:r>
            <a:endParaRPr lang="tr-TR" dirty="0"/>
          </a:p>
          <a:p>
            <a:r>
              <a:rPr lang="tr-TR" dirty="0"/>
              <a:t>tetikleme girişinde bilgi olmaması halinde J ve </a:t>
            </a:r>
            <a:r>
              <a:rPr lang="tr-TR" dirty="0" err="1"/>
              <a:t>K’nın</a:t>
            </a:r>
            <a:r>
              <a:rPr lang="tr-TR" dirty="0"/>
              <a:t> alacağı değerler önemli olmadığından</a:t>
            </a:r>
            <a:r>
              <a:rPr lang="tr-TR" dirty="0" smtClean="0"/>
              <a:t>,</a:t>
            </a:r>
            <a:r>
              <a:rPr lang="tr-TR" dirty="0"/>
              <a:t> J=d ve K=d olarak kabul edilir. </a:t>
            </a:r>
            <a:r>
              <a:rPr lang="tr-TR" dirty="0" err="1"/>
              <a:t>FF’nin</a:t>
            </a:r>
            <a:r>
              <a:rPr lang="tr-TR" dirty="0"/>
              <a:t> tetikleme girişinde 1’den 0’a değişen bilgi </a:t>
            </a:r>
            <a:r>
              <a:rPr lang="tr-TR" dirty="0" smtClean="0"/>
              <a:t>olması durumunda </a:t>
            </a:r>
            <a:r>
              <a:rPr lang="tr-TR" dirty="0"/>
              <a:t>durum değişikliği söz konusu olduğundan, geçiş tablosu yardımıyla J ve </a:t>
            </a:r>
            <a:r>
              <a:rPr lang="tr-TR" dirty="0" smtClean="0"/>
              <a:t>K sütunlarının </a:t>
            </a:r>
            <a:r>
              <a:rPr lang="tr-TR" dirty="0"/>
              <a:t>alacağı değerler tespit edilirse; Şekil 11.18’deki tablo oluşur</a:t>
            </a: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64903"/>
            <a:ext cx="8136903" cy="4293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1959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404664"/>
            <a:ext cx="8793041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6235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17" y="404664"/>
            <a:ext cx="9007262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549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94" y="548680"/>
            <a:ext cx="8732670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146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979712" y="2060848"/>
            <a:ext cx="525658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 smtClean="0"/>
              <a:t>DİNLEDİĞİNİZ İÇİN TEŞEKKÜR EDERİZ</a:t>
            </a:r>
            <a:endParaRPr lang="tr-TR" sz="4000" dirty="0"/>
          </a:p>
        </p:txBody>
      </p:sp>
    </p:spTree>
    <p:extLst>
      <p:ext uri="{BB962C8B-B14F-4D97-AF65-F5344CB8AC3E}">
        <p14:creationId xmlns:p14="http://schemas.microsoft.com/office/powerpoint/2010/main" val="3897608519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1494</Words>
  <Application>Microsoft Office PowerPoint</Application>
  <PresentationFormat>Ekran Gösterisi (4:3)</PresentationFormat>
  <Paragraphs>135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39" baseType="lpstr">
      <vt:lpstr>Ofis Teması</vt:lpstr>
      <vt:lpstr>Mantık Devreleri  DERS 12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Mantık Devreleri  DERS 13</dc:title>
  <dc:creator>bilgisayarim</dc:creator>
  <cp:lastModifiedBy>bilgisayarim</cp:lastModifiedBy>
  <cp:revision>26</cp:revision>
  <dcterms:created xsi:type="dcterms:W3CDTF">2019-11-29T14:33:05Z</dcterms:created>
  <dcterms:modified xsi:type="dcterms:W3CDTF">2019-12-11T08:29:15Z</dcterms:modified>
</cp:coreProperties>
</file>