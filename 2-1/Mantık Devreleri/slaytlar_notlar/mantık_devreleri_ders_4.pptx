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5" r:id="rId2"/>
    <p:sldId id="276" r:id="rId3"/>
    <p:sldId id="277" r:id="rId4"/>
    <p:sldId id="306" r:id="rId5"/>
    <p:sldId id="278" r:id="rId6"/>
    <p:sldId id="279" r:id="rId7"/>
    <p:sldId id="280" r:id="rId8"/>
    <p:sldId id="281" r:id="rId9"/>
    <p:sldId id="285" r:id="rId10"/>
    <p:sldId id="284" r:id="rId11"/>
    <p:sldId id="282" r:id="rId12"/>
    <p:sldId id="283" r:id="rId13"/>
    <p:sldId id="286" r:id="rId14"/>
    <p:sldId id="287" r:id="rId15"/>
    <p:sldId id="288" r:id="rId16"/>
    <p:sldId id="289" r:id="rId17"/>
    <p:sldId id="290" r:id="rId18"/>
    <p:sldId id="291" r:id="rId19"/>
    <p:sldId id="292" r:id="rId20"/>
    <p:sldId id="293" r:id="rId21"/>
    <p:sldId id="294" r:id="rId22"/>
    <p:sldId id="295" r:id="rId23"/>
    <p:sldId id="296" r:id="rId24"/>
    <p:sldId id="297" r:id="rId25"/>
    <p:sldId id="298" r:id="rId26"/>
    <p:sldId id="299" r:id="rId27"/>
    <p:sldId id="300" r:id="rId28"/>
    <p:sldId id="301" r:id="rId29"/>
    <p:sldId id="302" r:id="rId30"/>
    <p:sldId id="303" r:id="rId31"/>
    <p:sldId id="304" r:id="rId32"/>
    <p:sldId id="305" r:id="rId33"/>
    <p:sldId id="307" r:id="rId34"/>
    <p:sldId id="308" r:id="rId35"/>
    <p:sldId id="309" r:id="rId36"/>
    <p:sldId id="310" r:id="rId37"/>
    <p:sldId id="258" r:id="rId38"/>
    <p:sldId id="274" r:id="rId39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155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/>
              <a:t>Asıl alt başlık stilini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FB611-4801-4E91-B39F-5A1C1C19F6BF}" type="datetimeFigureOut">
              <a:rPr lang="tr-TR" smtClean="0"/>
              <a:t>1.11.2022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C5D5A-A3FB-46A1-A862-24F6D41195C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73104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FB611-4801-4E91-B39F-5A1C1C19F6BF}" type="datetimeFigureOut">
              <a:rPr lang="tr-TR" smtClean="0"/>
              <a:t>1.11.2022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C5D5A-A3FB-46A1-A862-24F6D41195C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03562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FB611-4801-4E91-B39F-5A1C1C19F6BF}" type="datetimeFigureOut">
              <a:rPr lang="tr-TR" smtClean="0"/>
              <a:t>1.11.2022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C5D5A-A3FB-46A1-A862-24F6D41195C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84545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FB611-4801-4E91-B39F-5A1C1C19F6BF}" type="datetimeFigureOut">
              <a:rPr lang="tr-TR" smtClean="0"/>
              <a:t>1.11.2022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C5D5A-A3FB-46A1-A862-24F6D41195C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36616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FB611-4801-4E91-B39F-5A1C1C19F6BF}" type="datetimeFigureOut">
              <a:rPr lang="tr-TR" smtClean="0"/>
              <a:t>1.11.2022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C5D5A-A3FB-46A1-A862-24F6D41195C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07518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FB611-4801-4E91-B39F-5A1C1C19F6BF}" type="datetimeFigureOut">
              <a:rPr lang="tr-TR" smtClean="0"/>
              <a:t>1.11.2022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C5D5A-A3FB-46A1-A862-24F6D41195C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4824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FB611-4801-4E91-B39F-5A1C1C19F6BF}" type="datetimeFigureOut">
              <a:rPr lang="tr-TR" smtClean="0"/>
              <a:t>1.11.2022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C5D5A-A3FB-46A1-A862-24F6D41195C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77002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FB611-4801-4E91-B39F-5A1C1C19F6BF}" type="datetimeFigureOut">
              <a:rPr lang="tr-TR" smtClean="0"/>
              <a:t>1.11.2022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C5D5A-A3FB-46A1-A862-24F6D41195C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20375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FB611-4801-4E91-B39F-5A1C1C19F6BF}" type="datetimeFigureOut">
              <a:rPr lang="tr-TR" smtClean="0"/>
              <a:t>1.11.2022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C5D5A-A3FB-46A1-A862-24F6D41195C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5899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FB611-4801-4E91-B39F-5A1C1C19F6BF}" type="datetimeFigureOut">
              <a:rPr lang="tr-TR" smtClean="0"/>
              <a:t>1.11.2022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C5D5A-A3FB-46A1-A862-24F6D41195C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37525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FB611-4801-4E91-B39F-5A1C1C19F6BF}" type="datetimeFigureOut">
              <a:rPr lang="tr-TR" smtClean="0"/>
              <a:t>1.11.2022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C5D5A-A3FB-46A1-A862-24F6D41195C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43046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5FB611-4801-4E91-B39F-5A1C1C19F6BF}" type="datetimeFigureOut">
              <a:rPr lang="tr-TR" smtClean="0"/>
              <a:t>1.11.2022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BC5D5A-A3FB-46A1-A862-24F6D41195C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04242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Unvan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dirty="0"/>
              <a:t>Mantık Devreleri </a:t>
            </a:r>
            <a:br>
              <a:rPr lang="tr-TR" dirty="0"/>
            </a:br>
            <a:r>
              <a:rPr lang="tr-TR" dirty="0"/>
              <a:t>DERS 4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998139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323528" y="1844824"/>
            <a:ext cx="792088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4000" b="1" dirty="0"/>
              <a:t>Lojik Kapılar ve</a:t>
            </a:r>
          </a:p>
          <a:p>
            <a:r>
              <a:rPr lang="tr-TR" sz="4000" b="1" dirty="0"/>
              <a:t> Lojik Devreler </a:t>
            </a:r>
          </a:p>
          <a:p>
            <a:r>
              <a:rPr lang="tr-TR" sz="4000" b="1" dirty="0"/>
              <a:t>(</a:t>
            </a:r>
            <a:r>
              <a:rPr lang="tr-TR" sz="4000" b="1" dirty="0" err="1"/>
              <a:t>Logic</a:t>
            </a:r>
            <a:r>
              <a:rPr lang="tr-TR" sz="4000" b="1" dirty="0"/>
              <a:t> Gates </a:t>
            </a:r>
            <a:r>
              <a:rPr lang="tr-TR" sz="4000" b="1" dirty="0" err="1"/>
              <a:t>And</a:t>
            </a:r>
            <a:r>
              <a:rPr lang="tr-TR" sz="4000" b="1" dirty="0"/>
              <a:t> </a:t>
            </a:r>
            <a:r>
              <a:rPr lang="tr-TR" sz="4000" b="1" dirty="0" err="1"/>
              <a:t>Logic</a:t>
            </a:r>
            <a:r>
              <a:rPr lang="tr-TR" sz="4000" b="1" dirty="0"/>
              <a:t>)</a:t>
            </a:r>
            <a:endParaRPr lang="tr-TR" sz="4000" dirty="0"/>
          </a:p>
        </p:txBody>
      </p:sp>
    </p:spTree>
    <p:extLst>
      <p:ext uri="{BB962C8B-B14F-4D97-AF65-F5344CB8AC3E}">
        <p14:creationId xmlns:p14="http://schemas.microsoft.com/office/powerpoint/2010/main" val="2124954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317646" y="548680"/>
            <a:ext cx="8640960" cy="52937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b="1" dirty="0"/>
              <a:t>Giriş</a:t>
            </a:r>
          </a:p>
          <a:p>
            <a:pPr algn="just"/>
            <a:r>
              <a:rPr lang="tr-TR" sz="2000" dirty="0"/>
              <a:t>Lojik devrelerin en basit ve temel elemanı lojik kapılardır (</a:t>
            </a:r>
            <a:r>
              <a:rPr lang="tr-TR" sz="2000" dirty="0" err="1"/>
              <a:t>logic</a:t>
            </a:r>
            <a:r>
              <a:rPr lang="tr-TR" sz="2000" dirty="0"/>
              <a:t> </a:t>
            </a:r>
            <a:r>
              <a:rPr lang="tr-TR" sz="2000" dirty="0" err="1"/>
              <a:t>gates</a:t>
            </a:r>
            <a:r>
              <a:rPr lang="tr-TR" sz="2000" dirty="0"/>
              <a:t>). Lojik değişkenlerin değerlerini (gerilimleri) giriş olarak kullanan, girişten aldığı değerler üzerinde işlemler yaparak lojik eşitliğin değerine uygun değerler (gerilim) üreten elektronik devre, ‘</a:t>
            </a:r>
            <a:r>
              <a:rPr lang="tr-TR" sz="2000" b="1" dirty="0"/>
              <a:t>lojik kapı</a:t>
            </a:r>
            <a:r>
              <a:rPr lang="tr-TR" sz="2000" dirty="0"/>
              <a:t>’ olarak isimlendirilir. Temel olarak beş farklı yapıda bulunan kapılar, basit bir sayısal elektronik devreden bilgisayara kadar cihazların temel yapı taşıdır. </a:t>
            </a:r>
            <a:r>
              <a:rPr lang="tr-TR" sz="2000" dirty="0" err="1"/>
              <a:t>Flip-Flop</a:t>
            </a:r>
            <a:r>
              <a:rPr lang="tr-TR" sz="2000" dirty="0"/>
              <a:t>, kaydedici, sayıcı, vb. lojik devreleri oluşturmakta kullanılan kapılar; direnç, diyot, transistor, FET, MOSFET, </a:t>
            </a:r>
            <a:r>
              <a:rPr lang="tr-TR" sz="2000" dirty="0" err="1"/>
              <a:t>vb</a:t>
            </a:r>
            <a:r>
              <a:rPr lang="tr-TR" sz="2000" dirty="0"/>
              <a:t> elektronik devre elemanları kullanılarak yapılırlar.</a:t>
            </a:r>
          </a:p>
          <a:p>
            <a:r>
              <a:rPr lang="tr-TR" sz="2000" dirty="0"/>
              <a:t> Bu Kapılar </a:t>
            </a:r>
          </a:p>
          <a:p>
            <a:r>
              <a:rPr lang="tr-TR" sz="2000" dirty="0"/>
              <a:t>	VE (AND),</a:t>
            </a:r>
          </a:p>
          <a:p>
            <a:r>
              <a:rPr lang="tr-TR" sz="2000" dirty="0"/>
              <a:t>	VEYA (OR),</a:t>
            </a:r>
          </a:p>
          <a:p>
            <a:r>
              <a:rPr lang="tr-TR" sz="2000" dirty="0"/>
              <a:t>	 DEĞİL (NOT),</a:t>
            </a:r>
          </a:p>
          <a:p>
            <a:r>
              <a:rPr lang="tr-TR" sz="2000" dirty="0"/>
              <a:t>	 VE DEĞİL(NAND),</a:t>
            </a:r>
          </a:p>
          <a:p>
            <a:r>
              <a:rPr lang="tr-TR" sz="2000" dirty="0"/>
              <a:t>	 VEYADEĞİL (NOR)</a:t>
            </a:r>
          </a:p>
          <a:p>
            <a:r>
              <a:rPr lang="tr-TR" sz="2000" dirty="0"/>
              <a:t> kapılarıdır ve bu kapılar </a:t>
            </a:r>
            <a:r>
              <a:rPr lang="tr-TR" sz="2000" b="1" dirty="0"/>
              <a:t>‘temel lojik kapılar’ </a:t>
            </a:r>
            <a:r>
              <a:rPr lang="tr-TR" sz="2000" dirty="0"/>
              <a:t>olarak</a:t>
            </a:r>
          </a:p>
          <a:p>
            <a:r>
              <a:rPr lang="tr-TR" sz="2000" dirty="0"/>
              <a:t>isimlendirilir</a:t>
            </a:r>
          </a:p>
        </p:txBody>
      </p:sp>
    </p:spTree>
    <p:extLst>
      <p:ext uri="{BB962C8B-B14F-4D97-AF65-F5344CB8AC3E}">
        <p14:creationId xmlns:p14="http://schemas.microsoft.com/office/powerpoint/2010/main" val="2010029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Doğruluk Tablosu</a:t>
            </a:r>
            <a:endParaRPr lang="en-GB" dirty="0"/>
          </a:p>
        </p:txBody>
      </p:sp>
      <p:sp>
        <p:nvSpPr>
          <p:cNvPr id="4" name="Dikdörtgen 3"/>
          <p:cNvSpPr/>
          <p:nvPr/>
        </p:nvSpPr>
        <p:spPr>
          <a:xfrm>
            <a:off x="1566081" y="1965278"/>
            <a:ext cx="1253889" cy="14674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" name="Düz Ok Bağlayıcısı 5"/>
          <p:cNvCxnSpPr/>
          <p:nvPr/>
        </p:nvCxnSpPr>
        <p:spPr>
          <a:xfrm flipV="1">
            <a:off x="829102" y="2149521"/>
            <a:ext cx="736979" cy="68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Düz Ok Bağlayıcısı 7"/>
          <p:cNvCxnSpPr/>
          <p:nvPr/>
        </p:nvCxnSpPr>
        <p:spPr>
          <a:xfrm>
            <a:off x="2832766" y="2699012"/>
            <a:ext cx="7241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Metin kutusu 8"/>
          <p:cNvSpPr txBox="1"/>
          <p:nvPr/>
        </p:nvSpPr>
        <p:spPr>
          <a:xfrm>
            <a:off x="952736" y="1812452"/>
            <a:ext cx="606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/>
              <a:t>Giriş</a:t>
            </a:r>
            <a:endParaRPr lang="en-GB" dirty="0"/>
          </a:p>
        </p:txBody>
      </p:sp>
      <p:sp>
        <p:nvSpPr>
          <p:cNvPr id="10" name="Metin kutusu 9"/>
          <p:cNvSpPr txBox="1"/>
          <p:nvPr/>
        </p:nvSpPr>
        <p:spPr>
          <a:xfrm>
            <a:off x="2867310" y="2302101"/>
            <a:ext cx="655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Çıkış</a:t>
            </a:r>
            <a:endParaRPr lang="en-GB" dirty="0"/>
          </a:p>
        </p:txBody>
      </p:sp>
      <p:cxnSp>
        <p:nvCxnSpPr>
          <p:cNvPr id="12" name="Düz Ok Bağlayıcısı 11"/>
          <p:cNvCxnSpPr/>
          <p:nvPr/>
        </p:nvCxnSpPr>
        <p:spPr>
          <a:xfrm flipV="1">
            <a:off x="829102" y="3282846"/>
            <a:ext cx="736979" cy="281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Bağlayıcı 14"/>
          <p:cNvCxnSpPr/>
          <p:nvPr/>
        </p:nvCxnSpPr>
        <p:spPr>
          <a:xfrm>
            <a:off x="1197591" y="2238232"/>
            <a:ext cx="0" cy="1044614"/>
          </a:xfrm>
          <a:prstGeom prst="line">
            <a:avLst/>
          </a:prstGeom>
          <a:ln w="158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etin kutusu 18"/>
          <p:cNvSpPr txBox="1"/>
          <p:nvPr/>
        </p:nvSpPr>
        <p:spPr>
          <a:xfrm>
            <a:off x="952735" y="2760539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/>
              <a:t>n</a:t>
            </a:r>
            <a:endParaRPr lang="en-GB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4418351" y="1812453"/>
            <a:ext cx="27544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Eğer n=2 ise 2</a:t>
            </a:r>
            <a:r>
              <a:rPr lang="tr-TR" baseline="30000" dirty="0"/>
              <a:t>n </a:t>
            </a:r>
            <a:r>
              <a:rPr lang="tr-TR" dirty="0"/>
              <a:t>farklı giriş kombinasyonu olur.(2 </a:t>
            </a:r>
            <a:r>
              <a:rPr lang="tr-TR" dirty="0" err="1"/>
              <a:t>lik</a:t>
            </a:r>
            <a:r>
              <a:rPr lang="tr-TR" dirty="0"/>
              <a:t> sistemde)</a:t>
            </a:r>
            <a:endParaRPr lang="en-GB" baseline="30000" dirty="0"/>
          </a:p>
        </p:txBody>
      </p:sp>
      <p:cxnSp>
        <p:nvCxnSpPr>
          <p:cNvPr id="25" name="Düz Ok Bağlayıcısı 24"/>
          <p:cNvCxnSpPr/>
          <p:nvPr/>
        </p:nvCxnSpPr>
        <p:spPr>
          <a:xfrm flipV="1">
            <a:off x="3732551" y="3891582"/>
            <a:ext cx="2248525" cy="4088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Metin kutusu 25"/>
          <p:cNvSpPr txBox="1"/>
          <p:nvPr/>
        </p:nvSpPr>
        <p:spPr>
          <a:xfrm>
            <a:off x="5981075" y="3538858"/>
            <a:ext cx="19224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Çıkış(f) rastgele yazılmıştır.</a:t>
            </a:r>
            <a:endParaRPr lang="en-GB" dirty="0"/>
          </a:p>
        </p:txBody>
      </p:sp>
      <p:sp>
        <p:nvSpPr>
          <p:cNvPr id="27" name="Oval 26"/>
          <p:cNvSpPr/>
          <p:nvPr/>
        </p:nvSpPr>
        <p:spPr>
          <a:xfrm>
            <a:off x="153649" y="3547986"/>
            <a:ext cx="4418351" cy="271322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0" name="Düz Ok Bağlayıcısı 29"/>
          <p:cNvCxnSpPr/>
          <p:nvPr/>
        </p:nvCxnSpPr>
        <p:spPr>
          <a:xfrm>
            <a:off x="4571229" y="5034162"/>
            <a:ext cx="2039433" cy="2311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Metin kutusu 30"/>
          <p:cNvSpPr txBox="1"/>
          <p:nvPr/>
        </p:nvSpPr>
        <p:spPr>
          <a:xfrm>
            <a:off x="6655632" y="5142806"/>
            <a:ext cx="1804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/>
              <a:t>Doğruluk Tablosu</a:t>
            </a:r>
            <a:endParaRPr lang="en-GB" dirty="0"/>
          </a:p>
        </p:txBody>
      </p:sp>
      <p:cxnSp>
        <p:nvCxnSpPr>
          <p:cNvPr id="18" name="Düz Ok Bağlayıcısı 17"/>
          <p:cNvCxnSpPr/>
          <p:nvPr/>
        </p:nvCxnSpPr>
        <p:spPr>
          <a:xfrm flipV="1">
            <a:off x="2432687" y="3594571"/>
            <a:ext cx="2248525" cy="4088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Düz Ok Bağlayıcısı 20"/>
          <p:cNvCxnSpPr/>
          <p:nvPr/>
        </p:nvCxnSpPr>
        <p:spPr>
          <a:xfrm flipV="1">
            <a:off x="1743047" y="3562483"/>
            <a:ext cx="2248525" cy="4088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etin kutusu 2"/>
          <p:cNvSpPr txBox="1"/>
          <p:nvPr/>
        </p:nvSpPr>
        <p:spPr>
          <a:xfrm>
            <a:off x="4479634" y="3186014"/>
            <a:ext cx="3152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/>
              <a:t>Girişler (</a:t>
            </a:r>
            <a:r>
              <a:rPr lang="tr-TR" dirty="0" err="1"/>
              <a:t>x,y</a:t>
            </a:r>
            <a:r>
              <a:rPr lang="tr-TR" dirty="0"/>
              <a:t>) rastgele yazılmıştır </a:t>
            </a:r>
          </a:p>
        </p:txBody>
      </p:sp>
      <p:pic>
        <p:nvPicPr>
          <p:cNvPr id="2560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735" y="4003415"/>
            <a:ext cx="2657475" cy="189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06790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75" y="933450"/>
            <a:ext cx="7639050" cy="499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58475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548680"/>
            <a:ext cx="8566398" cy="5645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638219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688" y="1009650"/>
            <a:ext cx="8048625" cy="483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Metin kutusu 1"/>
          <p:cNvSpPr txBox="1"/>
          <p:nvPr/>
        </p:nvSpPr>
        <p:spPr>
          <a:xfrm>
            <a:off x="683568" y="508030"/>
            <a:ext cx="24497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b="1" u="sng" dirty="0"/>
              <a:t>Diğer özel kapılar </a:t>
            </a:r>
          </a:p>
        </p:txBody>
      </p:sp>
    </p:spTree>
    <p:extLst>
      <p:ext uri="{BB962C8B-B14F-4D97-AF65-F5344CB8AC3E}">
        <p14:creationId xmlns:p14="http://schemas.microsoft.com/office/powerpoint/2010/main" val="1074342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57163"/>
            <a:ext cx="7560840" cy="654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507922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23838"/>
            <a:ext cx="7488832" cy="641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87391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95263"/>
            <a:ext cx="792088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923456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332656"/>
            <a:ext cx="8208912" cy="304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3372994"/>
            <a:ext cx="7776864" cy="27483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786223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648" y="836712"/>
            <a:ext cx="8551239" cy="5112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213930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404664"/>
            <a:ext cx="8153106" cy="1512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132856"/>
            <a:ext cx="8335985" cy="3744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01847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323528" y="404664"/>
            <a:ext cx="820891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000" b="1" dirty="0"/>
              <a:t>Örnek  : </a:t>
            </a:r>
            <a:r>
              <a:rPr lang="tr-TR" sz="2000" dirty="0"/>
              <a:t>Sinyal üretecinden üretilen kare dalga sinyal ve kontrol sinyalinin VE kapısına uygulanması durumunda oluşacak çıkış sinyal şeklini </a:t>
            </a:r>
            <a:r>
              <a:rPr lang="tr-TR" sz="2000" dirty="0" err="1"/>
              <a:t>osilaskop</a:t>
            </a:r>
            <a:r>
              <a:rPr lang="tr-TR" sz="2000" dirty="0"/>
              <a:t> ile izleyebilmek için gerekli devreyi oluşturalım (Şekil 5.12).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428749"/>
            <a:ext cx="7560840" cy="51915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102771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323528" y="260648"/>
            <a:ext cx="856895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000" b="1" dirty="0"/>
              <a:t>Örnek : </a:t>
            </a:r>
            <a:r>
              <a:rPr lang="tr-TR" sz="2000" dirty="0"/>
              <a:t>İki girişli ‘VE’ kapıları kullanarak üç ve dört girişli ‘VE’ kapıları oluşturalım.</a:t>
            </a:r>
          </a:p>
          <a:p>
            <a:r>
              <a:rPr lang="tr-TR" sz="2000" dirty="0"/>
              <a:t>İki girişli VE kapıları ile üç girişli ve dört girişli VE kapıları oluşturma şekilleri Şekil 5.13’de, </a:t>
            </a:r>
            <a:r>
              <a:rPr lang="tr-TR" sz="2000" dirty="0" err="1"/>
              <a:t>uc</a:t>
            </a:r>
            <a:r>
              <a:rPr lang="tr-TR" sz="2000" dirty="0"/>
              <a:t> girişli VE kapılarının entegre içerisindeki durumu ise Şekil 5.14’ de görülmektedir.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60" y="2605088"/>
            <a:ext cx="8570077" cy="2624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144804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467544" y="260649"/>
            <a:ext cx="8568952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000" b="1" dirty="0"/>
              <a:t>3. ‘DEĞİL’ İşlemi ve ‘DEĞİL’ Kapısı</a:t>
            </a:r>
          </a:p>
          <a:p>
            <a:r>
              <a:rPr lang="tr-TR" sz="2000" dirty="0"/>
              <a:t>‘DEĞİL’ işlemi; ‘VE’, ‘VEYA’ işlemlerinden farklı olarak tek giriş ve tek değişken ile</a:t>
            </a:r>
          </a:p>
          <a:p>
            <a:r>
              <a:rPr lang="tr-TR" sz="2000" dirty="0" err="1"/>
              <a:t>gercekleştirilir</a:t>
            </a:r>
            <a:r>
              <a:rPr lang="tr-TR" sz="2000" dirty="0"/>
              <a:t>. Örneğin; A değişkeni ile işlem yapılacaksa, ‘NOT’ işlemi sonucu Q=A‘ olarak tanımlanır ve A </a:t>
            </a:r>
            <a:r>
              <a:rPr lang="tr-TR" sz="2000" dirty="0" err="1"/>
              <a:t>uzerindeki</a:t>
            </a:r>
            <a:r>
              <a:rPr lang="tr-TR" sz="2000" dirty="0"/>
              <a:t> </a:t>
            </a:r>
            <a:r>
              <a:rPr lang="tr-TR" sz="2000" dirty="0" err="1"/>
              <a:t>cizgi</a:t>
            </a:r>
            <a:r>
              <a:rPr lang="tr-TR" sz="2000" dirty="0"/>
              <a:t>, </a:t>
            </a:r>
            <a:r>
              <a:rPr lang="tr-TR" sz="2000" dirty="0" err="1"/>
              <a:t>değili</a:t>
            </a:r>
            <a:r>
              <a:rPr lang="tr-TR" sz="2000" dirty="0"/>
              <a:t> (barı) olarak isimlendirilir. Şekildeki doğruluk tablosundan </a:t>
            </a:r>
            <a:r>
              <a:rPr lang="tr-TR" sz="2000" dirty="0" err="1"/>
              <a:t>goruleceği</a:t>
            </a:r>
            <a:r>
              <a:rPr lang="tr-TR" sz="2000" dirty="0"/>
              <a:t> </a:t>
            </a:r>
            <a:r>
              <a:rPr lang="tr-TR" sz="2000" dirty="0" err="1"/>
              <a:t>uzere</a:t>
            </a:r>
            <a:r>
              <a:rPr lang="tr-TR" sz="2000" dirty="0"/>
              <a:t> değişken yalnızca iki değerden birini alabilir: A=0 veya A=1. ‘DEĞİL’ işlemi, ‘tersi’ veya ‘</a:t>
            </a:r>
            <a:r>
              <a:rPr lang="tr-TR" sz="2000" dirty="0" err="1"/>
              <a:t>tumleyeni</a:t>
            </a:r>
            <a:r>
              <a:rPr lang="tr-TR" sz="2000" dirty="0"/>
              <a:t>’ olarak ta tanımlanır. Şekil 5.16.a’ </a:t>
            </a:r>
            <a:r>
              <a:rPr lang="tr-TR" sz="2000" dirty="0" err="1"/>
              <a:t>daki</a:t>
            </a:r>
            <a:r>
              <a:rPr lang="tr-TR" sz="2000" dirty="0"/>
              <a:t> sembolle </a:t>
            </a:r>
            <a:r>
              <a:rPr lang="tr-TR" sz="2000" dirty="0" err="1"/>
              <a:t>gosterilen</a:t>
            </a:r>
            <a:r>
              <a:rPr lang="tr-TR" sz="2000" dirty="0"/>
              <a:t> ‘DEĞİL’ kapısı her zaman tek girişe sahiptir ve çıkış devamlı girişin tersidir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50" y="2996952"/>
            <a:ext cx="8998518" cy="2736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533064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56792"/>
            <a:ext cx="9036496" cy="3672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665914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509" y="764704"/>
            <a:ext cx="8673963" cy="4824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150705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836" y="764704"/>
            <a:ext cx="8592327" cy="5112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114249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368" y="1412776"/>
            <a:ext cx="8245262" cy="4032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27631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114" y="620688"/>
            <a:ext cx="8457114" cy="5616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671532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079" y="476671"/>
            <a:ext cx="7982361" cy="585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492059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332656"/>
            <a:ext cx="8208912" cy="6286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344888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404664"/>
            <a:ext cx="8496944" cy="2880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909" y="3429000"/>
            <a:ext cx="9053673" cy="2880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714511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95" y="980728"/>
            <a:ext cx="8749859" cy="4752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384863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9" y="1052736"/>
            <a:ext cx="8494130" cy="4536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600449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60648"/>
            <a:ext cx="8417512" cy="3672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1" y="4149080"/>
            <a:ext cx="4096018" cy="2300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32188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476672"/>
            <a:ext cx="5976664" cy="864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411" y="1196752"/>
            <a:ext cx="9103977" cy="3022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472777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7338" y="209550"/>
            <a:ext cx="6029325" cy="643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Metin kutusu 1"/>
          <p:cNvSpPr txBox="1"/>
          <p:nvPr/>
        </p:nvSpPr>
        <p:spPr>
          <a:xfrm>
            <a:off x="7598903" y="5867980"/>
            <a:ext cx="14375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Lojik kapı gösterimleri </a:t>
            </a:r>
          </a:p>
        </p:txBody>
      </p:sp>
    </p:spTree>
    <p:extLst>
      <p:ext uri="{BB962C8B-B14F-4D97-AF65-F5344CB8AC3E}">
        <p14:creationId xmlns:p14="http://schemas.microsoft.com/office/powerpoint/2010/main" val="20651536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467544" y="332656"/>
            <a:ext cx="74888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b="1" dirty="0">
                <a:solidFill>
                  <a:srgbClr val="FF0000"/>
                </a:solidFill>
              </a:rPr>
              <a:t>Lojik İfadelerin Lojik Elemanlar İle Gerçekleştirilmesi</a:t>
            </a:r>
            <a:endParaRPr lang="tr-TR" dirty="0">
              <a:solidFill>
                <a:srgbClr val="FF0000"/>
              </a:solidFill>
            </a:endParaRPr>
          </a:p>
        </p:txBody>
      </p:sp>
      <p:pic>
        <p:nvPicPr>
          <p:cNvPr id="2458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6" y="1052736"/>
            <a:ext cx="8743518" cy="46085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43778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084" y="692696"/>
            <a:ext cx="8435834" cy="53285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291404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332656"/>
            <a:ext cx="8136904" cy="1599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381" y="2204864"/>
            <a:ext cx="7535238" cy="3456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375901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684" y="692696"/>
            <a:ext cx="8815301" cy="5544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903218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665" y="764704"/>
            <a:ext cx="8035461" cy="518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3373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>
            <a:extLst>
              <a:ext uri="{FF2B5EF4-FFF2-40B4-BE49-F238E27FC236}">
                <a16:creationId xmlns:a16="http://schemas.microsoft.com/office/drawing/2014/main" id="{CC790551-EFC1-4F95-AC77-54D38AA9D9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804862"/>
            <a:ext cx="8458200" cy="524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2636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256" y="476672"/>
            <a:ext cx="7275152" cy="59617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881999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Ödev  Soru: </a:t>
            </a:r>
            <a:r>
              <a:rPr lang="tr-TR" sz="2000" dirty="0"/>
              <a:t>Kazanın içindeki yağ A </a:t>
            </a:r>
            <a:r>
              <a:rPr lang="tr-TR" sz="2000" dirty="0" err="1"/>
              <a:t>sensörünün</a:t>
            </a:r>
            <a:r>
              <a:rPr lang="tr-TR" sz="2000" dirty="0"/>
              <a:t> üzerinde veya B </a:t>
            </a:r>
            <a:r>
              <a:rPr lang="tr-TR" sz="2000" dirty="0" err="1"/>
              <a:t>sensörünün</a:t>
            </a:r>
            <a:r>
              <a:rPr lang="tr-TR" sz="2000" dirty="0"/>
              <a:t> altına indiğinde alarm veren sistemin Doğruluk tablosunu oluşturun. Sistemde kaç giriş değişkeni vardır?</a:t>
            </a:r>
            <a:br>
              <a:rPr lang="tr-TR" sz="2000" dirty="0"/>
            </a:br>
            <a:r>
              <a:rPr lang="tr-TR" sz="2000" dirty="0"/>
              <a:t>Sistemde kaç çıkış vardır? Sistem girişi kaç farklı kombinasyondan oluşur.</a:t>
            </a:r>
            <a:endParaRPr lang="en-GB" sz="2000" dirty="0"/>
          </a:p>
        </p:txBody>
      </p:sp>
      <p:sp>
        <p:nvSpPr>
          <p:cNvPr id="4" name="Dikdörtgen 3"/>
          <p:cNvSpPr/>
          <p:nvPr/>
        </p:nvSpPr>
        <p:spPr>
          <a:xfrm>
            <a:off x="1259173" y="2593299"/>
            <a:ext cx="1461542" cy="26532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Oval 4"/>
          <p:cNvSpPr/>
          <p:nvPr/>
        </p:nvSpPr>
        <p:spPr>
          <a:xfrm>
            <a:off x="1000594" y="2833141"/>
            <a:ext cx="258580" cy="35976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/>
          <p:cNvSpPr/>
          <p:nvPr/>
        </p:nvSpPr>
        <p:spPr>
          <a:xfrm>
            <a:off x="1000593" y="4649449"/>
            <a:ext cx="258580" cy="35976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Sağ Ok 6"/>
          <p:cNvSpPr/>
          <p:nvPr/>
        </p:nvSpPr>
        <p:spPr>
          <a:xfrm>
            <a:off x="2714625" y="4791856"/>
            <a:ext cx="529340" cy="434714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U Dönüş Oku 10"/>
          <p:cNvSpPr/>
          <p:nvPr/>
        </p:nvSpPr>
        <p:spPr>
          <a:xfrm>
            <a:off x="635209" y="2248187"/>
            <a:ext cx="989351" cy="599607"/>
          </a:xfrm>
          <a:prstGeom prst="uturn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2" name="Metin kutusu 11"/>
          <p:cNvSpPr txBox="1"/>
          <p:nvPr/>
        </p:nvSpPr>
        <p:spPr>
          <a:xfrm>
            <a:off x="786516" y="4606978"/>
            <a:ext cx="365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/>
              <a:t>B</a:t>
            </a:r>
            <a:endParaRPr lang="en-GB" sz="2400" dirty="0"/>
          </a:p>
        </p:txBody>
      </p:sp>
      <p:sp>
        <p:nvSpPr>
          <p:cNvPr id="13" name="Metin kutusu 12"/>
          <p:cNvSpPr txBox="1"/>
          <p:nvPr/>
        </p:nvSpPr>
        <p:spPr>
          <a:xfrm>
            <a:off x="707818" y="2789518"/>
            <a:ext cx="365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/>
              <a:t>A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1790931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kdörtgen 2"/>
          <p:cNvSpPr/>
          <p:nvPr/>
        </p:nvSpPr>
        <p:spPr>
          <a:xfrm>
            <a:off x="1979712" y="2060848"/>
            <a:ext cx="525658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4000" dirty="0"/>
              <a:t>DİNLEDİĞİNİZ İÇİN TEŞEKKÜR EDERİZ</a:t>
            </a:r>
          </a:p>
        </p:txBody>
      </p:sp>
    </p:spTree>
    <p:extLst>
      <p:ext uri="{BB962C8B-B14F-4D97-AF65-F5344CB8AC3E}">
        <p14:creationId xmlns:p14="http://schemas.microsoft.com/office/powerpoint/2010/main" val="2995389295"/>
      </p:ext>
    </p:extLst>
  </p:cSld>
  <p:clrMapOvr>
    <a:masterClrMapping/>
  </p:clrMapOvr>
</p:sld>
</file>

<file path=ppt/theme/theme1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458</Words>
  <Application>Microsoft Office PowerPoint</Application>
  <PresentationFormat>Ekran Gösterisi (4:3)</PresentationFormat>
  <Paragraphs>35</Paragraphs>
  <Slides>38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38</vt:i4>
      </vt:variant>
    </vt:vector>
  </HeadingPairs>
  <TitlesOfParts>
    <vt:vector size="41" baseType="lpstr">
      <vt:lpstr>Arial</vt:lpstr>
      <vt:lpstr>Calibri</vt:lpstr>
      <vt:lpstr>Ofis Teması</vt:lpstr>
      <vt:lpstr>Mantık Devreleri  DERS 4 </vt:lpstr>
      <vt:lpstr>PowerPoint Sunusu</vt:lpstr>
      <vt:lpstr>PowerPoint Sunusu</vt:lpstr>
      <vt:lpstr>Doğruluk Tablosu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Ödev  Soru: Kazanın içindeki yağ A sensörünün üzerinde veya B sensörünün altına indiğinde alarm veren sistemin Doğruluk tablosunu oluşturun. Sistemde kaç giriş değişkeni vardır? Sistemde kaç çıkış vardır? Sistem girişi kaç farklı kombinasyondan oluşur.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Mantık Devreleri  DERS 4 </dc:title>
  <dc:creator>bilgisayarim</dc:creator>
  <cp:lastModifiedBy>Tiryaki</cp:lastModifiedBy>
  <cp:revision>21</cp:revision>
  <dcterms:created xsi:type="dcterms:W3CDTF">2019-10-01T09:24:12Z</dcterms:created>
  <dcterms:modified xsi:type="dcterms:W3CDTF">2022-11-01T14:18:56Z</dcterms:modified>
</cp:coreProperties>
</file>